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3a04853-1bb6-c439-880b-bd30d550fd9c}">
          <p14:sldIdLst>
            <p14:sldId id="256"/>
            <p14:sldId id="257"/>
            <p14:sldId id="258"/>
          </p14:sldIdLst>
        </p14:section>
        <p14:section name="Module 1 · The enterprise need" id="{f0ead872-1657-6290-ac96-64e4bb63a8ed}">
          <p14:sldIdLst>
            <p14:sldId id="259"/>
            <p14:sldId id="260"/>
            <p14:sldId id="261"/>
            <p14:sldId id="262"/>
          </p14:sldIdLst>
        </p14:section>
        <p14:section name="Module 2 · What is NeMo" id="{1446d3c6-0b10-1b61-b644-9d4994524818}">
          <p14:sldIdLst>
            <p14:sldId id="263"/>
            <p14:sldId id="264"/>
            <p14:sldId id="265"/>
            <p14:sldId id="266"/>
            <p14:sldId id="267"/>
          </p14:sldIdLst>
        </p14:section>
        <p14:section name="Module 3 · Components" id="{bc59ea12-dcc8-a0ee-7d89-dcd199f48ae2}">
          <p14:sldIdLst>
            <p14:sldId id="268"/>
            <p14:sldId id="269"/>
            <p14:sldId id="270"/>
            <p14:sldId id="271"/>
            <p14:sldId id="272"/>
            <p14:sldId id="273"/>
            <p14:sldId id="274"/>
            <p14:sldId id="275"/>
            <p14:sldId id="276"/>
            <p14:sldId id="277"/>
            <p14:sldId id="278"/>
            <p14:sldId id="279"/>
            <p14:sldId id="280"/>
          </p14:sldIdLst>
        </p14:section>
        <p14:section name="Module 4 · NeMo in the enterprise" id="{628fa8c7-597f-2d53-ec6a-fd3c0fe262cd}">
          <p14:sldIdLst>
            <p14:sldId id="281"/>
            <p14:sldId id="282"/>
            <p14:sldId id="283"/>
            <p14:sldId id="284"/>
            <p14:sldId id="285"/>
            <p14:sldId id="286"/>
            <p14:sldId id="287"/>
            <p14:sldId id="288"/>
            <p14:sldId id="289"/>
          </p14:sldIdLst>
        </p14:section>
        <p14:section name="Wrap-up" id="{bbde6fa5-3c38-2ad3-7862-f5829e8c487e}">
          <p14:sldIdLst>
            <p14:sldId id="290"/>
            <p14:sldId id="291"/>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&amp; FRAMING (3 min)
Welcome participants and introduce the session: "Today we look at NVIDIA NeMo – what it is, what is inside it, and where it fits when an enterprise builds, customizes and runs its own generative AI models."
Why this topic matters: most enterprises do not train foundation models from scratch. They take an existing open model and adapt it to their data, their policies and their cost targets, then run it safely in production and keep improving it. NeMo is NVIDIA's set of tools for exactly that lifecycle.
Position this session relative to the previous one (NVIDIA GPUs and AI infrastructure): that session covered the hardware and platform; this one covers the model-development software that runs on top of it.
Icebreaker: ask "Who has fine-tuned a model? Who has used RAG? Who has had to explain to security or legal what a model will and won't say?" Their answers map directly onto NeMo components we will cover (Customizer, Retriever, Guardrails).
Trainer note: NeMo evolves quickly – component names, APIs and supported models change every few months. Check the current NVIDIA NeMo documentation before each delivery and treat code on the slides as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(2 min)
Explain the flow: we start with the business problem (why enterprises need a model-development platform at all), then define NeMo, then go component by component, and finish with how NeMo is used in a real enterprise – architecture, process, people and governance.
Module 3 is the longest; it is the technical core. If time is short, Module 3 can be trimmed to Curator, Customizer, Evaluator, Guardrails and NIM – the five components most enterprises start with.
Plan a 10-minute break after Module 2. The knowledge check and lab outline are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(2 min)
Read the five objectives. Stress that the session is conceptual and architectural – participants do not need to write training code, but they should leave able to hold an informed conversation with ML engineers, platform teams and business owners about how NeMo would be used.
Audience: ML engineers, data scientists, platform/MLOps engineers, solution architects and technical managers. Helpful background: basic understanding of LLMs (tokens, prompts, fine-tuning), containers and Kubernetes.
Ask each participant to write down one use case from their own work; we will map it to NeMo components in Module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 INTRO (1 min)
Transition: "Before we look at any NVIDIA product, let's be clear about the problem. A general-purpose model from the internet is rarely enough for an enterprise. Why? And what are the options for closing the gap?"
Key message: the hard part of enterprise GenAI is not calling a model API – it is making the model accurate on your data, safe under your policies, affordable at your scale, and improvable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ENTERPRISE CHALLENGES (5 min)
Walk the six cards and ask the class which ones they have experienced.
1. Domain accuracy: a public model has never seen your product catalogue, internal acronyms, contracts or support history. It will answer confidently anyway – hallucination. In banking, healthcare or legal settings that is a compliance problem, not just an annoyance.
2. Privacy and sovereignty: many organisations cannot send customer data or IP to an external API. They need models they can run in their own data center or VPC – which means open-weight models plus the tools to customize and serve them.
3. Cost and latency: calling the largest frontier model for every request is expensive. A smaller model (8B–70B parameters) customized for one task can match or beat a general large model on that task, at a fraction of the cost and latency.
4. Safety and compliance: the model must refuse to give investment advice, must not reveal personal data, must stay on topic. These policies need to be enforced and demonstrable.
5. Measurable quality: teams need benchmarks and test sets so they can say "version 2 is better than version 1" with evidence.
6. Continuous improvement: products, prices and policies change; user behaviour changes. A model is never "done" – it needs a feedback loop.
Bridge: each of these challenges maps to a NeMo component. Keep this slide in mind – we'll come back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CUSTOMIZATION SPECTRUM (7 min) – a key slide; spend time here.
The bars represent cost, data and expertise. Teach the principle: use the simplest technique that meets the requirement.
• Prompt engineering: system prompts, few-shot examples. Zero training. Always the first step.
• RAG (retrieval-augmented generation): fetch relevant documents at query time and put them in the prompt. Best for knowledge that changes often (policies, product docs) and when you need citations. Does not change the model's style or skills. NeMo Retriever provides the embedding/reranking models; Guardrails can check answers against retrieved context.
• PEFT / LoRA (parameter-efficient fine-tuning): train small adapter matrices (often &lt;1% of parameters) while the base model stays frozen. Teaches format, tone, domain vocabulary and task skills with a few hundred to a few thousand examples, on one or a few GPUs. Adapters are small (MBs) and many can be served on one base model.
• Full supervised fine-tuning (SFT): update all weights. More capacity to change behaviour, more GPU memory (recall ~16 bytes/parameter from the infrastructure session), and higher risk of "catastrophic forgetting".
• Alignment: teach the model which answers people prefer – DPO (direct preference optimization) using chosen/rejected pairs, or reinforcement learning (PPO, GRPO) with reward models or verifiable rewards (e.g. "the code passes tests"). Used for helpfulness, safety and reasoning.
• Continued pre-training: feed billions of domain tokens (e.g. medical literature, legal corpus, a non-English language) to shift the model's knowledge base. Needs serious data curation and multi-node GPUs.
• Pre-training from scratch: only for a few organisations (model builders, sovereign AI programmes). Trillions of tokens and thousands of GPUs.
Important nuance: these are combinable. A typical enterprise assistant = RAG + LoRA fine-tune + guardrails. Bottom row shows which NeMo components support each step.
Ask: "For a support chatbot whose answers must cite the latest policy, which technique comes first?" (RAG.) "For making a model reply in our exact JSON schema?" (LoRA/SFT.)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LIFECYCLE (5 min)
Walk the six stages; this is the map for the rest of the course.
1. Curate data: quality data matters more than model size. Gather domain documents, conversations and examples; clean, deduplicate, filter by quality, redact PII; fill gaps with synthetic data. NeMo Curator and NeMo Data Designer.
2. Customize: pick a base model (e.g. Llama, Mistral, Qwen or NVIDIA Nemotron) and adapt it – LoRA, SFT, DPO/RL, or distillation into a smaller model. NeMo Customizer (microservice) or NeMo Framework / NeMo RL (code).
3. Evaluate: compare candidate models on academic benchmarks, your own test sets, and LLM-as-a-judge scoring. NeMo Evaluator.
4. Safeguard: add programmable rails for input and output – safety, topic control, jailbreak detection, PII. NeMo Guardrails.
5. Deploy: serve the model through NVIDIA NIM (optimized inference microservices with OpenAI-compatible APIs), plus NeMo Retriever NIMs for RAG.
6. Monitor: collect prompts, responses, user feedback, latency and cost. The NeMo Agent Toolkit adds profiling and observability for agentic applications.
The return arrow is the key enterprise idea – the data flywheel. Logged production interactions (with consent and governance) are curated into new training and evaluation data, and the cycle repeats. NVIDIA publishes an AI Blueprint for this pattern; we'll look at it in Module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INTRO (1 min)
Transition: "Now we have the problem and the lifecycle, let's meet NeMo. A common confusion is that 'NeMo' means one product. In fact it is a family: an open-source training framework, a set of enterprise microservices, data tools, safety tools and open models, all under one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NEMO AT A GLANCE (5 min)
Give the one-sentence definition and let it land.
Four defining characteristics:
1. Open-source core: the NeMo Framework, NeMo Curator, NeMo Guardrails, NeMo RL and the NeMo Agent Toolkit are developed in the open on GitHub (github.com/NVIDIA-NeMo and github.com/NVIDIA). Most components use the Apache 2.0 licence – free to use and modify. Enterprises can inspect the code, which matters for security reviews.
2. Enterprise microservices: the same capabilities packaged as containerized services with REST APIs (NeMo Customizer, Evaluator, Guardrails, Data Store, Entity Store, and others) that run on Kubernetes. They let application and platform teams use customization and evaluation without writing training code. Commercial support comes through NVIDIA AI Enterprise.
3. GPU-optimized: NeMo inherits NVIDIA's large-scale training stack – Megatron Core for parallelism, Transformer Engine for FP8, optimized kernels – the same stack used to train NVIDIA's Nemotron models on thousands of GPUs.
4. Model-agnostic: you are not locked into NVIDIA models. NeMo supports popular open model families, plus NVIDIA's own open Nemotron family.
Beyond LLMs: NeMo started in speech AI – the Parakeet and Canary ASR models come from NeMo – and covers multimodal (vision-language) models too. Today we focus on LLMs and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EVOLUTION (4 min)
Short history so learners understand why some docs and blog posts look different from each other:
• 2019: NeMo ("Neural Modules") launched as an open-source PyTorch toolkit for conversational AI – speech recognition, NLP and text-to-speech.
• Megatron-LM: NVIDIA's research codebase for training very large transformers with tensor and pipeline parallelism. Its core was later extracted as Megatron Core – the engine under NeMo's LLM training.
• 2022–23: NeMo became NVIDIA's framework for large language models (the "NeMo Megatron" era) and NeMo Guardrails was open-sourced (2023).
• 2024: NeMo 2.0 replaced YAML configs with Python-based configuration and introduced NeMo-Run for launching experiments locally, on Slurm or on Kubernetes. NeMo Curator was released; NVIDIA announced the NeMo microservices and released Nemotron-4 340B with open synthetic-data tooling.
• 2025: NeMo microservices (Customizer, Evaluator, Guardrails and supporting services) became generally available; NeMo RL (reinforcement learning post-training), NeMo AutoModel (fast fine-tuning of Hugging Face models) and the NeMo Agent Toolkit (formerly AgentIQ) were released; NVIDIA published data flywheel blueprints.
• Now: the focus is the full lifecycle of AI agents – building, evaluating, safeguarding and continuously improving them – plus open Nemotron models and datasets.
Trainer note: NeMo releases roughly monthly. Older tutorials (YAML-based NeMo 1.x, "NeMo Aligner") may be deprecated; point learners to the current docs at docs.nvidia.com/nemo.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FAMILY MAP (7 min) – the most important slide of Module 2; leave it up while you talk.
Walk the columns left to right (they follow the lifecycle):
DATA
• NeMo Curator – GPU-accelerated, scalable data curation for text, images and video: cleaning, language identification, quality classifiers, exact/fuzzy/semantic deduplication, PII redaction.
• NeMo Data Designer – generates synthetic training and evaluation data with configurable schemas and LLMs.
• Data Store and Entity Store – supporting microservices that store datasets and track models, projects and namespaces for the other microservices.
BUILD &amp; CUSTOMIZE
• NeMo Framework – the core training library for pre-training and post-training at scale (Megatron Core based).
• NeMo AutoModel – quick fine-tuning of Hugging Face models (day-0 support for new models) without conversion.
• NeMo RL – post-training with reinforcement learning and preference optimization (GRPO, DPO, SFT). Successor to NeMo-Aligner.
• NeMo Customizer – fine-tuning exposed as a REST API (LoRA, full SFT, and more) running on Kubernetes.
EVALUATE
• NeMo Evaluator – runs academic benchmarks, custom datasets, LLM-as-a-judge, RAG and agent evaluations.
• NeMo Auditor – probes models for security weaknesses such as jailbreaks or prompt injection (newer component; check availability).
SAFEGUARD
• NeMo Guardrails – programmable rails around any LLM.
• Nemotron safety models – e.g. content safety, topic control and jailbreak detection models, often packaged as NIMs and used by Guardrails.
RETRIEVE
• NeMo Retriever – NIMs for document extraction (PDFs, tables, charts), embedding and reranking, the building blocks of enterprise RAG.
DEPLOY &amp; OPERATE
• NVIDIA NIM – not branded NeMo, but it is the deployment target: optimized inference containers (TensorRT-LLM, vLLM, SGLang backends) with OpenAI-compatible APIs.
• NeMo Agent Toolkit – framework-agnostic profiling, evaluation and observability for multi-agent applications.
Foundation row: everything runs on NVIDIA GPUs via CUDA, on Kubernetes or Slurm, and is supported through NVIDIA AI Enterprise. Base models can be NVIDIA Nemotron or other open models.
Exercise: map the six challenges from slide 5 to these columns (accuracy → customize/retrieve, privacy → self-hosted everything, cost → distill + NIM, safety → Guardrails, measurable quality → Evaluator, continuous improvement → flywheel).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FRAMEWORK vs MICROSERVICES (5 min)
This distinction confuses many people, so make it explicit.
NeMo Framework = code. Python libraries you import and run, typically inside NGC containers (e.g. the "nemo" container). You write or adapt "recipes" (Python functions that configure model, data, trainer and parallelism) and launch them with NeMo-Run on a workstation, a Slurm cluster or Kubernetes. Maximum flexibility – you can pre-train from scratch, change architectures, tune parallelism for 1,000+ GPUs. Requires ML engineering skills.
NeMo microservices = services. You deploy them once (Helm charts on Kubernetes) and then teams call APIs: "create a customization job for model X with dataset Y using LoRA", "run evaluation config Z against model X", "apply guardrail config W". The platform handles GPU scheduling, checkpoint storage, model registration and deployment to NIM. Lower skill barrier; standardized and auditable. Ideal for repeatable enterprise workflows and data flywheels.
Licensing: the framework libraries are open source. The microservices are free to try for development (e.g. via NGC / NVIDIA Developer Program) and require an NVIDIA AI Enterprise licence for production support – confirm current terms with NVIDIA or your partner.
Analogy: the framework is a professional kitchen where chefs can cook anything; the microservices are a well-run restaurant line where staff follow standard recipes quickly and consistently.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3 INTRO (1 min)
Transition: "Now we open each box on the family map. For each component we'll cover: what problem it solves, how it works, and when an enterprise would use it."
Pacing tip: about 5 minutes per component. Use the code snippets to make things concrete, but don't get stuck on syntax – APIs change; concepts don't.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NEMO CURATOR (6 min)
Problem: raw data is messy – duplicates, boilerplate, wrong languages, toxic text, personal data. Training on it wastes GPU hours and makes models worse. Research consistently shows that better-curated data beats more data.
The pipeline (top row):
• Ingest: from Common Crawl-style web dumps, internal documents, ticket systems, PDFs, images and video.
• Clean: unicode fixing, text extraction, language identification (fastText), line/paragraph cleanup.
• Filter: heuristic filters (length, symbol ratios, repetition) plus model-based quality classifiers (e.g. NVIDIA's domain and quality classifiers) and safety classifiers.
• Deduplicate: exact (hashing), fuzzy (MinHash + LSH finds near-duplicates) and semantic (embedding clustering finds paraphrases). Highlighted because it is the most compute-intensive step and where GPU acceleration gives the biggest speed-ups – NVIDIA reports order-of-magnitude speed-ups vs CPU pipelines.
• Protect: PII detection and redaction (names, emails, phone numbers, IDs) – critical before reusing customer data.
• Blend: mix data sources in the right proportions, shard and write in formats the trainer reads.
How it works: Python API; stages run on GPUs using RAPIDS and scale across nodes. Recent versions also support image and video curation used for vision-language and world models (e.g. NVIDIA Cosmos).
Enterprise uses: most enterprises will not curate trillions of tokens, but they will curate domain corpora, fine-tuning sets, and especially production logs in a flywheel – deduplicating, removing PII and filtering for useful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SYNTHETIC DATA (5 min)
Why: enterprises often have little labelled data, or the data is too sensitive to use directly, or rare cases (fraud, edge-case support questions) are under-represented. Synthetic data can fill these gaps.
The five-step process:
1. Define a schema: what fields, which topics/personas, difficulty levels, format. Good synthetic data starts with a clear specification.
2. Generate: a large "teacher" model writes examples (questions, answers, dialogues, reasoning traces).
3. Judge and filter: a reward model or LLM-as-a-judge scores each example for helpfulness, correctness and safety; keep only the best. NVIDIA released Nemotron-4 340B Instruct and Reward specifically for this pattern in 2024; newer Nemotron models are used today.
4. Curate: deduplicate, check diversity and balance (Curator).
5. Use: SFT data, preference pairs for DPO, evaluation sets, or adversarial prompts to test guardrails.
NeMo Data Designer is NVIDIA's tool for this: you declare columns, sampling distributions and LLM-generated fields, and it produces datasets at scale.
Risks to discuss:
• Licensing: some model licences restrict using outputs to train other models. NVIDIA's open model licence permits synthetic data generation, but always check the teacher's licence.
• Model collapse: training only on synthetic data degrades quality over generations – mix in real data.
• Bias amplification: the teacher's biases are copied; evaluate for fairness.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NEMO FRAMEWORK TRAINING (7 min)
The NeMo Framework is the "power tool" for training. Its engine is Megatron Core, NVIDIA's library of GPU-optimized transformer building blocks and parallelism strategies.
Recall from the infrastructure session: a 70B model needs over 1 TB of memory to train. No single GPU can hold it, so the work must be split. Five ways to split (left):
• Data parallelism (DP), including fully sharded data parallel (FSDP / distributed optimizer): every GPU processes different data; parameters, gradients and optimizer states can be sharded so each GPU holds only a slice.
• Tensor parallelism (TP): split each layer's weight matrices across GPUs – heavy communication, so keep it within an NVLink domain (typically TP ≤ 8).
• Pipeline parallelism (PP): put different layers on different GPUs; micro-batches flow through like an assembly line.
• Context parallelism (CP): split very long sequences across GPUs – needed for long-context training.
• Expert parallelism (EP): for mixture-of-experts models (e.g. Mixtral, DeepSeek-style), place different experts on different GPUs.
Real jobs combine them ("3D/4D/5D parallelism"). NeMo recipes ship tuned defaults for popular models.
Precision: Transformer Engine enables FP8 training on Hopper and FP8/FP4 on Blackwell with automatic scaling.
NeMo-Run: the same recipe runs on a laptop GPU for debugging, then on Slurm or Kubernetes for production with only an "executor" change. That reproducibility is valuable for enterprises.
Code (right): a NeMo 2.0-style recipe for LoRA fine-tuning Llama 3 8B. Point out: recipe = configuration as Python; executor = where it runs. Trainer note: NVIDIA is also moving some of this to newer libraries such as Megatron Bridge and NeMo AutoModel; check the current docs for the recommended entry point.
Checkpoint conversion: import from Hugging Face, train with NeMo, export back to Hugging Face or to TensorRT-LLM/NIM for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CUSTOMIZATION TECHNIQUES (7 min)
Use this table as a decision aid.
• LoRA / PEFT: inserts small low-rank matrices into attention/MLP layers; only those are trained. Pros: cheap, fast, small artifacts (tens of MB), many adapters can share one base model in NIM. Cons: limited capacity for big behaviour shifts. Default choice for most enterprise tasks.
• Full SFT: updates every weight using instruction-response examples. More capacity, but more memory and risk of forgetting general skills. Use when LoRA plateaus.
• DPO (direct preference optimization): given a prompt with a "chosen" and a "rejected" answer, push the model towards the chosen. Simpler and more stable than PPO-based RLHF. Great for tone, safety and policy alignment.
• RL (PPO, GRPO): the model generates answers, a reward model or a rule-based verifier scores them, and the model is updated to earn higher rewards. GRPO (popularised by DeepSeek-R1) is widely used to train reasoning on maths and code with verifiable rewards. NeMo RL supports these at scale.
• Knowledge distillation: a smaller "student" learns to imitate a larger "teacher". Key enterprise cost lever: e.g. distil a 70B model's behaviour on your task into an 8B model.
• Pruning + distillation: remove less important layers/neurons, then distil to recover accuracy. NVIDIA's Minitron models (e.g. from Llama 3.1 8B to 4B) were built this way with NeMo.
• Continued pre-training: for new languages or deep domain knowledge (e.g. a sovereign-language model, a biomedical model).
Rule of thumb: Prompting → RAG → LoRA → SFT → DPO/RL. Measure with Evaluator at every step and stop when the target is 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ALIGNMENT &amp; NeMo RL (6 min)
Top row – the classic post-training pipeline:
1. A pre-trained (base) model predicts the next token; it knows language and facts but doesn't reliably follow instructions.
2. SFT teaches instruction following with curated prompt/response examples.
3. Preference optimization (DPO) teaches which of two answers is better – helpfulness, tone, safety.
4. Reinforcement learning optimizes against a reward: PPO with a learned reward model (classic RLHF), or GRPO with verifiable rewards (maths answers, code passing tests, valid JSON). This is how modern "reasoning" models are trained to think step by step.
5. The result is an aligned model. Steps can be repeated and combined.
NeMo RL: NVIDIA's open-source post-training library (github.com/NVIDIA-NeMo/RL). It uses Ray to orchestrate generation and training workers, can use vLLM for fast rollouts, and scales from a single GPU to large clusters. It replaces the older NeMo-Aligner.
Reward signals: a reward model (trained on human preference data – NVIDIA has released open Nemotron reward models and the HelpSteer datasets), verifiable rule-based rewards, or an LLM judge with a rubric.
Enterprise uses: most enterprises use DPO to align a model with brand voice and policy, and increasingly RL to improve agent tool-calling and domain reasoning. Full RLHF at frontier scale is rare outside model builders.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NeMo CUSTOMIZER (5 min)
NeMo Customizer exposes fine-tuning as a REST API. A platform/MLOps team deploys it (with the Data Store, Entity Store and a GPU-enabled Kubernetes cluster); after that, any authorised team can start a job with a single request.
Walk the request (illustrative – field names may differ by release; check the API reference):
• config: which base model and training configuration to use (the platform team publishes supported configs).
• dataset: a dataset previously uploaded to the NeMo Data Store (Hugging Face-compatible file API), organised by namespace.
• hyperparameters: SFT with LoRA, 3 epochs, batch size, learning rate, LoRA rank (adapter_dim).
• output_model: the name under which the resulting adapter is registered in the Entity Store.
Then poll GET /v1/customization/jobs/{id}/status for progress and training/validation loss. When it finishes, the adapter can be loaded by a NIM that serves the base model – NIM supports dynamically loading many LoRA adapters on one base model.
Why enterprises like it:
• Standardisation – every team fine-tunes the same supported way.
• Governance – jobs, datasets and outputs are tracked and auditable.
• Efficiency – shared GPU pool instead of every team building its own training stack.
Limit: it supports a curated list of models and methods. For anything unusual, drop down to the NeMo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NeMo EVALUATOR (6 min)
NeMo Evaluator is a microservice (and open-source evaluation libraries) for running evaluations against any model endpoint – a NIM, a fine-tuned candidate or even a third-party API.
Evaluation types:
1. Academic benchmarks: MMLU (knowledge), GSM8K (maths), HumanEval (code), IFEval (instruction following) and others. Use them to check a fine-tune hasn't damaged general capability.
2. Custom datasets: the most important for enterprises – your own "golden" test set of real questions with approved answers. Classic metrics (exact match, F1, ROUGE, BLEU) for structured answers.
3. LLM-as-a-judge: a strong judge model grades open-ended answers on criteria like correctness, helpfulness and tone using a rubric. Calibrate it against human ratings on a sample.
4. RAG: retrieval quality (recall@k, NDCG) for embedding/reranking models, and answer faithfulness/relevance for the full pipeline.
5. Agents: whether the model picks the right tool with the right arguments, and whether multi-step tasks succeed.
6. Safety: measure harmful output rates and jailbreak resistance, with and without guardrails.
Process advice:
• Build the evaluation set BEFORE fine-tuning; hold it out from training data.
• Define release criteria (e.g. "≥ 90% on golden set, no regression &gt; 2 points on MMLU, harmful rate &lt; 0.5%").
• Automate evaluation in CI/CD for models – every candidate is evaluated the same way. Evaluator's API makes this scriptable.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NeMo GUARDRAILS (7 min)
NeMo Guardrails is an open-source toolkit (Apache 2.0) and microservice for adding programmable rails to LLM applications. It wraps any LLM – NIM, OpenAI-compatible endpoints, or others – and works with LangChain and LlamaIndex.
Rail types (follow the flow diagram):
• Input rails – check the user's message before it reaches the LLM: jailbreak and prompt-injection detection, PII masking, blocking off-topic requests.
• Dialog rails – define allowed conversational paths in Colang, NeMo Guardrails' modelling language (e.g. "if the user asks about competitors, respond with the approved message").
• Retrieval rails – filter or verify retrieved chunks in RAG (e.g. drop documents the user is not allowed to see, or chunks with sensitive data).
• Execution rails – control which tools/actions the LLM can call.
• Output rails – check the response: content safety, hallucination/fact-checking against retrieved sources, removing sensitive data.
Safety models: NVIDIA publishes NemoGuard / Nemotron safety models as NIMs – content safety (trained on the Aegis safety dataset), topic control and jailbreak detection. Guardrails calls these as fast classifiers rather than relying on the main LLM to police itself.
Config (right): the main model plus a content-safety model, with input and output safety flows and jailbreak detection. Model names are illustrative; check the NGC catalog for current safety NIMs.
Trade-offs to teach: each rail adds latency (often tens to hundreds of ms) and cost; rails can be run in parallel, and small classifier models keep overhead low. Measure with Evaluator – guardrails need testing too (false positives annoy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NeMo RETRIEVER (6 min)
RAG is the most common enterprise GenAI pattern, and NeMo Retriever is NVIDIA's set of NIM microservices for its retrieval half.
Pipeline:
1. Enterprise documents – often complex PDFs, slide decks, scanned files with tables and charts.
2. Extraction NIMs – page elements detection, table structure and chart understanding, OCR. Extraction quality is frequently the hidden cause of bad RAG answers.
3. Embedding NIM – converts text chunks (and queries) into vectors; NVIDIA provides multilingual embedding models (e.g. the Llama-based NeMo Retriever embedding models) that are commercially usable.
4. Vector database – NVIDIA cuVS accelerates indexing and search; integrates with Milvus, Elasticsearch, and other partners.
5. Reranking NIM – a cross-encoder re-scores the top results so the best passages go to the LLM.
6. LLM NIM with Guardrails – generates the answer with citations; output rails can check the answer is grounded in the retrieved text.
NVIDIA's AI Blueprint for RAG packages this as a reference application.
Discussion points:
• Access control: enforce document permissions at retrieval time (metadata filters), otherwise RAG can leak confidential information.
• Customization: embedding models can be fine-tuned on domain data; evaluate recall@k and NDCG with Evaluator.
• RAG vs fine-tuning: use RAG for changing facts and citations; fine-tune for behaviour, format and skills. Combine both for the best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NeMo AGENT TOOLKIT (5 min)
Context: enterprises are moving from single chatbots to agents – LLMs that plan, call tools and APIs, and collaborate with other agents. These systems are hard to debug and optimise.
The NeMo Agent Toolkit (open source; originally released as "AgentIQ" in 2025) does not replace agent frameworks. It wraps them:
• Framework-agnostic: works with LangChain/LangGraph, LlamaIndex, CrewAI, Microsoft Semantic Kernel and plain Python. Workflows are composed in YAML configuration from reusable functions, tools and agents.
• Tools: supports the Model Context Protocol (MCP) – agents can consume tools from MCP servers, and toolkit tools can be published as MCP servers.
• Profiling and observability: traces every step – which LLM, how many tokens, latency, which tool, what it returned. Identifies bottlenecks (e.g. a slow tool, an unnecessary LLM call). Integrates with OpenTelemetry-compatible platforms such as Arize Phoenix, Langfuse, Weights &amp; Biases Weave.
• Evaluation: run evaluation datasets through the whole workflow and score the results.
Place in the lifecycle: this is the "Monitor" stage for agentic apps. Its traces become the raw material for the data flywheel – e.g. find which tool calls fail, collect corrected examples, fine-tune the model with Customizer, evaluate, redeploy.
Trainer note: features evolve quickly (e.g. optimizers, UI); check the current release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DEPLOYING WITH NIM (5 min)
NVIDIA NIM (NVIDIA Inference Microservices) are prebuilt containers that serve models with optimized inference engines. NIM is part of NVIDIA AI Enterprise and is the standard deployment target for NeMo-customized models.
Flow:
1. Output from NeMo: a full checkpoint (exported to Hugging Face format or a TensorRT-LLM engine) or a LoRA adapter.
2. NIM selects an optimized backend – TensorRT-LLM, vLLM or SGLang – and an optimization profile for the GPU (e.g. FP8 on H100, tensor parallel degree).
3. The container exposes OpenAI-compatible endpoints (/v1/chat/completions), so applications and frameworks work without changes.
4. On Kubernetes, the NIM Operator manages deployment, scaling and model caching; metrics go to Prometheus/Grafana.
Key features for NeMo users:
• Multi-LoRA: a single base-model NIM can serve many LoRA adapters, loading them dynamically per request (specify the adapter name as the "model"). Cost-effective for multi-team or multi-tenant customization.
• Performance: continuous (in-flight) batching, paged KV cache, speculative decoding, quantization.
• Portability: the same container runs on workstations, data centers and clouds, including air-gapped environments.
Remind learners of the infrastructure session: serving needs sized GPU memory (weights + KV cache); NIM's profiles help, but sizing is still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NEMOTRON MODELS (5 min)
Nemotron is NVIDIA's family of open models, trained and post-trained with NeMo (Curator for data, Framework for training, RL for alignment). Think of it as a showcase of the NeMo pipeline and as a ready base for enterprise customization.
Sizes (naming as of 2025–26; check the catalogue for current versions):
• Nano – small models (single-digit billions of parameters) for edge devices, PCs and high-volume, low-latency tasks. Some Nano versions use hybrid Mamba-Transformer architectures for speed.
• Super – mid-size (e.g. Llama-Nemotron Super 49B), designed to deliver high accuracy while fitting a single data center GPU such as an H100/H200.
• Ultra – the largest (e.g. Llama-Nemotron Ultra 253B), for the hardest reasoning tasks and as a teacher model for distillation and synthetic data.
Notable features:
• Reasoning toggle: many Llama-Nemotron models switch reasoning on/off via the system prompt – one model for both quick answers and deep thinking.
• Open data and recipes: NVIDIA publishes large parts of the training/post-training data and recipes, which helps enterprises with transparency and auditability.
• Specialised models: reward models, safety models (NemoGuard), embedding/reranking models (NeMo Retriever), speech models (Parakeet, Canary).
• Licensing: NVIDIA Open Model License (and variants) – permits commercial use and derivative models; some models built on Llama also inherit Llama licence terms. Always have legal review the specific model card.
Message: you can customize any supported open model with NeMo; Nemotron is a strong default because the data, recipes and NIM packaging are all available from NVIDIA.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4 INTRO (1 min)
Transition: "We know the parts. Now let's put them together the way an enterprise actually would – as a platform on Kubernetes, run by a platform team, used by many application teams, governed by security and compliance, and improving over time through a data flywheel."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ARCHITECTURE (7 min)
Walk top to bottom:
Consumers: application teams (chatbots, copilots, RAG apps, agents), automated pipelines (CI/CD for models) and data scientists.
API gateway + identity: all access goes through the enterprise's gateway with SSO, role-based access control and audit logging. NeMo microservices organise resources by namespace/project, which maps well to teams.
NeMo microservices (model development plane):
• Customizer, Evaluator, Guardrails, Data Designer, Auditor – the "doing" services.
• Data Store – dataset storage with a Hugging Face-compatible API.
• Entity Store – registry of models, datasets, projects and namespaces; the system of record.
• Deployment management – deploys models/adapters to NIM.
These are installed via Helm charts (NVIDIA provides an umbrella chart) and need a database (PostgreSQL) and object/persistent storage.
Inference plane (NIM): LLM NIMs serving base models plus LoRA adapters, Retriever NIMs for RAG, safety NIMs used by Guardrails, and a vector database.
Foundation: Kubernetes with the NVIDIA GPU Operator (drivers, device plugin, DCGM) and NIM Operator, storage, GPUs on-prem or in the cloud, and observability (Prometheus, Grafana, OpenTelemetry).
Design discussion questions:
• Separate GPU node pools for training (customization) and inference so a fine-tuning job never starves production serving.
• Where does sensitive data live and who can access each namespace?
• Air-gapped deployment: NIMs and NeMo containers can be mirrored into a private registry.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FLYWHEEL (6 min)
The flywheel is where NeMo's components come together and where the enterprise value compounds.
Walk the circle clockwise from the top:
1. Deploy: a model (often initially a large, general model) serves users through NIM.
2. Log: capture prompts, responses, user feedback (thumbs up/down, edits), tool-call traces (Agent Toolkit) – with consent and in line with retention policies.
3. Curate: deduplicate, remove PII, filter for useful and high-quality interactions, and label (human review, LLM-as-a-judge, or using the large model's outputs as targets). NeMo Curator.
4. Customize: fine-tune candidate models – often smaller ones – using Customizer (LoRA/SFT) or distillation.
5. Evaluate: compare candidates against the production model on the held-out evaluation set and on recent production traffic. NeMo Evaluator.
6. Promote: deploy the candidate only if it meets quality targets while improving cost or latency. Then the loop repeats.
NVIDIA publishes an AI Blueprint for building a data flywheel with NeMo microservices; its published example showed how a much smaller fine-tuned model could replace a large model for specific agent tool-calling tasks with similar accuracy and much lower inference cost. Use it as an illustration, not a guarantee – results depend on the task.
Prerequisites (bottom right): governance for logging user data; a trusted evaluation set; automated promotion criteria; rollback plans.
Ask: "Which of your applications already produces feedback data you could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(7 min)
Tell this as a story. A company wants an assistant that drafts answers for support agents.
1. Curate: export 200K historical tickets; NeMo Curator removes PII (names, emails, account numbers), duplicates and low-quality/unresolved tickets.
2. Retrieve: index product manuals, policies and knowledge-base articles with NeMo Retriever extraction + embedding + reranking NIMs, so answers cite current policy (RAG).
3. Customize: NeMo Customizer runs a LoRA fine-tune of an 8B instruct model on 20K well-resolved tickets so it writes in the company's tone and format and knows typical resolutions.
4. Evaluate: NeMo Evaluator runs a 500-question golden set reviewed by senior agents, uses an LLM-as-a-judge for tone and correctness, and checks general benchmarks for regressions. Compare: base model + RAG vs fine-tuned model + RAG.
5. Safeguard: NeMo Guardrails – keep to support topics, mask PII, content safety, and an output check that answers are grounded in retrieved documents.
6. Deploy: an LLM NIM serves the base model with the LoRA adapter; the Agent Toolkit traces calls for latency and cost.
7. Improve: every month, answers that human agents corrected are curated into new SFT/DPO data – the flywheel.
Right panel: define success criteria up front – accuracy on the golden set, latency, and zero PII leaks in red-team testing. Targets are illustrative; each organisation sets its own.
Exercise (10 min, optional): ask groups to apply the same seven steps to one of their own use cases noted at the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ALTERNATIVES (5 min)
A balanced view builds credibility. NeMo is one option among several, and it interoperates with most of them.
• Managed cloud platforms (Bedrock, Azure AI Foundry, Vertex AI): fastest start; provider manages everything. Consider NeMo when data sovereignty or on-prem requirements apply, when you need control over the training stack, or for cost at sustained scale. Note: NeMo and NIM also run on all major clouds, so it's not cloud vs NeMo.
• Hugging Face TRL/PEFT, Axolotl, Unsloth: excellent for single-GPU/single-node fine-tuning and experimentation. NeMo shines when jobs grow to many GPUs/nodes or need FP8/optimized parallelism – and NeMo AutoModel brings Hugging Face models directly into NeMo.
• DeepSpeed / PyTorch FSDP / TorchTitan: powerful distributed training. NeMo adds tuned recipes for popular models plus curation, evaluation, guardrails and deployment in one supported stack.
• vLLM / SGLang / TGI: open inference servers. NIM actually uses vLLM and SGLang as backends in some cases; NIM adds packaging, optimization profiles, support and enterprise ops.
• Safety tools: Llama Guard (a classifier model) can be used inside NeMo Guardrails; Guardrails adds the programmable framework around classifiers.
Honest trade-offs of NeMo: tied to NVIDIA GPUs; fast-moving APIs and naming; microservices require Kubernetes skills; production support requires NVIDIA AI Enterprise licensing.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ROLES (4 min)
Map people to components – this helps participants see where they fit.
• Data engineers: build Curator pipelines, manage datasets in the Data Store, implement PII redaction, and set up production logging that feeds the flywheel.
• ML engineers / data scientists: choose base models, design customization (Customizer, Framework, NeMo RL) and – just as important – design evaluations.
• Platform / MLOps (highlighted, because they make the platform exist): install and upgrade NeMo microservices and NIMs, manage GPU node pools, build CI/CD pipelines for models (train → evaluate → approve → deploy), monitoring and cost reporting.
• Application developers: call NIM's OpenAI-compatible APIs, build RAG and agents, use the Agent Toolkit for tracing.
• Security, risk and compliance: define guardrail policies, run red-teaming (e.g. with NeMo Auditor / garak-style probes), and review model licences and data usage.
Ask: "In our organisation, which of these roles is missing or overloaded?" Usually evaluation ownership and platform/MLOps capacity are the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(5 min)
Prepare participants for the questions they'll get from security, legal and risk teams.
Data protection: NeMo and NIM can run entirely inside the enterprise boundary – on-prem, in a private VPC, even air-gapped – so training data and prompts never leave. PII can be removed at curation time (Curator) and at runtime (Guardrails). Use namespaces and RBAC to separate teams and data.
Traceability: regulators (e.g. under the EU AI Act for high-risk systems) and internal model-risk teams want to know which data trained which model version, how it was evaluated, and who approved it. The Entity Store, job records and stored evaluation results give the raw material; integrate them with your model registry/GRC tools.
Model risk: red-team before release (jailbreaks, prompt injection, data leakage, bias); enforce policies at runtime with Guardrails; keep humans in the loop for high-impact decisions.
Licensing – three layers:
1. NeMo libraries (Framework, Curator, Guardrails, RL, Agent Toolkit): open source, mostly Apache 2.0.
2. NeMo microservices and NIM: free for development/evaluation through NVIDIA's developer programme; production use and enterprise support via NVIDIA AI Enterprise (subscription, often included with certain GPU purchases or cloud marketplace offers). Confirm current terms.
3. Base models: each has its own licence (NVIDIA Open Model License, Llama Community License, Apache 2.0 for some Mistral/Qwen models, etc.). Derivatives and synthetic data use must comply.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90-DAY ROADMAP (5 min)
A practical plan participants can take back to their teams.
Days 0–30 – Explore:
• Choose ONE use case with measurable value, available data and a willing business owner (support, internal knowledge assistant, document extraction, code assistant).
• Experiment with hosted NIM endpoints at build.nvidia.com and NeMo microservices tutorials – no infrastructure needed.
• Build the golden evaluation set early – it defines "good".
• Establish a baseline with prompting + RAG; many use cases are solved here.
Days 31–60 – Prove:
• Stand up NeMo microservices and NIM in a development Kubernetes cluster (on-prem or cloud).
• Run LoRA customizations with Customizer; compare against the baseline using Evaluator.
• Add Guardrails; run red-team tests.
• Complete security, privacy and licence reviews in parallel – they take time.
Days 61–90 – Productionize:
• Production NIM deployment with autoscaling, monitoring and cost tracking.
• Automate a model CI/CD pipeline: customize → evaluate → approve → deploy, with rollback.
• Turn on (governed) logging for the flywheel.
• Prioritise the next use cases to reuse the platform – the platform's value grows with each one.
Success tip: report business metrics (time saved per ticket, deflection rate, cost per query), not just model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OUTLINE (2 min to present; 60–90 min to run)
Prerequisites for the instructor: a GPU Kubernetes cluster with NeMo microservices and an LLM NIM deployed (or NVIDIA-hosted lab environment / LaunchPad), a small instruction dataset (e.g. a few thousand customer-support or domain Q&amp;A pairs in JSONL chat format), and a 100–200 item test set held out from training.
Steps:
1. Set up: participants receive namespace credentials, upload training/validation files to the Data Store.
2. Baseline: run an Evaluator job (custom dataset + LLM-as-a-judge) on the base model. Record the score.
3. Customize: submit the Customizer LoRA job from the slide; monitor status and loss curves. On one H100, an 8B LoRA job on a few thousand examples typically completes within minutes to an hour depending on settings.
4. Evaluate: evaluate the adapter with the identical config. Compare.
5. Safeguard: apply a Guardrails configuration; try benign and adversarial prompts; observe blocked requests.
6. Reflect: group discussion – did fine-tuning beat prompting + RAG on this data? What would we log for a flywheel? What are the release criteria?
Fallback if no cluster is available: use hosted endpoints at build.nvidia.com and the open-source NeMo Guardrails library locally, and demonstrate customization from a recorded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(3 min)
Summarise:
1. Enterprises rarely need to pre-train; they customize open models with their own data, policies and cost targets.
2. Climb the customization ladder only as far as needed – and measure each step.
3. NeMo is a family of components covering the whole lifecycle, plus NIM for deployment and Nemotron as open base models.
4. The framework (open-source code) and the microservices (APIs on Kubernetes) serve different teams; many organisations use both.
5. Evaluation and guardrails are not optional extras – they are what makes GenAI acceptable to risk and compliance.
6. The data flywheel turns production usage into continuously improving, cheaper models.
Revisit the use cases participants wrote down at the start: ask two or three volunteers to name which NeMo components they would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 ANSWER KEY (10 min)
Q1. RAG first – facts change and citations are required. NeMo Retriever (extraction, embedding, reranking NIMs) plus Guardrails retrieval/output rails for grounding. Fine-tuning can later improve tone/format.
Q2. Framework = open-source Python libraries (Megatron Core based) for ML engineers/researchers needing full control, from 1 to thousands of GPUs (pre-training, large SFT/RL). Microservices = containerized REST services on Kubernetes (Customizer, Evaluator, Guardrails, Data/Entity Store) for platform teams and app developers running repeatable, governed workflows; production use via NVIDIA AI Enterprise.
Q3. Any three of: ingest/extract, clean &amp; language ID, heuristic and classifier quality filtering, deduplication (exact/fuzzy/semantic), PII redaction, blending. Deduplication avoids wasting compute, reduces memorisation and overfitting, and stops test data leaking into training data.
Q4. LoRA: limited data/compute, need to teach format/tone/domain tasks, want many small adapters served on one base model. Full SFT when LoRA plateaus or bigger behaviour changes are needed. DPO when you have preference pairs (chosen vs rejected) and want to align style, safety or policy behaviour.
Q5. Input: jailbreak/prompt-injection detection, PII masking, topic control (no investment advice). Dialog: approved flows for sensitive requests. Retrieval: filter documents by user permission. Output: content safety, PII/sensitive-data filtering, fact-checking/grounding against retrieved policy.
Q6. Deploy (NIM) → log (Agent Toolkit / app logs) → curate (Curator) → customize (Customizer) → evaluate (Evaluator) → promote (deployment management / NIM). Any three components correctly placed.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&amp; Q&amp;A (10 min)
Thank participants and open the floor. Revisit any unanswered questions from the start of the session.
Resources:
• NeMo documentation (framework, microservices, Curator, Guardrails, RL, Agent Toolkit).
• GitHub organisation NVIDIA-NeMo for the open-source libraries and examples.
• build.nvidia.com to try NIM endpoints (including Nemotron and safety models) without infrastructure.
• NVIDIA AI Blueprints for reference implementations: data flywheel, enterprise RAG, AI agents.
• NeMo Guardrails docs and the Colang language guide.
Suggested follow-ups: the hands-on lab; a deep dive on evaluation design; and the GPU infrastructure session for platform teams who will host NeMo.
Ask participants to complete the feedback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737360"/>
            <a:ext cx="6949440" cy="219456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
        <p:nvSpPr>
          <p:cNvPr id="3" name="Text 0"/>
          <p:cNvSpPr/>
          <p:nvPr>
            <p:ph idx="101" type="body" hasCustomPrompt="1"/>
          </p:nvPr>
        </p:nvSpPr>
        <p:spPr>
          <a:xfrm>
            <a:off x="640080" y="4069080"/>
            <a:ext cx="6766560" cy="822960"/>
          </a:xfrm>
          <a:prstGeom prst="rect">
            <a:avLst/>
          </a:prstGeom>
          <a:noFill/>
          <a:ln/>
        </p:spPr>
        <p:txBody>
          <a:bodyPr wrap="square" rtlCol="0"/>
          <a:lstStyle>
            <a:lvl1pPr indent="0" marL="0">
              <a:buNone/>
              <a:defRPr lang="en-US" sz="1800" dirty="0">
                <a:solidFill>
                  <a:schemeClr val="accent1"/>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463040"/>
            <a:ext cx="2743200" cy="1371600"/>
          </a:xfrm>
          <a:prstGeom prst="rect">
            <a:avLst/>
          </a:prstGeom>
          <a:noFill/>
          <a:ln/>
        </p:spPr>
        <p:txBody>
          <a:bodyPr wrap="square" rtlCol="0"/>
          <a:lstStyle>
            <a:lvl1pPr indent="0" marL="0">
              <a:buNone/>
              <a:defRPr lang="en-US" sz="8800" b="1" dirty="0">
                <a:solidFill>
                  <a:schemeClr val="accent1"/>
                </a:solidFill>
              </a:defRPr>
            </a:lvl1pPr>
          </a:lstStyle>
          <a:p>
            <a:pPr indent="0" marL="0">
              <a:buNone/>
            </a:pPr>
            <a:endParaRPr lang="en-US" sz="8800" dirty="0"/>
          </a:p>
        </p:txBody>
      </p:sp>
      <p:sp>
        <p:nvSpPr>
          <p:cNvPr id="3" name="Text 0"/>
          <p:cNvSpPr/>
          <p:nvPr>
            <p:ph idx="101" type="title" hasCustomPrompt="1"/>
          </p:nvPr>
        </p:nvSpPr>
        <p:spPr>
          <a:xfrm>
            <a:off x="640080" y="2743200"/>
            <a:ext cx="7498080" cy="13716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ph idx="102" type="body" hasCustomPrompt="1"/>
          </p:nvPr>
        </p:nvSpPr>
        <p:spPr>
          <a:xfrm>
            <a:off x="640080" y="4297680"/>
            <a:ext cx="6949440" cy="1280160"/>
          </a:xfrm>
          <a:prstGeom prst="rect">
            <a:avLst/>
          </a:prstGeom>
          <a:noFill/>
          <a:ln/>
        </p:spPr>
        <p:txBody>
          <a:bodyPr wrap="square" rtlCol="0"/>
          <a:lstStyle>
            <a:lvl1pPr indent="0" marL="0">
              <a:buNone/>
              <a:defRPr lang="en-US" sz="1800" dirty="0">
                <a:solidFill>
                  <a:srgbClr val="C9D3CC"/>
                </a:solidFill>
              </a:defRPr>
            </a:lvl1pPr>
          </a:lstStyle>
          <a:p>
            <a:pPr indent="0" marL="0">
              <a:buNone/>
            </a:pPr>
            <a:endParaRPr lang="en-US" sz="1800" dirty="0"/>
          </a:p>
        </p:txBody>
      </p:sp>
      <p:sp>
        <p:nvSpPr>
          <p:cNvPr id="5" name="Text 0"/>
          <p:cNvSpPr/>
          <p:nvPr/>
        </p:nvSpPr>
        <p:spPr>
          <a:xfrm>
            <a:off x="640080" y="6355080"/>
            <a:ext cx="7315200" cy="274320"/>
          </a:xfrm>
          <a:prstGeom prst="rect">
            <a:avLst/>
          </a:prstGeom>
          <a:noFill/>
          <a:ln/>
        </p:spPr>
        <p:txBody>
          <a:bodyPr wrap="square" lIns="0" tIns="0" rIns="0" bIns="0" rtlCol="0" anchor="ctr"/>
          <a:lstStyle/>
          <a:p>
            <a:pPr indent="0" marL="0">
              <a:buNone/>
            </a:pPr>
            <a:r>
              <a:rPr lang="en-US" sz="1000" dirty="0">
                <a:solidFill>
                  <a:srgbClr val="9AA59E"/>
                </a:solidFill>
              </a:rPr>
              <a:t>NVIDIA NeMo for Enterprise AI  |  Corporate Technical Training</a:t>
            </a:r>
            <a:endParaRPr lang="en-US" sz="1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ph idx="101" type="body" hasCustomPrompt="1"/>
          </p:nvPr>
        </p:nvSpPr>
        <p:spPr>
          <a:xfrm>
            <a:off x="548640" y="960120"/>
            <a:ext cx="11064240" cy="411480"/>
          </a:xfrm>
          <a:prstGeom prst="rect">
            <a:avLst/>
          </a:prstGeom>
          <a:noFill/>
          <a:ln/>
        </p:spPr>
        <p:txBody>
          <a:bodyPr wrap="square" rtlCol="0"/>
          <a:lstStyle>
            <a:lvl1pPr indent="0" marL="0">
              <a:buNone/>
              <a:defRPr lang="en-US" sz="1600" dirty="0">
                <a:solidFill>
                  <a:schemeClr val="accent5"/>
                </a:solidFill>
              </a:defRPr>
            </a:lvl1pPr>
          </a:lstStyle>
          <a:p>
            <a:pPr indent="0" marL="0">
              <a:buNone/>
            </a:pPr>
            <a:endParaRPr lang="en-US" sz="1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NVIDIA NeMo for Enterprise AI  |  Corporate Technical Training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ph idx="101" type="body" hasCustomPrompt="1"/>
          </p:nvPr>
        </p:nvSpPr>
        <p:spPr>
          <a:xfrm>
            <a:off x="548640" y="960120"/>
            <a:ext cx="11064240" cy="411480"/>
          </a:xfrm>
          <a:prstGeom prst="rect">
            <a:avLst/>
          </a:prstGeom>
          <a:noFill/>
          <a:ln/>
        </p:spPr>
        <p:txBody>
          <a:bodyPr wrap="square" rtlCol="0"/>
          <a:lstStyle>
            <a:lvl1pPr indent="0" marL="0">
              <a:buNone/>
              <a:defRPr lang="en-US" sz="1600" dirty="0">
                <a:solidFill>
                  <a:schemeClr val="accent1"/>
                </a:solidFill>
              </a:defRPr>
            </a:lvl1pPr>
          </a:lstStyle>
          <a:p>
            <a:pPr indent="0" marL="0">
              <a:buNone/>
            </a:pPr>
            <a:endParaRPr lang="en-US" sz="16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9AA59E"/>
                </a:solidFill>
              </a:rPr>
              <a:t>NVIDIA NeMo for Enterprise AI  |  Corporate Technical Training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E"/>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4.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4.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4.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4.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4.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4.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4.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4.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4.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4.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4.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slideLayout" Target="../slideLayouts/slideLayout4.xml"/><Relationship Id="rId9"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slideLayout" Target="../slideLayouts/slideLayout4.xml"/><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slideLayout" Target="../slideLayouts/slideLayout4.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097280"/>
            <a:ext cx="6400800" cy="365760"/>
          </a:xfrm>
          <a:prstGeom prst="rect">
            <a:avLst/>
          </a:prstGeom>
          <a:noFill/>
          <a:ln/>
        </p:spPr>
        <p:txBody>
          <a:bodyPr wrap="square" lIns="0" tIns="0" rIns="0" bIns="0" rtlCol="0" anchor="t"/>
          <a:lstStyle/>
          <a:p>
            <a:pPr indent="0" marL="0">
              <a:buNone/>
            </a:pPr>
            <a:r>
              <a:rPr lang="en-US" sz="1400" b="1" spc="300" kern="0" dirty="0">
                <a:solidFill>
                  <a:schemeClr val="accent1"/>
                </a:solidFill>
              </a:rPr>
              <a:t>CORPORATE TECHNICAL TRAINING</a:t>
            </a:r>
            <a:endParaRPr lang="en-US" sz="1400" dirty="0"/>
          </a:p>
        </p:txBody>
      </p:sp>
      <p:sp>
        <p:nvSpPr>
          <p:cNvPr id="3" name="Text 0"/>
          <p:cNvSpPr/>
          <p:nvPr>
            <p:ph idx="100" type="title" hasCustomPrompt="1"/>
          </p:nvPr>
        </p:nvSpPr>
        <p:spPr>
          <a:xfrm>
            <a:off x="640080" y="1737360"/>
            <a:ext cx="6949440" cy="2194560"/>
          </a:xfrm>
          <a:prstGeom prst="rect">
            <a:avLst/>
          </a:prstGeom>
          <a:noFill/>
          <a:ln/>
        </p:spPr>
        <p:txBody>
          <a:bodyPr wrap="square" lIns="0" tIns="0" rIns="0" bIns="0" rtlCol="0" anchor="t"/>
          <a:lstStyle/>
          <a:p>
            <a:pPr algn="l" indent="0" marL="0">
              <a:buNone/>
            </a:pPr>
            <a:r>
              <a:rPr lang="en-US" sz="4200" b="1" dirty="0">
                <a:solidFill>
                  <a:schemeClr val="bg1"/>
                </a:solidFill>
              </a:rPr>
              <a:t>Introduction to NVIDIA NeMo</a:t>
            </a:r>
            <a:endParaRPr lang="en-US" sz="4200" dirty="0"/>
          </a:p>
        </p:txBody>
      </p:sp>
      <p:sp>
        <p:nvSpPr>
          <p:cNvPr id="4" name="Text 0"/>
          <p:cNvSpPr/>
          <p:nvPr>
            <p:ph idx="101" type="body" hasCustomPrompt="1"/>
          </p:nvPr>
        </p:nvSpPr>
        <p:spPr>
          <a:xfrm>
            <a:off x="640080" y="4069080"/>
            <a:ext cx="6766560" cy="822960"/>
          </a:xfrm>
          <a:prstGeom prst="rect">
            <a:avLst/>
          </a:prstGeom>
          <a:noFill/>
          <a:ln/>
        </p:spPr>
        <p:txBody>
          <a:bodyPr wrap="square" lIns="0" tIns="0" rIns="0" bIns="0" rtlCol="0" anchor="t"/>
          <a:lstStyle/>
          <a:p>
            <a:pPr indent="0" marL="0">
              <a:buNone/>
            </a:pPr>
            <a:r>
              <a:rPr lang="en-US" sz="1800" dirty="0">
                <a:solidFill>
                  <a:schemeClr val="accent1"/>
                </a:solidFill>
              </a:rPr>
              <a:t>Its place in enterprise model development: from raw data to safe, deployed and continuously improving AI</a:t>
            </a:r>
            <a:endParaRPr lang="en-US" sz="1800" dirty="0"/>
          </a:p>
        </p:txBody>
      </p:sp>
      <p:sp>
        <p:nvSpPr>
          <p:cNvPr id="5" name="Text 3"/>
          <p:cNvSpPr txBox="1"/>
          <p:nvPr/>
        </p:nvSpPr>
        <p:spPr>
          <a:xfrm>
            <a:off x="640080" y="5989320"/>
            <a:ext cx="7315200" cy="365760"/>
          </a:xfrm>
          <a:prstGeom prst="rect">
            <a:avLst/>
          </a:prstGeom>
          <a:noFill/>
          <a:ln/>
        </p:spPr>
        <p:txBody>
          <a:bodyPr wrap="square" lIns="0" tIns="0" rIns="0" bIns="0" rtlCol="0" anchor="t"/>
          <a:lstStyle/>
          <a:p>
            <a:pPr indent="0" marL="0">
              <a:buNone/>
            </a:pPr>
            <a:r>
              <a:rPr lang="en-US" sz="1300" dirty="0">
                <a:solidFill>
                  <a:srgbClr val="9AA59E"/>
                </a:solidFill>
              </a:rPr>
              <a:t>Instructor edition  ·  Detailed speaker notes on every slide  ·  ~2.5 hours</a:t>
            </a:r>
            <a:endParaRPr lang="en-US" sz="1300" dirty="0"/>
          </a:p>
        </p:txBody>
      </p:sp>
      <p:sp>
        <p:nvSpPr>
          <p:cNvPr id="6" name="Shape 4"/>
          <p:cNvSpPr/>
          <p:nvPr/>
        </p:nvSpPr>
        <p:spPr>
          <a:xfrm>
            <a:off x="8321040" y="822960"/>
            <a:ext cx="457200" cy="481584"/>
          </a:xfrm>
          <a:prstGeom prst="roundRect">
            <a:avLst>
              <a:gd name="adj" fmla="val 8000"/>
            </a:avLst>
          </a:prstGeom>
          <a:solidFill>
            <a:schemeClr val="accent1"/>
          </a:solidFill>
          <a:ln/>
        </p:spPr>
      </p:sp>
      <p:sp>
        <p:nvSpPr>
          <p:cNvPr id="7" name="Shape 5"/>
          <p:cNvSpPr/>
          <p:nvPr/>
        </p:nvSpPr>
        <p:spPr>
          <a:xfrm>
            <a:off x="8887968" y="822960"/>
            <a:ext cx="457200" cy="481584"/>
          </a:xfrm>
          <a:prstGeom prst="roundRect">
            <a:avLst>
              <a:gd name="adj" fmla="val 8000"/>
            </a:avLst>
          </a:prstGeom>
          <a:solidFill>
            <a:schemeClr val="accent1">
              <a:alpha val="20000"/>
            </a:schemeClr>
          </a:solidFill>
          <a:ln/>
        </p:spPr>
      </p:sp>
      <p:sp>
        <p:nvSpPr>
          <p:cNvPr id="8" name="Shape 6"/>
          <p:cNvSpPr/>
          <p:nvPr/>
        </p:nvSpPr>
        <p:spPr>
          <a:xfrm>
            <a:off x="9454896" y="822960"/>
            <a:ext cx="457200" cy="481584"/>
          </a:xfrm>
          <a:prstGeom prst="roundRect">
            <a:avLst>
              <a:gd name="adj" fmla="val 8000"/>
            </a:avLst>
          </a:prstGeom>
          <a:solidFill>
            <a:schemeClr val="accent1">
              <a:alpha val="45000"/>
            </a:schemeClr>
          </a:solidFill>
          <a:ln/>
        </p:spPr>
      </p:sp>
      <p:sp>
        <p:nvSpPr>
          <p:cNvPr id="9" name="Shape 7"/>
          <p:cNvSpPr/>
          <p:nvPr/>
        </p:nvSpPr>
        <p:spPr>
          <a:xfrm>
            <a:off x="10021824" y="822960"/>
            <a:ext cx="457200" cy="481584"/>
          </a:xfrm>
          <a:prstGeom prst="roundRect">
            <a:avLst>
              <a:gd name="adj" fmla="val 8000"/>
            </a:avLst>
          </a:prstGeom>
          <a:solidFill>
            <a:schemeClr val="accent1">
              <a:alpha val="75000"/>
            </a:schemeClr>
          </a:solidFill>
          <a:ln/>
        </p:spPr>
      </p:sp>
      <p:sp>
        <p:nvSpPr>
          <p:cNvPr id="10" name="Shape 8"/>
          <p:cNvSpPr/>
          <p:nvPr/>
        </p:nvSpPr>
        <p:spPr>
          <a:xfrm>
            <a:off x="10588752" y="822960"/>
            <a:ext cx="457200" cy="481584"/>
          </a:xfrm>
          <a:prstGeom prst="roundRect">
            <a:avLst>
              <a:gd name="adj" fmla="val 8000"/>
            </a:avLst>
          </a:prstGeom>
          <a:solidFill>
            <a:schemeClr val="accent1"/>
          </a:solidFill>
          <a:ln/>
        </p:spPr>
      </p:sp>
      <p:sp>
        <p:nvSpPr>
          <p:cNvPr id="11" name="Shape 9"/>
          <p:cNvSpPr/>
          <p:nvPr/>
        </p:nvSpPr>
        <p:spPr>
          <a:xfrm>
            <a:off x="11155680" y="822960"/>
            <a:ext cx="457200" cy="481584"/>
          </a:xfrm>
          <a:prstGeom prst="roundRect">
            <a:avLst>
              <a:gd name="adj" fmla="val 8000"/>
            </a:avLst>
          </a:prstGeom>
          <a:solidFill>
            <a:schemeClr val="accent1">
              <a:alpha val="20000"/>
            </a:schemeClr>
          </a:solidFill>
          <a:ln/>
        </p:spPr>
      </p:sp>
      <p:sp>
        <p:nvSpPr>
          <p:cNvPr id="12" name="Shape 10"/>
          <p:cNvSpPr/>
          <p:nvPr/>
        </p:nvSpPr>
        <p:spPr>
          <a:xfrm>
            <a:off x="8321040" y="1414272"/>
            <a:ext cx="457200" cy="481584"/>
          </a:xfrm>
          <a:prstGeom prst="roundRect">
            <a:avLst>
              <a:gd name="adj" fmla="val 8000"/>
            </a:avLst>
          </a:prstGeom>
          <a:solidFill>
            <a:schemeClr val="accent1">
              <a:alpha val="20000"/>
            </a:schemeClr>
          </a:solidFill>
          <a:ln/>
        </p:spPr>
      </p:sp>
      <p:sp>
        <p:nvSpPr>
          <p:cNvPr id="13" name="Shape 11"/>
          <p:cNvSpPr/>
          <p:nvPr/>
        </p:nvSpPr>
        <p:spPr>
          <a:xfrm>
            <a:off x="8887968" y="1414272"/>
            <a:ext cx="457200" cy="481584"/>
          </a:xfrm>
          <a:prstGeom prst="roundRect">
            <a:avLst>
              <a:gd name="adj" fmla="val 8000"/>
            </a:avLst>
          </a:prstGeom>
          <a:solidFill>
            <a:schemeClr val="accent1">
              <a:alpha val="20000"/>
            </a:schemeClr>
          </a:solidFill>
          <a:ln/>
        </p:spPr>
      </p:sp>
      <p:sp>
        <p:nvSpPr>
          <p:cNvPr id="14" name="Shape 12"/>
          <p:cNvSpPr/>
          <p:nvPr/>
        </p:nvSpPr>
        <p:spPr>
          <a:xfrm>
            <a:off x="9454896" y="1414272"/>
            <a:ext cx="457200" cy="481584"/>
          </a:xfrm>
          <a:prstGeom prst="roundRect">
            <a:avLst>
              <a:gd name="adj" fmla="val 8000"/>
            </a:avLst>
          </a:prstGeom>
          <a:solidFill>
            <a:schemeClr val="accent1">
              <a:alpha val="20000"/>
            </a:schemeClr>
          </a:solidFill>
          <a:ln/>
        </p:spPr>
      </p:sp>
      <p:sp>
        <p:nvSpPr>
          <p:cNvPr id="15" name="Shape 13"/>
          <p:cNvSpPr/>
          <p:nvPr/>
        </p:nvSpPr>
        <p:spPr>
          <a:xfrm>
            <a:off x="10021824" y="1414272"/>
            <a:ext cx="457200" cy="481584"/>
          </a:xfrm>
          <a:prstGeom prst="roundRect">
            <a:avLst>
              <a:gd name="adj" fmla="val 8000"/>
            </a:avLst>
          </a:prstGeom>
          <a:solidFill>
            <a:schemeClr val="accent1">
              <a:alpha val="20000"/>
            </a:schemeClr>
          </a:solidFill>
          <a:ln/>
        </p:spPr>
      </p:sp>
      <p:sp>
        <p:nvSpPr>
          <p:cNvPr id="16" name="Shape 14"/>
          <p:cNvSpPr/>
          <p:nvPr/>
        </p:nvSpPr>
        <p:spPr>
          <a:xfrm>
            <a:off x="10588752" y="1414272"/>
            <a:ext cx="457200" cy="481584"/>
          </a:xfrm>
          <a:prstGeom prst="roundRect">
            <a:avLst>
              <a:gd name="adj" fmla="val 8000"/>
            </a:avLst>
          </a:prstGeom>
          <a:solidFill>
            <a:schemeClr val="accent1">
              <a:alpha val="20000"/>
            </a:schemeClr>
          </a:solidFill>
          <a:ln/>
        </p:spPr>
      </p:sp>
      <p:sp>
        <p:nvSpPr>
          <p:cNvPr id="17" name="Shape 15"/>
          <p:cNvSpPr/>
          <p:nvPr/>
        </p:nvSpPr>
        <p:spPr>
          <a:xfrm>
            <a:off x="11155680" y="1414272"/>
            <a:ext cx="457200" cy="481584"/>
          </a:xfrm>
          <a:prstGeom prst="roundRect">
            <a:avLst>
              <a:gd name="adj" fmla="val 8000"/>
            </a:avLst>
          </a:prstGeom>
          <a:solidFill>
            <a:schemeClr val="accent1">
              <a:alpha val="20000"/>
            </a:schemeClr>
          </a:solidFill>
          <a:ln/>
        </p:spPr>
      </p:sp>
      <p:sp>
        <p:nvSpPr>
          <p:cNvPr id="18" name="Shape 16"/>
          <p:cNvSpPr/>
          <p:nvPr/>
        </p:nvSpPr>
        <p:spPr>
          <a:xfrm>
            <a:off x="8321040" y="2005584"/>
            <a:ext cx="457200" cy="481584"/>
          </a:xfrm>
          <a:prstGeom prst="roundRect">
            <a:avLst>
              <a:gd name="adj" fmla="val 8000"/>
            </a:avLst>
          </a:prstGeom>
          <a:solidFill>
            <a:schemeClr val="accent1">
              <a:alpha val="45000"/>
            </a:schemeClr>
          </a:solidFill>
          <a:ln/>
        </p:spPr>
      </p:sp>
      <p:sp>
        <p:nvSpPr>
          <p:cNvPr id="19" name="Shape 17"/>
          <p:cNvSpPr/>
          <p:nvPr/>
        </p:nvSpPr>
        <p:spPr>
          <a:xfrm>
            <a:off x="8887968" y="2005584"/>
            <a:ext cx="457200" cy="481584"/>
          </a:xfrm>
          <a:prstGeom prst="roundRect">
            <a:avLst>
              <a:gd name="adj" fmla="val 8000"/>
            </a:avLst>
          </a:prstGeom>
          <a:solidFill>
            <a:schemeClr val="accent1">
              <a:alpha val="20000"/>
            </a:schemeClr>
          </a:solidFill>
          <a:ln/>
        </p:spPr>
      </p:sp>
      <p:sp>
        <p:nvSpPr>
          <p:cNvPr id="20" name="Shape 18"/>
          <p:cNvSpPr/>
          <p:nvPr/>
        </p:nvSpPr>
        <p:spPr>
          <a:xfrm>
            <a:off x="9454896" y="2005584"/>
            <a:ext cx="457200" cy="481584"/>
          </a:xfrm>
          <a:prstGeom prst="roundRect">
            <a:avLst>
              <a:gd name="adj" fmla="val 8000"/>
            </a:avLst>
          </a:prstGeom>
          <a:solidFill>
            <a:schemeClr val="accent1"/>
          </a:solidFill>
          <a:ln/>
        </p:spPr>
      </p:sp>
      <p:sp>
        <p:nvSpPr>
          <p:cNvPr id="21" name="Shape 19"/>
          <p:cNvSpPr/>
          <p:nvPr/>
        </p:nvSpPr>
        <p:spPr>
          <a:xfrm>
            <a:off x="10021824" y="2005584"/>
            <a:ext cx="457200" cy="481584"/>
          </a:xfrm>
          <a:prstGeom prst="roundRect">
            <a:avLst>
              <a:gd name="adj" fmla="val 8000"/>
            </a:avLst>
          </a:prstGeom>
          <a:solidFill>
            <a:schemeClr val="accent1">
              <a:alpha val="75000"/>
            </a:schemeClr>
          </a:solidFill>
          <a:ln/>
        </p:spPr>
      </p:sp>
      <p:sp>
        <p:nvSpPr>
          <p:cNvPr id="22" name="Shape 20"/>
          <p:cNvSpPr/>
          <p:nvPr/>
        </p:nvSpPr>
        <p:spPr>
          <a:xfrm>
            <a:off x="10588752" y="2005584"/>
            <a:ext cx="457200" cy="481584"/>
          </a:xfrm>
          <a:prstGeom prst="roundRect">
            <a:avLst>
              <a:gd name="adj" fmla="val 8000"/>
            </a:avLst>
          </a:prstGeom>
          <a:solidFill>
            <a:schemeClr val="accent1">
              <a:alpha val="45000"/>
            </a:schemeClr>
          </a:solidFill>
          <a:ln/>
        </p:spPr>
      </p:sp>
      <p:sp>
        <p:nvSpPr>
          <p:cNvPr id="23" name="Shape 21"/>
          <p:cNvSpPr/>
          <p:nvPr/>
        </p:nvSpPr>
        <p:spPr>
          <a:xfrm>
            <a:off x="11155680" y="2005584"/>
            <a:ext cx="457200" cy="481584"/>
          </a:xfrm>
          <a:prstGeom prst="roundRect">
            <a:avLst>
              <a:gd name="adj" fmla="val 8000"/>
            </a:avLst>
          </a:prstGeom>
          <a:solidFill>
            <a:schemeClr val="accent1">
              <a:alpha val="20000"/>
            </a:schemeClr>
          </a:solidFill>
          <a:ln/>
        </p:spPr>
      </p:sp>
      <p:sp>
        <p:nvSpPr>
          <p:cNvPr id="24" name="Shape 22"/>
          <p:cNvSpPr/>
          <p:nvPr/>
        </p:nvSpPr>
        <p:spPr>
          <a:xfrm>
            <a:off x="8321040" y="2596896"/>
            <a:ext cx="457200" cy="481584"/>
          </a:xfrm>
          <a:prstGeom prst="roundRect">
            <a:avLst>
              <a:gd name="adj" fmla="val 8000"/>
            </a:avLst>
          </a:prstGeom>
          <a:solidFill>
            <a:schemeClr val="accent1">
              <a:alpha val="75000"/>
            </a:schemeClr>
          </a:solidFill>
          <a:ln/>
        </p:spPr>
      </p:sp>
      <p:sp>
        <p:nvSpPr>
          <p:cNvPr id="25" name="Shape 23"/>
          <p:cNvSpPr/>
          <p:nvPr/>
        </p:nvSpPr>
        <p:spPr>
          <a:xfrm>
            <a:off x="8887968" y="2596896"/>
            <a:ext cx="457200" cy="481584"/>
          </a:xfrm>
          <a:prstGeom prst="roundRect">
            <a:avLst>
              <a:gd name="adj" fmla="val 8000"/>
            </a:avLst>
          </a:prstGeom>
          <a:solidFill>
            <a:schemeClr val="accent1">
              <a:alpha val="20000"/>
            </a:schemeClr>
          </a:solidFill>
          <a:ln/>
        </p:spPr>
      </p:sp>
      <p:sp>
        <p:nvSpPr>
          <p:cNvPr id="26" name="Shape 24"/>
          <p:cNvSpPr/>
          <p:nvPr/>
        </p:nvSpPr>
        <p:spPr>
          <a:xfrm>
            <a:off x="9454896" y="2596896"/>
            <a:ext cx="457200" cy="481584"/>
          </a:xfrm>
          <a:prstGeom prst="roundRect">
            <a:avLst>
              <a:gd name="adj" fmla="val 8000"/>
            </a:avLst>
          </a:prstGeom>
          <a:solidFill>
            <a:schemeClr val="accent1">
              <a:alpha val="75000"/>
            </a:schemeClr>
          </a:solidFill>
          <a:ln/>
        </p:spPr>
      </p:sp>
      <p:sp>
        <p:nvSpPr>
          <p:cNvPr id="27" name="Shape 25"/>
          <p:cNvSpPr/>
          <p:nvPr/>
        </p:nvSpPr>
        <p:spPr>
          <a:xfrm>
            <a:off x="10021824" y="2596896"/>
            <a:ext cx="457200" cy="481584"/>
          </a:xfrm>
          <a:prstGeom prst="roundRect">
            <a:avLst>
              <a:gd name="adj" fmla="val 8000"/>
            </a:avLst>
          </a:prstGeom>
          <a:solidFill>
            <a:schemeClr val="accent1">
              <a:alpha val="20000"/>
            </a:schemeClr>
          </a:solidFill>
          <a:ln/>
        </p:spPr>
      </p:sp>
      <p:sp>
        <p:nvSpPr>
          <p:cNvPr id="28" name="Shape 26"/>
          <p:cNvSpPr/>
          <p:nvPr/>
        </p:nvSpPr>
        <p:spPr>
          <a:xfrm>
            <a:off x="10588752" y="2596896"/>
            <a:ext cx="457200" cy="481584"/>
          </a:xfrm>
          <a:prstGeom prst="roundRect">
            <a:avLst>
              <a:gd name="adj" fmla="val 8000"/>
            </a:avLst>
          </a:prstGeom>
          <a:solidFill>
            <a:schemeClr val="accent1">
              <a:alpha val="75000"/>
            </a:schemeClr>
          </a:solidFill>
          <a:ln/>
        </p:spPr>
      </p:sp>
      <p:sp>
        <p:nvSpPr>
          <p:cNvPr id="29" name="Shape 27"/>
          <p:cNvSpPr/>
          <p:nvPr/>
        </p:nvSpPr>
        <p:spPr>
          <a:xfrm>
            <a:off x="11155680" y="2596896"/>
            <a:ext cx="457200" cy="481584"/>
          </a:xfrm>
          <a:prstGeom prst="roundRect">
            <a:avLst>
              <a:gd name="adj" fmla="val 8000"/>
            </a:avLst>
          </a:prstGeom>
          <a:solidFill>
            <a:schemeClr val="accent1">
              <a:alpha val="20000"/>
            </a:schemeClr>
          </a:solidFill>
          <a:ln/>
        </p:spPr>
      </p:sp>
      <p:sp>
        <p:nvSpPr>
          <p:cNvPr id="30" name="Shape 28"/>
          <p:cNvSpPr/>
          <p:nvPr/>
        </p:nvSpPr>
        <p:spPr>
          <a:xfrm>
            <a:off x="8321040" y="3188208"/>
            <a:ext cx="457200" cy="481584"/>
          </a:xfrm>
          <a:prstGeom prst="roundRect">
            <a:avLst>
              <a:gd name="adj" fmla="val 8000"/>
            </a:avLst>
          </a:prstGeom>
          <a:solidFill>
            <a:schemeClr val="accent1"/>
          </a:solidFill>
          <a:ln/>
        </p:spPr>
      </p:sp>
      <p:sp>
        <p:nvSpPr>
          <p:cNvPr id="31" name="Shape 29"/>
          <p:cNvSpPr/>
          <p:nvPr/>
        </p:nvSpPr>
        <p:spPr>
          <a:xfrm>
            <a:off x="8887968" y="3188208"/>
            <a:ext cx="457200" cy="481584"/>
          </a:xfrm>
          <a:prstGeom prst="roundRect">
            <a:avLst>
              <a:gd name="adj" fmla="val 8000"/>
            </a:avLst>
          </a:prstGeom>
          <a:solidFill>
            <a:schemeClr val="accent1">
              <a:alpha val="20000"/>
            </a:schemeClr>
          </a:solidFill>
          <a:ln/>
        </p:spPr>
      </p:sp>
      <p:sp>
        <p:nvSpPr>
          <p:cNvPr id="32" name="Shape 30"/>
          <p:cNvSpPr/>
          <p:nvPr/>
        </p:nvSpPr>
        <p:spPr>
          <a:xfrm>
            <a:off x="9454896" y="3188208"/>
            <a:ext cx="457200" cy="481584"/>
          </a:xfrm>
          <a:prstGeom prst="roundRect">
            <a:avLst>
              <a:gd name="adj" fmla="val 8000"/>
            </a:avLst>
          </a:prstGeom>
          <a:solidFill>
            <a:schemeClr val="accent1">
              <a:alpha val="45000"/>
            </a:schemeClr>
          </a:solidFill>
          <a:ln/>
        </p:spPr>
      </p:sp>
      <p:sp>
        <p:nvSpPr>
          <p:cNvPr id="33" name="Shape 31"/>
          <p:cNvSpPr/>
          <p:nvPr/>
        </p:nvSpPr>
        <p:spPr>
          <a:xfrm>
            <a:off x="10021824" y="3188208"/>
            <a:ext cx="457200" cy="481584"/>
          </a:xfrm>
          <a:prstGeom prst="roundRect">
            <a:avLst>
              <a:gd name="adj" fmla="val 8000"/>
            </a:avLst>
          </a:prstGeom>
          <a:solidFill>
            <a:schemeClr val="accent1">
              <a:alpha val="75000"/>
            </a:schemeClr>
          </a:solidFill>
          <a:ln/>
        </p:spPr>
      </p:sp>
      <p:sp>
        <p:nvSpPr>
          <p:cNvPr id="34" name="Shape 32"/>
          <p:cNvSpPr/>
          <p:nvPr/>
        </p:nvSpPr>
        <p:spPr>
          <a:xfrm>
            <a:off x="10588752" y="3188208"/>
            <a:ext cx="457200" cy="481584"/>
          </a:xfrm>
          <a:prstGeom prst="roundRect">
            <a:avLst>
              <a:gd name="adj" fmla="val 8000"/>
            </a:avLst>
          </a:prstGeom>
          <a:solidFill>
            <a:schemeClr val="accent1"/>
          </a:solidFill>
          <a:ln/>
        </p:spPr>
      </p:sp>
      <p:sp>
        <p:nvSpPr>
          <p:cNvPr id="35" name="Shape 33"/>
          <p:cNvSpPr/>
          <p:nvPr/>
        </p:nvSpPr>
        <p:spPr>
          <a:xfrm>
            <a:off x="11155680" y="3188208"/>
            <a:ext cx="457200" cy="481584"/>
          </a:xfrm>
          <a:prstGeom prst="roundRect">
            <a:avLst>
              <a:gd name="adj" fmla="val 8000"/>
            </a:avLst>
          </a:prstGeom>
          <a:solidFill>
            <a:schemeClr val="accent1">
              <a:alpha val="20000"/>
            </a:schemeClr>
          </a:solidFill>
          <a:ln/>
        </p:spPr>
      </p:sp>
      <p:sp>
        <p:nvSpPr>
          <p:cNvPr id="36" name="Shape 34"/>
          <p:cNvSpPr/>
          <p:nvPr/>
        </p:nvSpPr>
        <p:spPr>
          <a:xfrm>
            <a:off x="8321040" y="3779520"/>
            <a:ext cx="457200" cy="481584"/>
          </a:xfrm>
          <a:prstGeom prst="roundRect">
            <a:avLst>
              <a:gd name="adj" fmla="val 8000"/>
            </a:avLst>
          </a:prstGeom>
          <a:solidFill>
            <a:schemeClr val="accent1">
              <a:alpha val="20000"/>
            </a:schemeClr>
          </a:solidFill>
          <a:ln/>
        </p:spPr>
      </p:sp>
      <p:sp>
        <p:nvSpPr>
          <p:cNvPr id="37" name="Shape 35"/>
          <p:cNvSpPr/>
          <p:nvPr/>
        </p:nvSpPr>
        <p:spPr>
          <a:xfrm>
            <a:off x="8887968" y="3779520"/>
            <a:ext cx="457200" cy="481584"/>
          </a:xfrm>
          <a:prstGeom prst="roundRect">
            <a:avLst>
              <a:gd name="adj" fmla="val 8000"/>
            </a:avLst>
          </a:prstGeom>
          <a:solidFill>
            <a:schemeClr val="accent1">
              <a:alpha val="20000"/>
            </a:schemeClr>
          </a:solidFill>
          <a:ln/>
        </p:spPr>
      </p:sp>
      <p:sp>
        <p:nvSpPr>
          <p:cNvPr id="38" name="Shape 36"/>
          <p:cNvSpPr/>
          <p:nvPr/>
        </p:nvSpPr>
        <p:spPr>
          <a:xfrm>
            <a:off x="9454896" y="3779520"/>
            <a:ext cx="457200" cy="481584"/>
          </a:xfrm>
          <a:prstGeom prst="roundRect">
            <a:avLst>
              <a:gd name="adj" fmla="val 8000"/>
            </a:avLst>
          </a:prstGeom>
          <a:solidFill>
            <a:schemeClr val="accent1">
              <a:alpha val="20000"/>
            </a:schemeClr>
          </a:solidFill>
          <a:ln/>
        </p:spPr>
      </p:sp>
      <p:sp>
        <p:nvSpPr>
          <p:cNvPr id="39" name="Shape 37"/>
          <p:cNvSpPr/>
          <p:nvPr/>
        </p:nvSpPr>
        <p:spPr>
          <a:xfrm>
            <a:off x="10021824" y="3779520"/>
            <a:ext cx="457200" cy="481584"/>
          </a:xfrm>
          <a:prstGeom prst="roundRect">
            <a:avLst>
              <a:gd name="adj" fmla="val 8000"/>
            </a:avLst>
          </a:prstGeom>
          <a:solidFill>
            <a:schemeClr val="accent1">
              <a:alpha val="20000"/>
            </a:schemeClr>
          </a:solidFill>
          <a:ln/>
        </p:spPr>
      </p:sp>
      <p:sp>
        <p:nvSpPr>
          <p:cNvPr id="40" name="Shape 38"/>
          <p:cNvSpPr/>
          <p:nvPr/>
        </p:nvSpPr>
        <p:spPr>
          <a:xfrm>
            <a:off x="10588752" y="3779520"/>
            <a:ext cx="457200" cy="481584"/>
          </a:xfrm>
          <a:prstGeom prst="roundRect">
            <a:avLst>
              <a:gd name="adj" fmla="val 8000"/>
            </a:avLst>
          </a:prstGeom>
          <a:solidFill>
            <a:schemeClr val="accent1">
              <a:alpha val="20000"/>
            </a:schemeClr>
          </a:solidFill>
          <a:ln/>
        </p:spPr>
      </p:sp>
      <p:sp>
        <p:nvSpPr>
          <p:cNvPr id="41" name="Shape 39"/>
          <p:cNvSpPr/>
          <p:nvPr/>
        </p:nvSpPr>
        <p:spPr>
          <a:xfrm>
            <a:off x="11155680" y="3779520"/>
            <a:ext cx="457200" cy="481584"/>
          </a:xfrm>
          <a:prstGeom prst="roundRect">
            <a:avLst>
              <a:gd name="adj" fmla="val 8000"/>
            </a:avLst>
          </a:prstGeom>
          <a:solidFill>
            <a:schemeClr val="accent1">
              <a:alpha val="20000"/>
            </a:schemeClr>
          </a:solidFill>
          <a:ln/>
        </p:spPr>
      </p:sp>
      <p:sp>
        <p:nvSpPr>
          <p:cNvPr id="42" name="Shape 40"/>
          <p:cNvSpPr/>
          <p:nvPr/>
        </p:nvSpPr>
        <p:spPr>
          <a:xfrm>
            <a:off x="8321040" y="4370832"/>
            <a:ext cx="457200" cy="481584"/>
          </a:xfrm>
          <a:prstGeom prst="roundRect">
            <a:avLst>
              <a:gd name="adj" fmla="val 8000"/>
            </a:avLst>
          </a:prstGeom>
          <a:solidFill>
            <a:schemeClr val="accent1">
              <a:alpha val="45000"/>
            </a:schemeClr>
          </a:solidFill>
          <a:ln/>
        </p:spPr>
      </p:sp>
      <p:sp>
        <p:nvSpPr>
          <p:cNvPr id="43" name="Shape 41"/>
          <p:cNvSpPr/>
          <p:nvPr/>
        </p:nvSpPr>
        <p:spPr>
          <a:xfrm>
            <a:off x="8887968" y="4370832"/>
            <a:ext cx="457200" cy="481584"/>
          </a:xfrm>
          <a:prstGeom prst="roundRect">
            <a:avLst>
              <a:gd name="adj" fmla="val 8000"/>
            </a:avLst>
          </a:prstGeom>
          <a:solidFill>
            <a:schemeClr val="accent1">
              <a:alpha val="20000"/>
            </a:schemeClr>
          </a:solidFill>
          <a:ln/>
        </p:spPr>
      </p:sp>
      <p:sp>
        <p:nvSpPr>
          <p:cNvPr id="44" name="Shape 42"/>
          <p:cNvSpPr/>
          <p:nvPr/>
        </p:nvSpPr>
        <p:spPr>
          <a:xfrm>
            <a:off x="9454896" y="4370832"/>
            <a:ext cx="457200" cy="481584"/>
          </a:xfrm>
          <a:prstGeom prst="roundRect">
            <a:avLst>
              <a:gd name="adj" fmla="val 8000"/>
            </a:avLst>
          </a:prstGeom>
          <a:solidFill>
            <a:schemeClr val="accent1"/>
          </a:solidFill>
          <a:ln/>
        </p:spPr>
      </p:sp>
      <p:sp>
        <p:nvSpPr>
          <p:cNvPr id="45" name="Shape 43"/>
          <p:cNvSpPr/>
          <p:nvPr/>
        </p:nvSpPr>
        <p:spPr>
          <a:xfrm>
            <a:off x="10021824" y="4370832"/>
            <a:ext cx="457200" cy="481584"/>
          </a:xfrm>
          <a:prstGeom prst="roundRect">
            <a:avLst>
              <a:gd name="adj" fmla="val 8000"/>
            </a:avLst>
          </a:prstGeom>
          <a:solidFill>
            <a:schemeClr val="accent1">
              <a:alpha val="75000"/>
            </a:schemeClr>
          </a:solidFill>
          <a:ln/>
        </p:spPr>
      </p:sp>
      <p:sp>
        <p:nvSpPr>
          <p:cNvPr id="46" name="Shape 44"/>
          <p:cNvSpPr/>
          <p:nvPr/>
        </p:nvSpPr>
        <p:spPr>
          <a:xfrm>
            <a:off x="10588752" y="4370832"/>
            <a:ext cx="457200" cy="481584"/>
          </a:xfrm>
          <a:prstGeom prst="roundRect">
            <a:avLst>
              <a:gd name="adj" fmla="val 8000"/>
            </a:avLst>
          </a:prstGeom>
          <a:solidFill>
            <a:schemeClr val="accent1">
              <a:alpha val="45000"/>
            </a:schemeClr>
          </a:solidFill>
          <a:ln/>
        </p:spPr>
      </p:sp>
      <p:sp>
        <p:nvSpPr>
          <p:cNvPr id="47" name="Shape 45"/>
          <p:cNvSpPr/>
          <p:nvPr/>
        </p:nvSpPr>
        <p:spPr>
          <a:xfrm>
            <a:off x="11155680" y="4370832"/>
            <a:ext cx="457200" cy="481584"/>
          </a:xfrm>
          <a:prstGeom prst="roundRect">
            <a:avLst>
              <a:gd name="adj" fmla="val 8000"/>
            </a:avLst>
          </a:prstGeom>
          <a:solidFill>
            <a:schemeClr val="accent1">
              <a:alpha val="20000"/>
            </a:schemeClr>
          </a:solidFill>
          <a:ln/>
        </p:spPr>
      </p:sp>
      <p:sp>
        <p:nvSpPr>
          <p:cNvPr id="48" name="Shape 46"/>
          <p:cNvSpPr/>
          <p:nvPr/>
        </p:nvSpPr>
        <p:spPr>
          <a:xfrm>
            <a:off x="8321040" y="4962144"/>
            <a:ext cx="457200" cy="481584"/>
          </a:xfrm>
          <a:prstGeom prst="roundRect">
            <a:avLst>
              <a:gd name="adj" fmla="val 8000"/>
            </a:avLst>
          </a:prstGeom>
          <a:solidFill>
            <a:schemeClr val="accent1">
              <a:alpha val="75000"/>
            </a:schemeClr>
          </a:solidFill>
          <a:ln/>
        </p:spPr>
      </p:sp>
      <p:sp>
        <p:nvSpPr>
          <p:cNvPr id="49" name="Shape 47"/>
          <p:cNvSpPr/>
          <p:nvPr/>
        </p:nvSpPr>
        <p:spPr>
          <a:xfrm>
            <a:off x="8887968" y="4962144"/>
            <a:ext cx="457200" cy="481584"/>
          </a:xfrm>
          <a:prstGeom prst="roundRect">
            <a:avLst>
              <a:gd name="adj" fmla="val 8000"/>
            </a:avLst>
          </a:prstGeom>
          <a:solidFill>
            <a:schemeClr val="accent1">
              <a:alpha val="20000"/>
            </a:schemeClr>
          </a:solidFill>
          <a:ln/>
        </p:spPr>
      </p:sp>
      <p:sp>
        <p:nvSpPr>
          <p:cNvPr id="50" name="Shape 48"/>
          <p:cNvSpPr/>
          <p:nvPr/>
        </p:nvSpPr>
        <p:spPr>
          <a:xfrm>
            <a:off x="9454896" y="4962144"/>
            <a:ext cx="457200" cy="481584"/>
          </a:xfrm>
          <a:prstGeom prst="roundRect">
            <a:avLst>
              <a:gd name="adj" fmla="val 8000"/>
            </a:avLst>
          </a:prstGeom>
          <a:solidFill>
            <a:schemeClr val="accent1">
              <a:alpha val="75000"/>
            </a:schemeClr>
          </a:solidFill>
          <a:ln/>
        </p:spPr>
      </p:sp>
      <p:sp>
        <p:nvSpPr>
          <p:cNvPr id="51" name="Shape 49"/>
          <p:cNvSpPr/>
          <p:nvPr/>
        </p:nvSpPr>
        <p:spPr>
          <a:xfrm>
            <a:off x="10021824" y="4962144"/>
            <a:ext cx="457200" cy="481584"/>
          </a:xfrm>
          <a:prstGeom prst="roundRect">
            <a:avLst>
              <a:gd name="adj" fmla="val 8000"/>
            </a:avLst>
          </a:prstGeom>
          <a:solidFill>
            <a:schemeClr val="accent1">
              <a:alpha val="20000"/>
            </a:schemeClr>
          </a:solidFill>
          <a:ln/>
        </p:spPr>
      </p:sp>
      <p:sp>
        <p:nvSpPr>
          <p:cNvPr id="52" name="Shape 50"/>
          <p:cNvSpPr/>
          <p:nvPr/>
        </p:nvSpPr>
        <p:spPr>
          <a:xfrm>
            <a:off x="10588752" y="4962144"/>
            <a:ext cx="457200" cy="481584"/>
          </a:xfrm>
          <a:prstGeom prst="roundRect">
            <a:avLst>
              <a:gd name="adj" fmla="val 8000"/>
            </a:avLst>
          </a:prstGeom>
          <a:solidFill>
            <a:schemeClr val="accent1">
              <a:alpha val="75000"/>
            </a:schemeClr>
          </a:solidFill>
          <a:ln/>
        </p:spPr>
      </p:sp>
      <p:sp>
        <p:nvSpPr>
          <p:cNvPr id="53" name="Shape 51"/>
          <p:cNvSpPr/>
          <p:nvPr/>
        </p:nvSpPr>
        <p:spPr>
          <a:xfrm>
            <a:off x="11155680" y="4962144"/>
            <a:ext cx="457200" cy="481584"/>
          </a:xfrm>
          <a:prstGeom prst="roundRect">
            <a:avLst>
              <a:gd name="adj" fmla="val 8000"/>
            </a:avLst>
          </a:prstGeom>
          <a:solidFill>
            <a:schemeClr val="accent1">
              <a:alpha val="20000"/>
            </a:schemeClr>
          </a:solidFill>
          <a:ln/>
        </p:spPr>
      </p:sp>
      <p:sp>
        <p:nvSpPr>
          <p:cNvPr id="54" name="Shape 52"/>
          <p:cNvSpPr/>
          <p:nvPr/>
        </p:nvSpPr>
        <p:spPr>
          <a:xfrm>
            <a:off x="8321040" y="5553456"/>
            <a:ext cx="457200" cy="481584"/>
          </a:xfrm>
          <a:prstGeom prst="roundRect">
            <a:avLst>
              <a:gd name="adj" fmla="val 8000"/>
            </a:avLst>
          </a:prstGeom>
          <a:solidFill>
            <a:schemeClr val="accent1"/>
          </a:solidFill>
          <a:ln/>
        </p:spPr>
      </p:sp>
      <p:sp>
        <p:nvSpPr>
          <p:cNvPr id="55" name="Shape 53"/>
          <p:cNvSpPr/>
          <p:nvPr/>
        </p:nvSpPr>
        <p:spPr>
          <a:xfrm>
            <a:off x="8887968" y="5553456"/>
            <a:ext cx="457200" cy="481584"/>
          </a:xfrm>
          <a:prstGeom prst="roundRect">
            <a:avLst>
              <a:gd name="adj" fmla="val 8000"/>
            </a:avLst>
          </a:prstGeom>
          <a:solidFill>
            <a:schemeClr val="accent1">
              <a:alpha val="20000"/>
            </a:schemeClr>
          </a:solidFill>
          <a:ln/>
        </p:spPr>
      </p:sp>
      <p:sp>
        <p:nvSpPr>
          <p:cNvPr id="56" name="Shape 54"/>
          <p:cNvSpPr/>
          <p:nvPr/>
        </p:nvSpPr>
        <p:spPr>
          <a:xfrm>
            <a:off x="9454896" y="5553456"/>
            <a:ext cx="457200" cy="481584"/>
          </a:xfrm>
          <a:prstGeom prst="roundRect">
            <a:avLst>
              <a:gd name="adj" fmla="val 8000"/>
            </a:avLst>
          </a:prstGeom>
          <a:solidFill>
            <a:schemeClr val="accent1">
              <a:alpha val="45000"/>
            </a:schemeClr>
          </a:solidFill>
          <a:ln/>
        </p:spPr>
      </p:sp>
      <p:sp>
        <p:nvSpPr>
          <p:cNvPr id="57" name="Shape 55"/>
          <p:cNvSpPr/>
          <p:nvPr/>
        </p:nvSpPr>
        <p:spPr>
          <a:xfrm>
            <a:off x="10021824" y="5553456"/>
            <a:ext cx="457200" cy="481584"/>
          </a:xfrm>
          <a:prstGeom prst="roundRect">
            <a:avLst>
              <a:gd name="adj" fmla="val 8000"/>
            </a:avLst>
          </a:prstGeom>
          <a:solidFill>
            <a:schemeClr val="accent1">
              <a:alpha val="75000"/>
            </a:schemeClr>
          </a:solidFill>
          <a:ln/>
        </p:spPr>
      </p:sp>
      <p:sp>
        <p:nvSpPr>
          <p:cNvPr id="58" name="Shape 56"/>
          <p:cNvSpPr/>
          <p:nvPr/>
        </p:nvSpPr>
        <p:spPr>
          <a:xfrm>
            <a:off x="10588752" y="5553456"/>
            <a:ext cx="457200" cy="481584"/>
          </a:xfrm>
          <a:prstGeom prst="roundRect">
            <a:avLst>
              <a:gd name="adj" fmla="val 8000"/>
            </a:avLst>
          </a:prstGeom>
          <a:solidFill>
            <a:schemeClr val="accent1"/>
          </a:solidFill>
          <a:ln/>
        </p:spPr>
      </p:sp>
      <p:sp>
        <p:nvSpPr>
          <p:cNvPr id="59" name="Shape 57"/>
          <p:cNvSpPr/>
          <p:nvPr/>
        </p:nvSpPr>
        <p:spPr>
          <a:xfrm>
            <a:off x="11155680" y="5553456"/>
            <a:ext cx="457200" cy="481584"/>
          </a:xfrm>
          <a:prstGeom prst="roundRect">
            <a:avLst>
              <a:gd name="adj" fmla="val 8000"/>
            </a:avLst>
          </a:prstGeom>
          <a:solidFill>
            <a:schemeClr val="accent1">
              <a:alpha val="20000"/>
            </a:scheme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000" b="1" dirty="0">
                <a:solidFill>
                  <a:schemeClr val="tx1"/>
                </a:solidFill>
              </a:rPr>
              <a:t>Agenda</a:t>
            </a:r>
            <a:endParaRPr lang="en-US" sz="3000" dirty="0"/>
          </a:p>
        </p:txBody>
      </p:sp>
      <p:sp>
        <p:nvSpPr>
          <p:cNvPr id="3" name="Text 0"/>
          <p:cNvSpPr/>
          <p:nvPr>
            <p:ph idx="101" type="body" hasCustomPrompt="1"/>
          </p:nvPr>
        </p:nvSpPr>
        <p:spPr>
          <a:xfrm>
            <a:off x="548640" y="960120"/>
            <a:ext cx="11064240" cy="411480"/>
          </a:xfrm>
          <a:prstGeom prst="rect">
            <a:avLst/>
          </a:prstGeom>
          <a:noFill/>
          <a:ln/>
        </p:spPr>
        <p:txBody>
          <a:bodyPr wrap="square" lIns="0" tIns="0" rIns="0" bIns="0" rtlCol="0" anchor="t"/>
          <a:lstStyle/>
          <a:p>
            <a:pPr indent="0" marL="0">
              <a:buNone/>
            </a:pPr>
            <a:r>
              <a:rPr lang="en-US" sz="1600" dirty="0">
                <a:solidFill>
                  <a:schemeClr val="accent5"/>
                </a:solidFill>
              </a:rPr>
              <a:t>Four modules, from the business problem to a working enterprise blueprint</a:t>
            </a:r>
            <a:endParaRPr lang="en-US" sz="1600" dirty="0"/>
          </a:p>
        </p:txBody>
      </p:sp>
      <p:sp>
        <p:nvSpPr>
          <p:cNvPr id="4" name="Shape 2"/>
          <p:cNvSpPr/>
          <p:nvPr/>
        </p:nvSpPr>
        <p:spPr>
          <a:xfrm>
            <a:off x="548640" y="1645920"/>
            <a:ext cx="2651760" cy="4526280"/>
          </a:xfrm>
          <a:prstGeom prst="roundRect">
            <a:avLst>
              <a:gd name="adj" fmla="val 2759"/>
            </a:avLst>
          </a:prstGeom>
          <a:solidFill>
            <a:schemeClr val="bg2"/>
          </a:solidFill>
          <a:ln/>
        </p:spPr>
      </p:sp>
      <p:sp>
        <p:nvSpPr>
          <p:cNvPr id="5" name="Text 3"/>
          <p:cNvSpPr txBox="1"/>
          <p:nvPr/>
        </p:nvSpPr>
        <p:spPr>
          <a:xfrm>
            <a:off x="777240" y="1828800"/>
            <a:ext cx="1280160" cy="731520"/>
          </a:xfrm>
          <a:prstGeom prst="rect">
            <a:avLst/>
          </a:prstGeom>
          <a:noFill/>
          <a:ln/>
        </p:spPr>
        <p:txBody>
          <a:bodyPr wrap="square" lIns="0" tIns="0" rIns="0" bIns="0" rtlCol="0" anchor="t"/>
          <a:lstStyle/>
          <a:p>
            <a:pPr indent="0" marL="0">
              <a:buNone/>
            </a:pPr>
            <a:r>
              <a:rPr lang="en-US" sz="4000" b="1" dirty="0">
                <a:solidFill>
                  <a:schemeClr val="accent2"/>
                </a:solidFill>
                <a:latin typeface="Arial" pitchFamily="34" charset="0"/>
                <a:ea typeface="Arial" pitchFamily="34" charset="-122"/>
                <a:cs typeface="Arial" pitchFamily="34" charset="-120"/>
              </a:rPr>
              <a:t>01</a:t>
            </a:r>
            <a:endParaRPr lang="en-US" sz="4000" dirty="0"/>
          </a:p>
        </p:txBody>
      </p:sp>
      <p:sp>
        <p:nvSpPr>
          <p:cNvPr id="6" name="Shape 4"/>
          <p:cNvSpPr/>
          <p:nvPr/>
        </p:nvSpPr>
        <p:spPr>
          <a:xfrm>
            <a:off x="2377440" y="1874520"/>
            <a:ext cx="566928" cy="566928"/>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2502164" y="1999244"/>
            <a:ext cx="317480" cy="317480"/>
          </a:xfrm>
          <a:prstGeom prst="rect">
            <a:avLst/>
          </a:prstGeom>
        </p:spPr>
      </p:pic>
      <p:sp>
        <p:nvSpPr>
          <p:cNvPr id="8" name="Text 5"/>
          <p:cNvSpPr txBox="1"/>
          <p:nvPr/>
        </p:nvSpPr>
        <p:spPr>
          <a:xfrm>
            <a:off x="777240" y="2651760"/>
            <a:ext cx="2286000" cy="685800"/>
          </a:xfrm>
          <a:prstGeom prst="rect">
            <a:avLst/>
          </a:prstGeom>
          <a:noFill/>
          <a:ln/>
        </p:spPr>
        <p:txBody>
          <a:bodyPr wrap="square" lIns="0" tIns="0" rIns="0" bIns="0" rtlCol="0" anchor="t"/>
          <a:lstStyle/>
          <a:p>
            <a:pPr indent="0" marL="0">
              <a:buNone/>
            </a:pPr>
            <a:r>
              <a:rPr lang="en-US" sz="1900" b="1" dirty="0">
                <a:solidFill>
                  <a:schemeClr val="tx1"/>
                </a:solidFill>
              </a:rPr>
              <a:t>Why a model platform?</a:t>
            </a:r>
            <a:endParaRPr lang="en-US" sz="1900" dirty="0"/>
          </a:p>
        </p:txBody>
      </p:sp>
      <p:sp>
        <p:nvSpPr>
          <p:cNvPr id="9" name="Text 6"/>
          <p:cNvSpPr txBox="1"/>
          <p:nvPr/>
        </p:nvSpPr>
        <p:spPr>
          <a:xfrm>
            <a:off x="777240" y="3383280"/>
            <a:ext cx="2286000" cy="219456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2"/>
                </a:solidFill>
              </a:rPr>
              <a:t>Enterprise GenAI challenges</a:t>
            </a:r>
            <a:endParaRPr lang="en-US" sz="1500" dirty="0"/>
          </a:p>
          <a:p>
            <a:pPr marL="342900" indent="-342900">
              <a:spcAft>
                <a:spcPts val="500"/>
              </a:spcAft>
              <a:buSzPct val="100000"/>
              <a:buChar char="•"/>
            </a:pPr>
            <a:r>
              <a:rPr lang="en-US" sz="1500" dirty="0">
                <a:solidFill>
                  <a:schemeClr val="tx2"/>
                </a:solidFill>
              </a:rPr>
              <a:t>The customization spectrum</a:t>
            </a:r>
            <a:endParaRPr lang="en-US" sz="1500" dirty="0"/>
          </a:p>
          <a:p>
            <a:pPr marL="342900" indent="-342900">
              <a:spcAft>
                <a:spcPts val="500"/>
              </a:spcAft>
              <a:buSzPct val="100000"/>
              <a:buChar char="•"/>
            </a:pPr>
            <a:r>
              <a:rPr lang="en-US" sz="1500" dirty="0">
                <a:solidFill>
                  <a:schemeClr val="tx2"/>
                </a:solidFill>
              </a:rPr>
              <a:t>The model lifecycle</a:t>
            </a:r>
            <a:endParaRPr lang="en-US" sz="1500" dirty="0"/>
          </a:p>
        </p:txBody>
      </p:sp>
      <p:sp>
        <p:nvSpPr>
          <p:cNvPr id="10" name="Text 7"/>
          <p:cNvSpPr txBox="1"/>
          <p:nvPr/>
        </p:nvSpPr>
        <p:spPr>
          <a:xfrm>
            <a:off x="777240" y="5669280"/>
            <a:ext cx="2286000" cy="320040"/>
          </a:xfrm>
          <a:prstGeom prst="rect">
            <a:avLst/>
          </a:prstGeom>
          <a:noFill/>
          <a:ln/>
        </p:spPr>
        <p:txBody>
          <a:bodyPr wrap="square" lIns="0" tIns="0" rIns="0" bIns="0" rtlCol="0" anchor="t"/>
          <a:lstStyle/>
          <a:p>
            <a:pPr indent="0" marL="0">
              <a:buNone/>
            </a:pPr>
            <a:r>
              <a:rPr lang="en-US" sz="1400" b="1" dirty="0">
                <a:solidFill>
                  <a:schemeClr val="accent2"/>
                </a:solidFill>
              </a:rPr>
              <a:t>~25 min</a:t>
            </a:r>
            <a:endParaRPr lang="en-US" sz="1400" dirty="0"/>
          </a:p>
        </p:txBody>
      </p:sp>
      <p:sp>
        <p:nvSpPr>
          <p:cNvPr id="11" name="Shape 8"/>
          <p:cNvSpPr/>
          <p:nvPr/>
        </p:nvSpPr>
        <p:spPr>
          <a:xfrm>
            <a:off x="3346704" y="1645920"/>
            <a:ext cx="2651760" cy="4526280"/>
          </a:xfrm>
          <a:prstGeom prst="roundRect">
            <a:avLst>
              <a:gd name="adj" fmla="val 2759"/>
            </a:avLst>
          </a:prstGeom>
          <a:solidFill>
            <a:schemeClr val="bg2"/>
          </a:solidFill>
          <a:ln/>
        </p:spPr>
      </p:sp>
      <p:sp>
        <p:nvSpPr>
          <p:cNvPr id="12" name="Text 9"/>
          <p:cNvSpPr txBox="1"/>
          <p:nvPr/>
        </p:nvSpPr>
        <p:spPr>
          <a:xfrm>
            <a:off x="3575304" y="1828800"/>
            <a:ext cx="1280160" cy="731520"/>
          </a:xfrm>
          <a:prstGeom prst="rect">
            <a:avLst/>
          </a:prstGeom>
          <a:noFill/>
          <a:ln/>
        </p:spPr>
        <p:txBody>
          <a:bodyPr wrap="square" lIns="0" tIns="0" rIns="0" bIns="0" rtlCol="0" anchor="t"/>
          <a:lstStyle/>
          <a:p>
            <a:pPr indent="0" marL="0">
              <a:buNone/>
            </a:pPr>
            <a:r>
              <a:rPr lang="en-US" sz="4000" b="1" dirty="0">
                <a:solidFill>
                  <a:schemeClr val="accent2"/>
                </a:solidFill>
                <a:latin typeface="Arial" pitchFamily="34" charset="0"/>
                <a:ea typeface="Arial" pitchFamily="34" charset="-122"/>
                <a:cs typeface="Arial" pitchFamily="34" charset="-120"/>
              </a:rPr>
              <a:t>02</a:t>
            </a:r>
            <a:endParaRPr lang="en-US" sz="4000" dirty="0"/>
          </a:p>
        </p:txBody>
      </p:sp>
      <p:sp>
        <p:nvSpPr>
          <p:cNvPr id="13" name="Shape 10"/>
          <p:cNvSpPr/>
          <p:nvPr/>
        </p:nvSpPr>
        <p:spPr>
          <a:xfrm>
            <a:off x="5175504" y="1874520"/>
            <a:ext cx="566928" cy="566928"/>
          </a:xfrm>
          <a:prstGeom prst="ellipse">
            <a:avLst/>
          </a:prstGeom>
          <a:solidFill>
            <a:schemeClr val="accent1"/>
          </a:solidFill>
          <a:ln/>
        </p:spPr>
      </p:sp>
      <p:pic>
        <p:nvPicPr>
          <p:cNvPr id="14" name="Image 1" descr="preencoded.png">    </p:cNvPr>
          <p:cNvPicPr>
            <a:picLocks noChangeAspect="1"/>
          </p:cNvPicPr>
          <p:nvPr/>
        </p:nvPicPr>
        <p:blipFill>
          <a:blip r:embed="rId2"/>
          <a:stretch>
            <a:fillRect/>
          </a:stretch>
        </p:blipFill>
        <p:spPr>
          <a:xfrm>
            <a:off x="5300228" y="1999244"/>
            <a:ext cx="317480" cy="317480"/>
          </a:xfrm>
          <a:prstGeom prst="rect">
            <a:avLst/>
          </a:prstGeom>
        </p:spPr>
      </p:pic>
      <p:sp>
        <p:nvSpPr>
          <p:cNvPr id="15" name="Text 11"/>
          <p:cNvSpPr txBox="1"/>
          <p:nvPr/>
        </p:nvSpPr>
        <p:spPr>
          <a:xfrm>
            <a:off x="3575304" y="2651760"/>
            <a:ext cx="2286000" cy="685800"/>
          </a:xfrm>
          <a:prstGeom prst="rect">
            <a:avLst/>
          </a:prstGeom>
          <a:noFill/>
          <a:ln/>
        </p:spPr>
        <p:txBody>
          <a:bodyPr wrap="square" lIns="0" tIns="0" rIns="0" bIns="0" rtlCol="0" anchor="t"/>
          <a:lstStyle/>
          <a:p>
            <a:pPr indent="0" marL="0">
              <a:buNone/>
            </a:pPr>
            <a:r>
              <a:rPr lang="en-US" sz="1900" b="1" dirty="0">
                <a:solidFill>
                  <a:schemeClr val="tx1"/>
                </a:solidFill>
              </a:rPr>
              <a:t>What is NeMo?</a:t>
            </a:r>
            <a:endParaRPr lang="en-US" sz="1900" dirty="0"/>
          </a:p>
        </p:txBody>
      </p:sp>
      <p:sp>
        <p:nvSpPr>
          <p:cNvPr id="16" name="Text 12"/>
          <p:cNvSpPr txBox="1"/>
          <p:nvPr/>
        </p:nvSpPr>
        <p:spPr>
          <a:xfrm>
            <a:off x="3575304" y="3383280"/>
            <a:ext cx="2286000" cy="219456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2"/>
                </a:solidFill>
              </a:rPr>
              <a:t>Definition and history</a:t>
            </a:r>
            <a:endParaRPr lang="en-US" sz="1500" dirty="0"/>
          </a:p>
          <a:p>
            <a:pPr marL="342900" indent="-342900">
              <a:spcAft>
                <a:spcPts val="500"/>
              </a:spcAft>
              <a:buSzPct val="100000"/>
              <a:buChar char="•"/>
            </a:pPr>
            <a:r>
              <a:rPr lang="en-US" sz="1500" dirty="0">
                <a:solidFill>
                  <a:schemeClr val="tx2"/>
                </a:solidFill>
              </a:rPr>
              <a:t>The NeMo family map</a:t>
            </a:r>
            <a:endParaRPr lang="en-US" sz="1500" dirty="0"/>
          </a:p>
          <a:p>
            <a:pPr marL="342900" indent="-342900">
              <a:spcAft>
                <a:spcPts val="500"/>
              </a:spcAft>
              <a:buSzPct val="100000"/>
              <a:buChar char="•"/>
            </a:pPr>
            <a:r>
              <a:rPr lang="en-US" sz="1500" dirty="0">
                <a:solidFill>
                  <a:schemeClr val="tx2"/>
                </a:solidFill>
              </a:rPr>
              <a:t>Framework vs microservices</a:t>
            </a:r>
            <a:endParaRPr lang="en-US" sz="1500" dirty="0"/>
          </a:p>
        </p:txBody>
      </p:sp>
      <p:sp>
        <p:nvSpPr>
          <p:cNvPr id="17" name="Text 13"/>
          <p:cNvSpPr txBox="1"/>
          <p:nvPr/>
        </p:nvSpPr>
        <p:spPr>
          <a:xfrm>
            <a:off x="3575304" y="5669280"/>
            <a:ext cx="2286000" cy="320040"/>
          </a:xfrm>
          <a:prstGeom prst="rect">
            <a:avLst/>
          </a:prstGeom>
          <a:noFill/>
          <a:ln/>
        </p:spPr>
        <p:txBody>
          <a:bodyPr wrap="square" lIns="0" tIns="0" rIns="0" bIns="0" rtlCol="0" anchor="t"/>
          <a:lstStyle/>
          <a:p>
            <a:pPr indent="0" marL="0">
              <a:buNone/>
            </a:pPr>
            <a:r>
              <a:rPr lang="en-US" sz="1400" b="1" dirty="0">
                <a:solidFill>
                  <a:schemeClr val="accent2"/>
                </a:solidFill>
              </a:rPr>
              <a:t>~25 min</a:t>
            </a:r>
            <a:endParaRPr lang="en-US" sz="1400" dirty="0"/>
          </a:p>
        </p:txBody>
      </p:sp>
      <p:sp>
        <p:nvSpPr>
          <p:cNvPr id="18" name="Shape 14"/>
          <p:cNvSpPr/>
          <p:nvPr/>
        </p:nvSpPr>
        <p:spPr>
          <a:xfrm>
            <a:off x="6144768" y="1645920"/>
            <a:ext cx="2651760" cy="4526280"/>
          </a:xfrm>
          <a:prstGeom prst="roundRect">
            <a:avLst>
              <a:gd name="adj" fmla="val 2759"/>
            </a:avLst>
          </a:prstGeom>
          <a:solidFill>
            <a:schemeClr val="bg2"/>
          </a:solidFill>
          <a:ln/>
        </p:spPr>
      </p:sp>
      <p:sp>
        <p:nvSpPr>
          <p:cNvPr id="19" name="Text 15"/>
          <p:cNvSpPr txBox="1"/>
          <p:nvPr/>
        </p:nvSpPr>
        <p:spPr>
          <a:xfrm>
            <a:off x="6373368" y="1828800"/>
            <a:ext cx="1280160" cy="731520"/>
          </a:xfrm>
          <a:prstGeom prst="rect">
            <a:avLst/>
          </a:prstGeom>
          <a:noFill/>
          <a:ln/>
        </p:spPr>
        <p:txBody>
          <a:bodyPr wrap="square" lIns="0" tIns="0" rIns="0" bIns="0" rtlCol="0" anchor="t"/>
          <a:lstStyle/>
          <a:p>
            <a:pPr indent="0" marL="0">
              <a:buNone/>
            </a:pPr>
            <a:r>
              <a:rPr lang="en-US" sz="4000" b="1" dirty="0">
                <a:solidFill>
                  <a:schemeClr val="accent2"/>
                </a:solidFill>
                <a:latin typeface="Arial" pitchFamily="34" charset="0"/>
                <a:ea typeface="Arial" pitchFamily="34" charset="-122"/>
                <a:cs typeface="Arial" pitchFamily="34" charset="-120"/>
              </a:rPr>
              <a:t>03</a:t>
            </a:r>
            <a:endParaRPr lang="en-US" sz="4000" dirty="0"/>
          </a:p>
        </p:txBody>
      </p:sp>
      <p:sp>
        <p:nvSpPr>
          <p:cNvPr id="20" name="Shape 16"/>
          <p:cNvSpPr/>
          <p:nvPr/>
        </p:nvSpPr>
        <p:spPr>
          <a:xfrm>
            <a:off x="7973568" y="1874520"/>
            <a:ext cx="566928" cy="566928"/>
          </a:xfrm>
          <a:prstGeom prst="ellipse">
            <a:avLst/>
          </a:prstGeom>
          <a:solidFill>
            <a:schemeClr val="accent1"/>
          </a:solidFill>
          <a:ln/>
        </p:spPr>
      </p:sp>
      <p:pic>
        <p:nvPicPr>
          <p:cNvPr id="21" name="Image 2" descr="preencoded.png">    </p:cNvPr>
          <p:cNvPicPr>
            <a:picLocks noChangeAspect="1"/>
          </p:cNvPicPr>
          <p:nvPr/>
        </p:nvPicPr>
        <p:blipFill>
          <a:blip r:embed="rId3"/>
          <a:stretch>
            <a:fillRect/>
          </a:stretch>
        </p:blipFill>
        <p:spPr>
          <a:xfrm>
            <a:off x="8098292" y="1999244"/>
            <a:ext cx="317480" cy="317480"/>
          </a:xfrm>
          <a:prstGeom prst="rect">
            <a:avLst/>
          </a:prstGeom>
        </p:spPr>
      </p:pic>
      <p:sp>
        <p:nvSpPr>
          <p:cNvPr id="22" name="Text 17"/>
          <p:cNvSpPr txBox="1"/>
          <p:nvPr/>
        </p:nvSpPr>
        <p:spPr>
          <a:xfrm>
            <a:off x="6373368" y="2651760"/>
            <a:ext cx="2286000" cy="685800"/>
          </a:xfrm>
          <a:prstGeom prst="rect">
            <a:avLst/>
          </a:prstGeom>
          <a:noFill/>
          <a:ln/>
        </p:spPr>
        <p:txBody>
          <a:bodyPr wrap="square" lIns="0" tIns="0" rIns="0" bIns="0" rtlCol="0" anchor="t"/>
          <a:lstStyle/>
          <a:p>
            <a:pPr indent="0" marL="0">
              <a:buNone/>
            </a:pPr>
            <a:r>
              <a:rPr lang="en-US" sz="1900" b="1" dirty="0">
                <a:solidFill>
                  <a:schemeClr val="tx1"/>
                </a:solidFill>
              </a:rPr>
              <a:t>Component deep dive</a:t>
            </a:r>
            <a:endParaRPr lang="en-US" sz="1900" dirty="0"/>
          </a:p>
        </p:txBody>
      </p:sp>
      <p:sp>
        <p:nvSpPr>
          <p:cNvPr id="23" name="Text 18"/>
          <p:cNvSpPr txBox="1"/>
          <p:nvPr/>
        </p:nvSpPr>
        <p:spPr>
          <a:xfrm>
            <a:off x="6373368" y="3383280"/>
            <a:ext cx="2286000" cy="219456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2"/>
                </a:solidFill>
              </a:rPr>
              <a:t>Curator and synthetic data</a:t>
            </a:r>
            <a:endParaRPr lang="en-US" sz="1500" dirty="0"/>
          </a:p>
          <a:p>
            <a:pPr marL="342900" indent="-342900">
              <a:spcAft>
                <a:spcPts val="500"/>
              </a:spcAft>
              <a:buSzPct val="100000"/>
              <a:buChar char="•"/>
            </a:pPr>
            <a:r>
              <a:rPr lang="en-US" sz="1500" dirty="0">
                <a:solidFill>
                  <a:schemeClr val="tx2"/>
                </a:solidFill>
              </a:rPr>
              <a:t>Training, customization, alignment</a:t>
            </a:r>
            <a:endParaRPr lang="en-US" sz="1500" dirty="0"/>
          </a:p>
          <a:p>
            <a:pPr marL="342900" indent="-342900">
              <a:spcAft>
                <a:spcPts val="500"/>
              </a:spcAft>
              <a:buSzPct val="100000"/>
              <a:buChar char="•"/>
            </a:pPr>
            <a:r>
              <a:rPr lang="en-US" sz="1500" dirty="0">
                <a:solidFill>
                  <a:schemeClr val="tx2"/>
                </a:solidFill>
              </a:rPr>
              <a:t>Evaluator, Guardrails, Retriever</a:t>
            </a:r>
            <a:endParaRPr lang="en-US" sz="1500" dirty="0"/>
          </a:p>
          <a:p>
            <a:pPr marL="342900" indent="-342900">
              <a:spcAft>
                <a:spcPts val="500"/>
              </a:spcAft>
              <a:buSzPct val="100000"/>
              <a:buChar char="•"/>
            </a:pPr>
            <a:r>
              <a:rPr lang="en-US" sz="1500" dirty="0">
                <a:solidFill>
                  <a:schemeClr val="tx2"/>
                </a:solidFill>
              </a:rPr>
              <a:t>Agent Toolkit, NIM, Nemotron</a:t>
            </a:r>
            <a:endParaRPr lang="en-US" sz="1500" dirty="0"/>
          </a:p>
        </p:txBody>
      </p:sp>
      <p:sp>
        <p:nvSpPr>
          <p:cNvPr id="24" name="Text 19"/>
          <p:cNvSpPr txBox="1"/>
          <p:nvPr/>
        </p:nvSpPr>
        <p:spPr>
          <a:xfrm>
            <a:off x="6373368" y="5669280"/>
            <a:ext cx="2286000" cy="320040"/>
          </a:xfrm>
          <a:prstGeom prst="rect">
            <a:avLst/>
          </a:prstGeom>
          <a:noFill/>
          <a:ln/>
        </p:spPr>
        <p:txBody>
          <a:bodyPr wrap="square" lIns="0" tIns="0" rIns="0" bIns="0" rtlCol="0" anchor="t"/>
          <a:lstStyle/>
          <a:p>
            <a:pPr indent="0" marL="0">
              <a:buNone/>
            </a:pPr>
            <a:r>
              <a:rPr lang="en-US" sz="1400" b="1" dirty="0">
                <a:solidFill>
                  <a:schemeClr val="accent2"/>
                </a:solidFill>
              </a:rPr>
              <a:t>~60 min</a:t>
            </a:r>
            <a:endParaRPr lang="en-US" sz="1400" dirty="0"/>
          </a:p>
        </p:txBody>
      </p:sp>
      <p:sp>
        <p:nvSpPr>
          <p:cNvPr id="25" name="Shape 20"/>
          <p:cNvSpPr/>
          <p:nvPr/>
        </p:nvSpPr>
        <p:spPr>
          <a:xfrm>
            <a:off x="8942832" y="1645920"/>
            <a:ext cx="2651760" cy="4526280"/>
          </a:xfrm>
          <a:prstGeom prst="roundRect">
            <a:avLst>
              <a:gd name="adj" fmla="val 2759"/>
            </a:avLst>
          </a:prstGeom>
          <a:solidFill>
            <a:schemeClr val="bg2"/>
          </a:solidFill>
          <a:ln/>
        </p:spPr>
      </p:sp>
      <p:sp>
        <p:nvSpPr>
          <p:cNvPr id="26" name="Text 21"/>
          <p:cNvSpPr txBox="1"/>
          <p:nvPr/>
        </p:nvSpPr>
        <p:spPr>
          <a:xfrm>
            <a:off x="9171432" y="1828800"/>
            <a:ext cx="1280160" cy="731520"/>
          </a:xfrm>
          <a:prstGeom prst="rect">
            <a:avLst/>
          </a:prstGeom>
          <a:noFill/>
          <a:ln/>
        </p:spPr>
        <p:txBody>
          <a:bodyPr wrap="square" lIns="0" tIns="0" rIns="0" bIns="0" rtlCol="0" anchor="t"/>
          <a:lstStyle/>
          <a:p>
            <a:pPr indent="0" marL="0">
              <a:buNone/>
            </a:pPr>
            <a:r>
              <a:rPr lang="en-US" sz="4000" b="1" dirty="0">
                <a:solidFill>
                  <a:schemeClr val="accent2"/>
                </a:solidFill>
                <a:latin typeface="Arial" pitchFamily="34" charset="0"/>
                <a:ea typeface="Arial" pitchFamily="34" charset="-122"/>
                <a:cs typeface="Arial" pitchFamily="34" charset="-120"/>
              </a:rPr>
              <a:t>04</a:t>
            </a:r>
            <a:endParaRPr lang="en-US" sz="4000" dirty="0"/>
          </a:p>
        </p:txBody>
      </p:sp>
      <p:sp>
        <p:nvSpPr>
          <p:cNvPr id="27" name="Shape 22"/>
          <p:cNvSpPr/>
          <p:nvPr/>
        </p:nvSpPr>
        <p:spPr>
          <a:xfrm>
            <a:off x="10771632" y="1874520"/>
            <a:ext cx="566928" cy="566928"/>
          </a:xfrm>
          <a:prstGeom prst="ellipse">
            <a:avLst/>
          </a:prstGeom>
          <a:solidFill>
            <a:schemeClr val="accent1"/>
          </a:solidFill>
          <a:ln/>
        </p:spPr>
      </p:sp>
      <p:pic>
        <p:nvPicPr>
          <p:cNvPr id="28" name="Image 3" descr="preencoded.png">    </p:cNvPr>
          <p:cNvPicPr>
            <a:picLocks noChangeAspect="1"/>
          </p:cNvPicPr>
          <p:nvPr/>
        </p:nvPicPr>
        <p:blipFill>
          <a:blip r:embed="rId4"/>
          <a:stretch>
            <a:fillRect/>
          </a:stretch>
        </p:blipFill>
        <p:spPr>
          <a:xfrm>
            <a:off x="10896356" y="1999244"/>
            <a:ext cx="317480" cy="317480"/>
          </a:xfrm>
          <a:prstGeom prst="rect">
            <a:avLst/>
          </a:prstGeom>
        </p:spPr>
      </p:pic>
      <p:sp>
        <p:nvSpPr>
          <p:cNvPr id="29" name="Text 23"/>
          <p:cNvSpPr txBox="1"/>
          <p:nvPr/>
        </p:nvSpPr>
        <p:spPr>
          <a:xfrm>
            <a:off x="9171432" y="2651760"/>
            <a:ext cx="2286000" cy="685800"/>
          </a:xfrm>
          <a:prstGeom prst="rect">
            <a:avLst/>
          </a:prstGeom>
          <a:noFill/>
          <a:ln/>
        </p:spPr>
        <p:txBody>
          <a:bodyPr wrap="square" lIns="0" tIns="0" rIns="0" bIns="0" rtlCol="0" anchor="t"/>
          <a:lstStyle/>
          <a:p>
            <a:pPr indent="0" marL="0">
              <a:buNone/>
            </a:pPr>
            <a:r>
              <a:rPr lang="en-US" sz="1900" b="1" dirty="0">
                <a:solidFill>
                  <a:schemeClr val="tx1"/>
                </a:solidFill>
              </a:rPr>
              <a:t>NeMo in the enterprise</a:t>
            </a:r>
            <a:endParaRPr lang="en-US" sz="1900" dirty="0"/>
          </a:p>
        </p:txBody>
      </p:sp>
      <p:sp>
        <p:nvSpPr>
          <p:cNvPr id="30" name="Text 24"/>
          <p:cNvSpPr txBox="1"/>
          <p:nvPr/>
        </p:nvSpPr>
        <p:spPr>
          <a:xfrm>
            <a:off x="9171432" y="3383280"/>
            <a:ext cx="2286000" cy="219456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chemeClr val="tx2"/>
                </a:solidFill>
              </a:rPr>
              <a:t>Reference architecture</a:t>
            </a:r>
            <a:endParaRPr lang="en-US" sz="1500" dirty="0"/>
          </a:p>
          <a:p>
            <a:pPr marL="342900" indent="-342900">
              <a:spcAft>
                <a:spcPts val="500"/>
              </a:spcAft>
              <a:buSzPct val="100000"/>
              <a:buChar char="•"/>
            </a:pPr>
            <a:r>
              <a:rPr lang="en-US" sz="1500" dirty="0">
                <a:solidFill>
                  <a:schemeClr val="tx2"/>
                </a:solidFill>
              </a:rPr>
              <a:t>The data flywheel</a:t>
            </a:r>
            <a:endParaRPr lang="en-US" sz="1500" dirty="0"/>
          </a:p>
          <a:p>
            <a:pPr marL="342900" indent="-342900">
              <a:spcAft>
                <a:spcPts val="500"/>
              </a:spcAft>
              <a:buSzPct val="100000"/>
              <a:buChar char="•"/>
            </a:pPr>
            <a:r>
              <a:rPr lang="en-US" sz="1500" dirty="0">
                <a:solidFill>
                  <a:schemeClr val="tx2"/>
                </a:solidFill>
              </a:rPr>
              <a:t>Roles, governance, roadmap</a:t>
            </a:r>
            <a:endParaRPr lang="en-US" sz="1500" dirty="0"/>
          </a:p>
          <a:p>
            <a:pPr marL="342900" indent="-342900">
              <a:spcAft>
                <a:spcPts val="500"/>
              </a:spcAft>
              <a:buSzPct val="100000"/>
              <a:buChar char="•"/>
            </a:pPr>
            <a:r>
              <a:rPr lang="en-US" sz="1500" dirty="0">
                <a:solidFill>
                  <a:schemeClr val="tx2"/>
                </a:solidFill>
              </a:rPr>
              <a:t>Lab outline</a:t>
            </a:r>
            <a:endParaRPr lang="en-US" sz="1500" dirty="0"/>
          </a:p>
        </p:txBody>
      </p:sp>
      <p:sp>
        <p:nvSpPr>
          <p:cNvPr id="31" name="Text 25"/>
          <p:cNvSpPr txBox="1"/>
          <p:nvPr/>
        </p:nvSpPr>
        <p:spPr>
          <a:xfrm>
            <a:off x="9171432" y="5669280"/>
            <a:ext cx="2286000" cy="320040"/>
          </a:xfrm>
          <a:prstGeom prst="rect">
            <a:avLst/>
          </a:prstGeom>
          <a:noFill/>
          <a:ln/>
        </p:spPr>
        <p:txBody>
          <a:bodyPr wrap="square" lIns="0" tIns="0" rIns="0" bIns="0" rtlCol="0" anchor="t"/>
          <a:lstStyle/>
          <a:p>
            <a:pPr indent="0" marL="0">
              <a:buNone/>
            </a:pPr>
            <a:r>
              <a:rPr lang="en-US" sz="1400" b="1" dirty="0">
                <a:solidFill>
                  <a:schemeClr val="accent2"/>
                </a:solidFill>
              </a:rPr>
              <a:t>~40 min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000" b="1" dirty="0">
                <a:solidFill>
                  <a:schemeClr val="tx1"/>
                </a:solidFill>
              </a:rPr>
              <a:t>Learning objectives</a:t>
            </a:r>
            <a:endParaRPr lang="en-US" sz="3000" dirty="0"/>
          </a:p>
        </p:txBody>
      </p:sp>
      <p:sp>
        <p:nvSpPr>
          <p:cNvPr id="3" name="Text 0"/>
          <p:cNvSpPr/>
          <p:nvPr>
            <p:ph idx="101" type="body" hasCustomPrompt="1"/>
          </p:nvPr>
        </p:nvSpPr>
        <p:spPr>
          <a:xfrm>
            <a:off x="548640" y="960120"/>
            <a:ext cx="11064240" cy="411480"/>
          </a:xfrm>
          <a:prstGeom prst="rect">
            <a:avLst/>
          </a:prstGeom>
          <a:noFill/>
          <a:ln/>
        </p:spPr>
        <p:txBody>
          <a:bodyPr wrap="square" lIns="0" tIns="0" rIns="0" bIns="0" rtlCol="0" anchor="t"/>
          <a:lstStyle/>
          <a:p>
            <a:pPr indent="0" marL="0">
              <a:buNone/>
            </a:pPr>
            <a:r>
              <a:rPr lang="en-US" sz="1600" dirty="0">
                <a:solidFill>
                  <a:schemeClr val="accent5"/>
                </a:solidFill>
              </a:rPr>
              <a:t>By the end of this session participants will be able to:</a:t>
            </a:r>
            <a:endParaRPr lang="en-US" sz="1600" dirty="0"/>
          </a:p>
        </p:txBody>
      </p:sp>
      <p:sp>
        <p:nvSpPr>
          <p:cNvPr id="4" name="Shape 2"/>
          <p:cNvSpPr/>
          <p:nvPr/>
        </p:nvSpPr>
        <p:spPr>
          <a:xfrm>
            <a:off x="548640" y="1691640"/>
            <a:ext cx="566928" cy="566928"/>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673364" y="1816364"/>
            <a:ext cx="317480" cy="317480"/>
          </a:xfrm>
          <a:prstGeom prst="rect">
            <a:avLst/>
          </a:prstGeom>
        </p:spPr>
      </p:pic>
      <p:sp>
        <p:nvSpPr>
          <p:cNvPr id="6" name="Text 3"/>
          <p:cNvSpPr txBox="1"/>
          <p:nvPr/>
        </p:nvSpPr>
        <p:spPr>
          <a:xfrm>
            <a:off x="1325880" y="1645920"/>
            <a:ext cx="4572000" cy="685800"/>
          </a:xfrm>
          <a:prstGeom prst="rect">
            <a:avLst/>
          </a:prstGeom>
          <a:noFill/>
          <a:ln/>
        </p:spPr>
        <p:txBody>
          <a:bodyPr wrap="square" lIns="0" tIns="0" rIns="0" bIns="0" rtlCol="0" anchor="ctr"/>
          <a:lstStyle/>
          <a:p>
            <a:pPr indent="0" marL="0">
              <a:buNone/>
            </a:pPr>
            <a:r>
              <a:rPr lang="en-US" sz="1800" b="1" dirty="0">
                <a:solidFill>
                  <a:schemeClr val="tx1"/>
                </a:solidFill>
              </a:rPr>
              <a:t>Explain the enterprise need</a:t>
            </a:r>
            <a:endParaRPr lang="en-US" sz="1800" dirty="0"/>
          </a:p>
        </p:txBody>
      </p:sp>
      <p:sp>
        <p:nvSpPr>
          <p:cNvPr id="7" name="Text 4"/>
          <p:cNvSpPr txBox="1"/>
          <p:nvPr/>
        </p:nvSpPr>
        <p:spPr>
          <a:xfrm>
            <a:off x="5943600" y="1645920"/>
            <a:ext cx="5669280" cy="685800"/>
          </a:xfrm>
          <a:prstGeom prst="rect">
            <a:avLst/>
          </a:prstGeom>
          <a:noFill/>
          <a:ln/>
        </p:spPr>
        <p:txBody>
          <a:bodyPr wrap="square" lIns="0" tIns="0" rIns="0" bIns="0" rtlCol="0" anchor="ctr"/>
          <a:lstStyle/>
          <a:p>
            <a:pPr indent="0" marL="0">
              <a:buNone/>
            </a:pPr>
            <a:r>
              <a:rPr lang="en-US" sz="1500" dirty="0">
                <a:solidFill>
                  <a:schemeClr val="tx2"/>
                </a:solidFill>
              </a:rPr>
              <a:t>Describe why enterprises customize models and the options from prompting to pre-training.</a:t>
            </a:r>
            <a:endParaRPr lang="en-US" sz="1500" dirty="0"/>
          </a:p>
        </p:txBody>
      </p:sp>
      <p:sp>
        <p:nvSpPr>
          <p:cNvPr id="8" name="Shape 5"/>
          <p:cNvSpPr/>
          <p:nvPr/>
        </p:nvSpPr>
        <p:spPr>
          <a:xfrm>
            <a:off x="548640" y="2606040"/>
            <a:ext cx="566928" cy="566928"/>
          </a:xfrm>
          <a:prstGeom prst="ellipse">
            <a:avLst/>
          </a:prstGeom>
          <a:solidFill>
            <a:schemeClr val="accent1"/>
          </a:solidFill>
          <a:ln/>
        </p:spPr>
      </p:sp>
      <p:pic>
        <p:nvPicPr>
          <p:cNvPr id="9" name="Image 1" descr="preencoded.png">    </p:cNvPr>
          <p:cNvPicPr>
            <a:picLocks noChangeAspect="1"/>
          </p:cNvPicPr>
          <p:nvPr/>
        </p:nvPicPr>
        <p:blipFill>
          <a:blip r:embed="rId2"/>
          <a:stretch>
            <a:fillRect/>
          </a:stretch>
        </p:blipFill>
        <p:spPr>
          <a:xfrm>
            <a:off x="673364" y="2730764"/>
            <a:ext cx="317480" cy="317480"/>
          </a:xfrm>
          <a:prstGeom prst="rect">
            <a:avLst/>
          </a:prstGeom>
        </p:spPr>
      </p:pic>
      <p:sp>
        <p:nvSpPr>
          <p:cNvPr id="10" name="Text 6"/>
          <p:cNvSpPr txBox="1"/>
          <p:nvPr/>
        </p:nvSpPr>
        <p:spPr>
          <a:xfrm>
            <a:off x="1325880" y="2560320"/>
            <a:ext cx="4572000" cy="685800"/>
          </a:xfrm>
          <a:prstGeom prst="rect">
            <a:avLst/>
          </a:prstGeom>
          <a:noFill/>
          <a:ln/>
        </p:spPr>
        <p:txBody>
          <a:bodyPr wrap="square" lIns="0" tIns="0" rIns="0" bIns="0" rtlCol="0" anchor="ctr"/>
          <a:lstStyle/>
          <a:p>
            <a:pPr indent="0" marL="0">
              <a:buNone/>
            </a:pPr>
            <a:r>
              <a:rPr lang="en-US" sz="1800" b="1" dirty="0">
                <a:solidFill>
                  <a:schemeClr val="tx1"/>
                </a:solidFill>
              </a:rPr>
              <a:t>Define NeMo and its family</a:t>
            </a:r>
            <a:endParaRPr lang="en-US" sz="1800" dirty="0"/>
          </a:p>
        </p:txBody>
      </p:sp>
      <p:sp>
        <p:nvSpPr>
          <p:cNvPr id="11" name="Text 7"/>
          <p:cNvSpPr txBox="1"/>
          <p:nvPr/>
        </p:nvSpPr>
        <p:spPr>
          <a:xfrm>
            <a:off x="5943600" y="2560320"/>
            <a:ext cx="5669280" cy="685800"/>
          </a:xfrm>
          <a:prstGeom prst="rect">
            <a:avLst/>
          </a:prstGeom>
          <a:noFill/>
          <a:ln/>
        </p:spPr>
        <p:txBody>
          <a:bodyPr wrap="square" lIns="0" tIns="0" rIns="0" bIns="0" rtlCol="0" anchor="ctr"/>
          <a:lstStyle/>
          <a:p>
            <a:pPr indent="0" marL="0">
              <a:buNone/>
            </a:pPr>
            <a:r>
              <a:rPr lang="en-US" sz="1500" dirty="0">
                <a:solidFill>
                  <a:schemeClr val="tx2"/>
                </a:solidFill>
              </a:rPr>
              <a:t>Name the NeMo components and say what problem each one solves.</a:t>
            </a:r>
            <a:endParaRPr lang="en-US" sz="1500" dirty="0"/>
          </a:p>
        </p:txBody>
      </p:sp>
      <p:sp>
        <p:nvSpPr>
          <p:cNvPr id="12" name="Shape 8"/>
          <p:cNvSpPr/>
          <p:nvPr/>
        </p:nvSpPr>
        <p:spPr>
          <a:xfrm>
            <a:off x="548640" y="3520440"/>
            <a:ext cx="566928" cy="566928"/>
          </a:xfrm>
          <a:prstGeom prst="ellipse">
            <a:avLst/>
          </a:prstGeom>
          <a:solidFill>
            <a:schemeClr val="accent1"/>
          </a:solidFill>
          <a:ln/>
        </p:spPr>
      </p:sp>
      <p:pic>
        <p:nvPicPr>
          <p:cNvPr id="13" name="Image 2" descr="preencoded.png">    </p:cNvPr>
          <p:cNvPicPr>
            <a:picLocks noChangeAspect="1"/>
          </p:cNvPicPr>
          <p:nvPr/>
        </p:nvPicPr>
        <p:blipFill>
          <a:blip r:embed="rId3"/>
          <a:stretch>
            <a:fillRect/>
          </a:stretch>
        </p:blipFill>
        <p:spPr>
          <a:xfrm>
            <a:off x="673364" y="3645164"/>
            <a:ext cx="317480" cy="317480"/>
          </a:xfrm>
          <a:prstGeom prst="rect">
            <a:avLst/>
          </a:prstGeom>
        </p:spPr>
      </p:pic>
      <p:sp>
        <p:nvSpPr>
          <p:cNvPr id="14" name="Text 9"/>
          <p:cNvSpPr txBox="1"/>
          <p:nvPr/>
        </p:nvSpPr>
        <p:spPr>
          <a:xfrm>
            <a:off x="1325880" y="3474720"/>
            <a:ext cx="4572000" cy="685800"/>
          </a:xfrm>
          <a:prstGeom prst="rect">
            <a:avLst/>
          </a:prstGeom>
          <a:noFill/>
          <a:ln/>
        </p:spPr>
        <p:txBody>
          <a:bodyPr wrap="square" lIns="0" tIns="0" rIns="0" bIns="0" rtlCol="0" anchor="ctr"/>
          <a:lstStyle/>
          <a:p>
            <a:pPr indent="0" marL="0">
              <a:buNone/>
            </a:pPr>
            <a:r>
              <a:rPr lang="en-US" sz="1800" b="1" dirty="0">
                <a:solidFill>
                  <a:schemeClr val="tx1"/>
                </a:solidFill>
              </a:rPr>
              <a:t>Choose a customization method</a:t>
            </a:r>
            <a:endParaRPr lang="en-US" sz="1800" dirty="0"/>
          </a:p>
        </p:txBody>
      </p:sp>
      <p:sp>
        <p:nvSpPr>
          <p:cNvPr id="15" name="Text 10"/>
          <p:cNvSpPr txBox="1"/>
          <p:nvPr/>
        </p:nvSpPr>
        <p:spPr>
          <a:xfrm>
            <a:off x="5943600" y="3474720"/>
            <a:ext cx="5669280" cy="685800"/>
          </a:xfrm>
          <a:prstGeom prst="rect">
            <a:avLst/>
          </a:prstGeom>
          <a:noFill/>
          <a:ln/>
        </p:spPr>
        <p:txBody>
          <a:bodyPr wrap="square" lIns="0" tIns="0" rIns="0" bIns="0" rtlCol="0" anchor="ctr"/>
          <a:lstStyle/>
          <a:p>
            <a:pPr indent="0" marL="0">
              <a:buNone/>
            </a:pPr>
            <a:r>
              <a:rPr lang="en-US" sz="1500" dirty="0">
                <a:solidFill>
                  <a:schemeClr val="tx2"/>
                </a:solidFill>
              </a:rPr>
              <a:t>Pick between RAG, LoRA, full fine-tuning, alignment and distillation for a use case.</a:t>
            </a:r>
            <a:endParaRPr lang="en-US" sz="1500" dirty="0"/>
          </a:p>
        </p:txBody>
      </p:sp>
      <p:sp>
        <p:nvSpPr>
          <p:cNvPr id="16" name="Shape 11"/>
          <p:cNvSpPr/>
          <p:nvPr/>
        </p:nvSpPr>
        <p:spPr>
          <a:xfrm>
            <a:off x="548640" y="4434840"/>
            <a:ext cx="566928" cy="566928"/>
          </a:xfrm>
          <a:prstGeom prst="ellipse">
            <a:avLst/>
          </a:prstGeom>
          <a:solidFill>
            <a:schemeClr val="accent1"/>
          </a:solidFill>
          <a:ln/>
        </p:spPr>
      </p:sp>
      <p:pic>
        <p:nvPicPr>
          <p:cNvPr id="17" name="Image 3" descr="preencoded.png">    </p:cNvPr>
          <p:cNvPicPr>
            <a:picLocks noChangeAspect="1"/>
          </p:cNvPicPr>
          <p:nvPr/>
        </p:nvPicPr>
        <p:blipFill>
          <a:blip r:embed="rId4"/>
          <a:stretch>
            <a:fillRect/>
          </a:stretch>
        </p:blipFill>
        <p:spPr>
          <a:xfrm>
            <a:off x="673364" y="4559564"/>
            <a:ext cx="317480" cy="317480"/>
          </a:xfrm>
          <a:prstGeom prst="rect">
            <a:avLst/>
          </a:prstGeom>
        </p:spPr>
      </p:pic>
      <p:sp>
        <p:nvSpPr>
          <p:cNvPr id="18" name="Text 12"/>
          <p:cNvSpPr txBox="1"/>
          <p:nvPr/>
        </p:nvSpPr>
        <p:spPr>
          <a:xfrm>
            <a:off x="1325880" y="4389120"/>
            <a:ext cx="4572000" cy="685800"/>
          </a:xfrm>
          <a:prstGeom prst="rect">
            <a:avLst/>
          </a:prstGeom>
          <a:noFill/>
          <a:ln/>
        </p:spPr>
        <p:txBody>
          <a:bodyPr wrap="square" lIns="0" tIns="0" rIns="0" bIns="0" rtlCol="0" anchor="ctr"/>
          <a:lstStyle/>
          <a:p>
            <a:pPr indent="0" marL="0">
              <a:buNone/>
            </a:pPr>
            <a:r>
              <a:rPr lang="en-US" sz="1800" b="1" dirty="0">
                <a:solidFill>
                  <a:schemeClr val="tx1"/>
                </a:solidFill>
              </a:rPr>
              <a:t>Describe evaluation and safety</a:t>
            </a:r>
            <a:endParaRPr lang="en-US" sz="1800" dirty="0"/>
          </a:p>
        </p:txBody>
      </p:sp>
      <p:sp>
        <p:nvSpPr>
          <p:cNvPr id="19" name="Text 13"/>
          <p:cNvSpPr txBox="1"/>
          <p:nvPr/>
        </p:nvSpPr>
        <p:spPr>
          <a:xfrm>
            <a:off x="5943600" y="4389120"/>
            <a:ext cx="5669280" cy="685800"/>
          </a:xfrm>
          <a:prstGeom prst="rect">
            <a:avLst/>
          </a:prstGeom>
          <a:noFill/>
          <a:ln/>
        </p:spPr>
        <p:txBody>
          <a:bodyPr wrap="square" lIns="0" tIns="0" rIns="0" bIns="0" rtlCol="0" anchor="ctr"/>
          <a:lstStyle/>
          <a:p>
            <a:pPr indent="0" marL="0">
              <a:buNone/>
            </a:pPr>
            <a:r>
              <a:rPr lang="en-US" sz="1500" dirty="0">
                <a:solidFill>
                  <a:schemeClr val="tx2"/>
                </a:solidFill>
              </a:rPr>
              <a:t>Explain how NeMo Evaluator and NeMo Guardrails make models measurable and safe.</a:t>
            </a:r>
            <a:endParaRPr lang="en-US" sz="1500" dirty="0"/>
          </a:p>
        </p:txBody>
      </p:sp>
      <p:sp>
        <p:nvSpPr>
          <p:cNvPr id="20" name="Shape 14"/>
          <p:cNvSpPr/>
          <p:nvPr/>
        </p:nvSpPr>
        <p:spPr>
          <a:xfrm>
            <a:off x="548640" y="5349240"/>
            <a:ext cx="566928" cy="566928"/>
          </a:xfrm>
          <a:prstGeom prst="ellipse">
            <a:avLst/>
          </a:prstGeom>
          <a:solidFill>
            <a:schemeClr val="accent1"/>
          </a:solidFill>
          <a:ln/>
        </p:spPr>
      </p:sp>
      <p:pic>
        <p:nvPicPr>
          <p:cNvPr id="21" name="Image 4" descr="preencoded.png">    </p:cNvPr>
          <p:cNvPicPr>
            <a:picLocks noChangeAspect="1"/>
          </p:cNvPicPr>
          <p:nvPr/>
        </p:nvPicPr>
        <p:blipFill>
          <a:blip r:embed="rId5"/>
          <a:stretch>
            <a:fillRect/>
          </a:stretch>
        </p:blipFill>
        <p:spPr>
          <a:xfrm>
            <a:off x="673364" y="5473964"/>
            <a:ext cx="317480" cy="317480"/>
          </a:xfrm>
          <a:prstGeom prst="rect">
            <a:avLst/>
          </a:prstGeom>
        </p:spPr>
      </p:pic>
      <p:sp>
        <p:nvSpPr>
          <p:cNvPr id="22" name="Text 15"/>
          <p:cNvSpPr txBox="1"/>
          <p:nvPr/>
        </p:nvSpPr>
        <p:spPr>
          <a:xfrm>
            <a:off x="1325880" y="5303520"/>
            <a:ext cx="4572000" cy="685800"/>
          </a:xfrm>
          <a:prstGeom prst="rect">
            <a:avLst/>
          </a:prstGeom>
          <a:noFill/>
          <a:ln/>
        </p:spPr>
        <p:txBody>
          <a:bodyPr wrap="square" lIns="0" tIns="0" rIns="0" bIns="0" rtlCol="0" anchor="ctr"/>
          <a:lstStyle/>
          <a:p>
            <a:pPr indent="0" marL="0">
              <a:buNone/>
            </a:pPr>
            <a:r>
              <a:rPr lang="en-US" sz="1800" b="1" dirty="0">
                <a:solidFill>
                  <a:schemeClr val="tx1"/>
                </a:solidFill>
              </a:rPr>
              <a:t>Place NeMo in the lifecycle</a:t>
            </a:r>
            <a:endParaRPr lang="en-US" sz="1800" dirty="0"/>
          </a:p>
        </p:txBody>
      </p:sp>
      <p:sp>
        <p:nvSpPr>
          <p:cNvPr id="23" name="Text 16"/>
          <p:cNvSpPr txBox="1"/>
          <p:nvPr/>
        </p:nvSpPr>
        <p:spPr>
          <a:xfrm>
            <a:off x="5943600" y="5303520"/>
            <a:ext cx="5669280" cy="685800"/>
          </a:xfrm>
          <a:prstGeom prst="rect">
            <a:avLst/>
          </a:prstGeom>
          <a:noFill/>
          <a:ln/>
        </p:spPr>
        <p:txBody>
          <a:bodyPr wrap="square" lIns="0" tIns="0" rIns="0" bIns="0" rtlCol="0" anchor="ctr"/>
          <a:lstStyle/>
          <a:p>
            <a:pPr indent="0" marL="0">
              <a:buNone/>
            </a:pPr>
            <a:r>
              <a:rPr lang="en-US" sz="1500" dirty="0">
                <a:solidFill>
                  <a:schemeClr val="tx2"/>
                </a:solidFill>
              </a:rPr>
              <a:t>Sketch a reference architecture and data flywheel built on NeMo and NIM.</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40080" y="1463040"/>
            <a:ext cx="2743200" cy="1371600"/>
          </a:xfrm>
          <a:prstGeom prst="rect">
            <a:avLst/>
          </a:prstGeom>
          <a:noFill/>
          <a:ln/>
        </p:spPr>
        <p:txBody>
          <a:bodyPr wrap="square" lIns="0" tIns="0" rIns="0" bIns="0" rtlCol="0" anchor="t"/>
          <a:lstStyle/>
          <a:p>
            <a:pPr indent="0" marL="0">
              <a:buNone/>
            </a:pPr>
            <a:r>
              <a:rPr lang="en-US" sz="8800" b="1" dirty="0">
                <a:solidFill>
                  <a:schemeClr val="accent1"/>
                </a:solidFill>
              </a:rPr>
              <a:t>01</a:t>
            </a:r>
            <a:endParaRPr lang="en-US" sz="8800" dirty="0"/>
          </a:p>
        </p:txBody>
      </p:sp>
      <p:sp>
        <p:nvSpPr>
          <p:cNvPr id="3" name="Text 0"/>
          <p:cNvSpPr/>
          <p:nvPr>
            <p:ph idx="101" type="title" hasCustomPrompt="1"/>
          </p:nvPr>
        </p:nvSpPr>
        <p:spPr>
          <a:xfrm>
            <a:off x="640080" y="2743200"/>
            <a:ext cx="7498080" cy="1371600"/>
          </a:xfrm>
          <a:prstGeom prst="rect">
            <a:avLst/>
          </a:prstGeom>
          <a:noFill/>
          <a:ln/>
        </p:spPr>
        <p:txBody>
          <a:bodyPr wrap="square" lIns="0" tIns="0" rIns="0" bIns="0" rtlCol="0" anchor="t"/>
          <a:lstStyle/>
          <a:p>
            <a:pPr algn="l" indent="0" marL="0">
              <a:buNone/>
            </a:pPr>
            <a:r>
              <a:rPr lang="en-US" sz="3600" b="1" dirty="0">
                <a:solidFill>
                  <a:schemeClr val="bg1"/>
                </a:solidFill>
              </a:rPr>
              <a:t>Why enterprises need a model development platform</a:t>
            </a:r>
            <a:endParaRPr lang="en-US" sz="3600" dirty="0"/>
          </a:p>
        </p:txBody>
      </p:sp>
      <p:sp>
        <p:nvSpPr>
          <p:cNvPr id="4" name="Text 0"/>
          <p:cNvSpPr/>
          <p:nvPr>
            <p:ph idx="102" type="body" hasCustomPrompt="1"/>
          </p:nvPr>
        </p:nvSpPr>
        <p:spPr>
          <a:xfrm>
            <a:off x="640080" y="4297680"/>
            <a:ext cx="6949440" cy="1280160"/>
          </a:xfrm>
          <a:prstGeom prst="rect">
            <a:avLst/>
          </a:prstGeom>
          <a:noFill/>
          <a:ln/>
        </p:spPr>
        <p:txBody>
          <a:bodyPr wrap="square" lIns="0" tIns="0" rIns="0" bIns="0" rtlCol="0" anchor="t"/>
          <a:lstStyle/>
          <a:p>
            <a:pPr indent="0" marL="0">
              <a:buNone/>
            </a:pPr>
            <a:r>
              <a:rPr lang="en-US" sz="1800" dirty="0">
                <a:solidFill>
                  <a:srgbClr val="C9D3CC"/>
                </a:solidFill>
              </a:rPr>
              <a:t>The business problem NeMo is designed to solve</a:t>
            </a:r>
            <a:endParaRPr lang="en-US" sz="1800" dirty="0"/>
          </a:p>
        </p:txBody>
      </p:sp>
      <p:sp>
        <p:nvSpPr>
          <p:cNvPr id="5" name="Shape 3"/>
          <p:cNvSpPr/>
          <p:nvPr/>
        </p:nvSpPr>
        <p:spPr>
          <a:xfrm>
            <a:off x="8503920" y="1188720"/>
            <a:ext cx="396240" cy="400304"/>
          </a:xfrm>
          <a:prstGeom prst="roundRect">
            <a:avLst>
              <a:gd name="adj" fmla="val 9231"/>
            </a:avLst>
          </a:prstGeom>
          <a:solidFill>
            <a:schemeClr val="accent1"/>
          </a:solidFill>
          <a:ln/>
        </p:spPr>
      </p:sp>
      <p:sp>
        <p:nvSpPr>
          <p:cNvPr id="6" name="Shape 4"/>
          <p:cNvSpPr/>
          <p:nvPr/>
        </p:nvSpPr>
        <p:spPr>
          <a:xfrm>
            <a:off x="9009888" y="1188720"/>
            <a:ext cx="396240" cy="400304"/>
          </a:xfrm>
          <a:prstGeom prst="roundRect">
            <a:avLst>
              <a:gd name="adj" fmla="val 9231"/>
            </a:avLst>
          </a:prstGeom>
          <a:solidFill>
            <a:schemeClr val="accent1">
              <a:alpha val="20000"/>
            </a:schemeClr>
          </a:solidFill>
          <a:ln/>
        </p:spPr>
      </p:sp>
      <p:sp>
        <p:nvSpPr>
          <p:cNvPr id="7" name="Shape 5"/>
          <p:cNvSpPr/>
          <p:nvPr/>
        </p:nvSpPr>
        <p:spPr>
          <a:xfrm>
            <a:off x="9515856" y="1188720"/>
            <a:ext cx="396240" cy="400304"/>
          </a:xfrm>
          <a:prstGeom prst="roundRect">
            <a:avLst>
              <a:gd name="adj" fmla="val 9231"/>
            </a:avLst>
          </a:prstGeom>
          <a:solidFill>
            <a:schemeClr val="accent1">
              <a:alpha val="45000"/>
            </a:schemeClr>
          </a:solidFill>
          <a:ln/>
        </p:spPr>
      </p:sp>
      <p:sp>
        <p:nvSpPr>
          <p:cNvPr id="8" name="Shape 6"/>
          <p:cNvSpPr/>
          <p:nvPr/>
        </p:nvSpPr>
        <p:spPr>
          <a:xfrm>
            <a:off x="10021824" y="1188720"/>
            <a:ext cx="396240" cy="400304"/>
          </a:xfrm>
          <a:prstGeom prst="roundRect">
            <a:avLst>
              <a:gd name="adj" fmla="val 9231"/>
            </a:avLst>
          </a:prstGeom>
          <a:solidFill>
            <a:schemeClr val="accent1">
              <a:alpha val="75000"/>
            </a:schemeClr>
          </a:solidFill>
          <a:ln/>
        </p:spPr>
      </p:sp>
      <p:sp>
        <p:nvSpPr>
          <p:cNvPr id="9" name="Shape 7"/>
          <p:cNvSpPr/>
          <p:nvPr/>
        </p:nvSpPr>
        <p:spPr>
          <a:xfrm>
            <a:off x="10527792" y="1188720"/>
            <a:ext cx="396240" cy="400304"/>
          </a:xfrm>
          <a:prstGeom prst="roundRect">
            <a:avLst>
              <a:gd name="adj" fmla="val 9231"/>
            </a:avLst>
          </a:prstGeom>
          <a:solidFill>
            <a:schemeClr val="accent1"/>
          </a:solidFill>
          <a:ln/>
        </p:spPr>
      </p:sp>
      <p:sp>
        <p:nvSpPr>
          <p:cNvPr id="10" name="Shape 8"/>
          <p:cNvSpPr/>
          <p:nvPr/>
        </p:nvSpPr>
        <p:spPr>
          <a:xfrm>
            <a:off x="11033760" y="1188720"/>
            <a:ext cx="396240" cy="400304"/>
          </a:xfrm>
          <a:prstGeom prst="roundRect">
            <a:avLst>
              <a:gd name="adj" fmla="val 9231"/>
            </a:avLst>
          </a:prstGeom>
          <a:solidFill>
            <a:schemeClr val="accent1">
              <a:alpha val="20000"/>
            </a:schemeClr>
          </a:solidFill>
          <a:ln/>
        </p:spPr>
      </p:sp>
      <p:sp>
        <p:nvSpPr>
          <p:cNvPr id="11" name="Shape 9"/>
          <p:cNvSpPr/>
          <p:nvPr/>
        </p:nvSpPr>
        <p:spPr>
          <a:xfrm>
            <a:off x="8503920" y="1698752"/>
            <a:ext cx="396240" cy="400304"/>
          </a:xfrm>
          <a:prstGeom prst="roundRect">
            <a:avLst>
              <a:gd name="adj" fmla="val 9231"/>
            </a:avLst>
          </a:prstGeom>
          <a:solidFill>
            <a:schemeClr val="accent1">
              <a:alpha val="20000"/>
            </a:schemeClr>
          </a:solidFill>
          <a:ln/>
        </p:spPr>
      </p:sp>
      <p:sp>
        <p:nvSpPr>
          <p:cNvPr id="12" name="Shape 10"/>
          <p:cNvSpPr/>
          <p:nvPr/>
        </p:nvSpPr>
        <p:spPr>
          <a:xfrm>
            <a:off x="9009888" y="1698752"/>
            <a:ext cx="396240" cy="400304"/>
          </a:xfrm>
          <a:prstGeom prst="roundRect">
            <a:avLst>
              <a:gd name="adj" fmla="val 9231"/>
            </a:avLst>
          </a:prstGeom>
          <a:solidFill>
            <a:schemeClr val="accent1">
              <a:alpha val="20000"/>
            </a:schemeClr>
          </a:solidFill>
          <a:ln/>
        </p:spPr>
      </p:sp>
      <p:sp>
        <p:nvSpPr>
          <p:cNvPr id="13" name="Shape 11"/>
          <p:cNvSpPr/>
          <p:nvPr/>
        </p:nvSpPr>
        <p:spPr>
          <a:xfrm>
            <a:off x="9515856" y="1698752"/>
            <a:ext cx="396240" cy="400304"/>
          </a:xfrm>
          <a:prstGeom prst="roundRect">
            <a:avLst>
              <a:gd name="adj" fmla="val 9231"/>
            </a:avLst>
          </a:prstGeom>
          <a:solidFill>
            <a:schemeClr val="accent1">
              <a:alpha val="20000"/>
            </a:schemeClr>
          </a:solidFill>
          <a:ln/>
        </p:spPr>
      </p:sp>
      <p:sp>
        <p:nvSpPr>
          <p:cNvPr id="14" name="Shape 12"/>
          <p:cNvSpPr/>
          <p:nvPr/>
        </p:nvSpPr>
        <p:spPr>
          <a:xfrm>
            <a:off x="10021824" y="1698752"/>
            <a:ext cx="396240" cy="400304"/>
          </a:xfrm>
          <a:prstGeom prst="roundRect">
            <a:avLst>
              <a:gd name="adj" fmla="val 9231"/>
            </a:avLst>
          </a:prstGeom>
          <a:solidFill>
            <a:schemeClr val="accent1">
              <a:alpha val="20000"/>
            </a:schemeClr>
          </a:solidFill>
          <a:ln/>
        </p:spPr>
      </p:sp>
      <p:sp>
        <p:nvSpPr>
          <p:cNvPr id="15" name="Shape 13"/>
          <p:cNvSpPr/>
          <p:nvPr/>
        </p:nvSpPr>
        <p:spPr>
          <a:xfrm>
            <a:off x="10527792" y="1698752"/>
            <a:ext cx="396240" cy="400304"/>
          </a:xfrm>
          <a:prstGeom prst="roundRect">
            <a:avLst>
              <a:gd name="adj" fmla="val 9231"/>
            </a:avLst>
          </a:prstGeom>
          <a:solidFill>
            <a:schemeClr val="accent1">
              <a:alpha val="20000"/>
            </a:schemeClr>
          </a:solidFill>
          <a:ln/>
        </p:spPr>
      </p:sp>
      <p:sp>
        <p:nvSpPr>
          <p:cNvPr id="16" name="Shape 14"/>
          <p:cNvSpPr/>
          <p:nvPr/>
        </p:nvSpPr>
        <p:spPr>
          <a:xfrm>
            <a:off x="11033760" y="1698752"/>
            <a:ext cx="396240" cy="400304"/>
          </a:xfrm>
          <a:prstGeom prst="roundRect">
            <a:avLst>
              <a:gd name="adj" fmla="val 9231"/>
            </a:avLst>
          </a:prstGeom>
          <a:solidFill>
            <a:schemeClr val="accent1">
              <a:alpha val="20000"/>
            </a:schemeClr>
          </a:solidFill>
          <a:ln/>
        </p:spPr>
      </p:sp>
      <p:sp>
        <p:nvSpPr>
          <p:cNvPr id="17" name="Shape 15"/>
          <p:cNvSpPr/>
          <p:nvPr/>
        </p:nvSpPr>
        <p:spPr>
          <a:xfrm>
            <a:off x="8503920" y="2208784"/>
            <a:ext cx="396240" cy="400304"/>
          </a:xfrm>
          <a:prstGeom prst="roundRect">
            <a:avLst>
              <a:gd name="adj" fmla="val 9231"/>
            </a:avLst>
          </a:prstGeom>
          <a:solidFill>
            <a:schemeClr val="accent1">
              <a:alpha val="45000"/>
            </a:schemeClr>
          </a:solidFill>
          <a:ln/>
        </p:spPr>
      </p:sp>
      <p:sp>
        <p:nvSpPr>
          <p:cNvPr id="18" name="Shape 16"/>
          <p:cNvSpPr/>
          <p:nvPr/>
        </p:nvSpPr>
        <p:spPr>
          <a:xfrm>
            <a:off x="9009888" y="2208784"/>
            <a:ext cx="396240" cy="400304"/>
          </a:xfrm>
          <a:prstGeom prst="roundRect">
            <a:avLst>
              <a:gd name="adj" fmla="val 9231"/>
            </a:avLst>
          </a:prstGeom>
          <a:solidFill>
            <a:schemeClr val="accent1">
              <a:alpha val="20000"/>
            </a:schemeClr>
          </a:solidFill>
          <a:ln/>
        </p:spPr>
      </p:sp>
      <p:sp>
        <p:nvSpPr>
          <p:cNvPr id="19" name="Shape 17"/>
          <p:cNvSpPr/>
          <p:nvPr/>
        </p:nvSpPr>
        <p:spPr>
          <a:xfrm>
            <a:off x="9515856" y="2208784"/>
            <a:ext cx="396240" cy="400304"/>
          </a:xfrm>
          <a:prstGeom prst="roundRect">
            <a:avLst>
              <a:gd name="adj" fmla="val 9231"/>
            </a:avLst>
          </a:prstGeom>
          <a:solidFill>
            <a:schemeClr val="accent1"/>
          </a:solidFill>
          <a:ln/>
        </p:spPr>
      </p:sp>
      <p:sp>
        <p:nvSpPr>
          <p:cNvPr id="20" name="Shape 18"/>
          <p:cNvSpPr/>
          <p:nvPr/>
        </p:nvSpPr>
        <p:spPr>
          <a:xfrm>
            <a:off x="10021824" y="2208784"/>
            <a:ext cx="396240" cy="400304"/>
          </a:xfrm>
          <a:prstGeom prst="roundRect">
            <a:avLst>
              <a:gd name="adj" fmla="val 9231"/>
            </a:avLst>
          </a:prstGeom>
          <a:solidFill>
            <a:schemeClr val="accent1">
              <a:alpha val="75000"/>
            </a:schemeClr>
          </a:solidFill>
          <a:ln/>
        </p:spPr>
      </p:sp>
      <p:sp>
        <p:nvSpPr>
          <p:cNvPr id="21" name="Shape 19"/>
          <p:cNvSpPr/>
          <p:nvPr/>
        </p:nvSpPr>
        <p:spPr>
          <a:xfrm>
            <a:off x="10527792" y="2208784"/>
            <a:ext cx="396240" cy="400304"/>
          </a:xfrm>
          <a:prstGeom prst="roundRect">
            <a:avLst>
              <a:gd name="adj" fmla="val 9231"/>
            </a:avLst>
          </a:prstGeom>
          <a:solidFill>
            <a:schemeClr val="accent1">
              <a:alpha val="45000"/>
            </a:schemeClr>
          </a:solidFill>
          <a:ln/>
        </p:spPr>
      </p:sp>
      <p:sp>
        <p:nvSpPr>
          <p:cNvPr id="22" name="Shape 20"/>
          <p:cNvSpPr/>
          <p:nvPr/>
        </p:nvSpPr>
        <p:spPr>
          <a:xfrm>
            <a:off x="11033760" y="2208784"/>
            <a:ext cx="396240" cy="400304"/>
          </a:xfrm>
          <a:prstGeom prst="roundRect">
            <a:avLst>
              <a:gd name="adj" fmla="val 9231"/>
            </a:avLst>
          </a:prstGeom>
          <a:solidFill>
            <a:schemeClr val="accent1">
              <a:alpha val="20000"/>
            </a:schemeClr>
          </a:solidFill>
          <a:ln/>
        </p:spPr>
      </p:sp>
      <p:sp>
        <p:nvSpPr>
          <p:cNvPr id="23" name="Shape 21"/>
          <p:cNvSpPr/>
          <p:nvPr/>
        </p:nvSpPr>
        <p:spPr>
          <a:xfrm>
            <a:off x="8503920" y="2718816"/>
            <a:ext cx="396240" cy="400304"/>
          </a:xfrm>
          <a:prstGeom prst="roundRect">
            <a:avLst>
              <a:gd name="adj" fmla="val 9231"/>
            </a:avLst>
          </a:prstGeom>
          <a:solidFill>
            <a:schemeClr val="accent1">
              <a:alpha val="75000"/>
            </a:schemeClr>
          </a:solidFill>
          <a:ln/>
        </p:spPr>
      </p:sp>
      <p:sp>
        <p:nvSpPr>
          <p:cNvPr id="24" name="Shape 22"/>
          <p:cNvSpPr/>
          <p:nvPr/>
        </p:nvSpPr>
        <p:spPr>
          <a:xfrm>
            <a:off x="9009888" y="2718816"/>
            <a:ext cx="396240" cy="400304"/>
          </a:xfrm>
          <a:prstGeom prst="roundRect">
            <a:avLst>
              <a:gd name="adj" fmla="val 9231"/>
            </a:avLst>
          </a:prstGeom>
          <a:solidFill>
            <a:schemeClr val="accent1">
              <a:alpha val="20000"/>
            </a:schemeClr>
          </a:solidFill>
          <a:ln/>
        </p:spPr>
      </p:sp>
      <p:sp>
        <p:nvSpPr>
          <p:cNvPr id="25" name="Shape 23"/>
          <p:cNvSpPr/>
          <p:nvPr/>
        </p:nvSpPr>
        <p:spPr>
          <a:xfrm>
            <a:off x="9515856" y="2718816"/>
            <a:ext cx="396240" cy="400304"/>
          </a:xfrm>
          <a:prstGeom prst="roundRect">
            <a:avLst>
              <a:gd name="adj" fmla="val 9231"/>
            </a:avLst>
          </a:prstGeom>
          <a:solidFill>
            <a:schemeClr val="accent1">
              <a:alpha val="75000"/>
            </a:schemeClr>
          </a:solidFill>
          <a:ln/>
        </p:spPr>
      </p:sp>
      <p:sp>
        <p:nvSpPr>
          <p:cNvPr id="26" name="Shape 24"/>
          <p:cNvSpPr/>
          <p:nvPr/>
        </p:nvSpPr>
        <p:spPr>
          <a:xfrm>
            <a:off x="10021824" y="2718816"/>
            <a:ext cx="396240" cy="400304"/>
          </a:xfrm>
          <a:prstGeom prst="roundRect">
            <a:avLst>
              <a:gd name="adj" fmla="val 9231"/>
            </a:avLst>
          </a:prstGeom>
          <a:solidFill>
            <a:schemeClr val="accent1">
              <a:alpha val="20000"/>
            </a:schemeClr>
          </a:solidFill>
          <a:ln/>
        </p:spPr>
      </p:sp>
      <p:sp>
        <p:nvSpPr>
          <p:cNvPr id="27" name="Shape 25"/>
          <p:cNvSpPr/>
          <p:nvPr/>
        </p:nvSpPr>
        <p:spPr>
          <a:xfrm>
            <a:off x="10527792" y="2718816"/>
            <a:ext cx="396240" cy="400304"/>
          </a:xfrm>
          <a:prstGeom prst="roundRect">
            <a:avLst>
              <a:gd name="adj" fmla="val 9231"/>
            </a:avLst>
          </a:prstGeom>
          <a:solidFill>
            <a:schemeClr val="accent1">
              <a:alpha val="75000"/>
            </a:schemeClr>
          </a:solidFill>
          <a:ln/>
        </p:spPr>
      </p:sp>
      <p:sp>
        <p:nvSpPr>
          <p:cNvPr id="28" name="Shape 26"/>
          <p:cNvSpPr/>
          <p:nvPr/>
        </p:nvSpPr>
        <p:spPr>
          <a:xfrm>
            <a:off x="11033760" y="2718816"/>
            <a:ext cx="396240" cy="400304"/>
          </a:xfrm>
          <a:prstGeom prst="roundRect">
            <a:avLst>
              <a:gd name="adj" fmla="val 9231"/>
            </a:avLst>
          </a:prstGeom>
          <a:solidFill>
            <a:schemeClr val="accent1">
              <a:alpha val="20000"/>
            </a:schemeClr>
          </a:solidFill>
          <a:ln/>
        </p:spPr>
      </p:sp>
      <p:sp>
        <p:nvSpPr>
          <p:cNvPr id="29" name="Shape 27"/>
          <p:cNvSpPr/>
          <p:nvPr/>
        </p:nvSpPr>
        <p:spPr>
          <a:xfrm>
            <a:off x="8503920" y="3228848"/>
            <a:ext cx="396240" cy="400304"/>
          </a:xfrm>
          <a:prstGeom prst="roundRect">
            <a:avLst>
              <a:gd name="adj" fmla="val 9231"/>
            </a:avLst>
          </a:prstGeom>
          <a:solidFill>
            <a:schemeClr val="accent1"/>
          </a:solidFill>
          <a:ln/>
        </p:spPr>
      </p:sp>
      <p:sp>
        <p:nvSpPr>
          <p:cNvPr id="30" name="Shape 28"/>
          <p:cNvSpPr/>
          <p:nvPr/>
        </p:nvSpPr>
        <p:spPr>
          <a:xfrm>
            <a:off x="9009888" y="3228848"/>
            <a:ext cx="396240" cy="400304"/>
          </a:xfrm>
          <a:prstGeom prst="roundRect">
            <a:avLst>
              <a:gd name="adj" fmla="val 9231"/>
            </a:avLst>
          </a:prstGeom>
          <a:solidFill>
            <a:schemeClr val="accent1">
              <a:alpha val="20000"/>
            </a:schemeClr>
          </a:solidFill>
          <a:ln/>
        </p:spPr>
      </p:sp>
      <p:sp>
        <p:nvSpPr>
          <p:cNvPr id="31" name="Shape 29"/>
          <p:cNvSpPr/>
          <p:nvPr/>
        </p:nvSpPr>
        <p:spPr>
          <a:xfrm>
            <a:off x="9515856" y="3228848"/>
            <a:ext cx="396240" cy="400304"/>
          </a:xfrm>
          <a:prstGeom prst="roundRect">
            <a:avLst>
              <a:gd name="adj" fmla="val 9231"/>
            </a:avLst>
          </a:prstGeom>
          <a:solidFill>
            <a:schemeClr val="accent1">
              <a:alpha val="45000"/>
            </a:schemeClr>
          </a:solidFill>
          <a:ln/>
        </p:spPr>
      </p:sp>
      <p:sp>
        <p:nvSpPr>
          <p:cNvPr id="32" name="Shape 30"/>
          <p:cNvSpPr/>
          <p:nvPr/>
        </p:nvSpPr>
        <p:spPr>
          <a:xfrm>
            <a:off x="10021824" y="3228848"/>
            <a:ext cx="396240" cy="400304"/>
          </a:xfrm>
          <a:prstGeom prst="roundRect">
            <a:avLst>
              <a:gd name="adj" fmla="val 9231"/>
            </a:avLst>
          </a:prstGeom>
          <a:solidFill>
            <a:schemeClr val="accent1">
              <a:alpha val="75000"/>
            </a:schemeClr>
          </a:solidFill>
          <a:ln/>
        </p:spPr>
      </p:sp>
      <p:sp>
        <p:nvSpPr>
          <p:cNvPr id="33" name="Shape 31"/>
          <p:cNvSpPr/>
          <p:nvPr/>
        </p:nvSpPr>
        <p:spPr>
          <a:xfrm>
            <a:off x="10527792" y="3228848"/>
            <a:ext cx="396240" cy="400304"/>
          </a:xfrm>
          <a:prstGeom prst="roundRect">
            <a:avLst>
              <a:gd name="adj" fmla="val 9231"/>
            </a:avLst>
          </a:prstGeom>
          <a:solidFill>
            <a:schemeClr val="accent1"/>
          </a:solidFill>
          <a:ln/>
        </p:spPr>
      </p:sp>
      <p:sp>
        <p:nvSpPr>
          <p:cNvPr id="34" name="Shape 32"/>
          <p:cNvSpPr/>
          <p:nvPr/>
        </p:nvSpPr>
        <p:spPr>
          <a:xfrm>
            <a:off x="11033760" y="3228848"/>
            <a:ext cx="396240" cy="400304"/>
          </a:xfrm>
          <a:prstGeom prst="roundRect">
            <a:avLst>
              <a:gd name="adj" fmla="val 9231"/>
            </a:avLst>
          </a:prstGeom>
          <a:solidFill>
            <a:schemeClr val="accent1">
              <a:alpha val="20000"/>
            </a:schemeClr>
          </a:solidFill>
          <a:ln/>
        </p:spPr>
      </p:sp>
      <p:sp>
        <p:nvSpPr>
          <p:cNvPr id="35" name="Shape 33"/>
          <p:cNvSpPr/>
          <p:nvPr/>
        </p:nvSpPr>
        <p:spPr>
          <a:xfrm>
            <a:off x="8503920" y="3738880"/>
            <a:ext cx="396240" cy="400304"/>
          </a:xfrm>
          <a:prstGeom prst="roundRect">
            <a:avLst>
              <a:gd name="adj" fmla="val 9231"/>
            </a:avLst>
          </a:prstGeom>
          <a:solidFill>
            <a:schemeClr val="accent1">
              <a:alpha val="20000"/>
            </a:schemeClr>
          </a:solidFill>
          <a:ln/>
        </p:spPr>
      </p:sp>
      <p:sp>
        <p:nvSpPr>
          <p:cNvPr id="36" name="Shape 34"/>
          <p:cNvSpPr/>
          <p:nvPr/>
        </p:nvSpPr>
        <p:spPr>
          <a:xfrm>
            <a:off x="9009888" y="3738880"/>
            <a:ext cx="396240" cy="400304"/>
          </a:xfrm>
          <a:prstGeom prst="roundRect">
            <a:avLst>
              <a:gd name="adj" fmla="val 9231"/>
            </a:avLst>
          </a:prstGeom>
          <a:solidFill>
            <a:schemeClr val="accent1">
              <a:alpha val="20000"/>
            </a:schemeClr>
          </a:solidFill>
          <a:ln/>
        </p:spPr>
      </p:sp>
      <p:sp>
        <p:nvSpPr>
          <p:cNvPr id="37" name="Shape 35"/>
          <p:cNvSpPr/>
          <p:nvPr/>
        </p:nvSpPr>
        <p:spPr>
          <a:xfrm>
            <a:off x="9515856" y="3738880"/>
            <a:ext cx="396240" cy="400304"/>
          </a:xfrm>
          <a:prstGeom prst="roundRect">
            <a:avLst>
              <a:gd name="adj" fmla="val 9231"/>
            </a:avLst>
          </a:prstGeom>
          <a:solidFill>
            <a:schemeClr val="accent1">
              <a:alpha val="20000"/>
            </a:schemeClr>
          </a:solidFill>
          <a:ln/>
        </p:spPr>
      </p:sp>
      <p:sp>
        <p:nvSpPr>
          <p:cNvPr id="38" name="Shape 36"/>
          <p:cNvSpPr/>
          <p:nvPr/>
        </p:nvSpPr>
        <p:spPr>
          <a:xfrm>
            <a:off x="10021824" y="3738880"/>
            <a:ext cx="396240" cy="400304"/>
          </a:xfrm>
          <a:prstGeom prst="roundRect">
            <a:avLst>
              <a:gd name="adj" fmla="val 9231"/>
            </a:avLst>
          </a:prstGeom>
          <a:solidFill>
            <a:schemeClr val="accent1">
              <a:alpha val="20000"/>
            </a:schemeClr>
          </a:solidFill>
          <a:ln/>
        </p:spPr>
      </p:sp>
      <p:sp>
        <p:nvSpPr>
          <p:cNvPr id="39" name="Shape 37"/>
          <p:cNvSpPr/>
          <p:nvPr/>
        </p:nvSpPr>
        <p:spPr>
          <a:xfrm>
            <a:off x="10527792" y="3738880"/>
            <a:ext cx="396240" cy="400304"/>
          </a:xfrm>
          <a:prstGeom prst="roundRect">
            <a:avLst>
              <a:gd name="adj" fmla="val 9231"/>
            </a:avLst>
          </a:prstGeom>
          <a:solidFill>
            <a:schemeClr val="accent1">
              <a:alpha val="20000"/>
            </a:schemeClr>
          </a:solidFill>
          <a:ln/>
        </p:spPr>
      </p:sp>
      <p:sp>
        <p:nvSpPr>
          <p:cNvPr id="40" name="Shape 38"/>
          <p:cNvSpPr/>
          <p:nvPr/>
        </p:nvSpPr>
        <p:spPr>
          <a:xfrm>
            <a:off x="11033760" y="3738880"/>
            <a:ext cx="396240" cy="400304"/>
          </a:xfrm>
          <a:prstGeom prst="roundRect">
            <a:avLst>
              <a:gd name="adj" fmla="val 9231"/>
            </a:avLst>
          </a:prstGeom>
          <a:solidFill>
            <a:schemeClr val="accent1">
              <a:alpha val="20000"/>
            </a:schemeClr>
          </a:solidFill>
          <a:ln/>
        </p:spPr>
      </p:sp>
      <p:sp>
        <p:nvSpPr>
          <p:cNvPr id="41" name="Shape 39"/>
          <p:cNvSpPr/>
          <p:nvPr/>
        </p:nvSpPr>
        <p:spPr>
          <a:xfrm>
            <a:off x="8503920" y="4248912"/>
            <a:ext cx="396240" cy="400304"/>
          </a:xfrm>
          <a:prstGeom prst="roundRect">
            <a:avLst>
              <a:gd name="adj" fmla="val 9231"/>
            </a:avLst>
          </a:prstGeom>
          <a:solidFill>
            <a:schemeClr val="accent1">
              <a:alpha val="45000"/>
            </a:schemeClr>
          </a:solidFill>
          <a:ln/>
        </p:spPr>
      </p:sp>
      <p:sp>
        <p:nvSpPr>
          <p:cNvPr id="42" name="Shape 40"/>
          <p:cNvSpPr/>
          <p:nvPr/>
        </p:nvSpPr>
        <p:spPr>
          <a:xfrm>
            <a:off x="9009888" y="4248912"/>
            <a:ext cx="396240" cy="400304"/>
          </a:xfrm>
          <a:prstGeom prst="roundRect">
            <a:avLst>
              <a:gd name="adj" fmla="val 9231"/>
            </a:avLst>
          </a:prstGeom>
          <a:solidFill>
            <a:schemeClr val="accent1">
              <a:alpha val="20000"/>
            </a:schemeClr>
          </a:solidFill>
          <a:ln/>
        </p:spPr>
      </p:sp>
      <p:sp>
        <p:nvSpPr>
          <p:cNvPr id="43" name="Shape 41"/>
          <p:cNvSpPr/>
          <p:nvPr/>
        </p:nvSpPr>
        <p:spPr>
          <a:xfrm>
            <a:off x="9515856" y="4248912"/>
            <a:ext cx="396240" cy="400304"/>
          </a:xfrm>
          <a:prstGeom prst="roundRect">
            <a:avLst>
              <a:gd name="adj" fmla="val 9231"/>
            </a:avLst>
          </a:prstGeom>
          <a:solidFill>
            <a:schemeClr val="accent1"/>
          </a:solidFill>
          <a:ln/>
        </p:spPr>
      </p:sp>
      <p:sp>
        <p:nvSpPr>
          <p:cNvPr id="44" name="Shape 42"/>
          <p:cNvSpPr/>
          <p:nvPr/>
        </p:nvSpPr>
        <p:spPr>
          <a:xfrm>
            <a:off x="10021824" y="4248912"/>
            <a:ext cx="396240" cy="400304"/>
          </a:xfrm>
          <a:prstGeom prst="roundRect">
            <a:avLst>
              <a:gd name="adj" fmla="val 9231"/>
            </a:avLst>
          </a:prstGeom>
          <a:solidFill>
            <a:schemeClr val="accent1">
              <a:alpha val="75000"/>
            </a:schemeClr>
          </a:solidFill>
          <a:ln/>
        </p:spPr>
      </p:sp>
      <p:sp>
        <p:nvSpPr>
          <p:cNvPr id="45" name="Shape 43"/>
          <p:cNvSpPr/>
          <p:nvPr/>
        </p:nvSpPr>
        <p:spPr>
          <a:xfrm>
            <a:off x="10527792" y="4248912"/>
            <a:ext cx="396240" cy="400304"/>
          </a:xfrm>
          <a:prstGeom prst="roundRect">
            <a:avLst>
              <a:gd name="adj" fmla="val 9231"/>
            </a:avLst>
          </a:prstGeom>
          <a:solidFill>
            <a:schemeClr val="accent1">
              <a:alpha val="45000"/>
            </a:schemeClr>
          </a:solidFill>
          <a:ln/>
        </p:spPr>
      </p:sp>
      <p:sp>
        <p:nvSpPr>
          <p:cNvPr id="46" name="Shape 44"/>
          <p:cNvSpPr/>
          <p:nvPr/>
        </p:nvSpPr>
        <p:spPr>
          <a:xfrm>
            <a:off x="11033760" y="4248912"/>
            <a:ext cx="396240" cy="400304"/>
          </a:xfrm>
          <a:prstGeom prst="roundRect">
            <a:avLst>
              <a:gd name="adj" fmla="val 9231"/>
            </a:avLst>
          </a:prstGeom>
          <a:solidFill>
            <a:schemeClr val="accent1">
              <a:alpha val="20000"/>
            </a:schemeClr>
          </a:solidFill>
          <a:ln/>
        </p:spPr>
      </p:sp>
      <p:sp>
        <p:nvSpPr>
          <p:cNvPr id="47" name="Shape 45"/>
          <p:cNvSpPr/>
          <p:nvPr/>
        </p:nvSpPr>
        <p:spPr>
          <a:xfrm>
            <a:off x="8503920" y="4758944"/>
            <a:ext cx="396240" cy="400304"/>
          </a:xfrm>
          <a:prstGeom prst="roundRect">
            <a:avLst>
              <a:gd name="adj" fmla="val 9231"/>
            </a:avLst>
          </a:prstGeom>
          <a:solidFill>
            <a:schemeClr val="accent1">
              <a:alpha val="75000"/>
            </a:schemeClr>
          </a:solidFill>
          <a:ln/>
        </p:spPr>
      </p:sp>
      <p:sp>
        <p:nvSpPr>
          <p:cNvPr id="48" name="Shape 46"/>
          <p:cNvSpPr/>
          <p:nvPr/>
        </p:nvSpPr>
        <p:spPr>
          <a:xfrm>
            <a:off x="9009888" y="4758944"/>
            <a:ext cx="396240" cy="400304"/>
          </a:xfrm>
          <a:prstGeom prst="roundRect">
            <a:avLst>
              <a:gd name="adj" fmla="val 9231"/>
            </a:avLst>
          </a:prstGeom>
          <a:solidFill>
            <a:schemeClr val="accent1">
              <a:alpha val="20000"/>
            </a:schemeClr>
          </a:solidFill>
          <a:ln/>
        </p:spPr>
      </p:sp>
      <p:sp>
        <p:nvSpPr>
          <p:cNvPr id="49" name="Shape 47"/>
          <p:cNvSpPr/>
          <p:nvPr/>
        </p:nvSpPr>
        <p:spPr>
          <a:xfrm>
            <a:off x="9515856" y="4758944"/>
            <a:ext cx="396240" cy="400304"/>
          </a:xfrm>
          <a:prstGeom prst="roundRect">
            <a:avLst>
              <a:gd name="adj" fmla="val 9231"/>
            </a:avLst>
          </a:prstGeom>
          <a:solidFill>
            <a:schemeClr val="accent1">
              <a:alpha val="75000"/>
            </a:schemeClr>
          </a:solidFill>
          <a:ln/>
        </p:spPr>
      </p:sp>
      <p:sp>
        <p:nvSpPr>
          <p:cNvPr id="50" name="Shape 48"/>
          <p:cNvSpPr/>
          <p:nvPr/>
        </p:nvSpPr>
        <p:spPr>
          <a:xfrm>
            <a:off x="10021824" y="4758944"/>
            <a:ext cx="396240" cy="400304"/>
          </a:xfrm>
          <a:prstGeom prst="roundRect">
            <a:avLst>
              <a:gd name="adj" fmla="val 9231"/>
            </a:avLst>
          </a:prstGeom>
          <a:solidFill>
            <a:schemeClr val="accent1">
              <a:alpha val="20000"/>
            </a:schemeClr>
          </a:solidFill>
          <a:ln/>
        </p:spPr>
      </p:sp>
      <p:sp>
        <p:nvSpPr>
          <p:cNvPr id="51" name="Shape 49"/>
          <p:cNvSpPr/>
          <p:nvPr/>
        </p:nvSpPr>
        <p:spPr>
          <a:xfrm>
            <a:off x="10527792" y="4758944"/>
            <a:ext cx="396240" cy="400304"/>
          </a:xfrm>
          <a:prstGeom prst="roundRect">
            <a:avLst>
              <a:gd name="adj" fmla="val 9231"/>
            </a:avLst>
          </a:prstGeom>
          <a:solidFill>
            <a:schemeClr val="accent1">
              <a:alpha val="75000"/>
            </a:schemeClr>
          </a:solidFill>
          <a:ln/>
        </p:spPr>
      </p:sp>
      <p:sp>
        <p:nvSpPr>
          <p:cNvPr id="52" name="Shape 50"/>
          <p:cNvSpPr/>
          <p:nvPr/>
        </p:nvSpPr>
        <p:spPr>
          <a:xfrm>
            <a:off x="11033760" y="4758944"/>
            <a:ext cx="396240" cy="400304"/>
          </a:xfrm>
          <a:prstGeom prst="roundRect">
            <a:avLst>
              <a:gd name="adj" fmla="val 9231"/>
            </a:avLst>
          </a:prstGeom>
          <a:solidFill>
            <a:schemeClr val="accent1">
              <a:alpha val="20000"/>
            </a:schemeClr>
          </a:solidFill>
          <a:ln/>
        </p:spPr>
      </p:sp>
      <p:sp>
        <p:nvSpPr>
          <p:cNvPr id="53" name="Shape 51"/>
          <p:cNvSpPr/>
          <p:nvPr/>
        </p:nvSpPr>
        <p:spPr>
          <a:xfrm>
            <a:off x="8503920" y="5268976"/>
            <a:ext cx="396240" cy="400304"/>
          </a:xfrm>
          <a:prstGeom prst="roundRect">
            <a:avLst>
              <a:gd name="adj" fmla="val 9231"/>
            </a:avLst>
          </a:prstGeom>
          <a:solidFill>
            <a:schemeClr val="accent1"/>
          </a:solidFill>
          <a:ln/>
        </p:spPr>
      </p:sp>
      <p:sp>
        <p:nvSpPr>
          <p:cNvPr id="54" name="Shape 52"/>
          <p:cNvSpPr/>
          <p:nvPr/>
        </p:nvSpPr>
        <p:spPr>
          <a:xfrm>
            <a:off x="9009888" y="5268976"/>
            <a:ext cx="396240" cy="400304"/>
          </a:xfrm>
          <a:prstGeom prst="roundRect">
            <a:avLst>
              <a:gd name="adj" fmla="val 9231"/>
            </a:avLst>
          </a:prstGeom>
          <a:solidFill>
            <a:schemeClr val="accent1">
              <a:alpha val="20000"/>
            </a:schemeClr>
          </a:solidFill>
          <a:ln/>
        </p:spPr>
      </p:sp>
      <p:sp>
        <p:nvSpPr>
          <p:cNvPr id="55" name="Shape 53"/>
          <p:cNvSpPr/>
          <p:nvPr/>
        </p:nvSpPr>
        <p:spPr>
          <a:xfrm>
            <a:off x="9515856" y="5268976"/>
            <a:ext cx="396240" cy="400304"/>
          </a:xfrm>
          <a:prstGeom prst="roundRect">
            <a:avLst>
              <a:gd name="adj" fmla="val 9231"/>
            </a:avLst>
          </a:prstGeom>
          <a:solidFill>
            <a:schemeClr val="accent1">
              <a:alpha val="45000"/>
            </a:schemeClr>
          </a:solidFill>
          <a:ln/>
        </p:spPr>
      </p:sp>
      <p:sp>
        <p:nvSpPr>
          <p:cNvPr id="56" name="Shape 54"/>
          <p:cNvSpPr/>
          <p:nvPr/>
        </p:nvSpPr>
        <p:spPr>
          <a:xfrm>
            <a:off x="10021824" y="5268976"/>
            <a:ext cx="396240" cy="400304"/>
          </a:xfrm>
          <a:prstGeom prst="roundRect">
            <a:avLst>
              <a:gd name="adj" fmla="val 9231"/>
            </a:avLst>
          </a:prstGeom>
          <a:solidFill>
            <a:schemeClr val="accent1">
              <a:alpha val="75000"/>
            </a:schemeClr>
          </a:solidFill>
          <a:ln/>
        </p:spPr>
      </p:sp>
      <p:sp>
        <p:nvSpPr>
          <p:cNvPr id="57" name="Shape 55"/>
          <p:cNvSpPr/>
          <p:nvPr/>
        </p:nvSpPr>
        <p:spPr>
          <a:xfrm>
            <a:off x="10527792" y="5268976"/>
            <a:ext cx="396240" cy="400304"/>
          </a:xfrm>
          <a:prstGeom prst="roundRect">
            <a:avLst>
              <a:gd name="adj" fmla="val 9231"/>
            </a:avLst>
          </a:prstGeom>
          <a:solidFill>
            <a:schemeClr val="accent1"/>
          </a:solidFill>
          <a:ln/>
        </p:spPr>
      </p:sp>
      <p:sp>
        <p:nvSpPr>
          <p:cNvPr id="58" name="Shape 56"/>
          <p:cNvSpPr/>
          <p:nvPr/>
        </p:nvSpPr>
        <p:spPr>
          <a:xfrm>
            <a:off x="11033760" y="5268976"/>
            <a:ext cx="396240" cy="400304"/>
          </a:xfrm>
          <a:prstGeom prst="roundRect">
            <a:avLst>
              <a:gd name="adj" fmla="val 9231"/>
            </a:avLst>
          </a:prstGeom>
          <a:solidFill>
            <a:schemeClr val="accent1">
              <a:alpha val="20000"/>
            </a:schemeClr>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000" b="1" dirty="0">
                <a:solidFill>
                  <a:schemeClr val="tx1"/>
                </a:solidFill>
              </a:rPr>
              <a:t>The enterprise generative AI challenge</a:t>
            </a:r>
            <a:endParaRPr lang="en-US" sz="3000" dirty="0"/>
          </a:p>
        </p:txBody>
      </p:sp>
      <p:sp>
        <p:nvSpPr>
          <p:cNvPr id="3" name="Text 0"/>
          <p:cNvSpPr/>
          <p:nvPr>
            <p:ph idx="101" type="body" hasCustomPrompt="1"/>
          </p:nvPr>
        </p:nvSpPr>
        <p:spPr>
          <a:xfrm>
            <a:off x="548640" y="960120"/>
            <a:ext cx="11064240" cy="411480"/>
          </a:xfrm>
          <a:prstGeom prst="rect">
            <a:avLst/>
          </a:prstGeom>
          <a:noFill/>
          <a:ln/>
        </p:spPr>
        <p:txBody>
          <a:bodyPr wrap="square" lIns="0" tIns="0" rIns="0" bIns="0" rtlCol="0" anchor="t"/>
          <a:lstStyle/>
          <a:p>
            <a:pPr indent="0" marL="0">
              <a:buNone/>
            </a:pPr>
            <a:r>
              <a:rPr lang="en-US" sz="1600" dirty="0">
                <a:solidFill>
                  <a:schemeClr val="accent5"/>
                </a:solidFill>
              </a:rPr>
              <a:t>General-purpose models are a starting point, not a finished enterprise solution</a:t>
            </a:r>
            <a:endParaRPr lang="en-US" sz="1600" dirty="0"/>
          </a:p>
        </p:txBody>
      </p:sp>
      <p:sp>
        <p:nvSpPr>
          <p:cNvPr id="4" name="card"/>
          <p:cNvSpPr/>
          <p:nvPr/>
        </p:nvSpPr>
        <p:spPr>
          <a:xfrm>
            <a:off x="548640" y="1600200"/>
            <a:ext cx="3566160" cy="2194560"/>
          </a:xfrm>
          <a:prstGeom prst="roundRect">
            <a:avLst>
              <a:gd name="adj" fmla="val 3333"/>
            </a:avLst>
          </a:prstGeom>
          <a:solidFill>
            <a:schemeClr val="bg2"/>
          </a:solidFill>
          <a:ln/>
        </p:spPr>
      </p:sp>
      <p:sp>
        <p:nvSpPr>
          <p:cNvPr id="5" name="Shape 3"/>
          <p:cNvSpPr/>
          <p:nvPr/>
        </p:nvSpPr>
        <p:spPr>
          <a:xfrm>
            <a:off x="749808" y="1801368"/>
            <a:ext cx="548640" cy="54864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870509" y="1922069"/>
            <a:ext cx="307238" cy="307238"/>
          </a:xfrm>
          <a:prstGeom prst="rect">
            <a:avLst/>
          </a:prstGeom>
        </p:spPr>
      </p:pic>
      <p:sp>
        <p:nvSpPr>
          <p:cNvPr id="7" name="Text 4"/>
          <p:cNvSpPr txBox="1"/>
          <p:nvPr/>
        </p:nvSpPr>
        <p:spPr>
          <a:xfrm>
            <a:off x="1417320" y="1801368"/>
            <a:ext cx="2514600" cy="548640"/>
          </a:xfrm>
          <a:prstGeom prst="rect">
            <a:avLst/>
          </a:prstGeom>
          <a:noFill/>
          <a:ln/>
        </p:spPr>
        <p:txBody>
          <a:bodyPr wrap="square" lIns="0" tIns="0" rIns="0" bIns="0" rtlCol="0" anchor="ctr"/>
          <a:lstStyle/>
          <a:p>
            <a:pPr indent="0" marL="0">
              <a:buNone/>
            </a:pPr>
            <a:r>
              <a:rPr lang="en-US" sz="1700" b="1" dirty="0">
                <a:solidFill>
                  <a:schemeClr val="tx1"/>
                </a:solidFill>
              </a:rPr>
              <a:t>Domain accuracy</a:t>
            </a:r>
            <a:endParaRPr lang="en-US" sz="1700" dirty="0"/>
          </a:p>
        </p:txBody>
      </p:sp>
      <p:sp>
        <p:nvSpPr>
          <p:cNvPr id="8" name="Text 5"/>
          <p:cNvSpPr txBox="1"/>
          <p:nvPr/>
        </p:nvSpPr>
        <p:spPr>
          <a:xfrm>
            <a:off x="749808" y="2496312"/>
            <a:ext cx="3163824" cy="1161288"/>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2"/>
                </a:solidFill>
              </a:rPr>
              <a:t>Generic models don't know internal products, terms or processes</a:t>
            </a:r>
            <a:endParaRPr lang="en-US" sz="1400" dirty="0"/>
          </a:p>
          <a:p>
            <a:pPr marL="342900" indent="-342900">
              <a:spcAft>
                <a:spcPts val="500"/>
              </a:spcAft>
              <a:buSzPct val="100000"/>
              <a:buChar char="•"/>
            </a:pPr>
            <a:r>
              <a:rPr lang="en-US" sz="1400" dirty="0">
                <a:solidFill>
                  <a:schemeClr val="tx2"/>
                </a:solidFill>
              </a:rPr>
              <a:t>Hallucinations in regulated answers carry real risk</a:t>
            </a:r>
            <a:endParaRPr lang="en-US" sz="1400" dirty="0"/>
          </a:p>
        </p:txBody>
      </p:sp>
      <p:sp>
        <p:nvSpPr>
          <p:cNvPr id="9" name="card"/>
          <p:cNvSpPr/>
          <p:nvPr/>
        </p:nvSpPr>
        <p:spPr>
          <a:xfrm>
            <a:off x="4297680" y="1600200"/>
            <a:ext cx="3566160" cy="2194560"/>
          </a:xfrm>
          <a:prstGeom prst="roundRect">
            <a:avLst>
              <a:gd name="adj" fmla="val 3333"/>
            </a:avLst>
          </a:prstGeom>
          <a:solidFill>
            <a:schemeClr val="bg2"/>
          </a:solidFill>
          <a:ln/>
        </p:spPr>
      </p:sp>
      <p:sp>
        <p:nvSpPr>
          <p:cNvPr id="10" name="Shape 7"/>
          <p:cNvSpPr/>
          <p:nvPr/>
        </p:nvSpPr>
        <p:spPr>
          <a:xfrm>
            <a:off x="4498848" y="1801368"/>
            <a:ext cx="548640" cy="548640"/>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4619549" y="1922069"/>
            <a:ext cx="307238" cy="307238"/>
          </a:xfrm>
          <a:prstGeom prst="rect">
            <a:avLst/>
          </a:prstGeom>
        </p:spPr>
      </p:pic>
      <p:sp>
        <p:nvSpPr>
          <p:cNvPr id="12" name="Text 8"/>
          <p:cNvSpPr txBox="1"/>
          <p:nvPr/>
        </p:nvSpPr>
        <p:spPr>
          <a:xfrm>
            <a:off x="5166360" y="1801368"/>
            <a:ext cx="2514600" cy="548640"/>
          </a:xfrm>
          <a:prstGeom prst="rect">
            <a:avLst/>
          </a:prstGeom>
          <a:noFill/>
          <a:ln/>
        </p:spPr>
        <p:txBody>
          <a:bodyPr wrap="square" lIns="0" tIns="0" rIns="0" bIns="0" rtlCol="0" anchor="ctr"/>
          <a:lstStyle/>
          <a:p>
            <a:pPr indent="0" marL="0">
              <a:buNone/>
            </a:pPr>
            <a:r>
              <a:rPr lang="en-US" sz="1700" b="1" dirty="0">
                <a:solidFill>
                  <a:schemeClr val="tx1"/>
                </a:solidFill>
              </a:rPr>
              <a:t>Data privacy and sovereignty</a:t>
            </a:r>
            <a:endParaRPr lang="en-US" sz="1700" dirty="0"/>
          </a:p>
        </p:txBody>
      </p:sp>
      <p:sp>
        <p:nvSpPr>
          <p:cNvPr id="13" name="Text 9"/>
          <p:cNvSpPr txBox="1"/>
          <p:nvPr/>
        </p:nvSpPr>
        <p:spPr>
          <a:xfrm>
            <a:off x="4498848" y="2496312"/>
            <a:ext cx="3163824" cy="1161288"/>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2"/>
                </a:solidFill>
              </a:rPr>
              <a:t>Sensitive data may not leave the company or region</a:t>
            </a:r>
            <a:endParaRPr lang="en-US" sz="1400" dirty="0"/>
          </a:p>
          <a:p>
            <a:pPr marL="342900" indent="-342900">
              <a:spcAft>
                <a:spcPts val="500"/>
              </a:spcAft>
              <a:buSzPct val="100000"/>
              <a:buChar char="•"/>
            </a:pPr>
            <a:r>
              <a:rPr lang="en-US" sz="1400" dirty="0">
                <a:solidFill>
                  <a:schemeClr val="tx2"/>
                </a:solidFill>
              </a:rPr>
              <a:t>Need to run models on-premises or in a private cloud</a:t>
            </a:r>
            <a:endParaRPr lang="en-US" sz="1400" dirty="0"/>
          </a:p>
        </p:txBody>
      </p:sp>
      <p:sp>
        <p:nvSpPr>
          <p:cNvPr id="14" name="card"/>
          <p:cNvSpPr/>
          <p:nvPr/>
        </p:nvSpPr>
        <p:spPr>
          <a:xfrm>
            <a:off x="8046720" y="1600200"/>
            <a:ext cx="3566160" cy="2194560"/>
          </a:xfrm>
          <a:prstGeom prst="roundRect">
            <a:avLst>
              <a:gd name="adj" fmla="val 3333"/>
            </a:avLst>
          </a:prstGeom>
          <a:solidFill>
            <a:schemeClr val="bg2"/>
          </a:solidFill>
          <a:ln/>
        </p:spPr>
      </p:sp>
      <p:sp>
        <p:nvSpPr>
          <p:cNvPr id="15" name="Shape 11"/>
          <p:cNvSpPr/>
          <p:nvPr/>
        </p:nvSpPr>
        <p:spPr>
          <a:xfrm>
            <a:off x="8247888" y="1801368"/>
            <a:ext cx="548640" cy="548640"/>
          </a:xfrm>
          <a:prstGeom prst="ellipse">
            <a:avLst/>
          </a:prstGeom>
          <a:solidFill>
            <a:schemeClr val="accent1"/>
          </a:solidFill>
          <a:ln/>
        </p:spPr>
      </p:sp>
      <p:pic>
        <p:nvPicPr>
          <p:cNvPr id="16" name="Image 2" descr="preencoded.png">    </p:cNvPr>
          <p:cNvPicPr>
            <a:picLocks noChangeAspect="1"/>
          </p:cNvPicPr>
          <p:nvPr/>
        </p:nvPicPr>
        <p:blipFill>
          <a:blip r:embed="rId3"/>
          <a:stretch>
            <a:fillRect/>
          </a:stretch>
        </p:blipFill>
        <p:spPr>
          <a:xfrm>
            <a:off x="8368589" y="1922069"/>
            <a:ext cx="307238" cy="307238"/>
          </a:xfrm>
          <a:prstGeom prst="rect">
            <a:avLst/>
          </a:prstGeom>
        </p:spPr>
      </p:pic>
      <p:sp>
        <p:nvSpPr>
          <p:cNvPr id="17" name="Text 12"/>
          <p:cNvSpPr txBox="1"/>
          <p:nvPr/>
        </p:nvSpPr>
        <p:spPr>
          <a:xfrm>
            <a:off x="8915400" y="1801368"/>
            <a:ext cx="2514600" cy="548640"/>
          </a:xfrm>
          <a:prstGeom prst="rect">
            <a:avLst/>
          </a:prstGeom>
          <a:noFill/>
          <a:ln/>
        </p:spPr>
        <p:txBody>
          <a:bodyPr wrap="square" lIns="0" tIns="0" rIns="0" bIns="0" rtlCol="0" anchor="ctr"/>
          <a:lstStyle/>
          <a:p>
            <a:pPr indent="0" marL="0">
              <a:buNone/>
            </a:pPr>
            <a:r>
              <a:rPr lang="en-US" sz="1700" b="1" dirty="0">
                <a:solidFill>
                  <a:schemeClr val="tx1"/>
                </a:solidFill>
              </a:rPr>
              <a:t>Cost and latency</a:t>
            </a:r>
            <a:endParaRPr lang="en-US" sz="1700" dirty="0"/>
          </a:p>
        </p:txBody>
      </p:sp>
      <p:sp>
        <p:nvSpPr>
          <p:cNvPr id="18" name="Text 13"/>
          <p:cNvSpPr txBox="1"/>
          <p:nvPr/>
        </p:nvSpPr>
        <p:spPr>
          <a:xfrm>
            <a:off x="8247888" y="2496312"/>
            <a:ext cx="3163824" cy="1161288"/>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2"/>
                </a:solidFill>
              </a:rPr>
              <a:t>Large frontier models are expensive per token</a:t>
            </a:r>
            <a:endParaRPr lang="en-US" sz="1400" dirty="0"/>
          </a:p>
          <a:p>
            <a:pPr marL="342900" indent="-342900">
              <a:spcAft>
                <a:spcPts val="500"/>
              </a:spcAft>
              <a:buSzPct val="100000"/>
              <a:buChar char="•"/>
            </a:pPr>
            <a:r>
              <a:rPr lang="en-US" sz="1400" dirty="0">
                <a:solidFill>
                  <a:schemeClr val="tx2"/>
                </a:solidFill>
              </a:rPr>
              <a:t>Smaller, specialized models are often cheaper and faster</a:t>
            </a:r>
            <a:endParaRPr lang="en-US" sz="1400" dirty="0"/>
          </a:p>
        </p:txBody>
      </p:sp>
      <p:sp>
        <p:nvSpPr>
          <p:cNvPr id="19" name="card"/>
          <p:cNvSpPr/>
          <p:nvPr/>
        </p:nvSpPr>
        <p:spPr>
          <a:xfrm>
            <a:off x="548640" y="3931920"/>
            <a:ext cx="3566160" cy="2194560"/>
          </a:xfrm>
          <a:prstGeom prst="roundRect">
            <a:avLst>
              <a:gd name="adj" fmla="val 3333"/>
            </a:avLst>
          </a:prstGeom>
          <a:solidFill>
            <a:schemeClr val="bg2"/>
          </a:solidFill>
          <a:ln/>
        </p:spPr>
      </p:sp>
      <p:sp>
        <p:nvSpPr>
          <p:cNvPr id="20" name="Shape 15"/>
          <p:cNvSpPr/>
          <p:nvPr/>
        </p:nvSpPr>
        <p:spPr>
          <a:xfrm>
            <a:off x="749808" y="4133088"/>
            <a:ext cx="548640" cy="548640"/>
          </a:xfrm>
          <a:prstGeom prst="ellipse">
            <a:avLst/>
          </a:prstGeom>
          <a:solidFill>
            <a:schemeClr val="accent1"/>
          </a:solidFill>
          <a:ln/>
        </p:spPr>
      </p:sp>
      <p:pic>
        <p:nvPicPr>
          <p:cNvPr id="21" name="Image 3" descr="preencoded.png">    </p:cNvPr>
          <p:cNvPicPr>
            <a:picLocks noChangeAspect="1"/>
          </p:cNvPicPr>
          <p:nvPr/>
        </p:nvPicPr>
        <p:blipFill>
          <a:blip r:embed="rId4"/>
          <a:stretch>
            <a:fillRect/>
          </a:stretch>
        </p:blipFill>
        <p:spPr>
          <a:xfrm>
            <a:off x="870509" y="4253789"/>
            <a:ext cx="307238" cy="307238"/>
          </a:xfrm>
          <a:prstGeom prst="rect">
            <a:avLst/>
          </a:prstGeom>
        </p:spPr>
      </p:pic>
      <p:sp>
        <p:nvSpPr>
          <p:cNvPr id="22" name="Text 16"/>
          <p:cNvSpPr txBox="1"/>
          <p:nvPr/>
        </p:nvSpPr>
        <p:spPr>
          <a:xfrm>
            <a:off x="1417320" y="4133088"/>
            <a:ext cx="2514600" cy="548640"/>
          </a:xfrm>
          <a:prstGeom prst="rect">
            <a:avLst/>
          </a:prstGeom>
          <a:noFill/>
          <a:ln/>
        </p:spPr>
        <p:txBody>
          <a:bodyPr wrap="square" lIns="0" tIns="0" rIns="0" bIns="0" rtlCol="0" anchor="ctr"/>
          <a:lstStyle/>
          <a:p>
            <a:pPr indent="0" marL="0">
              <a:buNone/>
            </a:pPr>
            <a:r>
              <a:rPr lang="en-US" sz="1700" b="1" dirty="0">
                <a:solidFill>
                  <a:schemeClr val="tx1"/>
                </a:solidFill>
              </a:rPr>
              <a:t>Safety and compliance</a:t>
            </a:r>
            <a:endParaRPr lang="en-US" sz="1700" dirty="0"/>
          </a:p>
        </p:txBody>
      </p:sp>
      <p:sp>
        <p:nvSpPr>
          <p:cNvPr id="23" name="Text 17"/>
          <p:cNvSpPr txBox="1"/>
          <p:nvPr/>
        </p:nvSpPr>
        <p:spPr>
          <a:xfrm>
            <a:off x="749808" y="4828032"/>
            <a:ext cx="3163824" cy="1161288"/>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2"/>
                </a:solidFill>
              </a:rPr>
              <a:t>Block toxic, off-topic or confidential outputs</a:t>
            </a:r>
            <a:endParaRPr lang="en-US" sz="1400" dirty="0"/>
          </a:p>
          <a:p>
            <a:pPr marL="342900" indent="-342900">
              <a:spcAft>
                <a:spcPts val="500"/>
              </a:spcAft>
              <a:buSzPct val="100000"/>
              <a:buChar char="•"/>
            </a:pPr>
            <a:r>
              <a:rPr lang="en-US" sz="1400" dirty="0">
                <a:solidFill>
                  <a:schemeClr val="tx2"/>
                </a:solidFill>
              </a:rPr>
              <a:t>Prove behavior to auditors and regulators</a:t>
            </a:r>
            <a:endParaRPr lang="en-US" sz="1400" dirty="0"/>
          </a:p>
        </p:txBody>
      </p:sp>
      <p:sp>
        <p:nvSpPr>
          <p:cNvPr id="24" name="card"/>
          <p:cNvSpPr/>
          <p:nvPr/>
        </p:nvSpPr>
        <p:spPr>
          <a:xfrm>
            <a:off x="4297680" y="3931920"/>
            <a:ext cx="3566160" cy="2194560"/>
          </a:xfrm>
          <a:prstGeom prst="roundRect">
            <a:avLst>
              <a:gd name="adj" fmla="val 3333"/>
            </a:avLst>
          </a:prstGeom>
          <a:solidFill>
            <a:schemeClr val="bg2"/>
          </a:solidFill>
          <a:ln/>
        </p:spPr>
      </p:sp>
      <p:sp>
        <p:nvSpPr>
          <p:cNvPr id="25" name="Shape 19"/>
          <p:cNvSpPr/>
          <p:nvPr/>
        </p:nvSpPr>
        <p:spPr>
          <a:xfrm>
            <a:off x="4498848" y="4133088"/>
            <a:ext cx="548640" cy="548640"/>
          </a:xfrm>
          <a:prstGeom prst="ellipse">
            <a:avLst/>
          </a:prstGeom>
          <a:solidFill>
            <a:schemeClr val="accent1"/>
          </a:solidFill>
          <a:ln/>
        </p:spPr>
      </p:sp>
      <p:pic>
        <p:nvPicPr>
          <p:cNvPr id="26" name="Image 4" descr="preencoded.png">    </p:cNvPr>
          <p:cNvPicPr>
            <a:picLocks noChangeAspect="1"/>
          </p:cNvPicPr>
          <p:nvPr/>
        </p:nvPicPr>
        <p:blipFill>
          <a:blip r:embed="rId5"/>
          <a:stretch>
            <a:fillRect/>
          </a:stretch>
        </p:blipFill>
        <p:spPr>
          <a:xfrm>
            <a:off x="4619549" y="4253789"/>
            <a:ext cx="307238" cy="307238"/>
          </a:xfrm>
          <a:prstGeom prst="rect">
            <a:avLst/>
          </a:prstGeom>
        </p:spPr>
      </p:pic>
      <p:sp>
        <p:nvSpPr>
          <p:cNvPr id="27" name="Text 20"/>
          <p:cNvSpPr txBox="1"/>
          <p:nvPr/>
        </p:nvSpPr>
        <p:spPr>
          <a:xfrm>
            <a:off x="5166360" y="4133088"/>
            <a:ext cx="2514600" cy="548640"/>
          </a:xfrm>
          <a:prstGeom prst="rect">
            <a:avLst/>
          </a:prstGeom>
          <a:noFill/>
          <a:ln/>
        </p:spPr>
        <p:txBody>
          <a:bodyPr wrap="square" lIns="0" tIns="0" rIns="0" bIns="0" rtlCol="0" anchor="ctr"/>
          <a:lstStyle/>
          <a:p>
            <a:pPr indent="0" marL="0">
              <a:buNone/>
            </a:pPr>
            <a:r>
              <a:rPr lang="en-US" sz="1700" b="1" dirty="0">
                <a:solidFill>
                  <a:schemeClr val="tx1"/>
                </a:solidFill>
              </a:rPr>
              <a:t>Measurable quality</a:t>
            </a:r>
            <a:endParaRPr lang="en-US" sz="1700" dirty="0"/>
          </a:p>
        </p:txBody>
      </p:sp>
      <p:sp>
        <p:nvSpPr>
          <p:cNvPr id="28" name="Text 21"/>
          <p:cNvSpPr txBox="1"/>
          <p:nvPr/>
        </p:nvSpPr>
        <p:spPr>
          <a:xfrm>
            <a:off x="4498848" y="4828032"/>
            <a:ext cx="3163824" cy="1161288"/>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2"/>
                </a:solidFill>
              </a:rPr>
              <a:t>"It looks good" is not a release criterion</a:t>
            </a:r>
            <a:endParaRPr lang="en-US" sz="1400" dirty="0"/>
          </a:p>
          <a:p>
            <a:pPr marL="342900" indent="-342900">
              <a:spcAft>
                <a:spcPts val="500"/>
              </a:spcAft>
              <a:buSzPct val="100000"/>
              <a:buChar char="•"/>
            </a:pPr>
            <a:r>
              <a:rPr lang="en-US" sz="1400" dirty="0">
                <a:solidFill>
                  <a:schemeClr val="tx2"/>
                </a:solidFill>
              </a:rPr>
              <a:t>Need repeatable evaluation before every release</a:t>
            </a:r>
            <a:endParaRPr lang="en-US" sz="1400" dirty="0"/>
          </a:p>
        </p:txBody>
      </p:sp>
      <p:sp>
        <p:nvSpPr>
          <p:cNvPr id="29" name="card"/>
          <p:cNvSpPr/>
          <p:nvPr/>
        </p:nvSpPr>
        <p:spPr>
          <a:xfrm>
            <a:off x="8046720" y="3931920"/>
            <a:ext cx="3566160" cy="2194560"/>
          </a:xfrm>
          <a:prstGeom prst="roundRect">
            <a:avLst>
              <a:gd name="adj" fmla="val 3333"/>
            </a:avLst>
          </a:prstGeom>
          <a:solidFill>
            <a:schemeClr val="bg2"/>
          </a:solidFill>
          <a:ln/>
        </p:spPr>
      </p:sp>
      <p:sp>
        <p:nvSpPr>
          <p:cNvPr id="30" name="Shape 23"/>
          <p:cNvSpPr/>
          <p:nvPr/>
        </p:nvSpPr>
        <p:spPr>
          <a:xfrm>
            <a:off x="8247888" y="4133088"/>
            <a:ext cx="548640" cy="548640"/>
          </a:xfrm>
          <a:prstGeom prst="ellipse">
            <a:avLst/>
          </a:prstGeom>
          <a:solidFill>
            <a:schemeClr val="accent1"/>
          </a:solidFill>
          <a:ln/>
        </p:spPr>
      </p:sp>
      <p:pic>
        <p:nvPicPr>
          <p:cNvPr id="31" name="Image 5" descr="preencoded.png">    </p:cNvPr>
          <p:cNvPicPr>
            <a:picLocks noChangeAspect="1"/>
          </p:cNvPicPr>
          <p:nvPr/>
        </p:nvPicPr>
        <p:blipFill>
          <a:blip r:embed="rId6"/>
          <a:stretch>
            <a:fillRect/>
          </a:stretch>
        </p:blipFill>
        <p:spPr>
          <a:xfrm>
            <a:off x="8368589" y="4253789"/>
            <a:ext cx="307238" cy="307238"/>
          </a:xfrm>
          <a:prstGeom prst="rect">
            <a:avLst/>
          </a:prstGeom>
        </p:spPr>
      </p:pic>
      <p:sp>
        <p:nvSpPr>
          <p:cNvPr id="32" name="Text 24"/>
          <p:cNvSpPr txBox="1"/>
          <p:nvPr/>
        </p:nvSpPr>
        <p:spPr>
          <a:xfrm>
            <a:off x="8915400" y="4133088"/>
            <a:ext cx="2514600" cy="548640"/>
          </a:xfrm>
          <a:prstGeom prst="rect">
            <a:avLst/>
          </a:prstGeom>
          <a:noFill/>
          <a:ln/>
        </p:spPr>
        <p:txBody>
          <a:bodyPr wrap="square" lIns="0" tIns="0" rIns="0" bIns="0" rtlCol="0" anchor="ctr"/>
          <a:lstStyle/>
          <a:p>
            <a:pPr indent="0" marL="0">
              <a:buNone/>
            </a:pPr>
            <a:r>
              <a:rPr lang="en-US" sz="1700" b="1" dirty="0">
                <a:solidFill>
                  <a:schemeClr val="tx1"/>
                </a:solidFill>
              </a:rPr>
              <a:t>Continuous improvement</a:t>
            </a:r>
            <a:endParaRPr lang="en-US" sz="1700" dirty="0"/>
          </a:p>
        </p:txBody>
      </p:sp>
      <p:sp>
        <p:nvSpPr>
          <p:cNvPr id="33" name="Text 25"/>
          <p:cNvSpPr txBox="1"/>
          <p:nvPr/>
        </p:nvSpPr>
        <p:spPr>
          <a:xfrm>
            <a:off x="8247888" y="4828032"/>
            <a:ext cx="3163824" cy="1161288"/>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2"/>
                </a:solidFill>
              </a:rPr>
              <a:t>Models drift as products, policies and users change</a:t>
            </a:r>
            <a:endParaRPr lang="en-US" sz="1400" dirty="0"/>
          </a:p>
          <a:p>
            <a:pPr marL="342900" indent="-342900">
              <a:spcAft>
                <a:spcPts val="500"/>
              </a:spcAft>
              <a:buSzPct val="100000"/>
              <a:buChar char="•"/>
            </a:pPr>
            <a:r>
              <a:rPr lang="en-US" sz="1400" dirty="0">
                <a:solidFill>
                  <a:schemeClr val="tx2"/>
                </a:solidFill>
              </a:rPr>
              <a:t>Production feedback should improve the next version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000" b="1" dirty="0">
                <a:solidFill>
                  <a:schemeClr val="tx1"/>
                </a:solidFill>
              </a:rPr>
              <a:t>The model customization spectrum</a:t>
            </a:r>
            <a:endParaRPr lang="en-US" sz="3000" dirty="0"/>
          </a:p>
        </p:txBody>
      </p:sp>
      <p:sp>
        <p:nvSpPr>
          <p:cNvPr id="3" name="Text 0"/>
          <p:cNvSpPr/>
          <p:nvPr>
            <p:ph idx="101" type="body" hasCustomPrompt="1"/>
          </p:nvPr>
        </p:nvSpPr>
        <p:spPr>
          <a:xfrm>
            <a:off x="548640" y="960120"/>
            <a:ext cx="11064240" cy="411480"/>
          </a:xfrm>
          <a:prstGeom prst="rect">
            <a:avLst/>
          </a:prstGeom>
          <a:noFill/>
          <a:ln/>
        </p:spPr>
        <p:txBody>
          <a:bodyPr wrap="square" lIns="0" tIns="0" rIns="0" bIns="0" rtlCol="0" anchor="t"/>
          <a:lstStyle/>
          <a:p>
            <a:pPr indent="0" marL="0">
              <a:buNone/>
            </a:pPr>
            <a:r>
              <a:rPr lang="en-US" sz="1600" dirty="0">
                <a:solidFill>
                  <a:schemeClr val="accent5"/>
                </a:solidFill>
              </a:rPr>
              <a:t>Start at the left; move right only when the use case needs more control</a:t>
            </a:r>
            <a:endParaRPr lang="en-US" sz="1600" dirty="0"/>
          </a:p>
        </p:txBody>
      </p:sp>
      <p:sp>
        <p:nvSpPr>
          <p:cNvPr id="4" name="Text 2"/>
          <p:cNvSpPr txBox="1"/>
          <p:nvPr/>
        </p:nvSpPr>
        <p:spPr>
          <a:xfrm>
            <a:off x="548640" y="3337560"/>
            <a:ext cx="1481328" cy="502920"/>
          </a:xfrm>
          <a:prstGeom prst="rect">
            <a:avLst/>
          </a:prstGeom>
          <a:noFill/>
          <a:ln/>
        </p:spPr>
        <p:txBody>
          <a:bodyPr wrap="square" lIns="0" tIns="0" rIns="0" bIns="0" rtlCol="0" anchor="b"/>
          <a:lstStyle/>
          <a:p>
            <a:pPr indent="0" marL="0">
              <a:buNone/>
            </a:pPr>
            <a:r>
              <a:rPr lang="en-US" sz="1300" b="1" dirty="0">
                <a:solidFill>
                  <a:schemeClr val="tx1"/>
                </a:solidFill>
              </a:rPr>
              <a:t>Prompt engineering</a:t>
            </a:r>
            <a:endParaRPr lang="en-US" sz="1300" dirty="0"/>
          </a:p>
        </p:txBody>
      </p:sp>
      <p:sp>
        <p:nvSpPr>
          <p:cNvPr id="5" name="Shape 3"/>
          <p:cNvSpPr/>
          <p:nvPr/>
        </p:nvSpPr>
        <p:spPr>
          <a:xfrm>
            <a:off x="548640" y="3886200"/>
            <a:ext cx="1481328" cy="320040"/>
          </a:xfrm>
          <a:prstGeom prst="rect">
            <a:avLst/>
          </a:prstGeom>
          <a:solidFill>
            <a:srgbClr val="A8D26B"/>
          </a:solidFill>
          <a:ln/>
        </p:spPr>
      </p:sp>
      <p:sp>
        <p:nvSpPr>
          <p:cNvPr id="6" name="Text 4"/>
          <p:cNvSpPr txBox="1"/>
          <p:nvPr/>
        </p:nvSpPr>
        <p:spPr>
          <a:xfrm>
            <a:off x="548640" y="4343400"/>
            <a:ext cx="1481328" cy="777240"/>
          </a:xfrm>
          <a:prstGeom prst="rect">
            <a:avLst/>
          </a:prstGeom>
          <a:noFill/>
          <a:ln/>
        </p:spPr>
        <p:txBody>
          <a:bodyPr wrap="square" lIns="0" tIns="0" rIns="0" bIns="0" rtlCol="0" anchor="t"/>
          <a:lstStyle/>
          <a:p>
            <a:pPr indent="0" marL="0">
              <a:buNone/>
            </a:pPr>
            <a:r>
              <a:rPr lang="en-US" sz="1200" b="1" dirty="0">
                <a:solidFill>
                  <a:schemeClr val="tx2"/>
                </a:solidFill>
              </a:rPr>
              <a:t>Data: </a:t>
            </a:r>
            <a:pPr indent="0" marL="0">
              <a:buNone/>
            </a:pPr>
            <a:r>
              <a:rPr lang="en-US" sz="1200" dirty="0">
                <a:solidFill>
                  <a:schemeClr val="tx2"/>
                </a:solidFill>
              </a:rPr>
              <a:t>None; a few examples</a:t>
            </a:r>
            <a:endParaRPr lang="en-US" sz="1200" dirty="0"/>
          </a:p>
        </p:txBody>
      </p:sp>
      <p:sp>
        <p:nvSpPr>
          <p:cNvPr id="7" name="Text 5"/>
          <p:cNvSpPr txBox="1"/>
          <p:nvPr/>
        </p:nvSpPr>
        <p:spPr>
          <a:xfrm>
            <a:off x="548640" y="5120640"/>
            <a:ext cx="1481328" cy="502920"/>
          </a:xfrm>
          <a:prstGeom prst="rect">
            <a:avLst/>
          </a:prstGeom>
          <a:noFill/>
          <a:ln/>
        </p:spPr>
        <p:txBody>
          <a:bodyPr wrap="square" lIns="0" tIns="0" rIns="0" bIns="0" rtlCol="0" anchor="t"/>
          <a:lstStyle/>
          <a:p>
            <a:pPr indent="0" marL="0">
              <a:buNone/>
            </a:pPr>
            <a:r>
              <a:rPr lang="en-US" sz="1200" b="1" dirty="0">
                <a:solidFill>
                  <a:schemeClr val="accent2"/>
                </a:solidFill>
              </a:rPr>
              <a:t>Prompt templates</a:t>
            </a:r>
            <a:endParaRPr lang="en-US" sz="1200" dirty="0"/>
          </a:p>
        </p:txBody>
      </p:sp>
      <p:sp>
        <p:nvSpPr>
          <p:cNvPr id="8" name="Text 6"/>
          <p:cNvSpPr txBox="1"/>
          <p:nvPr/>
        </p:nvSpPr>
        <p:spPr>
          <a:xfrm>
            <a:off x="2130552" y="3040380"/>
            <a:ext cx="1481328" cy="502920"/>
          </a:xfrm>
          <a:prstGeom prst="rect">
            <a:avLst/>
          </a:prstGeom>
          <a:noFill/>
          <a:ln/>
        </p:spPr>
        <p:txBody>
          <a:bodyPr wrap="square" lIns="0" tIns="0" rIns="0" bIns="0" rtlCol="0" anchor="b"/>
          <a:lstStyle/>
          <a:p>
            <a:pPr indent="0" marL="0">
              <a:buNone/>
            </a:pPr>
            <a:r>
              <a:rPr lang="en-US" sz="1300" b="1" dirty="0">
                <a:solidFill>
                  <a:schemeClr val="tx1"/>
                </a:solidFill>
              </a:rPr>
              <a:t>RAG</a:t>
            </a:r>
            <a:endParaRPr lang="en-US" sz="1300" dirty="0"/>
          </a:p>
        </p:txBody>
      </p:sp>
      <p:sp>
        <p:nvSpPr>
          <p:cNvPr id="9" name="Shape 7"/>
          <p:cNvSpPr/>
          <p:nvPr/>
        </p:nvSpPr>
        <p:spPr>
          <a:xfrm>
            <a:off x="2130552" y="3589020"/>
            <a:ext cx="1481328" cy="617220"/>
          </a:xfrm>
          <a:prstGeom prst="rect">
            <a:avLst/>
          </a:prstGeom>
          <a:solidFill>
            <a:srgbClr val="A8D26B"/>
          </a:solidFill>
          <a:ln/>
        </p:spPr>
      </p:sp>
      <p:sp>
        <p:nvSpPr>
          <p:cNvPr id="10" name="Text 8"/>
          <p:cNvSpPr txBox="1"/>
          <p:nvPr/>
        </p:nvSpPr>
        <p:spPr>
          <a:xfrm>
            <a:off x="2130552" y="4343400"/>
            <a:ext cx="1481328" cy="777240"/>
          </a:xfrm>
          <a:prstGeom prst="rect">
            <a:avLst/>
          </a:prstGeom>
          <a:noFill/>
          <a:ln/>
        </p:spPr>
        <p:txBody>
          <a:bodyPr wrap="square" lIns="0" tIns="0" rIns="0" bIns="0" rtlCol="0" anchor="t"/>
          <a:lstStyle/>
          <a:p>
            <a:pPr indent="0" marL="0">
              <a:buNone/>
            </a:pPr>
            <a:r>
              <a:rPr lang="en-US" sz="1200" b="1" dirty="0">
                <a:solidFill>
                  <a:schemeClr val="tx2"/>
                </a:solidFill>
              </a:rPr>
              <a:t>Data: </a:t>
            </a:r>
            <a:pPr indent="0" marL="0">
              <a:buNone/>
            </a:pPr>
            <a:r>
              <a:rPr lang="en-US" sz="1200" dirty="0">
                <a:solidFill>
                  <a:schemeClr val="tx2"/>
                </a:solidFill>
              </a:rPr>
              <a:t>Documents, knowledge base</a:t>
            </a:r>
            <a:endParaRPr lang="en-US" sz="1200" dirty="0"/>
          </a:p>
        </p:txBody>
      </p:sp>
      <p:sp>
        <p:nvSpPr>
          <p:cNvPr id="11" name="Text 9"/>
          <p:cNvSpPr txBox="1"/>
          <p:nvPr/>
        </p:nvSpPr>
        <p:spPr>
          <a:xfrm>
            <a:off x="2130552" y="5120640"/>
            <a:ext cx="1481328" cy="502920"/>
          </a:xfrm>
          <a:prstGeom prst="rect">
            <a:avLst/>
          </a:prstGeom>
          <a:noFill/>
          <a:ln/>
        </p:spPr>
        <p:txBody>
          <a:bodyPr wrap="square" lIns="0" tIns="0" rIns="0" bIns="0" rtlCol="0" anchor="t"/>
          <a:lstStyle/>
          <a:p>
            <a:pPr indent="0" marL="0">
              <a:buNone/>
            </a:pPr>
            <a:r>
              <a:rPr lang="en-US" sz="1200" b="1" dirty="0">
                <a:solidFill>
                  <a:schemeClr val="accent2"/>
                </a:solidFill>
              </a:rPr>
              <a:t>Retriever, Guardrails</a:t>
            </a:r>
            <a:endParaRPr lang="en-US" sz="1200" dirty="0"/>
          </a:p>
        </p:txBody>
      </p:sp>
      <p:sp>
        <p:nvSpPr>
          <p:cNvPr id="12" name="Text 10"/>
          <p:cNvSpPr txBox="1"/>
          <p:nvPr/>
        </p:nvSpPr>
        <p:spPr>
          <a:xfrm>
            <a:off x="3712464" y="2743200"/>
            <a:ext cx="1481328" cy="502920"/>
          </a:xfrm>
          <a:prstGeom prst="rect">
            <a:avLst/>
          </a:prstGeom>
          <a:noFill/>
          <a:ln/>
        </p:spPr>
        <p:txBody>
          <a:bodyPr wrap="square" lIns="0" tIns="0" rIns="0" bIns="0" rtlCol="0" anchor="b"/>
          <a:lstStyle/>
          <a:p>
            <a:pPr indent="0" marL="0">
              <a:buNone/>
            </a:pPr>
            <a:r>
              <a:rPr lang="en-US" sz="1300" b="1" dirty="0">
                <a:solidFill>
                  <a:schemeClr val="tx1"/>
                </a:solidFill>
              </a:rPr>
              <a:t>PEFT / LoRA</a:t>
            </a:r>
            <a:endParaRPr lang="en-US" sz="1300" dirty="0"/>
          </a:p>
        </p:txBody>
      </p:sp>
      <p:sp>
        <p:nvSpPr>
          <p:cNvPr id="13" name="Shape 11"/>
          <p:cNvSpPr/>
          <p:nvPr/>
        </p:nvSpPr>
        <p:spPr>
          <a:xfrm>
            <a:off x="3712464" y="3291840"/>
            <a:ext cx="1481328" cy="914400"/>
          </a:xfrm>
          <a:prstGeom prst="rect">
            <a:avLst/>
          </a:prstGeom>
          <a:solidFill>
            <a:schemeClr val="accent1"/>
          </a:solidFill>
          <a:ln/>
        </p:spPr>
      </p:sp>
      <p:sp>
        <p:nvSpPr>
          <p:cNvPr id="14" name="Text 12"/>
          <p:cNvSpPr txBox="1"/>
          <p:nvPr/>
        </p:nvSpPr>
        <p:spPr>
          <a:xfrm>
            <a:off x="3712464" y="4343400"/>
            <a:ext cx="1481328" cy="777240"/>
          </a:xfrm>
          <a:prstGeom prst="rect">
            <a:avLst/>
          </a:prstGeom>
          <a:noFill/>
          <a:ln/>
        </p:spPr>
        <p:txBody>
          <a:bodyPr wrap="square" lIns="0" tIns="0" rIns="0" bIns="0" rtlCol="0" anchor="t"/>
          <a:lstStyle/>
          <a:p>
            <a:pPr indent="0" marL="0">
              <a:buNone/>
            </a:pPr>
            <a:r>
              <a:rPr lang="en-US" sz="1200" b="1" dirty="0">
                <a:solidFill>
                  <a:schemeClr val="tx2"/>
                </a:solidFill>
              </a:rPr>
              <a:t>Data: </a:t>
            </a:r>
            <a:pPr indent="0" marL="0">
              <a:buNone/>
            </a:pPr>
            <a:r>
              <a:rPr lang="en-US" sz="1200" dirty="0">
                <a:solidFill>
                  <a:schemeClr val="tx2"/>
                </a:solidFill>
              </a:rPr>
              <a:t>Hundreds to thousands of examples</a:t>
            </a:r>
            <a:endParaRPr lang="en-US" sz="1200" dirty="0"/>
          </a:p>
        </p:txBody>
      </p:sp>
      <p:sp>
        <p:nvSpPr>
          <p:cNvPr id="15" name="Text 13"/>
          <p:cNvSpPr txBox="1"/>
          <p:nvPr/>
        </p:nvSpPr>
        <p:spPr>
          <a:xfrm>
            <a:off x="3712464" y="5120640"/>
            <a:ext cx="1481328" cy="502920"/>
          </a:xfrm>
          <a:prstGeom prst="rect">
            <a:avLst/>
          </a:prstGeom>
          <a:noFill/>
          <a:ln/>
        </p:spPr>
        <p:txBody>
          <a:bodyPr wrap="square" lIns="0" tIns="0" rIns="0" bIns="0" rtlCol="0" anchor="t"/>
          <a:lstStyle/>
          <a:p>
            <a:pPr indent="0" marL="0">
              <a:buNone/>
            </a:pPr>
            <a:r>
              <a:rPr lang="en-US" sz="1200" b="1" dirty="0">
                <a:solidFill>
                  <a:schemeClr val="accent2"/>
                </a:solidFill>
              </a:rPr>
              <a:t>Customizer, Framework</a:t>
            </a:r>
            <a:endParaRPr lang="en-US" sz="1200" dirty="0"/>
          </a:p>
        </p:txBody>
      </p:sp>
      <p:sp>
        <p:nvSpPr>
          <p:cNvPr id="16" name="Text 14"/>
          <p:cNvSpPr txBox="1"/>
          <p:nvPr/>
        </p:nvSpPr>
        <p:spPr>
          <a:xfrm>
            <a:off x="5294376" y="2446020"/>
            <a:ext cx="1481328" cy="502920"/>
          </a:xfrm>
          <a:prstGeom prst="rect">
            <a:avLst/>
          </a:prstGeom>
          <a:noFill/>
          <a:ln/>
        </p:spPr>
        <p:txBody>
          <a:bodyPr wrap="square" lIns="0" tIns="0" rIns="0" bIns="0" rtlCol="0" anchor="b"/>
          <a:lstStyle/>
          <a:p>
            <a:pPr indent="0" marL="0">
              <a:buNone/>
            </a:pPr>
            <a:r>
              <a:rPr lang="en-US" sz="1300" b="1" dirty="0">
                <a:solidFill>
                  <a:schemeClr val="tx1"/>
                </a:solidFill>
              </a:rPr>
              <a:t>Full fine-tuning (SFT)</a:t>
            </a:r>
            <a:endParaRPr lang="en-US" sz="1300" dirty="0"/>
          </a:p>
        </p:txBody>
      </p:sp>
      <p:sp>
        <p:nvSpPr>
          <p:cNvPr id="17" name="Shape 15"/>
          <p:cNvSpPr/>
          <p:nvPr/>
        </p:nvSpPr>
        <p:spPr>
          <a:xfrm>
            <a:off x="5294376" y="2994660"/>
            <a:ext cx="1481328" cy="1211580"/>
          </a:xfrm>
          <a:prstGeom prst="rect">
            <a:avLst/>
          </a:prstGeom>
          <a:solidFill>
            <a:schemeClr val="accent1"/>
          </a:solidFill>
          <a:ln/>
        </p:spPr>
      </p:sp>
      <p:sp>
        <p:nvSpPr>
          <p:cNvPr id="18" name="Text 16"/>
          <p:cNvSpPr txBox="1"/>
          <p:nvPr/>
        </p:nvSpPr>
        <p:spPr>
          <a:xfrm>
            <a:off x="5294376" y="4343400"/>
            <a:ext cx="1481328" cy="777240"/>
          </a:xfrm>
          <a:prstGeom prst="rect">
            <a:avLst/>
          </a:prstGeom>
          <a:noFill/>
          <a:ln/>
        </p:spPr>
        <p:txBody>
          <a:bodyPr wrap="square" lIns="0" tIns="0" rIns="0" bIns="0" rtlCol="0" anchor="t"/>
          <a:lstStyle/>
          <a:p>
            <a:pPr indent="0" marL="0">
              <a:buNone/>
            </a:pPr>
            <a:r>
              <a:rPr lang="en-US" sz="1200" b="1" dirty="0">
                <a:solidFill>
                  <a:schemeClr val="tx2"/>
                </a:solidFill>
              </a:rPr>
              <a:t>Data: </a:t>
            </a:r>
            <a:pPr indent="0" marL="0">
              <a:buNone/>
            </a:pPr>
            <a:r>
              <a:rPr lang="en-US" sz="1200" dirty="0">
                <a:solidFill>
                  <a:schemeClr val="tx2"/>
                </a:solidFill>
              </a:rPr>
              <a:t>Thousands+ examples</a:t>
            </a:r>
            <a:endParaRPr lang="en-US" sz="1200" dirty="0"/>
          </a:p>
        </p:txBody>
      </p:sp>
      <p:sp>
        <p:nvSpPr>
          <p:cNvPr id="19" name="Text 17"/>
          <p:cNvSpPr txBox="1"/>
          <p:nvPr/>
        </p:nvSpPr>
        <p:spPr>
          <a:xfrm>
            <a:off x="5294376" y="5120640"/>
            <a:ext cx="1481328" cy="502920"/>
          </a:xfrm>
          <a:prstGeom prst="rect">
            <a:avLst/>
          </a:prstGeom>
          <a:noFill/>
          <a:ln/>
        </p:spPr>
        <p:txBody>
          <a:bodyPr wrap="square" lIns="0" tIns="0" rIns="0" bIns="0" rtlCol="0" anchor="t"/>
          <a:lstStyle/>
          <a:p>
            <a:pPr indent="0" marL="0">
              <a:buNone/>
            </a:pPr>
            <a:r>
              <a:rPr lang="en-US" sz="1200" b="1" dirty="0">
                <a:solidFill>
                  <a:schemeClr val="accent2"/>
                </a:solidFill>
              </a:rPr>
              <a:t>Customizer, Framework</a:t>
            </a:r>
            <a:endParaRPr lang="en-US" sz="1200" dirty="0"/>
          </a:p>
        </p:txBody>
      </p:sp>
      <p:sp>
        <p:nvSpPr>
          <p:cNvPr id="20" name="Text 18"/>
          <p:cNvSpPr txBox="1"/>
          <p:nvPr/>
        </p:nvSpPr>
        <p:spPr>
          <a:xfrm>
            <a:off x="6876288" y="2148840"/>
            <a:ext cx="1481328" cy="502920"/>
          </a:xfrm>
          <a:prstGeom prst="rect">
            <a:avLst/>
          </a:prstGeom>
          <a:noFill/>
          <a:ln/>
        </p:spPr>
        <p:txBody>
          <a:bodyPr wrap="square" lIns="0" tIns="0" rIns="0" bIns="0" rtlCol="0" anchor="b"/>
          <a:lstStyle/>
          <a:p>
            <a:pPr indent="0" marL="0">
              <a:buNone/>
            </a:pPr>
            <a:r>
              <a:rPr lang="en-US" sz="1300" b="1" dirty="0">
                <a:solidFill>
                  <a:schemeClr val="tx1"/>
                </a:solidFill>
              </a:rPr>
              <a:t>Alignment (DPO, RL)</a:t>
            </a:r>
            <a:endParaRPr lang="en-US" sz="1300" dirty="0"/>
          </a:p>
        </p:txBody>
      </p:sp>
      <p:sp>
        <p:nvSpPr>
          <p:cNvPr id="21" name="Shape 19"/>
          <p:cNvSpPr/>
          <p:nvPr/>
        </p:nvSpPr>
        <p:spPr>
          <a:xfrm>
            <a:off x="6876288" y="2697480"/>
            <a:ext cx="1481328" cy="1508760"/>
          </a:xfrm>
          <a:prstGeom prst="rect">
            <a:avLst/>
          </a:prstGeom>
          <a:solidFill>
            <a:schemeClr val="accent2"/>
          </a:solidFill>
          <a:ln/>
        </p:spPr>
      </p:sp>
      <p:sp>
        <p:nvSpPr>
          <p:cNvPr id="22" name="Text 20"/>
          <p:cNvSpPr txBox="1"/>
          <p:nvPr/>
        </p:nvSpPr>
        <p:spPr>
          <a:xfrm>
            <a:off x="6876288" y="4343400"/>
            <a:ext cx="1481328" cy="777240"/>
          </a:xfrm>
          <a:prstGeom prst="rect">
            <a:avLst/>
          </a:prstGeom>
          <a:noFill/>
          <a:ln/>
        </p:spPr>
        <p:txBody>
          <a:bodyPr wrap="square" lIns="0" tIns="0" rIns="0" bIns="0" rtlCol="0" anchor="t"/>
          <a:lstStyle/>
          <a:p>
            <a:pPr indent="0" marL="0">
              <a:buNone/>
            </a:pPr>
            <a:r>
              <a:rPr lang="en-US" sz="1200" b="1" dirty="0">
                <a:solidFill>
                  <a:schemeClr val="tx2"/>
                </a:solidFill>
              </a:rPr>
              <a:t>Data: </a:t>
            </a:r>
            <a:pPr indent="0" marL="0">
              <a:buNone/>
            </a:pPr>
            <a:r>
              <a:rPr lang="en-US" sz="1200" dirty="0">
                <a:solidFill>
                  <a:schemeClr val="tx2"/>
                </a:solidFill>
              </a:rPr>
              <a:t>Preference pairs or reward signals</a:t>
            </a:r>
            <a:endParaRPr lang="en-US" sz="1200" dirty="0"/>
          </a:p>
        </p:txBody>
      </p:sp>
      <p:sp>
        <p:nvSpPr>
          <p:cNvPr id="23" name="Text 21"/>
          <p:cNvSpPr txBox="1"/>
          <p:nvPr/>
        </p:nvSpPr>
        <p:spPr>
          <a:xfrm>
            <a:off x="6876288" y="5120640"/>
            <a:ext cx="1481328" cy="502920"/>
          </a:xfrm>
          <a:prstGeom prst="rect">
            <a:avLst/>
          </a:prstGeom>
          <a:noFill/>
          <a:ln/>
        </p:spPr>
        <p:txBody>
          <a:bodyPr wrap="square" lIns="0" tIns="0" rIns="0" bIns="0" rtlCol="0" anchor="t"/>
          <a:lstStyle/>
          <a:p>
            <a:pPr indent="0" marL="0">
              <a:buNone/>
            </a:pPr>
            <a:r>
              <a:rPr lang="en-US" sz="1200" b="1" dirty="0">
                <a:solidFill>
                  <a:schemeClr val="accent2"/>
                </a:solidFill>
              </a:rPr>
              <a:t>NeMo RL, Framework</a:t>
            </a:r>
            <a:endParaRPr lang="en-US" sz="1200" dirty="0"/>
          </a:p>
        </p:txBody>
      </p:sp>
      <p:sp>
        <p:nvSpPr>
          <p:cNvPr id="24" name="Text 22"/>
          <p:cNvSpPr txBox="1"/>
          <p:nvPr/>
        </p:nvSpPr>
        <p:spPr>
          <a:xfrm>
            <a:off x="8458200" y="1851660"/>
            <a:ext cx="1481328" cy="502920"/>
          </a:xfrm>
          <a:prstGeom prst="rect">
            <a:avLst/>
          </a:prstGeom>
          <a:noFill/>
          <a:ln/>
        </p:spPr>
        <p:txBody>
          <a:bodyPr wrap="square" lIns="0" tIns="0" rIns="0" bIns="0" rtlCol="0" anchor="b"/>
          <a:lstStyle/>
          <a:p>
            <a:pPr indent="0" marL="0">
              <a:buNone/>
            </a:pPr>
            <a:r>
              <a:rPr lang="en-US" sz="1300" b="1" dirty="0">
                <a:solidFill>
                  <a:schemeClr val="tx1"/>
                </a:solidFill>
              </a:rPr>
              <a:t>Continued pre-training</a:t>
            </a:r>
            <a:endParaRPr lang="en-US" sz="1300" dirty="0"/>
          </a:p>
        </p:txBody>
      </p:sp>
      <p:sp>
        <p:nvSpPr>
          <p:cNvPr id="25" name="Shape 23"/>
          <p:cNvSpPr/>
          <p:nvPr/>
        </p:nvSpPr>
        <p:spPr>
          <a:xfrm>
            <a:off x="8458200" y="2400300"/>
            <a:ext cx="1481328" cy="1805940"/>
          </a:xfrm>
          <a:prstGeom prst="rect">
            <a:avLst/>
          </a:prstGeom>
          <a:solidFill>
            <a:schemeClr val="tx2"/>
          </a:solidFill>
          <a:ln/>
        </p:spPr>
      </p:sp>
      <p:sp>
        <p:nvSpPr>
          <p:cNvPr id="26" name="Text 24"/>
          <p:cNvSpPr txBox="1"/>
          <p:nvPr/>
        </p:nvSpPr>
        <p:spPr>
          <a:xfrm>
            <a:off x="8458200" y="4343400"/>
            <a:ext cx="1481328" cy="777240"/>
          </a:xfrm>
          <a:prstGeom prst="rect">
            <a:avLst/>
          </a:prstGeom>
          <a:noFill/>
          <a:ln/>
        </p:spPr>
        <p:txBody>
          <a:bodyPr wrap="square" lIns="0" tIns="0" rIns="0" bIns="0" rtlCol="0" anchor="t"/>
          <a:lstStyle/>
          <a:p>
            <a:pPr indent="0" marL="0">
              <a:buNone/>
            </a:pPr>
            <a:r>
              <a:rPr lang="en-US" sz="1200" b="1" dirty="0">
                <a:solidFill>
                  <a:schemeClr val="tx2"/>
                </a:solidFill>
              </a:rPr>
              <a:t>Data: </a:t>
            </a:r>
            <a:pPr indent="0" marL="0">
              <a:buNone/>
            </a:pPr>
            <a:r>
              <a:rPr lang="en-US" sz="1200" dirty="0">
                <a:solidFill>
                  <a:schemeClr val="tx2"/>
                </a:solidFill>
              </a:rPr>
              <a:t>Billions of domain tokens</a:t>
            </a:r>
            <a:endParaRPr lang="en-US" sz="1200" dirty="0"/>
          </a:p>
        </p:txBody>
      </p:sp>
      <p:sp>
        <p:nvSpPr>
          <p:cNvPr id="27" name="Text 25"/>
          <p:cNvSpPr txBox="1"/>
          <p:nvPr/>
        </p:nvSpPr>
        <p:spPr>
          <a:xfrm>
            <a:off x="8458200" y="5120640"/>
            <a:ext cx="1481328" cy="502920"/>
          </a:xfrm>
          <a:prstGeom prst="rect">
            <a:avLst/>
          </a:prstGeom>
          <a:noFill/>
          <a:ln/>
        </p:spPr>
        <p:txBody>
          <a:bodyPr wrap="square" lIns="0" tIns="0" rIns="0" bIns="0" rtlCol="0" anchor="t"/>
          <a:lstStyle/>
          <a:p>
            <a:pPr indent="0" marL="0">
              <a:buNone/>
            </a:pPr>
            <a:r>
              <a:rPr lang="en-US" sz="1200" b="1" dirty="0">
                <a:solidFill>
                  <a:schemeClr val="accent2"/>
                </a:solidFill>
              </a:rPr>
              <a:t>Curator, Framework</a:t>
            </a:r>
            <a:endParaRPr lang="en-US" sz="1200" dirty="0"/>
          </a:p>
        </p:txBody>
      </p:sp>
      <p:sp>
        <p:nvSpPr>
          <p:cNvPr id="28" name="Text 26"/>
          <p:cNvSpPr txBox="1"/>
          <p:nvPr/>
        </p:nvSpPr>
        <p:spPr>
          <a:xfrm>
            <a:off x="10040112" y="1554480"/>
            <a:ext cx="1481328" cy="502920"/>
          </a:xfrm>
          <a:prstGeom prst="rect">
            <a:avLst/>
          </a:prstGeom>
          <a:noFill/>
          <a:ln/>
        </p:spPr>
        <p:txBody>
          <a:bodyPr wrap="square" lIns="0" tIns="0" rIns="0" bIns="0" rtlCol="0" anchor="b"/>
          <a:lstStyle/>
          <a:p>
            <a:pPr indent="0" marL="0">
              <a:buNone/>
            </a:pPr>
            <a:r>
              <a:rPr lang="en-US" sz="1300" b="1" dirty="0">
                <a:solidFill>
                  <a:schemeClr val="tx1"/>
                </a:solidFill>
              </a:rPr>
              <a:t>Pre-training from scratch</a:t>
            </a:r>
            <a:endParaRPr lang="en-US" sz="1300" dirty="0"/>
          </a:p>
        </p:txBody>
      </p:sp>
      <p:sp>
        <p:nvSpPr>
          <p:cNvPr id="29" name="Shape 27"/>
          <p:cNvSpPr/>
          <p:nvPr/>
        </p:nvSpPr>
        <p:spPr>
          <a:xfrm>
            <a:off x="10040112" y="2103120"/>
            <a:ext cx="1481328" cy="2103120"/>
          </a:xfrm>
          <a:prstGeom prst="rect">
            <a:avLst/>
          </a:prstGeom>
          <a:solidFill>
            <a:schemeClr val="tx2"/>
          </a:solidFill>
          <a:ln/>
        </p:spPr>
      </p:sp>
      <p:sp>
        <p:nvSpPr>
          <p:cNvPr id="30" name="Text 28"/>
          <p:cNvSpPr txBox="1"/>
          <p:nvPr/>
        </p:nvSpPr>
        <p:spPr>
          <a:xfrm>
            <a:off x="10040112" y="4343400"/>
            <a:ext cx="1481328" cy="777240"/>
          </a:xfrm>
          <a:prstGeom prst="rect">
            <a:avLst/>
          </a:prstGeom>
          <a:noFill/>
          <a:ln/>
        </p:spPr>
        <p:txBody>
          <a:bodyPr wrap="square" lIns="0" tIns="0" rIns="0" bIns="0" rtlCol="0" anchor="t"/>
          <a:lstStyle/>
          <a:p>
            <a:pPr indent="0" marL="0">
              <a:buNone/>
            </a:pPr>
            <a:r>
              <a:rPr lang="en-US" sz="1200" b="1" dirty="0">
                <a:solidFill>
                  <a:schemeClr val="tx2"/>
                </a:solidFill>
              </a:rPr>
              <a:t>Data: </a:t>
            </a:r>
            <a:pPr indent="0" marL="0">
              <a:buNone/>
            </a:pPr>
            <a:r>
              <a:rPr lang="en-US" sz="1200" dirty="0">
                <a:solidFill>
                  <a:schemeClr val="tx2"/>
                </a:solidFill>
              </a:rPr>
              <a:t>Trillions of tokens</a:t>
            </a:r>
            <a:endParaRPr lang="en-US" sz="1200" dirty="0"/>
          </a:p>
        </p:txBody>
      </p:sp>
      <p:sp>
        <p:nvSpPr>
          <p:cNvPr id="31" name="Text 29"/>
          <p:cNvSpPr txBox="1"/>
          <p:nvPr/>
        </p:nvSpPr>
        <p:spPr>
          <a:xfrm>
            <a:off x="10040112" y="5120640"/>
            <a:ext cx="1481328" cy="502920"/>
          </a:xfrm>
          <a:prstGeom prst="rect">
            <a:avLst/>
          </a:prstGeom>
          <a:noFill/>
          <a:ln/>
        </p:spPr>
        <p:txBody>
          <a:bodyPr wrap="square" lIns="0" tIns="0" rIns="0" bIns="0" rtlCol="0" anchor="t"/>
          <a:lstStyle/>
          <a:p>
            <a:pPr indent="0" marL="0">
              <a:buNone/>
            </a:pPr>
            <a:r>
              <a:rPr lang="en-US" sz="1200" b="1" dirty="0">
                <a:solidFill>
                  <a:schemeClr val="accent2"/>
                </a:solidFill>
              </a:rPr>
              <a:t>Curator, Framework</a:t>
            </a:r>
            <a:endParaRPr lang="en-US" sz="1200" dirty="0"/>
          </a:p>
        </p:txBody>
      </p:sp>
      <p:sp>
        <p:nvSpPr>
          <p:cNvPr id="32" name="Shape 30"/>
          <p:cNvSpPr/>
          <p:nvPr/>
        </p:nvSpPr>
        <p:spPr>
          <a:xfrm>
            <a:off x="548640" y="5852160"/>
            <a:ext cx="11018520" cy="914"/>
          </a:xfrm>
          <a:prstGeom prst="line">
            <a:avLst/>
          </a:prstGeom>
          <a:noFill/>
          <a:ln w="25400">
            <a:solidFill>
              <a:schemeClr val="accent5"/>
            </a:solidFill>
            <a:prstDash val="solid"/>
            <a:tailEnd type="triangle"/>
          </a:ln>
        </p:spPr>
      </p:sp>
      <p:sp>
        <p:nvSpPr>
          <p:cNvPr id="33" name="Text 31"/>
          <p:cNvSpPr txBox="1"/>
          <p:nvPr/>
        </p:nvSpPr>
        <p:spPr>
          <a:xfrm>
            <a:off x="548640" y="5897880"/>
            <a:ext cx="11064240" cy="320040"/>
          </a:xfrm>
          <a:prstGeom prst="rect">
            <a:avLst/>
          </a:prstGeom>
          <a:noFill/>
          <a:ln/>
        </p:spPr>
        <p:txBody>
          <a:bodyPr wrap="square" lIns="0" tIns="0" rIns="0" bIns="0" rtlCol="0" anchor="t"/>
          <a:lstStyle/>
          <a:p>
            <a:pPr indent="0" marL="0">
              <a:buNone/>
            </a:pPr>
            <a:r>
              <a:rPr lang="en-US" sz="1300" i="1" dirty="0">
                <a:solidFill>
                  <a:schemeClr val="accent5"/>
                </a:solidFill>
              </a:rPr>
              <a:t>More data, compute, cost and expertise  ·  more control over model behavior</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000" b="1" dirty="0">
                <a:solidFill>
                  <a:schemeClr val="tx1"/>
                </a:solidFill>
              </a:rPr>
              <a:t>The enterprise model development lifecycle</a:t>
            </a:r>
            <a:endParaRPr lang="en-US" sz="3000" dirty="0"/>
          </a:p>
        </p:txBody>
      </p:sp>
      <p:sp>
        <p:nvSpPr>
          <p:cNvPr id="3" name="Text 0"/>
          <p:cNvSpPr/>
          <p:nvPr>
            <p:ph idx="101" type="body" hasCustomPrompt="1"/>
          </p:nvPr>
        </p:nvSpPr>
        <p:spPr>
          <a:xfrm>
            <a:off x="548640" y="960120"/>
            <a:ext cx="11064240" cy="411480"/>
          </a:xfrm>
          <a:prstGeom prst="rect">
            <a:avLst/>
          </a:prstGeom>
          <a:noFill/>
          <a:ln/>
        </p:spPr>
        <p:txBody>
          <a:bodyPr wrap="square" lIns="0" tIns="0" rIns="0" bIns="0" rtlCol="0" anchor="t"/>
          <a:lstStyle/>
          <a:p>
            <a:pPr indent="0" marL="0">
              <a:buNone/>
            </a:pPr>
            <a:r>
              <a:rPr lang="en-US" sz="1600" dirty="0">
                <a:solidFill>
                  <a:schemeClr val="accent5"/>
                </a:solidFill>
              </a:rPr>
              <a:t>Model development is a loop, not a one-off project</a:t>
            </a:r>
            <a:endParaRPr lang="en-US" sz="1600" dirty="0"/>
          </a:p>
        </p:txBody>
      </p:sp>
      <p:sp>
        <p:nvSpPr>
          <p:cNvPr id="4" name="Shape 2"/>
          <p:cNvSpPr/>
          <p:nvPr/>
        </p:nvSpPr>
        <p:spPr>
          <a:xfrm>
            <a:off x="548640" y="1600200"/>
            <a:ext cx="1719072" cy="2331720"/>
          </a:xfrm>
          <a:prstGeom prst="roundRect">
            <a:avLst>
              <a:gd name="adj" fmla="val 4255"/>
            </a:avLst>
          </a:prstGeom>
          <a:solidFill>
            <a:schemeClr val="bg2"/>
          </a:solidFill>
          <a:ln/>
        </p:spPr>
      </p:sp>
      <p:sp>
        <p:nvSpPr>
          <p:cNvPr id="5" name="Text 3"/>
          <p:cNvSpPr/>
          <p:nvPr/>
        </p:nvSpPr>
        <p:spPr>
          <a:xfrm>
            <a:off x="713232" y="1755648"/>
            <a:ext cx="457200" cy="457200"/>
          </a:xfrm>
          <a:prstGeom prst="roundRect">
            <a:avLst>
              <a:gd name="adj" fmla="val 10000"/>
            </a:avLst>
          </a:prstGeom>
          <a:solidFill>
            <a:schemeClr val="accent1"/>
          </a:solidFill>
          <a:ln/>
        </p:spPr>
        <p:txBody>
          <a:bodyPr wrap="square" lIns="381" tIns="381" rIns="381" bIns="381" rtlCol="0" anchor="ctr"/>
          <a:lstStyle/>
          <a:p>
            <a:pPr algn="ctr" indent="0" marL="0">
              <a:buNone/>
            </a:pPr>
            <a:r>
              <a:rPr lang="en-US" sz="1600" b="1" dirty="0">
                <a:solidFill>
                  <a:schemeClr val="tx1"/>
                </a:solidFill>
              </a:rPr>
              <a:t>1</a:t>
            </a:r>
            <a:endParaRPr lang="en-US" sz="1600" dirty="0"/>
          </a:p>
        </p:txBody>
      </p:sp>
      <p:sp>
        <p:nvSpPr>
          <p:cNvPr id="6" name="Text 4"/>
          <p:cNvSpPr txBox="1"/>
          <p:nvPr/>
        </p:nvSpPr>
        <p:spPr>
          <a:xfrm>
            <a:off x="713232" y="2286000"/>
            <a:ext cx="1463040" cy="365760"/>
          </a:xfrm>
          <a:prstGeom prst="rect">
            <a:avLst/>
          </a:prstGeom>
          <a:noFill/>
          <a:ln/>
        </p:spPr>
        <p:txBody>
          <a:bodyPr wrap="square" lIns="0" tIns="0" rIns="0" bIns="0" rtlCol="0" anchor="t"/>
          <a:lstStyle/>
          <a:p>
            <a:pPr indent="0" marL="0">
              <a:buNone/>
            </a:pPr>
            <a:r>
              <a:rPr lang="en-US" sz="1600" b="1" dirty="0">
                <a:solidFill>
                  <a:schemeClr val="tx1"/>
                </a:solidFill>
              </a:rPr>
              <a:t>Curate data</a:t>
            </a:r>
            <a:endParaRPr lang="en-US" sz="1600" dirty="0"/>
          </a:p>
        </p:txBody>
      </p:sp>
      <p:sp>
        <p:nvSpPr>
          <p:cNvPr id="7" name="Text 5"/>
          <p:cNvSpPr txBox="1"/>
          <p:nvPr/>
        </p:nvSpPr>
        <p:spPr>
          <a:xfrm>
            <a:off x="713232" y="2670048"/>
            <a:ext cx="1463040" cy="1188720"/>
          </a:xfrm>
          <a:prstGeom prst="rect">
            <a:avLst/>
          </a:prstGeom>
          <a:noFill/>
          <a:ln/>
        </p:spPr>
        <p:txBody>
          <a:bodyPr wrap="square" lIns="0" tIns="0" rIns="0" bIns="0" rtlCol="0" anchor="t"/>
          <a:lstStyle/>
          <a:p>
            <a:pPr indent="0" marL="0">
              <a:buNone/>
            </a:pPr>
            <a:r>
              <a:rPr lang="en-US" sz="1200" dirty="0">
                <a:solidFill>
                  <a:schemeClr val="tx2"/>
                </a:solidFill>
              </a:rPr>
              <a:t>Collect, clean, deduplicate, remove PII, generate synthetic data</a:t>
            </a:r>
            <a:endParaRPr lang="en-US" sz="1200" dirty="0"/>
          </a:p>
        </p:txBody>
      </p:sp>
      <p:sp>
        <p:nvSpPr>
          <p:cNvPr id="8" name="Text 6"/>
          <p:cNvSpPr/>
          <p:nvPr/>
        </p:nvSpPr>
        <p:spPr>
          <a:xfrm>
            <a:off x="548640" y="4041648"/>
            <a:ext cx="1719072" cy="502920"/>
          </a:xfrm>
          <a:prstGeom prst="roundRect">
            <a:avLst>
              <a:gd name="adj" fmla="val 9091"/>
            </a:avLst>
          </a:prstGeom>
          <a:solidFill>
            <a:schemeClr val="tx1"/>
          </a:solidFill>
          <a:ln/>
        </p:spPr>
        <p:txBody>
          <a:bodyPr wrap="square" lIns="381" tIns="381" rIns="381" bIns="381" rtlCol="0" anchor="ctr"/>
          <a:lstStyle/>
          <a:p>
            <a:pPr algn="ctr" indent="0" marL="0">
              <a:buNone/>
            </a:pPr>
            <a:r>
              <a:rPr lang="en-US" sz="1100" b="1" dirty="0">
                <a:solidFill>
                  <a:schemeClr val="accent1"/>
                </a:solidFill>
              </a:rPr>
              <a:t>Curator · Data Designer</a:t>
            </a:r>
            <a:endParaRPr lang="en-US" sz="1100" dirty="0"/>
          </a:p>
        </p:txBody>
      </p:sp>
      <p:sp>
        <p:nvSpPr>
          <p:cNvPr id="9" name="Shape 7"/>
          <p:cNvSpPr/>
          <p:nvPr/>
        </p:nvSpPr>
        <p:spPr>
          <a:xfrm>
            <a:off x="2276856" y="2743200"/>
            <a:ext cx="137160" cy="914"/>
          </a:xfrm>
          <a:prstGeom prst="line">
            <a:avLst/>
          </a:prstGeom>
          <a:noFill/>
          <a:ln w="25400">
            <a:solidFill>
              <a:schemeClr val="accent2"/>
            </a:solidFill>
            <a:prstDash val="solid"/>
            <a:tailEnd type="triangle"/>
          </a:ln>
        </p:spPr>
      </p:sp>
      <p:sp>
        <p:nvSpPr>
          <p:cNvPr id="10" name="Shape 8"/>
          <p:cNvSpPr/>
          <p:nvPr/>
        </p:nvSpPr>
        <p:spPr>
          <a:xfrm>
            <a:off x="2423160" y="1600200"/>
            <a:ext cx="1719072" cy="2331720"/>
          </a:xfrm>
          <a:prstGeom prst="roundRect">
            <a:avLst>
              <a:gd name="adj" fmla="val 4255"/>
            </a:avLst>
          </a:prstGeom>
          <a:solidFill>
            <a:schemeClr val="bg2"/>
          </a:solidFill>
          <a:ln/>
        </p:spPr>
      </p:sp>
      <p:sp>
        <p:nvSpPr>
          <p:cNvPr id="11" name="Text 9"/>
          <p:cNvSpPr/>
          <p:nvPr/>
        </p:nvSpPr>
        <p:spPr>
          <a:xfrm>
            <a:off x="2587752" y="1755648"/>
            <a:ext cx="457200" cy="457200"/>
          </a:xfrm>
          <a:prstGeom prst="roundRect">
            <a:avLst>
              <a:gd name="adj" fmla="val 10000"/>
            </a:avLst>
          </a:prstGeom>
          <a:solidFill>
            <a:schemeClr val="accent1"/>
          </a:solidFill>
          <a:ln/>
        </p:spPr>
        <p:txBody>
          <a:bodyPr wrap="square" lIns="381" tIns="381" rIns="381" bIns="381" rtlCol="0" anchor="ctr"/>
          <a:lstStyle/>
          <a:p>
            <a:pPr algn="ctr" indent="0" marL="0">
              <a:buNone/>
            </a:pPr>
            <a:r>
              <a:rPr lang="en-US" sz="1600" b="1" dirty="0">
                <a:solidFill>
                  <a:schemeClr val="tx1"/>
                </a:solidFill>
              </a:rPr>
              <a:t>2</a:t>
            </a:r>
            <a:endParaRPr lang="en-US" sz="1600" dirty="0"/>
          </a:p>
        </p:txBody>
      </p:sp>
      <p:sp>
        <p:nvSpPr>
          <p:cNvPr id="12" name="Text 10"/>
          <p:cNvSpPr txBox="1"/>
          <p:nvPr/>
        </p:nvSpPr>
        <p:spPr>
          <a:xfrm>
            <a:off x="2587752" y="2286000"/>
            <a:ext cx="1463040" cy="365760"/>
          </a:xfrm>
          <a:prstGeom prst="rect">
            <a:avLst/>
          </a:prstGeom>
          <a:noFill/>
          <a:ln/>
        </p:spPr>
        <p:txBody>
          <a:bodyPr wrap="square" lIns="0" tIns="0" rIns="0" bIns="0" rtlCol="0" anchor="t"/>
          <a:lstStyle/>
          <a:p>
            <a:pPr indent="0" marL="0">
              <a:buNone/>
            </a:pPr>
            <a:r>
              <a:rPr lang="en-US" sz="1600" b="1" dirty="0">
                <a:solidFill>
                  <a:schemeClr val="tx1"/>
                </a:solidFill>
              </a:rPr>
              <a:t>Customize</a:t>
            </a:r>
            <a:endParaRPr lang="en-US" sz="1600" dirty="0"/>
          </a:p>
        </p:txBody>
      </p:sp>
      <p:sp>
        <p:nvSpPr>
          <p:cNvPr id="13" name="Text 11"/>
          <p:cNvSpPr txBox="1"/>
          <p:nvPr/>
        </p:nvSpPr>
        <p:spPr>
          <a:xfrm>
            <a:off x="2587752" y="2670048"/>
            <a:ext cx="1463040" cy="1188720"/>
          </a:xfrm>
          <a:prstGeom prst="rect">
            <a:avLst/>
          </a:prstGeom>
          <a:noFill/>
          <a:ln/>
        </p:spPr>
        <p:txBody>
          <a:bodyPr wrap="square" lIns="0" tIns="0" rIns="0" bIns="0" rtlCol="0" anchor="t"/>
          <a:lstStyle/>
          <a:p>
            <a:pPr indent="0" marL="0">
              <a:buNone/>
            </a:pPr>
            <a:r>
              <a:rPr lang="en-US" sz="1200" dirty="0">
                <a:solidFill>
                  <a:schemeClr val="tx2"/>
                </a:solidFill>
              </a:rPr>
              <a:t>Fine-tune, align or distill a base model for the task</a:t>
            </a:r>
            <a:endParaRPr lang="en-US" sz="1200" dirty="0"/>
          </a:p>
        </p:txBody>
      </p:sp>
      <p:sp>
        <p:nvSpPr>
          <p:cNvPr id="14" name="Text 12"/>
          <p:cNvSpPr/>
          <p:nvPr/>
        </p:nvSpPr>
        <p:spPr>
          <a:xfrm>
            <a:off x="2423160" y="4041648"/>
            <a:ext cx="1719072" cy="502920"/>
          </a:xfrm>
          <a:prstGeom prst="roundRect">
            <a:avLst>
              <a:gd name="adj" fmla="val 9091"/>
            </a:avLst>
          </a:prstGeom>
          <a:solidFill>
            <a:schemeClr val="tx1"/>
          </a:solidFill>
          <a:ln/>
        </p:spPr>
        <p:txBody>
          <a:bodyPr wrap="square" lIns="381" tIns="381" rIns="381" bIns="381" rtlCol="0" anchor="ctr"/>
          <a:lstStyle/>
          <a:p>
            <a:pPr algn="ctr" indent="0" marL="0">
              <a:buNone/>
            </a:pPr>
            <a:r>
              <a:rPr lang="en-US" sz="1100" b="1" dirty="0">
                <a:solidFill>
                  <a:schemeClr val="accent1"/>
                </a:solidFill>
              </a:rPr>
              <a:t>Customizer · Framework · RL</a:t>
            </a:r>
            <a:endParaRPr lang="en-US" sz="1100" dirty="0"/>
          </a:p>
        </p:txBody>
      </p:sp>
      <p:sp>
        <p:nvSpPr>
          <p:cNvPr id="15" name="Shape 13"/>
          <p:cNvSpPr/>
          <p:nvPr/>
        </p:nvSpPr>
        <p:spPr>
          <a:xfrm>
            <a:off x="4151376" y="2743200"/>
            <a:ext cx="137160" cy="914"/>
          </a:xfrm>
          <a:prstGeom prst="line">
            <a:avLst/>
          </a:prstGeom>
          <a:noFill/>
          <a:ln w="25400">
            <a:solidFill>
              <a:schemeClr val="accent2"/>
            </a:solidFill>
            <a:prstDash val="solid"/>
            <a:tailEnd type="triangle"/>
          </a:ln>
        </p:spPr>
      </p:sp>
      <p:sp>
        <p:nvSpPr>
          <p:cNvPr id="16" name="Shape 14"/>
          <p:cNvSpPr/>
          <p:nvPr/>
        </p:nvSpPr>
        <p:spPr>
          <a:xfrm>
            <a:off x="4297680" y="1600200"/>
            <a:ext cx="1719072" cy="2331720"/>
          </a:xfrm>
          <a:prstGeom prst="roundRect">
            <a:avLst>
              <a:gd name="adj" fmla="val 4255"/>
            </a:avLst>
          </a:prstGeom>
          <a:solidFill>
            <a:schemeClr val="bg2"/>
          </a:solidFill>
          <a:ln/>
        </p:spPr>
      </p:sp>
      <p:sp>
        <p:nvSpPr>
          <p:cNvPr id="17" name="Text 15"/>
          <p:cNvSpPr/>
          <p:nvPr/>
        </p:nvSpPr>
        <p:spPr>
          <a:xfrm>
            <a:off x="4462272" y="1755648"/>
            <a:ext cx="457200" cy="457200"/>
          </a:xfrm>
          <a:prstGeom prst="roundRect">
            <a:avLst>
              <a:gd name="adj" fmla="val 10000"/>
            </a:avLst>
          </a:prstGeom>
          <a:solidFill>
            <a:schemeClr val="accent1"/>
          </a:solidFill>
          <a:ln/>
        </p:spPr>
        <p:txBody>
          <a:bodyPr wrap="square" lIns="381" tIns="381" rIns="381" bIns="381" rtlCol="0" anchor="ctr"/>
          <a:lstStyle/>
          <a:p>
            <a:pPr algn="ctr" indent="0" marL="0">
              <a:buNone/>
            </a:pPr>
            <a:r>
              <a:rPr lang="en-US" sz="1600" b="1" dirty="0">
                <a:solidFill>
                  <a:schemeClr val="tx1"/>
                </a:solidFill>
              </a:rPr>
              <a:t>3</a:t>
            </a:r>
            <a:endParaRPr lang="en-US" sz="1600" dirty="0"/>
          </a:p>
        </p:txBody>
      </p:sp>
      <p:sp>
        <p:nvSpPr>
          <p:cNvPr id="18" name="Text 16"/>
          <p:cNvSpPr txBox="1"/>
          <p:nvPr/>
        </p:nvSpPr>
        <p:spPr>
          <a:xfrm>
            <a:off x="4462272" y="2286000"/>
            <a:ext cx="1463040" cy="365760"/>
          </a:xfrm>
          <a:prstGeom prst="rect">
            <a:avLst/>
          </a:prstGeom>
          <a:noFill/>
          <a:ln/>
        </p:spPr>
        <p:txBody>
          <a:bodyPr wrap="square" lIns="0" tIns="0" rIns="0" bIns="0" rtlCol="0" anchor="t"/>
          <a:lstStyle/>
          <a:p>
            <a:pPr indent="0" marL="0">
              <a:buNone/>
            </a:pPr>
            <a:r>
              <a:rPr lang="en-US" sz="1600" b="1" dirty="0">
                <a:solidFill>
                  <a:schemeClr val="tx1"/>
                </a:solidFill>
              </a:rPr>
              <a:t>Evaluate</a:t>
            </a:r>
            <a:endParaRPr lang="en-US" sz="1600" dirty="0"/>
          </a:p>
        </p:txBody>
      </p:sp>
      <p:sp>
        <p:nvSpPr>
          <p:cNvPr id="19" name="Text 17"/>
          <p:cNvSpPr txBox="1"/>
          <p:nvPr/>
        </p:nvSpPr>
        <p:spPr>
          <a:xfrm>
            <a:off x="4462272" y="2670048"/>
            <a:ext cx="1463040" cy="1188720"/>
          </a:xfrm>
          <a:prstGeom prst="rect">
            <a:avLst/>
          </a:prstGeom>
          <a:noFill/>
          <a:ln/>
        </p:spPr>
        <p:txBody>
          <a:bodyPr wrap="square" lIns="0" tIns="0" rIns="0" bIns="0" rtlCol="0" anchor="t"/>
          <a:lstStyle/>
          <a:p>
            <a:pPr indent="0" marL="0">
              <a:buNone/>
            </a:pPr>
            <a:r>
              <a:rPr lang="en-US" sz="1200" dirty="0">
                <a:solidFill>
                  <a:schemeClr val="tx2"/>
                </a:solidFill>
              </a:rPr>
              <a:t>Benchmarks, custom test sets, LLM-as-a-judge, RAG metrics</a:t>
            </a:r>
            <a:endParaRPr lang="en-US" sz="1200" dirty="0"/>
          </a:p>
        </p:txBody>
      </p:sp>
      <p:sp>
        <p:nvSpPr>
          <p:cNvPr id="20" name="Text 18"/>
          <p:cNvSpPr/>
          <p:nvPr/>
        </p:nvSpPr>
        <p:spPr>
          <a:xfrm>
            <a:off x="4297680" y="4041648"/>
            <a:ext cx="1719072" cy="502920"/>
          </a:xfrm>
          <a:prstGeom prst="roundRect">
            <a:avLst>
              <a:gd name="adj" fmla="val 9091"/>
            </a:avLst>
          </a:prstGeom>
          <a:solidFill>
            <a:schemeClr val="tx1"/>
          </a:solidFill>
          <a:ln/>
        </p:spPr>
        <p:txBody>
          <a:bodyPr wrap="square" lIns="381" tIns="381" rIns="381" bIns="381" rtlCol="0" anchor="ctr"/>
          <a:lstStyle/>
          <a:p>
            <a:pPr algn="ctr" indent="0" marL="0">
              <a:buNone/>
            </a:pPr>
            <a:r>
              <a:rPr lang="en-US" sz="1100" b="1" dirty="0">
                <a:solidFill>
                  <a:schemeClr val="accent1"/>
                </a:solidFill>
              </a:rPr>
              <a:t>Evaluator</a:t>
            </a:r>
            <a:endParaRPr lang="en-US" sz="1100" dirty="0"/>
          </a:p>
        </p:txBody>
      </p:sp>
      <p:sp>
        <p:nvSpPr>
          <p:cNvPr id="21" name="Shape 19"/>
          <p:cNvSpPr/>
          <p:nvPr/>
        </p:nvSpPr>
        <p:spPr>
          <a:xfrm>
            <a:off x="6025896" y="2743200"/>
            <a:ext cx="137160" cy="914"/>
          </a:xfrm>
          <a:prstGeom prst="line">
            <a:avLst/>
          </a:prstGeom>
          <a:noFill/>
          <a:ln w="25400">
            <a:solidFill>
              <a:schemeClr val="accent2"/>
            </a:solidFill>
            <a:prstDash val="solid"/>
            <a:tailEnd type="triangle"/>
          </a:ln>
        </p:spPr>
      </p:sp>
      <p:sp>
        <p:nvSpPr>
          <p:cNvPr id="22" name="Shape 20"/>
          <p:cNvSpPr/>
          <p:nvPr/>
        </p:nvSpPr>
        <p:spPr>
          <a:xfrm>
            <a:off x="6172200" y="1600200"/>
            <a:ext cx="1719072" cy="2331720"/>
          </a:xfrm>
          <a:prstGeom prst="roundRect">
            <a:avLst>
              <a:gd name="adj" fmla="val 4255"/>
            </a:avLst>
          </a:prstGeom>
          <a:solidFill>
            <a:schemeClr val="bg2"/>
          </a:solidFill>
          <a:ln/>
        </p:spPr>
      </p:sp>
      <p:sp>
        <p:nvSpPr>
          <p:cNvPr id="23" name="Text 21"/>
          <p:cNvSpPr/>
          <p:nvPr/>
        </p:nvSpPr>
        <p:spPr>
          <a:xfrm>
            <a:off x="6336792" y="1755648"/>
            <a:ext cx="457200" cy="457200"/>
          </a:xfrm>
          <a:prstGeom prst="roundRect">
            <a:avLst>
              <a:gd name="adj" fmla="val 10000"/>
            </a:avLst>
          </a:prstGeom>
          <a:solidFill>
            <a:schemeClr val="accent1"/>
          </a:solidFill>
          <a:ln/>
        </p:spPr>
        <p:txBody>
          <a:bodyPr wrap="square" lIns="381" tIns="381" rIns="381" bIns="381" rtlCol="0" anchor="ctr"/>
          <a:lstStyle/>
          <a:p>
            <a:pPr algn="ctr" indent="0" marL="0">
              <a:buNone/>
            </a:pPr>
            <a:r>
              <a:rPr lang="en-US" sz="1600" b="1" dirty="0">
                <a:solidFill>
                  <a:schemeClr val="tx1"/>
                </a:solidFill>
              </a:rPr>
              <a:t>4</a:t>
            </a:r>
            <a:endParaRPr lang="en-US" sz="1600" dirty="0"/>
          </a:p>
        </p:txBody>
      </p:sp>
      <p:sp>
        <p:nvSpPr>
          <p:cNvPr id="24" name="Text 22"/>
          <p:cNvSpPr txBox="1"/>
          <p:nvPr/>
        </p:nvSpPr>
        <p:spPr>
          <a:xfrm>
            <a:off x="6336792" y="2286000"/>
            <a:ext cx="1463040" cy="365760"/>
          </a:xfrm>
          <a:prstGeom prst="rect">
            <a:avLst/>
          </a:prstGeom>
          <a:noFill/>
          <a:ln/>
        </p:spPr>
        <p:txBody>
          <a:bodyPr wrap="square" lIns="0" tIns="0" rIns="0" bIns="0" rtlCol="0" anchor="t"/>
          <a:lstStyle/>
          <a:p>
            <a:pPr indent="0" marL="0">
              <a:buNone/>
            </a:pPr>
            <a:r>
              <a:rPr lang="en-US" sz="1600" b="1" dirty="0">
                <a:solidFill>
                  <a:schemeClr val="tx1"/>
                </a:solidFill>
              </a:rPr>
              <a:t>Safeguard</a:t>
            </a:r>
            <a:endParaRPr lang="en-US" sz="1600" dirty="0"/>
          </a:p>
        </p:txBody>
      </p:sp>
      <p:sp>
        <p:nvSpPr>
          <p:cNvPr id="25" name="Text 23"/>
          <p:cNvSpPr txBox="1"/>
          <p:nvPr/>
        </p:nvSpPr>
        <p:spPr>
          <a:xfrm>
            <a:off x="6336792" y="2670048"/>
            <a:ext cx="1463040" cy="1188720"/>
          </a:xfrm>
          <a:prstGeom prst="rect">
            <a:avLst/>
          </a:prstGeom>
          <a:noFill/>
          <a:ln/>
        </p:spPr>
        <p:txBody>
          <a:bodyPr wrap="square" lIns="0" tIns="0" rIns="0" bIns="0" rtlCol="0" anchor="t"/>
          <a:lstStyle/>
          <a:p>
            <a:pPr indent="0" marL="0">
              <a:buNone/>
            </a:pPr>
            <a:r>
              <a:rPr lang="en-US" sz="1200" dirty="0">
                <a:solidFill>
                  <a:schemeClr val="tx2"/>
                </a:solidFill>
              </a:rPr>
              <a:t>Content safety, topic control, jailbreak and PII rails</a:t>
            </a:r>
            <a:endParaRPr lang="en-US" sz="1200" dirty="0"/>
          </a:p>
        </p:txBody>
      </p:sp>
      <p:sp>
        <p:nvSpPr>
          <p:cNvPr id="26" name="Text 24"/>
          <p:cNvSpPr/>
          <p:nvPr/>
        </p:nvSpPr>
        <p:spPr>
          <a:xfrm>
            <a:off x="6172200" y="4041648"/>
            <a:ext cx="1719072" cy="502920"/>
          </a:xfrm>
          <a:prstGeom prst="roundRect">
            <a:avLst>
              <a:gd name="adj" fmla="val 9091"/>
            </a:avLst>
          </a:prstGeom>
          <a:solidFill>
            <a:schemeClr val="tx1"/>
          </a:solidFill>
          <a:ln/>
        </p:spPr>
        <p:txBody>
          <a:bodyPr wrap="square" lIns="381" tIns="381" rIns="381" bIns="381" rtlCol="0" anchor="ctr"/>
          <a:lstStyle/>
          <a:p>
            <a:pPr algn="ctr" indent="0" marL="0">
              <a:buNone/>
            </a:pPr>
            <a:r>
              <a:rPr lang="en-US" sz="1100" b="1" dirty="0">
                <a:solidFill>
                  <a:schemeClr val="accent1"/>
                </a:solidFill>
              </a:rPr>
              <a:t>Guardrails</a:t>
            </a:r>
            <a:endParaRPr lang="en-US" sz="1100" dirty="0"/>
          </a:p>
        </p:txBody>
      </p:sp>
      <p:sp>
        <p:nvSpPr>
          <p:cNvPr id="27" name="Shape 25"/>
          <p:cNvSpPr/>
          <p:nvPr/>
        </p:nvSpPr>
        <p:spPr>
          <a:xfrm>
            <a:off x="7900416" y="2743200"/>
            <a:ext cx="137160" cy="914"/>
          </a:xfrm>
          <a:prstGeom prst="line">
            <a:avLst/>
          </a:prstGeom>
          <a:noFill/>
          <a:ln w="25400">
            <a:solidFill>
              <a:schemeClr val="accent2"/>
            </a:solidFill>
            <a:prstDash val="solid"/>
            <a:tailEnd type="triangle"/>
          </a:ln>
        </p:spPr>
      </p:sp>
      <p:sp>
        <p:nvSpPr>
          <p:cNvPr id="28" name="Shape 26"/>
          <p:cNvSpPr/>
          <p:nvPr/>
        </p:nvSpPr>
        <p:spPr>
          <a:xfrm>
            <a:off x="8046720" y="1600200"/>
            <a:ext cx="1719072" cy="2331720"/>
          </a:xfrm>
          <a:prstGeom prst="roundRect">
            <a:avLst>
              <a:gd name="adj" fmla="val 4255"/>
            </a:avLst>
          </a:prstGeom>
          <a:solidFill>
            <a:schemeClr val="bg2"/>
          </a:solidFill>
          <a:ln/>
        </p:spPr>
      </p:sp>
      <p:sp>
        <p:nvSpPr>
          <p:cNvPr id="29" name="Text 27"/>
          <p:cNvSpPr/>
          <p:nvPr/>
        </p:nvSpPr>
        <p:spPr>
          <a:xfrm>
            <a:off x="8211312" y="1755648"/>
            <a:ext cx="457200" cy="457200"/>
          </a:xfrm>
          <a:prstGeom prst="roundRect">
            <a:avLst>
              <a:gd name="adj" fmla="val 10000"/>
            </a:avLst>
          </a:prstGeom>
          <a:solidFill>
            <a:schemeClr val="accent1"/>
          </a:solidFill>
          <a:ln/>
        </p:spPr>
        <p:txBody>
          <a:bodyPr wrap="square" lIns="381" tIns="381" rIns="381" bIns="381" rtlCol="0" anchor="ctr"/>
          <a:lstStyle/>
          <a:p>
            <a:pPr algn="ctr" indent="0" marL="0">
              <a:buNone/>
            </a:pPr>
            <a:r>
              <a:rPr lang="en-US" sz="1600" b="1" dirty="0">
                <a:solidFill>
                  <a:schemeClr val="tx1"/>
                </a:solidFill>
              </a:rPr>
              <a:t>5</a:t>
            </a:r>
            <a:endParaRPr lang="en-US" sz="1600" dirty="0"/>
          </a:p>
        </p:txBody>
      </p:sp>
      <p:sp>
        <p:nvSpPr>
          <p:cNvPr id="30" name="Text 28"/>
          <p:cNvSpPr txBox="1"/>
          <p:nvPr/>
        </p:nvSpPr>
        <p:spPr>
          <a:xfrm>
            <a:off x="8211312" y="2286000"/>
            <a:ext cx="1463040" cy="365760"/>
          </a:xfrm>
          <a:prstGeom prst="rect">
            <a:avLst/>
          </a:prstGeom>
          <a:noFill/>
          <a:ln/>
        </p:spPr>
        <p:txBody>
          <a:bodyPr wrap="square" lIns="0" tIns="0" rIns="0" bIns="0" rtlCol="0" anchor="t"/>
          <a:lstStyle/>
          <a:p>
            <a:pPr indent="0" marL="0">
              <a:buNone/>
            </a:pPr>
            <a:r>
              <a:rPr lang="en-US" sz="1600" b="1" dirty="0">
                <a:solidFill>
                  <a:schemeClr val="tx1"/>
                </a:solidFill>
              </a:rPr>
              <a:t>Deploy</a:t>
            </a:r>
            <a:endParaRPr lang="en-US" sz="1600" dirty="0"/>
          </a:p>
        </p:txBody>
      </p:sp>
      <p:sp>
        <p:nvSpPr>
          <p:cNvPr id="31" name="Text 29"/>
          <p:cNvSpPr txBox="1"/>
          <p:nvPr/>
        </p:nvSpPr>
        <p:spPr>
          <a:xfrm>
            <a:off x="8211312" y="2670048"/>
            <a:ext cx="1463040" cy="1188720"/>
          </a:xfrm>
          <a:prstGeom prst="rect">
            <a:avLst/>
          </a:prstGeom>
          <a:noFill/>
          <a:ln/>
        </p:spPr>
        <p:txBody>
          <a:bodyPr wrap="square" lIns="0" tIns="0" rIns="0" bIns="0" rtlCol="0" anchor="t"/>
          <a:lstStyle/>
          <a:p>
            <a:pPr indent="0" marL="0">
              <a:buNone/>
            </a:pPr>
            <a:r>
              <a:rPr lang="en-US" sz="1200" dirty="0">
                <a:solidFill>
                  <a:schemeClr val="tx2"/>
                </a:solidFill>
              </a:rPr>
              <a:t>Optimized, scalable inference with OpenAI-style APIs</a:t>
            </a:r>
            <a:endParaRPr lang="en-US" sz="1200" dirty="0"/>
          </a:p>
        </p:txBody>
      </p:sp>
      <p:sp>
        <p:nvSpPr>
          <p:cNvPr id="32" name="Text 30"/>
          <p:cNvSpPr/>
          <p:nvPr/>
        </p:nvSpPr>
        <p:spPr>
          <a:xfrm>
            <a:off x="8046720" y="4041648"/>
            <a:ext cx="1719072" cy="502920"/>
          </a:xfrm>
          <a:prstGeom prst="roundRect">
            <a:avLst>
              <a:gd name="adj" fmla="val 9091"/>
            </a:avLst>
          </a:prstGeom>
          <a:solidFill>
            <a:schemeClr val="tx1"/>
          </a:solidFill>
          <a:ln/>
        </p:spPr>
        <p:txBody>
          <a:bodyPr wrap="square" lIns="381" tIns="381" rIns="381" bIns="381" rtlCol="0" anchor="ctr"/>
          <a:lstStyle/>
          <a:p>
            <a:pPr algn="ctr" indent="0" marL="0">
              <a:buNone/>
            </a:pPr>
            <a:r>
              <a:rPr lang="en-US" sz="1100" b="1" dirty="0">
                <a:solidFill>
                  <a:schemeClr val="accent1"/>
                </a:solidFill>
              </a:rPr>
              <a:t>NIM · Retriever</a:t>
            </a:r>
            <a:endParaRPr lang="en-US" sz="1100" dirty="0"/>
          </a:p>
        </p:txBody>
      </p:sp>
      <p:sp>
        <p:nvSpPr>
          <p:cNvPr id="33" name="Shape 31"/>
          <p:cNvSpPr/>
          <p:nvPr/>
        </p:nvSpPr>
        <p:spPr>
          <a:xfrm>
            <a:off x="9774936" y="2743200"/>
            <a:ext cx="137160" cy="914"/>
          </a:xfrm>
          <a:prstGeom prst="line">
            <a:avLst/>
          </a:prstGeom>
          <a:noFill/>
          <a:ln w="25400">
            <a:solidFill>
              <a:schemeClr val="accent2"/>
            </a:solidFill>
            <a:prstDash val="solid"/>
            <a:tailEnd type="triangle"/>
          </a:ln>
        </p:spPr>
      </p:sp>
      <p:sp>
        <p:nvSpPr>
          <p:cNvPr id="34" name="Shape 32"/>
          <p:cNvSpPr/>
          <p:nvPr/>
        </p:nvSpPr>
        <p:spPr>
          <a:xfrm>
            <a:off x="9921240" y="1600200"/>
            <a:ext cx="1719072" cy="2331720"/>
          </a:xfrm>
          <a:prstGeom prst="roundRect">
            <a:avLst>
              <a:gd name="adj" fmla="val 4255"/>
            </a:avLst>
          </a:prstGeom>
          <a:solidFill>
            <a:schemeClr val="bg2"/>
          </a:solidFill>
          <a:ln/>
        </p:spPr>
      </p:sp>
      <p:sp>
        <p:nvSpPr>
          <p:cNvPr id="35" name="Text 33"/>
          <p:cNvSpPr/>
          <p:nvPr/>
        </p:nvSpPr>
        <p:spPr>
          <a:xfrm>
            <a:off x="10085832" y="1755648"/>
            <a:ext cx="457200" cy="457200"/>
          </a:xfrm>
          <a:prstGeom prst="roundRect">
            <a:avLst>
              <a:gd name="adj" fmla="val 10000"/>
            </a:avLst>
          </a:prstGeom>
          <a:solidFill>
            <a:schemeClr val="accent1"/>
          </a:solidFill>
          <a:ln/>
        </p:spPr>
        <p:txBody>
          <a:bodyPr wrap="square" lIns="381" tIns="381" rIns="381" bIns="381" rtlCol="0" anchor="ctr"/>
          <a:lstStyle/>
          <a:p>
            <a:pPr algn="ctr" indent="0" marL="0">
              <a:buNone/>
            </a:pPr>
            <a:r>
              <a:rPr lang="en-US" sz="1600" b="1" dirty="0">
                <a:solidFill>
                  <a:schemeClr val="tx1"/>
                </a:solidFill>
              </a:rPr>
              <a:t>6</a:t>
            </a:r>
            <a:endParaRPr lang="en-US" sz="1600" dirty="0"/>
          </a:p>
        </p:txBody>
      </p:sp>
      <p:sp>
        <p:nvSpPr>
          <p:cNvPr id="36" name="Text 34"/>
          <p:cNvSpPr txBox="1"/>
          <p:nvPr/>
        </p:nvSpPr>
        <p:spPr>
          <a:xfrm>
            <a:off x="10085832" y="2286000"/>
            <a:ext cx="1463040" cy="365760"/>
          </a:xfrm>
          <a:prstGeom prst="rect">
            <a:avLst/>
          </a:prstGeom>
          <a:noFill/>
          <a:ln/>
        </p:spPr>
        <p:txBody>
          <a:bodyPr wrap="square" lIns="0" tIns="0" rIns="0" bIns="0" rtlCol="0" anchor="t"/>
          <a:lstStyle/>
          <a:p>
            <a:pPr indent="0" marL="0">
              <a:buNone/>
            </a:pPr>
            <a:r>
              <a:rPr lang="en-US" sz="1600" b="1" dirty="0">
                <a:solidFill>
                  <a:schemeClr val="tx1"/>
                </a:solidFill>
              </a:rPr>
              <a:t>Monitor</a:t>
            </a:r>
            <a:endParaRPr lang="en-US" sz="1600" dirty="0"/>
          </a:p>
        </p:txBody>
      </p:sp>
      <p:sp>
        <p:nvSpPr>
          <p:cNvPr id="37" name="Text 35"/>
          <p:cNvSpPr txBox="1"/>
          <p:nvPr/>
        </p:nvSpPr>
        <p:spPr>
          <a:xfrm>
            <a:off x="10085832" y="2670048"/>
            <a:ext cx="1463040" cy="1188720"/>
          </a:xfrm>
          <a:prstGeom prst="rect">
            <a:avLst/>
          </a:prstGeom>
          <a:noFill/>
          <a:ln/>
        </p:spPr>
        <p:txBody>
          <a:bodyPr wrap="square" lIns="0" tIns="0" rIns="0" bIns="0" rtlCol="0" anchor="t"/>
          <a:lstStyle/>
          <a:p>
            <a:pPr indent="0" marL="0">
              <a:buNone/>
            </a:pPr>
            <a:r>
              <a:rPr lang="en-US" sz="1200" dirty="0">
                <a:solidFill>
                  <a:schemeClr val="tx2"/>
                </a:solidFill>
              </a:rPr>
              <a:t>Collect prompts, responses, feedback and cost</a:t>
            </a:r>
            <a:endParaRPr lang="en-US" sz="1200" dirty="0"/>
          </a:p>
        </p:txBody>
      </p:sp>
      <p:sp>
        <p:nvSpPr>
          <p:cNvPr id="38" name="Text 36"/>
          <p:cNvSpPr/>
          <p:nvPr/>
        </p:nvSpPr>
        <p:spPr>
          <a:xfrm>
            <a:off x="9921240" y="4041648"/>
            <a:ext cx="1719072" cy="502920"/>
          </a:xfrm>
          <a:prstGeom prst="roundRect">
            <a:avLst>
              <a:gd name="adj" fmla="val 9091"/>
            </a:avLst>
          </a:prstGeom>
          <a:solidFill>
            <a:schemeClr val="tx1"/>
          </a:solidFill>
          <a:ln/>
        </p:spPr>
        <p:txBody>
          <a:bodyPr wrap="square" lIns="381" tIns="381" rIns="381" bIns="381" rtlCol="0" anchor="ctr"/>
          <a:lstStyle/>
          <a:p>
            <a:pPr algn="ctr" indent="0" marL="0">
              <a:buNone/>
            </a:pPr>
            <a:r>
              <a:rPr lang="en-US" sz="1100" b="1" dirty="0">
                <a:solidFill>
                  <a:schemeClr val="accent1"/>
                </a:solidFill>
              </a:rPr>
              <a:t>Agent Toolkit · logs</a:t>
            </a:r>
            <a:endParaRPr lang="en-US" sz="1100" dirty="0"/>
          </a:p>
        </p:txBody>
      </p:sp>
      <p:sp>
        <p:nvSpPr>
          <p:cNvPr id="39" name="Shape 37"/>
          <p:cNvSpPr/>
          <p:nvPr/>
        </p:nvSpPr>
        <p:spPr>
          <a:xfrm>
            <a:off x="10872216" y="4544568"/>
            <a:ext cx="914" cy="347472"/>
          </a:xfrm>
          <a:prstGeom prst="line">
            <a:avLst/>
          </a:prstGeom>
          <a:noFill/>
          <a:ln w="25400">
            <a:solidFill>
              <a:schemeClr val="accent2"/>
            </a:solidFill>
            <a:prstDash val="solid"/>
          </a:ln>
        </p:spPr>
      </p:sp>
      <p:sp>
        <p:nvSpPr>
          <p:cNvPr id="40" name="Shape 38"/>
          <p:cNvSpPr/>
          <p:nvPr/>
        </p:nvSpPr>
        <p:spPr>
          <a:xfrm>
            <a:off x="1408176" y="4892040"/>
            <a:ext cx="9464040" cy="914"/>
          </a:xfrm>
          <a:prstGeom prst="line">
            <a:avLst/>
          </a:prstGeom>
          <a:noFill/>
          <a:ln w="25400">
            <a:solidFill>
              <a:schemeClr val="accent2"/>
            </a:solidFill>
            <a:prstDash val="solid"/>
          </a:ln>
        </p:spPr>
      </p:sp>
      <p:sp>
        <p:nvSpPr>
          <p:cNvPr id="41" name="Shape 39"/>
          <p:cNvSpPr/>
          <p:nvPr/>
        </p:nvSpPr>
        <p:spPr>
          <a:xfrm flipV="1">
            <a:off x="1408176" y="4562856"/>
            <a:ext cx="914" cy="329184"/>
          </a:xfrm>
          <a:prstGeom prst="line">
            <a:avLst/>
          </a:prstGeom>
          <a:noFill/>
          <a:ln w="25400">
            <a:solidFill>
              <a:schemeClr val="accent2"/>
            </a:solidFill>
            <a:prstDash val="solid"/>
            <a:tailEnd type="triangle"/>
          </a:ln>
        </p:spPr>
      </p:sp>
      <p:sp>
        <p:nvSpPr>
          <p:cNvPr id="42" name="Text 40"/>
          <p:cNvSpPr txBox="1"/>
          <p:nvPr/>
        </p:nvSpPr>
        <p:spPr>
          <a:xfrm>
            <a:off x="1828800" y="4956048"/>
            <a:ext cx="8686800" cy="320040"/>
          </a:xfrm>
          <a:prstGeom prst="rect">
            <a:avLst/>
          </a:prstGeom>
          <a:noFill/>
          <a:ln/>
        </p:spPr>
        <p:txBody>
          <a:bodyPr wrap="square" lIns="0" tIns="0" rIns="0" bIns="0" rtlCol="0" anchor="t"/>
          <a:lstStyle/>
          <a:p>
            <a:pPr algn="ctr" indent="0" marL="0">
              <a:buNone/>
            </a:pPr>
            <a:r>
              <a:rPr lang="en-US" sz="1300" b="1" dirty="0">
                <a:solidFill>
                  <a:schemeClr val="accent2"/>
                </a:solidFill>
              </a:rPr>
              <a:t>Data flywheel: production feedback becomes the training and evaluation data for the next version</a:t>
            </a:r>
            <a:endParaRPr lang="en-US" sz="1300" dirty="0"/>
          </a:p>
        </p:txBody>
      </p:sp>
      <p:sp>
        <p:nvSpPr>
          <p:cNvPr id="43" name="Shape 41"/>
          <p:cNvSpPr/>
          <p:nvPr/>
        </p:nvSpPr>
        <p:spPr>
          <a:xfrm>
            <a:off x="548640" y="5486400"/>
            <a:ext cx="11064240" cy="685800"/>
          </a:xfrm>
          <a:prstGeom prst="roundRect">
            <a:avLst>
              <a:gd name="adj" fmla="val 10667"/>
            </a:avLst>
          </a:prstGeom>
          <a:solidFill>
            <a:schemeClr val="tx1"/>
          </a:solidFill>
          <a:ln/>
        </p:spPr>
      </p:sp>
      <p:pic>
        <p:nvPicPr>
          <p:cNvPr id="44" name="Image 0" descr="preencoded.png">    </p:cNvPr>
          <p:cNvPicPr>
            <a:picLocks noChangeAspect="1"/>
          </p:cNvPicPr>
          <p:nvPr/>
        </p:nvPicPr>
        <p:blipFill>
          <a:blip r:embed="rId1"/>
          <a:stretch>
            <a:fillRect/>
          </a:stretch>
        </p:blipFill>
        <p:spPr>
          <a:xfrm>
            <a:off x="777240" y="5646420"/>
            <a:ext cx="365760" cy="365760"/>
          </a:xfrm>
          <a:prstGeom prst="rect">
            <a:avLst/>
          </a:prstGeom>
        </p:spPr>
      </p:pic>
      <p:sp>
        <p:nvSpPr>
          <p:cNvPr id="45" name="Text 42"/>
          <p:cNvSpPr txBox="1"/>
          <p:nvPr/>
        </p:nvSpPr>
        <p:spPr>
          <a:xfrm>
            <a:off x="1325880" y="5486400"/>
            <a:ext cx="10058400" cy="685800"/>
          </a:xfrm>
          <a:prstGeom prst="rect">
            <a:avLst/>
          </a:prstGeom>
          <a:noFill/>
          <a:ln/>
        </p:spPr>
        <p:txBody>
          <a:bodyPr wrap="square" lIns="0" tIns="0" rIns="0" bIns="0" rtlCol="0" anchor="ctr"/>
          <a:lstStyle/>
          <a:p>
            <a:pPr indent="0" marL="0">
              <a:buNone/>
            </a:pPr>
            <a:r>
              <a:rPr lang="en-US" sz="1500" dirty="0">
                <a:solidFill>
                  <a:schemeClr val="bg1"/>
                </a:solidFill>
              </a:rPr>
              <a:t>NeMo provides a tool for each stage, and the stages share data formats, APIs and deployment patterns.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40080" y="1463040"/>
            <a:ext cx="2743200" cy="1371600"/>
          </a:xfrm>
          <a:prstGeom prst="rect">
            <a:avLst/>
          </a:prstGeom>
          <a:noFill/>
          <a:ln/>
        </p:spPr>
        <p:txBody>
          <a:bodyPr wrap="square" lIns="0" tIns="0" rIns="0" bIns="0" rtlCol="0" anchor="t"/>
          <a:lstStyle/>
          <a:p>
            <a:pPr indent="0" marL="0">
              <a:buNone/>
            </a:pPr>
            <a:r>
              <a:rPr lang="en-US" sz="8800" b="1" dirty="0">
                <a:solidFill>
                  <a:schemeClr val="accent1"/>
                </a:solidFill>
              </a:rPr>
              <a:t>02</a:t>
            </a:r>
            <a:endParaRPr lang="en-US" sz="8800" dirty="0"/>
          </a:p>
        </p:txBody>
      </p:sp>
      <p:sp>
        <p:nvSpPr>
          <p:cNvPr id="3" name="Text 0"/>
          <p:cNvSpPr/>
          <p:nvPr>
            <p:ph idx="101" type="title" hasCustomPrompt="1"/>
          </p:nvPr>
        </p:nvSpPr>
        <p:spPr>
          <a:xfrm>
            <a:off x="640080" y="2743200"/>
            <a:ext cx="7498080" cy="1371600"/>
          </a:xfrm>
          <a:prstGeom prst="rect">
            <a:avLst/>
          </a:prstGeom>
          <a:noFill/>
          <a:ln/>
        </p:spPr>
        <p:txBody>
          <a:bodyPr wrap="square" lIns="0" tIns="0" rIns="0" bIns="0" rtlCol="0" anchor="t"/>
          <a:lstStyle/>
          <a:p>
            <a:pPr algn="l" indent="0" marL="0">
              <a:buNone/>
            </a:pPr>
            <a:r>
              <a:rPr lang="en-US" sz="3600" b="1" dirty="0">
                <a:solidFill>
                  <a:schemeClr val="bg1"/>
                </a:solidFill>
              </a:rPr>
              <a:t>What is NVIDIA NeMo?</a:t>
            </a:r>
            <a:endParaRPr lang="en-US" sz="3600" dirty="0"/>
          </a:p>
        </p:txBody>
      </p:sp>
      <p:sp>
        <p:nvSpPr>
          <p:cNvPr id="4" name="Text 0"/>
          <p:cNvSpPr/>
          <p:nvPr>
            <p:ph idx="102" type="body" hasCustomPrompt="1"/>
          </p:nvPr>
        </p:nvSpPr>
        <p:spPr>
          <a:xfrm>
            <a:off x="640080" y="4297680"/>
            <a:ext cx="6949440" cy="1280160"/>
          </a:xfrm>
          <a:prstGeom prst="rect">
            <a:avLst/>
          </a:prstGeom>
          <a:noFill/>
          <a:ln/>
        </p:spPr>
        <p:txBody>
          <a:bodyPr wrap="square" lIns="0" tIns="0" rIns="0" bIns="0" rtlCol="0" anchor="t"/>
          <a:lstStyle/>
          <a:p>
            <a:pPr indent="0" marL="0">
              <a:buNone/>
            </a:pPr>
            <a:r>
              <a:rPr lang="en-US" sz="1800" dirty="0">
                <a:solidFill>
                  <a:srgbClr val="C9D3CC"/>
                </a:solidFill>
              </a:rPr>
              <a:t>Definition, history, the NeMo family, and the difference between the framework and the microservices</a:t>
            </a:r>
            <a:endParaRPr lang="en-US" sz="1800" dirty="0"/>
          </a:p>
        </p:txBody>
      </p:sp>
      <p:sp>
        <p:nvSpPr>
          <p:cNvPr id="5" name="Shape 3"/>
          <p:cNvSpPr/>
          <p:nvPr/>
        </p:nvSpPr>
        <p:spPr>
          <a:xfrm>
            <a:off x="8503920" y="1188720"/>
            <a:ext cx="396240" cy="400304"/>
          </a:xfrm>
          <a:prstGeom prst="roundRect">
            <a:avLst>
              <a:gd name="adj" fmla="val 9231"/>
            </a:avLst>
          </a:prstGeom>
          <a:solidFill>
            <a:schemeClr val="accent1"/>
          </a:solidFill>
          <a:ln/>
        </p:spPr>
      </p:sp>
      <p:sp>
        <p:nvSpPr>
          <p:cNvPr id="6" name="Shape 4"/>
          <p:cNvSpPr/>
          <p:nvPr/>
        </p:nvSpPr>
        <p:spPr>
          <a:xfrm>
            <a:off x="9009888" y="1188720"/>
            <a:ext cx="396240" cy="400304"/>
          </a:xfrm>
          <a:prstGeom prst="roundRect">
            <a:avLst>
              <a:gd name="adj" fmla="val 9231"/>
            </a:avLst>
          </a:prstGeom>
          <a:solidFill>
            <a:schemeClr val="accent1">
              <a:alpha val="20000"/>
            </a:schemeClr>
          </a:solidFill>
          <a:ln/>
        </p:spPr>
      </p:sp>
      <p:sp>
        <p:nvSpPr>
          <p:cNvPr id="7" name="Shape 5"/>
          <p:cNvSpPr/>
          <p:nvPr/>
        </p:nvSpPr>
        <p:spPr>
          <a:xfrm>
            <a:off x="9515856" y="1188720"/>
            <a:ext cx="396240" cy="400304"/>
          </a:xfrm>
          <a:prstGeom prst="roundRect">
            <a:avLst>
              <a:gd name="adj" fmla="val 9231"/>
            </a:avLst>
          </a:prstGeom>
          <a:solidFill>
            <a:schemeClr val="accent1">
              <a:alpha val="45000"/>
            </a:schemeClr>
          </a:solidFill>
          <a:ln/>
        </p:spPr>
      </p:sp>
      <p:sp>
        <p:nvSpPr>
          <p:cNvPr id="8" name="Shape 6"/>
          <p:cNvSpPr/>
          <p:nvPr/>
        </p:nvSpPr>
        <p:spPr>
          <a:xfrm>
            <a:off x="10021824" y="1188720"/>
            <a:ext cx="396240" cy="400304"/>
          </a:xfrm>
          <a:prstGeom prst="roundRect">
            <a:avLst>
              <a:gd name="adj" fmla="val 9231"/>
            </a:avLst>
          </a:prstGeom>
          <a:solidFill>
            <a:schemeClr val="accent1">
              <a:alpha val="75000"/>
            </a:schemeClr>
          </a:solidFill>
          <a:ln/>
        </p:spPr>
      </p:sp>
      <p:sp>
        <p:nvSpPr>
          <p:cNvPr id="9" name="Shape 7"/>
          <p:cNvSpPr/>
          <p:nvPr/>
        </p:nvSpPr>
        <p:spPr>
          <a:xfrm>
            <a:off x="10527792" y="1188720"/>
            <a:ext cx="396240" cy="400304"/>
          </a:xfrm>
          <a:prstGeom prst="roundRect">
            <a:avLst>
              <a:gd name="adj" fmla="val 9231"/>
            </a:avLst>
          </a:prstGeom>
          <a:solidFill>
            <a:schemeClr val="accent1"/>
          </a:solidFill>
          <a:ln/>
        </p:spPr>
      </p:sp>
      <p:sp>
        <p:nvSpPr>
          <p:cNvPr id="10" name="Shape 8"/>
          <p:cNvSpPr/>
          <p:nvPr/>
        </p:nvSpPr>
        <p:spPr>
          <a:xfrm>
            <a:off x="11033760" y="1188720"/>
            <a:ext cx="396240" cy="400304"/>
          </a:xfrm>
          <a:prstGeom prst="roundRect">
            <a:avLst>
              <a:gd name="adj" fmla="val 9231"/>
            </a:avLst>
          </a:prstGeom>
          <a:solidFill>
            <a:schemeClr val="accent1">
              <a:alpha val="20000"/>
            </a:schemeClr>
          </a:solidFill>
          <a:ln/>
        </p:spPr>
      </p:sp>
      <p:sp>
        <p:nvSpPr>
          <p:cNvPr id="11" name="Shape 9"/>
          <p:cNvSpPr/>
          <p:nvPr/>
        </p:nvSpPr>
        <p:spPr>
          <a:xfrm>
            <a:off x="8503920" y="1698752"/>
            <a:ext cx="396240" cy="400304"/>
          </a:xfrm>
          <a:prstGeom prst="roundRect">
            <a:avLst>
              <a:gd name="adj" fmla="val 9231"/>
            </a:avLst>
          </a:prstGeom>
          <a:solidFill>
            <a:schemeClr val="accent1">
              <a:alpha val="20000"/>
            </a:schemeClr>
          </a:solidFill>
          <a:ln/>
        </p:spPr>
      </p:sp>
      <p:sp>
        <p:nvSpPr>
          <p:cNvPr id="12" name="Shape 10"/>
          <p:cNvSpPr/>
          <p:nvPr/>
        </p:nvSpPr>
        <p:spPr>
          <a:xfrm>
            <a:off x="9009888" y="1698752"/>
            <a:ext cx="396240" cy="400304"/>
          </a:xfrm>
          <a:prstGeom prst="roundRect">
            <a:avLst>
              <a:gd name="adj" fmla="val 9231"/>
            </a:avLst>
          </a:prstGeom>
          <a:solidFill>
            <a:schemeClr val="accent1">
              <a:alpha val="20000"/>
            </a:schemeClr>
          </a:solidFill>
          <a:ln/>
        </p:spPr>
      </p:sp>
      <p:sp>
        <p:nvSpPr>
          <p:cNvPr id="13" name="Shape 11"/>
          <p:cNvSpPr/>
          <p:nvPr/>
        </p:nvSpPr>
        <p:spPr>
          <a:xfrm>
            <a:off x="9515856" y="1698752"/>
            <a:ext cx="396240" cy="400304"/>
          </a:xfrm>
          <a:prstGeom prst="roundRect">
            <a:avLst>
              <a:gd name="adj" fmla="val 9231"/>
            </a:avLst>
          </a:prstGeom>
          <a:solidFill>
            <a:schemeClr val="accent1">
              <a:alpha val="20000"/>
            </a:schemeClr>
          </a:solidFill>
          <a:ln/>
        </p:spPr>
      </p:sp>
      <p:sp>
        <p:nvSpPr>
          <p:cNvPr id="14" name="Shape 12"/>
          <p:cNvSpPr/>
          <p:nvPr/>
        </p:nvSpPr>
        <p:spPr>
          <a:xfrm>
            <a:off x="10021824" y="1698752"/>
            <a:ext cx="396240" cy="400304"/>
          </a:xfrm>
          <a:prstGeom prst="roundRect">
            <a:avLst>
              <a:gd name="adj" fmla="val 9231"/>
            </a:avLst>
          </a:prstGeom>
          <a:solidFill>
            <a:schemeClr val="accent1">
              <a:alpha val="20000"/>
            </a:schemeClr>
          </a:solidFill>
          <a:ln/>
        </p:spPr>
      </p:sp>
      <p:sp>
        <p:nvSpPr>
          <p:cNvPr id="15" name="Shape 13"/>
          <p:cNvSpPr/>
          <p:nvPr/>
        </p:nvSpPr>
        <p:spPr>
          <a:xfrm>
            <a:off x="10527792" y="1698752"/>
            <a:ext cx="396240" cy="400304"/>
          </a:xfrm>
          <a:prstGeom prst="roundRect">
            <a:avLst>
              <a:gd name="adj" fmla="val 9231"/>
            </a:avLst>
          </a:prstGeom>
          <a:solidFill>
            <a:schemeClr val="accent1">
              <a:alpha val="20000"/>
            </a:schemeClr>
          </a:solidFill>
          <a:ln/>
        </p:spPr>
      </p:sp>
      <p:sp>
        <p:nvSpPr>
          <p:cNvPr id="16" name="Shape 14"/>
          <p:cNvSpPr/>
          <p:nvPr/>
        </p:nvSpPr>
        <p:spPr>
          <a:xfrm>
            <a:off x="11033760" y="1698752"/>
            <a:ext cx="396240" cy="400304"/>
          </a:xfrm>
          <a:prstGeom prst="roundRect">
            <a:avLst>
              <a:gd name="adj" fmla="val 9231"/>
            </a:avLst>
          </a:prstGeom>
          <a:solidFill>
            <a:schemeClr val="accent1">
              <a:alpha val="20000"/>
            </a:schemeClr>
          </a:solidFill>
          <a:ln/>
        </p:spPr>
      </p:sp>
      <p:sp>
        <p:nvSpPr>
          <p:cNvPr id="17" name="Shape 15"/>
          <p:cNvSpPr/>
          <p:nvPr/>
        </p:nvSpPr>
        <p:spPr>
          <a:xfrm>
            <a:off x="8503920" y="2208784"/>
            <a:ext cx="396240" cy="400304"/>
          </a:xfrm>
          <a:prstGeom prst="roundRect">
            <a:avLst>
              <a:gd name="adj" fmla="val 9231"/>
            </a:avLst>
          </a:prstGeom>
          <a:solidFill>
            <a:schemeClr val="accent1">
              <a:alpha val="45000"/>
            </a:schemeClr>
          </a:solidFill>
          <a:ln/>
        </p:spPr>
      </p:sp>
      <p:sp>
        <p:nvSpPr>
          <p:cNvPr id="18" name="Shape 16"/>
          <p:cNvSpPr/>
          <p:nvPr/>
        </p:nvSpPr>
        <p:spPr>
          <a:xfrm>
            <a:off x="9009888" y="2208784"/>
            <a:ext cx="396240" cy="400304"/>
          </a:xfrm>
          <a:prstGeom prst="roundRect">
            <a:avLst>
              <a:gd name="adj" fmla="val 9231"/>
            </a:avLst>
          </a:prstGeom>
          <a:solidFill>
            <a:schemeClr val="accent1">
              <a:alpha val="20000"/>
            </a:schemeClr>
          </a:solidFill>
          <a:ln/>
        </p:spPr>
      </p:sp>
      <p:sp>
        <p:nvSpPr>
          <p:cNvPr id="19" name="Shape 17"/>
          <p:cNvSpPr/>
          <p:nvPr/>
        </p:nvSpPr>
        <p:spPr>
          <a:xfrm>
            <a:off x="9515856" y="2208784"/>
            <a:ext cx="396240" cy="400304"/>
          </a:xfrm>
          <a:prstGeom prst="roundRect">
            <a:avLst>
              <a:gd name="adj" fmla="val 9231"/>
            </a:avLst>
          </a:prstGeom>
          <a:solidFill>
            <a:schemeClr val="accent1"/>
          </a:solidFill>
          <a:ln/>
        </p:spPr>
      </p:sp>
      <p:sp>
        <p:nvSpPr>
          <p:cNvPr id="20" name="Shape 18"/>
          <p:cNvSpPr/>
          <p:nvPr/>
        </p:nvSpPr>
        <p:spPr>
          <a:xfrm>
            <a:off x="10021824" y="2208784"/>
            <a:ext cx="396240" cy="400304"/>
          </a:xfrm>
          <a:prstGeom prst="roundRect">
            <a:avLst>
              <a:gd name="adj" fmla="val 9231"/>
            </a:avLst>
          </a:prstGeom>
          <a:solidFill>
            <a:schemeClr val="accent1">
              <a:alpha val="75000"/>
            </a:schemeClr>
          </a:solidFill>
          <a:ln/>
        </p:spPr>
      </p:sp>
      <p:sp>
        <p:nvSpPr>
          <p:cNvPr id="21" name="Shape 19"/>
          <p:cNvSpPr/>
          <p:nvPr/>
        </p:nvSpPr>
        <p:spPr>
          <a:xfrm>
            <a:off x="10527792" y="2208784"/>
            <a:ext cx="396240" cy="400304"/>
          </a:xfrm>
          <a:prstGeom prst="roundRect">
            <a:avLst>
              <a:gd name="adj" fmla="val 9231"/>
            </a:avLst>
          </a:prstGeom>
          <a:solidFill>
            <a:schemeClr val="accent1">
              <a:alpha val="45000"/>
            </a:schemeClr>
          </a:solidFill>
          <a:ln/>
        </p:spPr>
      </p:sp>
      <p:sp>
        <p:nvSpPr>
          <p:cNvPr id="22" name="Shape 20"/>
          <p:cNvSpPr/>
          <p:nvPr/>
        </p:nvSpPr>
        <p:spPr>
          <a:xfrm>
            <a:off x="11033760" y="2208784"/>
            <a:ext cx="396240" cy="400304"/>
          </a:xfrm>
          <a:prstGeom prst="roundRect">
            <a:avLst>
              <a:gd name="adj" fmla="val 9231"/>
            </a:avLst>
          </a:prstGeom>
          <a:solidFill>
            <a:schemeClr val="accent1">
              <a:alpha val="20000"/>
            </a:schemeClr>
          </a:solidFill>
          <a:ln/>
        </p:spPr>
      </p:sp>
      <p:sp>
        <p:nvSpPr>
          <p:cNvPr id="23" name="Shape 21"/>
          <p:cNvSpPr/>
          <p:nvPr/>
        </p:nvSpPr>
        <p:spPr>
          <a:xfrm>
            <a:off x="8503920" y="2718816"/>
            <a:ext cx="396240" cy="400304"/>
          </a:xfrm>
          <a:prstGeom prst="roundRect">
            <a:avLst>
              <a:gd name="adj" fmla="val 9231"/>
            </a:avLst>
          </a:prstGeom>
          <a:solidFill>
            <a:schemeClr val="accent1">
              <a:alpha val="75000"/>
            </a:schemeClr>
          </a:solidFill>
          <a:ln/>
        </p:spPr>
      </p:sp>
      <p:sp>
        <p:nvSpPr>
          <p:cNvPr id="24" name="Shape 22"/>
          <p:cNvSpPr/>
          <p:nvPr/>
        </p:nvSpPr>
        <p:spPr>
          <a:xfrm>
            <a:off x="9009888" y="2718816"/>
            <a:ext cx="396240" cy="400304"/>
          </a:xfrm>
          <a:prstGeom prst="roundRect">
            <a:avLst>
              <a:gd name="adj" fmla="val 9231"/>
            </a:avLst>
          </a:prstGeom>
          <a:solidFill>
            <a:schemeClr val="accent1">
              <a:alpha val="20000"/>
            </a:schemeClr>
          </a:solidFill>
          <a:ln/>
        </p:spPr>
      </p:sp>
      <p:sp>
        <p:nvSpPr>
          <p:cNvPr id="25" name="Shape 23"/>
          <p:cNvSpPr/>
          <p:nvPr/>
        </p:nvSpPr>
        <p:spPr>
          <a:xfrm>
            <a:off x="9515856" y="2718816"/>
            <a:ext cx="396240" cy="400304"/>
          </a:xfrm>
          <a:prstGeom prst="roundRect">
            <a:avLst>
              <a:gd name="adj" fmla="val 9231"/>
            </a:avLst>
          </a:prstGeom>
          <a:solidFill>
            <a:schemeClr val="accent1">
              <a:alpha val="75000"/>
            </a:schemeClr>
          </a:solidFill>
          <a:ln/>
        </p:spPr>
      </p:sp>
      <p:sp>
        <p:nvSpPr>
          <p:cNvPr id="26" name="Shape 24"/>
          <p:cNvSpPr/>
          <p:nvPr/>
        </p:nvSpPr>
        <p:spPr>
          <a:xfrm>
            <a:off x="10021824" y="2718816"/>
            <a:ext cx="396240" cy="400304"/>
          </a:xfrm>
          <a:prstGeom prst="roundRect">
            <a:avLst>
              <a:gd name="adj" fmla="val 9231"/>
            </a:avLst>
          </a:prstGeom>
          <a:solidFill>
            <a:schemeClr val="accent1">
              <a:alpha val="20000"/>
            </a:schemeClr>
          </a:solidFill>
          <a:ln/>
        </p:spPr>
      </p:sp>
      <p:sp>
        <p:nvSpPr>
          <p:cNvPr id="27" name="Shape 25"/>
          <p:cNvSpPr/>
          <p:nvPr/>
        </p:nvSpPr>
        <p:spPr>
          <a:xfrm>
            <a:off x="10527792" y="2718816"/>
            <a:ext cx="396240" cy="400304"/>
          </a:xfrm>
          <a:prstGeom prst="roundRect">
            <a:avLst>
              <a:gd name="adj" fmla="val 9231"/>
            </a:avLst>
          </a:prstGeom>
          <a:solidFill>
            <a:schemeClr val="accent1">
              <a:alpha val="75000"/>
            </a:schemeClr>
          </a:solidFill>
          <a:ln/>
        </p:spPr>
      </p:sp>
      <p:sp>
        <p:nvSpPr>
          <p:cNvPr id="28" name="Shape 26"/>
          <p:cNvSpPr/>
          <p:nvPr/>
        </p:nvSpPr>
        <p:spPr>
          <a:xfrm>
            <a:off x="11033760" y="2718816"/>
            <a:ext cx="396240" cy="400304"/>
          </a:xfrm>
          <a:prstGeom prst="roundRect">
            <a:avLst>
              <a:gd name="adj" fmla="val 9231"/>
            </a:avLst>
          </a:prstGeom>
          <a:solidFill>
            <a:schemeClr val="accent1">
              <a:alpha val="20000"/>
            </a:schemeClr>
          </a:solidFill>
          <a:ln/>
        </p:spPr>
      </p:sp>
      <p:sp>
        <p:nvSpPr>
          <p:cNvPr id="29" name="Shape 27"/>
          <p:cNvSpPr/>
          <p:nvPr/>
        </p:nvSpPr>
        <p:spPr>
          <a:xfrm>
            <a:off x="8503920" y="3228848"/>
            <a:ext cx="396240" cy="400304"/>
          </a:xfrm>
          <a:prstGeom prst="roundRect">
            <a:avLst>
              <a:gd name="adj" fmla="val 9231"/>
            </a:avLst>
          </a:prstGeom>
          <a:solidFill>
            <a:schemeClr val="accent1"/>
          </a:solidFill>
          <a:ln/>
        </p:spPr>
      </p:sp>
      <p:sp>
        <p:nvSpPr>
          <p:cNvPr id="30" name="Shape 28"/>
          <p:cNvSpPr/>
          <p:nvPr/>
        </p:nvSpPr>
        <p:spPr>
          <a:xfrm>
            <a:off x="9009888" y="3228848"/>
            <a:ext cx="396240" cy="400304"/>
          </a:xfrm>
          <a:prstGeom prst="roundRect">
            <a:avLst>
              <a:gd name="adj" fmla="val 9231"/>
            </a:avLst>
          </a:prstGeom>
          <a:solidFill>
            <a:schemeClr val="accent1">
              <a:alpha val="20000"/>
            </a:schemeClr>
          </a:solidFill>
          <a:ln/>
        </p:spPr>
      </p:sp>
      <p:sp>
        <p:nvSpPr>
          <p:cNvPr id="31" name="Shape 29"/>
          <p:cNvSpPr/>
          <p:nvPr/>
        </p:nvSpPr>
        <p:spPr>
          <a:xfrm>
            <a:off x="9515856" y="3228848"/>
            <a:ext cx="396240" cy="400304"/>
          </a:xfrm>
          <a:prstGeom prst="roundRect">
            <a:avLst>
              <a:gd name="adj" fmla="val 9231"/>
            </a:avLst>
          </a:prstGeom>
          <a:solidFill>
            <a:schemeClr val="accent1">
              <a:alpha val="45000"/>
            </a:schemeClr>
          </a:solidFill>
          <a:ln/>
        </p:spPr>
      </p:sp>
      <p:sp>
        <p:nvSpPr>
          <p:cNvPr id="32" name="Shape 30"/>
          <p:cNvSpPr/>
          <p:nvPr/>
        </p:nvSpPr>
        <p:spPr>
          <a:xfrm>
            <a:off x="10021824" y="3228848"/>
            <a:ext cx="396240" cy="400304"/>
          </a:xfrm>
          <a:prstGeom prst="roundRect">
            <a:avLst>
              <a:gd name="adj" fmla="val 9231"/>
            </a:avLst>
          </a:prstGeom>
          <a:solidFill>
            <a:schemeClr val="accent1">
              <a:alpha val="75000"/>
            </a:schemeClr>
          </a:solidFill>
          <a:ln/>
        </p:spPr>
      </p:sp>
      <p:sp>
        <p:nvSpPr>
          <p:cNvPr id="33" name="Shape 31"/>
          <p:cNvSpPr/>
          <p:nvPr/>
        </p:nvSpPr>
        <p:spPr>
          <a:xfrm>
            <a:off x="10527792" y="3228848"/>
            <a:ext cx="396240" cy="400304"/>
          </a:xfrm>
          <a:prstGeom prst="roundRect">
            <a:avLst>
              <a:gd name="adj" fmla="val 9231"/>
            </a:avLst>
          </a:prstGeom>
          <a:solidFill>
            <a:schemeClr val="accent1"/>
          </a:solidFill>
          <a:ln/>
        </p:spPr>
      </p:sp>
      <p:sp>
        <p:nvSpPr>
          <p:cNvPr id="34" name="Shape 32"/>
          <p:cNvSpPr/>
          <p:nvPr/>
        </p:nvSpPr>
        <p:spPr>
          <a:xfrm>
            <a:off x="11033760" y="3228848"/>
            <a:ext cx="396240" cy="400304"/>
          </a:xfrm>
          <a:prstGeom prst="roundRect">
            <a:avLst>
              <a:gd name="adj" fmla="val 9231"/>
            </a:avLst>
          </a:prstGeom>
          <a:solidFill>
            <a:schemeClr val="accent1">
              <a:alpha val="20000"/>
            </a:schemeClr>
          </a:solidFill>
          <a:ln/>
        </p:spPr>
      </p:sp>
      <p:sp>
        <p:nvSpPr>
          <p:cNvPr id="35" name="Shape 33"/>
          <p:cNvSpPr/>
          <p:nvPr/>
        </p:nvSpPr>
        <p:spPr>
          <a:xfrm>
            <a:off x="8503920" y="3738880"/>
            <a:ext cx="396240" cy="400304"/>
          </a:xfrm>
          <a:prstGeom prst="roundRect">
            <a:avLst>
              <a:gd name="adj" fmla="val 9231"/>
            </a:avLst>
          </a:prstGeom>
          <a:solidFill>
            <a:schemeClr val="accent1">
              <a:alpha val="20000"/>
            </a:schemeClr>
          </a:solidFill>
          <a:ln/>
        </p:spPr>
      </p:sp>
      <p:sp>
        <p:nvSpPr>
          <p:cNvPr id="36" name="Shape 34"/>
          <p:cNvSpPr/>
          <p:nvPr/>
        </p:nvSpPr>
        <p:spPr>
          <a:xfrm>
            <a:off x="9009888" y="3738880"/>
            <a:ext cx="396240" cy="400304"/>
          </a:xfrm>
          <a:prstGeom prst="roundRect">
            <a:avLst>
              <a:gd name="adj" fmla="val 9231"/>
            </a:avLst>
          </a:prstGeom>
          <a:solidFill>
            <a:schemeClr val="accent1">
              <a:alpha val="20000"/>
            </a:schemeClr>
          </a:solidFill>
          <a:ln/>
        </p:spPr>
      </p:sp>
      <p:sp>
        <p:nvSpPr>
          <p:cNvPr id="37" name="Shape 35"/>
          <p:cNvSpPr/>
          <p:nvPr/>
        </p:nvSpPr>
        <p:spPr>
          <a:xfrm>
            <a:off x="9515856" y="3738880"/>
            <a:ext cx="396240" cy="400304"/>
          </a:xfrm>
          <a:prstGeom prst="roundRect">
            <a:avLst>
              <a:gd name="adj" fmla="val 9231"/>
            </a:avLst>
          </a:prstGeom>
          <a:solidFill>
            <a:schemeClr val="accent1">
              <a:alpha val="20000"/>
            </a:schemeClr>
          </a:solidFill>
          <a:ln/>
        </p:spPr>
      </p:sp>
      <p:sp>
        <p:nvSpPr>
          <p:cNvPr id="38" name="Shape 36"/>
          <p:cNvSpPr/>
          <p:nvPr/>
        </p:nvSpPr>
        <p:spPr>
          <a:xfrm>
            <a:off x="10021824" y="3738880"/>
            <a:ext cx="396240" cy="400304"/>
          </a:xfrm>
          <a:prstGeom prst="roundRect">
            <a:avLst>
              <a:gd name="adj" fmla="val 9231"/>
            </a:avLst>
          </a:prstGeom>
          <a:solidFill>
            <a:schemeClr val="accent1">
              <a:alpha val="20000"/>
            </a:schemeClr>
          </a:solidFill>
          <a:ln/>
        </p:spPr>
      </p:sp>
      <p:sp>
        <p:nvSpPr>
          <p:cNvPr id="39" name="Shape 37"/>
          <p:cNvSpPr/>
          <p:nvPr/>
        </p:nvSpPr>
        <p:spPr>
          <a:xfrm>
            <a:off x="10527792" y="3738880"/>
            <a:ext cx="396240" cy="400304"/>
          </a:xfrm>
          <a:prstGeom prst="roundRect">
            <a:avLst>
              <a:gd name="adj" fmla="val 9231"/>
            </a:avLst>
          </a:prstGeom>
          <a:solidFill>
            <a:schemeClr val="accent1">
              <a:alpha val="20000"/>
            </a:schemeClr>
          </a:solidFill>
          <a:ln/>
        </p:spPr>
      </p:sp>
      <p:sp>
        <p:nvSpPr>
          <p:cNvPr id="40" name="Shape 38"/>
          <p:cNvSpPr/>
          <p:nvPr/>
        </p:nvSpPr>
        <p:spPr>
          <a:xfrm>
            <a:off x="11033760" y="3738880"/>
            <a:ext cx="396240" cy="400304"/>
          </a:xfrm>
          <a:prstGeom prst="roundRect">
            <a:avLst>
              <a:gd name="adj" fmla="val 9231"/>
            </a:avLst>
          </a:prstGeom>
          <a:solidFill>
            <a:schemeClr val="accent1">
              <a:alpha val="20000"/>
            </a:schemeClr>
          </a:solidFill>
          <a:ln/>
        </p:spPr>
      </p:sp>
      <p:sp>
        <p:nvSpPr>
          <p:cNvPr id="41" name="Shape 39"/>
          <p:cNvSpPr/>
          <p:nvPr/>
        </p:nvSpPr>
        <p:spPr>
          <a:xfrm>
            <a:off x="8503920" y="4248912"/>
            <a:ext cx="396240" cy="400304"/>
          </a:xfrm>
          <a:prstGeom prst="roundRect">
            <a:avLst>
              <a:gd name="adj" fmla="val 9231"/>
            </a:avLst>
          </a:prstGeom>
          <a:solidFill>
            <a:schemeClr val="accent1">
              <a:alpha val="45000"/>
            </a:schemeClr>
          </a:solidFill>
          <a:ln/>
        </p:spPr>
      </p:sp>
      <p:sp>
        <p:nvSpPr>
          <p:cNvPr id="42" name="Shape 40"/>
          <p:cNvSpPr/>
          <p:nvPr/>
        </p:nvSpPr>
        <p:spPr>
          <a:xfrm>
            <a:off x="9009888" y="4248912"/>
            <a:ext cx="396240" cy="400304"/>
          </a:xfrm>
          <a:prstGeom prst="roundRect">
            <a:avLst>
              <a:gd name="adj" fmla="val 9231"/>
            </a:avLst>
          </a:prstGeom>
          <a:solidFill>
            <a:schemeClr val="accent1">
              <a:alpha val="20000"/>
            </a:schemeClr>
          </a:solidFill>
          <a:ln/>
        </p:spPr>
      </p:sp>
      <p:sp>
        <p:nvSpPr>
          <p:cNvPr id="43" name="Shape 41"/>
          <p:cNvSpPr/>
          <p:nvPr/>
        </p:nvSpPr>
        <p:spPr>
          <a:xfrm>
            <a:off x="9515856" y="4248912"/>
            <a:ext cx="396240" cy="400304"/>
          </a:xfrm>
          <a:prstGeom prst="roundRect">
            <a:avLst>
              <a:gd name="adj" fmla="val 9231"/>
            </a:avLst>
          </a:prstGeom>
          <a:solidFill>
            <a:schemeClr val="accent1"/>
          </a:solidFill>
          <a:ln/>
        </p:spPr>
      </p:sp>
      <p:sp>
        <p:nvSpPr>
          <p:cNvPr id="44" name="Shape 42"/>
          <p:cNvSpPr/>
          <p:nvPr/>
        </p:nvSpPr>
        <p:spPr>
          <a:xfrm>
            <a:off x="10021824" y="4248912"/>
            <a:ext cx="396240" cy="400304"/>
          </a:xfrm>
          <a:prstGeom prst="roundRect">
            <a:avLst>
              <a:gd name="adj" fmla="val 9231"/>
            </a:avLst>
          </a:prstGeom>
          <a:solidFill>
            <a:schemeClr val="accent1">
              <a:alpha val="75000"/>
            </a:schemeClr>
          </a:solidFill>
          <a:ln/>
        </p:spPr>
      </p:sp>
      <p:sp>
        <p:nvSpPr>
          <p:cNvPr id="45" name="Shape 43"/>
          <p:cNvSpPr/>
          <p:nvPr/>
        </p:nvSpPr>
        <p:spPr>
          <a:xfrm>
            <a:off x="10527792" y="4248912"/>
            <a:ext cx="396240" cy="400304"/>
          </a:xfrm>
          <a:prstGeom prst="roundRect">
            <a:avLst>
              <a:gd name="adj" fmla="val 9231"/>
            </a:avLst>
          </a:prstGeom>
          <a:solidFill>
            <a:schemeClr val="accent1">
              <a:alpha val="45000"/>
            </a:schemeClr>
          </a:solidFill>
          <a:ln/>
        </p:spPr>
      </p:sp>
      <p:sp>
        <p:nvSpPr>
          <p:cNvPr id="46" name="Shape 44"/>
          <p:cNvSpPr/>
          <p:nvPr/>
        </p:nvSpPr>
        <p:spPr>
          <a:xfrm>
            <a:off x="11033760" y="4248912"/>
            <a:ext cx="396240" cy="400304"/>
          </a:xfrm>
          <a:prstGeom prst="roundRect">
            <a:avLst>
              <a:gd name="adj" fmla="val 9231"/>
            </a:avLst>
          </a:prstGeom>
          <a:solidFill>
            <a:schemeClr val="accent1">
              <a:alpha val="20000"/>
            </a:schemeClr>
          </a:solidFill>
          <a:ln/>
        </p:spPr>
      </p:sp>
      <p:sp>
        <p:nvSpPr>
          <p:cNvPr id="47" name="Shape 45"/>
          <p:cNvSpPr/>
          <p:nvPr/>
        </p:nvSpPr>
        <p:spPr>
          <a:xfrm>
            <a:off x="8503920" y="4758944"/>
            <a:ext cx="396240" cy="400304"/>
          </a:xfrm>
          <a:prstGeom prst="roundRect">
            <a:avLst>
              <a:gd name="adj" fmla="val 9231"/>
            </a:avLst>
          </a:prstGeom>
          <a:solidFill>
            <a:schemeClr val="accent1">
              <a:alpha val="75000"/>
            </a:schemeClr>
          </a:solidFill>
          <a:ln/>
        </p:spPr>
      </p:sp>
      <p:sp>
        <p:nvSpPr>
          <p:cNvPr id="48" name="Shape 46"/>
          <p:cNvSpPr/>
          <p:nvPr/>
        </p:nvSpPr>
        <p:spPr>
          <a:xfrm>
            <a:off x="9009888" y="4758944"/>
            <a:ext cx="396240" cy="400304"/>
          </a:xfrm>
          <a:prstGeom prst="roundRect">
            <a:avLst>
              <a:gd name="adj" fmla="val 9231"/>
            </a:avLst>
          </a:prstGeom>
          <a:solidFill>
            <a:schemeClr val="accent1">
              <a:alpha val="20000"/>
            </a:schemeClr>
          </a:solidFill>
          <a:ln/>
        </p:spPr>
      </p:sp>
      <p:sp>
        <p:nvSpPr>
          <p:cNvPr id="49" name="Shape 47"/>
          <p:cNvSpPr/>
          <p:nvPr/>
        </p:nvSpPr>
        <p:spPr>
          <a:xfrm>
            <a:off x="9515856" y="4758944"/>
            <a:ext cx="396240" cy="400304"/>
          </a:xfrm>
          <a:prstGeom prst="roundRect">
            <a:avLst>
              <a:gd name="adj" fmla="val 9231"/>
            </a:avLst>
          </a:prstGeom>
          <a:solidFill>
            <a:schemeClr val="accent1">
              <a:alpha val="75000"/>
            </a:schemeClr>
          </a:solidFill>
          <a:ln/>
        </p:spPr>
      </p:sp>
      <p:sp>
        <p:nvSpPr>
          <p:cNvPr id="50" name="Shape 48"/>
          <p:cNvSpPr/>
          <p:nvPr/>
        </p:nvSpPr>
        <p:spPr>
          <a:xfrm>
            <a:off x="10021824" y="4758944"/>
            <a:ext cx="396240" cy="400304"/>
          </a:xfrm>
          <a:prstGeom prst="roundRect">
            <a:avLst>
              <a:gd name="adj" fmla="val 9231"/>
            </a:avLst>
          </a:prstGeom>
          <a:solidFill>
            <a:schemeClr val="accent1">
              <a:alpha val="20000"/>
            </a:schemeClr>
          </a:solidFill>
          <a:ln/>
        </p:spPr>
      </p:sp>
      <p:sp>
        <p:nvSpPr>
          <p:cNvPr id="51" name="Shape 49"/>
          <p:cNvSpPr/>
          <p:nvPr/>
        </p:nvSpPr>
        <p:spPr>
          <a:xfrm>
            <a:off x="10527792" y="4758944"/>
            <a:ext cx="396240" cy="400304"/>
          </a:xfrm>
          <a:prstGeom prst="roundRect">
            <a:avLst>
              <a:gd name="adj" fmla="val 9231"/>
            </a:avLst>
          </a:prstGeom>
          <a:solidFill>
            <a:schemeClr val="accent1">
              <a:alpha val="75000"/>
            </a:schemeClr>
          </a:solidFill>
          <a:ln/>
        </p:spPr>
      </p:sp>
      <p:sp>
        <p:nvSpPr>
          <p:cNvPr id="52" name="Shape 50"/>
          <p:cNvSpPr/>
          <p:nvPr/>
        </p:nvSpPr>
        <p:spPr>
          <a:xfrm>
            <a:off x="11033760" y="4758944"/>
            <a:ext cx="396240" cy="400304"/>
          </a:xfrm>
          <a:prstGeom prst="roundRect">
            <a:avLst>
              <a:gd name="adj" fmla="val 9231"/>
            </a:avLst>
          </a:prstGeom>
          <a:solidFill>
            <a:schemeClr val="accent1">
              <a:alpha val="20000"/>
            </a:schemeClr>
          </a:solidFill>
          <a:ln/>
        </p:spPr>
      </p:sp>
      <p:sp>
        <p:nvSpPr>
          <p:cNvPr id="53" name="Shape 51"/>
          <p:cNvSpPr/>
          <p:nvPr/>
        </p:nvSpPr>
        <p:spPr>
          <a:xfrm>
            <a:off x="8503920" y="5268976"/>
            <a:ext cx="396240" cy="400304"/>
          </a:xfrm>
          <a:prstGeom prst="roundRect">
            <a:avLst>
              <a:gd name="adj" fmla="val 9231"/>
            </a:avLst>
          </a:prstGeom>
          <a:solidFill>
            <a:schemeClr val="accent1"/>
          </a:solidFill>
          <a:ln/>
        </p:spPr>
      </p:sp>
      <p:sp>
        <p:nvSpPr>
          <p:cNvPr id="54" name="Shape 52"/>
          <p:cNvSpPr/>
          <p:nvPr/>
        </p:nvSpPr>
        <p:spPr>
          <a:xfrm>
            <a:off x="9009888" y="5268976"/>
            <a:ext cx="396240" cy="400304"/>
          </a:xfrm>
          <a:prstGeom prst="roundRect">
            <a:avLst>
              <a:gd name="adj" fmla="val 9231"/>
            </a:avLst>
          </a:prstGeom>
          <a:solidFill>
            <a:schemeClr val="accent1">
              <a:alpha val="20000"/>
            </a:schemeClr>
          </a:solidFill>
          <a:ln/>
        </p:spPr>
      </p:sp>
      <p:sp>
        <p:nvSpPr>
          <p:cNvPr id="55" name="Shape 53"/>
          <p:cNvSpPr/>
          <p:nvPr/>
        </p:nvSpPr>
        <p:spPr>
          <a:xfrm>
            <a:off x="9515856" y="5268976"/>
            <a:ext cx="396240" cy="400304"/>
          </a:xfrm>
          <a:prstGeom prst="roundRect">
            <a:avLst>
              <a:gd name="adj" fmla="val 9231"/>
            </a:avLst>
          </a:prstGeom>
          <a:solidFill>
            <a:schemeClr val="accent1">
              <a:alpha val="45000"/>
            </a:schemeClr>
          </a:solidFill>
          <a:ln/>
        </p:spPr>
      </p:sp>
      <p:sp>
        <p:nvSpPr>
          <p:cNvPr id="56" name="Shape 54"/>
          <p:cNvSpPr/>
          <p:nvPr/>
        </p:nvSpPr>
        <p:spPr>
          <a:xfrm>
            <a:off x="10021824" y="5268976"/>
            <a:ext cx="396240" cy="400304"/>
          </a:xfrm>
          <a:prstGeom prst="roundRect">
            <a:avLst>
              <a:gd name="adj" fmla="val 9231"/>
            </a:avLst>
          </a:prstGeom>
          <a:solidFill>
            <a:schemeClr val="accent1">
              <a:alpha val="75000"/>
            </a:schemeClr>
          </a:solidFill>
          <a:ln/>
        </p:spPr>
      </p:sp>
      <p:sp>
        <p:nvSpPr>
          <p:cNvPr id="57" name="Shape 55"/>
          <p:cNvSpPr/>
          <p:nvPr/>
        </p:nvSpPr>
        <p:spPr>
          <a:xfrm>
            <a:off x="10527792" y="5268976"/>
            <a:ext cx="396240" cy="400304"/>
          </a:xfrm>
          <a:prstGeom prst="roundRect">
            <a:avLst>
              <a:gd name="adj" fmla="val 9231"/>
            </a:avLst>
          </a:prstGeom>
          <a:solidFill>
            <a:schemeClr val="accent1"/>
          </a:solidFill>
          <a:ln/>
        </p:spPr>
      </p:sp>
      <p:sp>
        <p:nvSpPr>
          <p:cNvPr id="58" name="Shape 56"/>
          <p:cNvSpPr/>
          <p:nvPr/>
        </p:nvSpPr>
        <p:spPr>
          <a:xfrm>
            <a:off x="11033760" y="5268976"/>
            <a:ext cx="396240" cy="400304"/>
          </a:xfrm>
          <a:prstGeom prst="roundRect">
            <a:avLst>
              <a:gd name="adj" fmla="val 9231"/>
            </a:avLst>
          </a:prstGeom>
          <a:solidFill>
            <a:schemeClr val="accent1">
              <a:alpha val="20000"/>
            </a:schemeClr>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000" b="1" dirty="0">
                <a:solidFill>
                  <a:schemeClr val="tx1"/>
                </a:solidFill>
              </a:rPr>
              <a:t>NeMo at a glance</a:t>
            </a:r>
            <a:endParaRPr lang="en-US" sz="3000" dirty="0"/>
          </a:p>
        </p:txBody>
      </p:sp>
      <p:sp>
        <p:nvSpPr>
          <p:cNvPr id="3" name="Text 0"/>
          <p:cNvSpPr/>
          <p:nvPr>
            <p:ph idx="101" type="body" hasCustomPrompt="1"/>
          </p:nvPr>
        </p:nvSpPr>
        <p:spPr>
          <a:xfrm>
            <a:off x="548640" y="960120"/>
            <a:ext cx="11064240" cy="411480"/>
          </a:xfrm>
          <a:prstGeom prst="rect">
            <a:avLst/>
          </a:prstGeom>
          <a:noFill/>
          <a:ln/>
        </p:spPr>
        <p:txBody>
          <a:bodyPr wrap="square" lIns="0" tIns="0" rIns="0" bIns="0" rtlCol="0" anchor="t"/>
          <a:lstStyle/>
          <a:p>
            <a:pPr indent="0" marL="0">
              <a:buNone/>
            </a:pPr>
            <a:r>
              <a:rPr lang="en-US" sz="1600" dirty="0">
                <a:solidFill>
                  <a:schemeClr val="accent5"/>
                </a:solidFill>
              </a:rPr>
              <a:t>An end-to-end platform for building, customizing, evaluating, safeguarding and deploying generative AI</a:t>
            </a:r>
            <a:endParaRPr lang="en-US" sz="1600" dirty="0"/>
          </a:p>
        </p:txBody>
      </p:sp>
      <p:sp>
        <p:nvSpPr>
          <p:cNvPr id="4" name="Shape 2"/>
          <p:cNvSpPr/>
          <p:nvPr/>
        </p:nvSpPr>
        <p:spPr>
          <a:xfrm>
            <a:off x="548640" y="1600200"/>
            <a:ext cx="5120640" cy="4572000"/>
          </a:xfrm>
          <a:prstGeom prst="roundRect">
            <a:avLst>
              <a:gd name="adj" fmla="val 1600"/>
            </a:avLst>
          </a:prstGeom>
          <a:solidFill>
            <a:schemeClr val="tx1"/>
          </a:solidFill>
          <a:ln/>
        </p:spPr>
      </p:sp>
      <p:sp>
        <p:nvSpPr>
          <p:cNvPr id="5" name="Text 3"/>
          <p:cNvSpPr txBox="1"/>
          <p:nvPr/>
        </p:nvSpPr>
        <p:spPr>
          <a:xfrm>
            <a:off x="822960" y="1783080"/>
            <a:ext cx="4572000" cy="365760"/>
          </a:xfrm>
          <a:prstGeom prst="rect">
            <a:avLst/>
          </a:prstGeom>
          <a:noFill/>
          <a:ln/>
        </p:spPr>
        <p:txBody>
          <a:bodyPr wrap="square" lIns="0" tIns="0" rIns="0" bIns="0" rtlCol="0" anchor="t"/>
          <a:lstStyle/>
          <a:p>
            <a:pPr indent="0" marL="0">
              <a:buNone/>
            </a:pPr>
            <a:r>
              <a:rPr lang="en-US" sz="1500" b="1" dirty="0">
                <a:solidFill>
                  <a:schemeClr val="accent1"/>
                </a:solidFill>
              </a:rPr>
              <a:t>In one sentence</a:t>
            </a:r>
            <a:endParaRPr lang="en-US" sz="1500" dirty="0"/>
          </a:p>
        </p:txBody>
      </p:sp>
      <p:sp>
        <p:nvSpPr>
          <p:cNvPr id="6" name="Text 4"/>
          <p:cNvSpPr txBox="1"/>
          <p:nvPr/>
        </p:nvSpPr>
        <p:spPr>
          <a:xfrm>
            <a:off x="822960" y="2240280"/>
            <a:ext cx="4572000" cy="1920240"/>
          </a:xfrm>
          <a:prstGeom prst="rect">
            <a:avLst/>
          </a:prstGeom>
          <a:noFill/>
          <a:ln/>
        </p:spPr>
        <p:txBody>
          <a:bodyPr wrap="square" lIns="0" tIns="0" rIns="0" bIns="0" rtlCol="0" anchor="t"/>
          <a:lstStyle/>
          <a:p>
            <a:pPr indent="0" marL="0">
              <a:buNone/>
            </a:pPr>
            <a:r>
              <a:rPr lang="en-US" sz="1800" dirty="0">
                <a:solidFill>
                  <a:schemeClr val="bg1"/>
                </a:solidFill>
              </a:rPr>
              <a:t>NVIDIA NeMo is a suite of open-source libraries and enterprise microservices for managing the whole lifecycle of custom generative AI models and agents, from data curation to deployment and continuous improvement.</a:t>
            </a:r>
            <a:endParaRPr lang="en-US" sz="1800" dirty="0"/>
          </a:p>
        </p:txBody>
      </p:sp>
      <p:sp>
        <p:nvSpPr>
          <p:cNvPr id="7" name="Text 5"/>
          <p:cNvSpPr txBox="1"/>
          <p:nvPr/>
        </p:nvSpPr>
        <p:spPr>
          <a:xfrm>
            <a:off x="822960" y="4343400"/>
            <a:ext cx="4663440"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C9D3CC"/>
                </a:solidFill>
              </a:rPr>
              <a:t>Models: LLMs, multimodal, speech (ASR / TTS)</a:t>
            </a:r>
            <a:endParaRPr lang="en-US" sz="1400" dirty="0"/>
          </a:p>
          <a:p>
            <a:pPr marL="342900" indent="-342900">
              <a:spcAft>
                <a:spcPts val="600"/>
              </a:spcAft>
              <a:buSzPct val="100000"/>
              <a:buChar char="•"/>
            </a:pPr>
            <a:r>
              <a:rPr lang="en-US" sz="1400" dirty="0">
                <a:solidFill>
                  <a:srgbClr val="C9D3CC"/>
                </a:solidFill>
              </a:rPr>
              <a:t>Runs anywhere NVIDIA GPUs run: on-prem, cloud, edge</a:t>
            </a:r>
            <a:endParaRPr lang="en-US" sz="1400" dirty="0"/>
          </a:p>
          <a:p>
            <a:pPr marL="342900" indent="-342900">
              <a:spcAft>
                <a:spcPts val="600"/>
              </a:spcAft>
              <a:buSzPct val="100000"/>
              <a:buChar char="•"/>
            </a:pPr>
            <a:r>
              <a:rPr lang="en-US" sz="1400" dirty="0">
                <a:solidFill>
                  <a:srgbClr val="C9D3CC"/>
                </a:solidFill>
              </a:rPr>
              <a:t>Supported commercially in NVIDIA AI Enterprise</a:t>
            </a:r>
            <a:endParaRPr lang="en-US" sz="1400" dirty="0"/>
          </a:p>
        </p:txBody>
      </p:sp>
      <p:sp>
        <p:nvSpPr>
          <p:cNvPr id="8" name="Shape 6"/>
          <p:cNvSpPr/>
          <p:nvPr/>
        </p:nvSpPr>
        <p:spPr>
          <a:xfrm>
            <a:off x="5943600" y="1600200"/>
            <a:ext cx="5669280" cy="1051560"/>
          </a:xfrm>
          <a:prstGeom prst="roundRect">
            <a:avLst>
              <a:gd name="adj" fmla="val 6957"/>
            </a:avLst>
          </a:prstGeom>
          <a:solidFill>
            <a:schemeClr val="bg2"/>
          </a:solidFill>
          <a:ln/>
        </p:spPr>
      </p:sp>
      <p:sp>
        <p:nvSpPr>
          <p:cNvPr id="9" name="Shape 7"/>
          <p:cNvSpPr/>
          <p:nvPr/>
        </p:nvSpPr>
        <p:spPr>
          <a:xfrm>
            <a:off x="6126480" y="1847088"/>
            <a:ext cx="548640" cy="548640"/>
          </a:xfrm>
          <a:prstGeom prst="ellipse">
            <a:avLst/>
          </a:prstGeom>
          <a:solidFill>
            <a:schemeClr val="accent1"/>
          </a:solidFill>
          <a:ln/>
        </p:spPr>
      </p:sp>
      <p:pic>
        <p:nvPicPr>
          <p:cNvPr id="10" name="Image 0" descr="preencoded.png">    </p:cNvPr>
          <p:cNvPicPr>
            <a:picLocks noChangeAspect="1"/>
          </p:cNvPicPr>
          <p:nvPr/>
        </p:nvPicPr>
        <p:blipFill>
          <a:blip r:embed="rId1"/>
          <a:stretch>
            <a:fillRect/>
          </a:stretch>
        </p:blipFill>
        <p:spPr>
          <a:xfrm>
            <a:off x="6247181" y="1967789"/>
            <a:ext cx="307238" cy="307238"/>
          </a:xfrm>
          <a:prstGeom prst="rect">
            <a:avLst/>
          </a:prstGeom>
        </p:spPr>
      </p:pic>
      <p:sp>
        <p:nvSpPr>
          <p:cNvPr id="11" name="Text 8"/>
          <p:cNvSpPr txBox="1"/>
          <p:nvPr/>
        </p:nvSpPr>
        <p:spPr>
          <a:xfrm>
            <a:off x="6858000" y="1709928"/>
            <a:ext cx="4572000" cy="347472"/>
          </a:xfrm>
          <a:prstGeom prst="rect">
            <a:avLst/>
          </a:prstGeom>
          <a:noFill/>
          <a:ln/>
        </p:spPr>
        <p:txBody>
          <a:bodyPr wrap="square" lIns="0" tIns="0" rIns="0" bIns="0" rtlCol="0" anchor="t"/>
          <a:lstStyle/>
          <a:p>
            <a:pPr indent="0" marL="0">
              <a:buNone/>
            </a:pPr>
            <a:r>
              <a:rPr lang="en-US" sz="1600" b="1" dirty="0">
                <a:solidFill>
                  <a:schemeClr val="tx1"/>
                </a:solidFill>
              </a:rPr>
              <a:t>Open source core</a:t>
            </a:r>
            <a:endParaRPr lang="en-US" sz="1600" dirty="0"/>
          </a:p>
        </p:txBody>
      </p:sp>
      <p:sp>
        <p:nvSpPr>
          <p:cNvPr id="12" name="Text 9"/>
          <p:cNvSpPr txBox="1"/>
          <p:nvPr/>
        </p:nvSpPr>
        <p:spPr>
          <a:xfrm>
            <a:off x="6858000" y="2057400"/>
            <a:ext cx="4617720" cy="548640"/>
          </a:xfrm>
          <a:prstGeom prst="rect">
            <a:avLst/>
          </a:prstGeom>
          <a:noFill/>
          <a:ln/>
        </p:spPr>
        <p:txBody>
          <a:bodyPr wrap="square" lIns="0" tIns="0" rIns="0" bIns="0" rtlCol="0" anchor="t"/>
          <a:lstStyle/>
          <a:p>
            <a:pPr indent="0" marL="0">
              <a:buNone/>
            </a:pPr>
            <a:r>
              <a:rPr lang="en-US" sz="1300" dirty="0">
                <a:solidFill>
                  <a:schemeClr val="tx2"/>
                </a:solidFill>
              </a:rPr>
              <a:t>NeMo Framework, Curator, Guardrails, RL and Agent Toolkit are on GitHub (mostly Apache 2.0).</a:t>
            </a:r>
            <a:endParaRPr lang="en-US" sz="1300" dirty="0"/>
          </a:p>
        </p:txBody>
      </p:sp>
      <p:sp>
        <p:nvSpPr>
          <p:cNvPr id="13" name="Shape 10"/>
          <p:cNvSpPr/>
          <p:nvPr/>
        </p:nvSpPr>
        <p:spPr>
          <a:xfrm>
            <a:off x="5943600" y="2761488"/>
            <a:ext cx="5669280" cy="1051560"/>
          </a:xfrm>
          <a:prstGeom prst="roundRect">
            <a:avLst>
              <a:gd name="adj" fmla="val 6957"/>
            </a:avLst>
          </a:prstGeom>
          <a:solidFill>
            <a:schemeClr val="bg2"/>
          </a:solidFill>
          <a:ln/>
        </p:spPr>
      </p:sp>
      <p:sp>
        <p:nvSpPr>
          <p:cNvPr id="14" name="Shape 11"/>
          <p:cNvSpPr/>
          <p:nvPr/>
        </p:nvSpPr>
        <p:spPr>
          <a:xfrm>
            <a:off x="6126480" y="3008376"/>
            <a:ext cx="548640" cy="548640"/>
          </a:xfrm>
          <a:prstGeom prst="ellipse">
            <a:avLst/>
          </a:prstGeom>
          <a:solidFill>
            <a:schemeClr val="accent1"/>
          </a:solidFill>
          <a:ln/>
        </p:spPr>
      </p:sp>
      <p:pic>
        <p:nvPicPr>
          <p:cNvPr id="15" name="Image 1" descr="preencoded.png">    </p:cNvPr>
          <p:cNvPicPr>
            <a:picLocks noChangeAspect="1"/>
          </p:cNvPicPr>
          <p:nvPr/>
        </p:nvPicPr>
        <p:blipFill>
          <a:blip r:embed="rId2"/>
          <a:stretch>
            <a:fillRect/>
          </a:stretch>
        </p:blipFill>
        <p:spPr>
          <a:xfrm>
            <a:off x="6247181" y="3129077"/>
            <a:ext cx="307238" cy="307238"/>
          </a:xfrm>
          <a:prstGeom prst="rect">
            <a:avLst/>
          </a:prstGeom>
        </p:spPr>
      </p:pic>
      <p:sp>
        <p:nvSpPr>
          <p:cNvPr id="16" name="Text 12"/>
          <p:cNvSpPr txBox="1"/>
          <p:nvPr/>
        </p:nvSpPr>
        <p:spPr>
          <a:xfrm>
            <a:off x="6858000" y="2871216"/>
            <a:ext cx="4572000" cy="347472"/>
          </a:xfrm>
          <a:prstGeom prst="rect">
            <a:avLst/>
          </a:prstGeom>
          <a:noFill/>
          <a:ln/>
        </p:spPr>
        <p:txBody>
          <a:bodyPr wrap="square" lIns="0" tIns="0" rIns="0" bIns="0" rtlCol="0" anchor="t"/>
          <a:lstStyle/>
          <a:p>
            <a:pPr indent="0" marL="0">
              <a:buNone/>
            </a:pPr>
            <a:r>
              <a:rPr lang="en-US" sz="1600" b="1" dirty="0">
                <a:solidFill>
                  <a:schemeClr val="tx1"/>
                </a:solidFill>
              </a:rPr>
              <a:t>Enterprise microservices</a:t>
            </a:r>
            <a:endParaRPr lang="en-US" sz="1600" dirty="0"/>
          </a:p>
        </p:txBody>
      </p:sp>
      <p:sp>
        <p:nvSpPr>
          <p:cNvPr id="17" name="Text 13"/>
          <p:cNvSpPr txBox="1"/>
          <p:nvPr/>
        </p:nvSpPr>
        <p:spPr>
          <a:xfrm>
            <a:off x="6858000" y="3218688"/>
            <a:ext cx="4617720" cy="548640"/>
          </a:xfrm>
          <a:prstGeom prst="rect">
            <a:avLst/>
          </a:prstGeom>
          <a:noFill/>
          <a:ln/>
        </p:spPr>
        <p:txBody>
          <a:bodyPr wrap="square" lIns="0" tIns="0" rIns="0" bIns="0" rtlCol="0" anchor="t"/>
          <a:lstStyle/>
          <a:p>
            <a:pPr indent="0" marL="0">
              <a:buNone/>
            </a:pPr>
            <a:r>
              <a:rPr lang="en-US" sz="1300" dirty="0">
                <a:solidFill>
                  <a:schemeClr val="tx2"/>
                </a:solidFill>
              </a:rPr>
              <a:t>Containerized, API-driven services (Customizer, Evaluator, Guardrails...) deployed on Kubernetes.</a:t>
            </a:r>
            <a:endParaRPr lang="en-US" sz="1300" dirty="0"/>
          </a:p>
        </p:txBody>
      </p:sp>
      <p:sp>
        <p:nvSpPr>
          <p:cNvPr id="18" name="Shape 14"/>
          <p:cNvSpPr/>
          <p:nvPr/>
        </p:nvSpPr>
        <p:spPr>
          <a:xfrm>
            <a:off x="5943600" y="3922776"/>
            <a:ext cx="5669280" cy="1051560"/>
          </a:xfrm>
          <a:prstGeom prst="roundRect">
            <a:avLst>
              <a:gd name="adj" fmla="val 6957"/>
            </a:avLst>
          </a:prstGeom>
          <a:solidFill>
            <a:schemeClr val="bg2"/>
          </a:solidFill>
          <a:ln/>
        </p:spPr>
      </p:sp>
      <p:sp>
        <p:nvSpPr>
          <p:cNvPr id="19" name="Shape 15"/>
          <p:cNvSpPr/>
          <p:nvPr/>
        </p:nvSpPr>
        <p:spPr>
          <a:xfrm>
            <a:off x="6126480" y="4169664"/>
            <a:ext cx="548640" cy="548640"/>
          </a:xfrm>
          <a:prstGeom prst="ellipse">
            <a:avLst/>
          </a:prstGeom>
          <a:solidFill>
            <a:schemeClr val="accent1"/>
          </a:solidFill>
          <a:ln/>
        </p:spPr>
      </p:sp>
      <p:pic>
        <p:nvPicPr>
          <p:cNvPr id="20" name="Image 2" descr="preencoded.png">    </p:cNvPr>
          <p:cNvPicPr>
            <a:picLocks noChangeAspect="1"/>
          </p:cNvPicPr>
          <p:nvPr/>
        </p:nvPicPr>
        <p:blipFill>
          <a:blip r:embed="rId3"/>
          <a:stretch>
            <a:fillRect/>
          </a:stretch>
        </p:blipFill>
        <p:spPr>
          <a:xfrm>
            <a:off x="6247181" y="4290365"/>
            <a:ext cx="307238" cy="307238"/>
          </a:xfrm>
          <a:prstGeom prst="rect">
            <a:avLst/>
          </a:prstGeom>
        </p:spPr>
      </p:pic>
      <p:sp>
        <p:nvSpPr>
          <p:cNvPr id="21" name="Text 16"/>
          <p:cNvSpPr txBox="1"/>
          <p:nvPr/>
        </p:nvSpPr>
        <p:spPr>
          <a:xfrm>
            <a:off x="6858000" y="4032504"/>
            <a:ext cx="4572000" cy="347472"/>
          </a:xfrm>
          <a:prstGeom prst="rect">
            <a:avLst/>
          </a:prstGeom>
          <a:noFill/>
          <a:ln/>
        </p:spPr>
        <p:txBody>
          <a:bodyPr wrap="square" lIns="0" tIns="0" rIns="0" bIns="0" rtlCol="0" anchor="t"/>
          <a:lstStyle/>
          <a:p>
            <a:pPr indent="0" marL="0">
              <a:buNone/>
            </a:pPr>
            <a:r>
              <a:rPr lang="en-US" sz="1600" b="1" dirty="0">
                <a:solidFill>
                  <a:schemeClr val="tx1"/>
                </a:solidFill>
              </a:rPr>
              <a:t>GPU-optimized at scale</a:t>
            </a:r>
            <a:endParaRPr lang="en-US" sz="1600" dirty="0"/>
          </a:p>
        </p:txBody>
      </p:sp>
      <p:sp>
        <p:nvSpPr>
          <p:cNvPr id="22" name="Text 17"/>
          <p:cNvSpPr txBox="1"/>
          <p:nvPr/>
        </p:nvSpPr>
        <p:spPr>
          <a:xfrm>
            <a:off x="6858000" y="4379976"/>
            <a:ext cx="4617720" cy="548640"/>
          </a:xfrm>
          <a:prstGeom prst="rect">
            <a:avLst/>
          </a:prstGeom>
          <a:noFill/>
          <a:ln/>
        </p:spPr>
        <p:txBody>
          <a:bodyPr wrap="square" lIns="0" tIns="0" rIns="0" bIns="0" rtlCol="0" anchor="t"/>
          <a:lstStyle/>
          <a:p>
            <a:pPr indent="0" marL="0">
              <a:buNone/>
            </a:pPr>
            <a:r>
              <a:rPr lang="en-US" sz="1300" dirty="0">
                <a:solidFill>
                  <a:schemeClr val="tx2"/>
                </a:solidFill>
              </a:rPr>
              <a:t>Built on Megatron Core and Transformer Engine: from 1 GPU to thousands, FP8 and beyond.</a:t>
            </a:r>
            <a:endParaRPr lang="en-US" sz="1300" dirty="0"/>
          </a:p>
        </p:txBody>
      </p:sp>
      <p:sp>
        <p:nvSpPr>
          <p:cNvPr id="23" name="Shape 18"/>
          <p:cNvSpPr/>
          <p:nvPr/>
        </p:nvSpPr>
        <p:spPr>
          <a:xfrm>
            <a:off x="5943600" y="5084064"/>
            <a:ext cx="5669280" cy="1051560"/>
          </a:xfrm>
          <a:prstGeom prst="roundRect">
            <a:avLst>
              <a:gd name="adj" fmla="val 6957"/>
            </a:avLst>
          </a:prstGeom>
          <a:solidFill>
            <a:schemeClr val="bg2"/>
          </a:solidFill>
          <a:ln/>
        </p:spPr>
      </p:sp>
      <p:sp>
        <p:nvSpPr>
          <p:cNvPr id="24" name="Shape 19"/>
          <p:cNvSpPr/>
          <p:nvPr/>
        </p:nvSpPr>
        <p:spPr>
          <a:xfrm>
            <a:off x="6126480" y="5330952"/>
            <a:ext cx="548640" cy="548640"/>
          </a:xfrm>
          <a:prstGeom prst="ellipse">
            <a:avLst/>
          </a:prstGeom>
          <a:solidFill>
            <a:schemeClr val="accent1"/>
          </a:solidFill>
          <a:ln/>
        </p:spPr>
      </p:sp>
      <p:pic>
        <p:nvPicPr>
          <p:cNvPr id="25" name="Image 3" descr="preencoded.png">    </p:cNvPr>
          <p:cNvPicPr>
            <a:picLocks noChangeAspect="1"/>
          </p:cNvPicPr>
          <p:nvPr/>
        </p:nvPicPr>
        <p:blipFill>
          <a:blip r:embed="rId4"/>
          <a:stretch>
            <a:fillRect/>
          </a:stretch>
        </p:blipFill>
        <p:spPr>
          <a:xfrm>
            <a:off x="6247181" y="5451653"/>
            <a:ext cx="307238" cy="307238"/>
          </a:xfrm>
          <a:prstGeom prst="rect">
            <a:avLst/>
          </a:prstGeom>
        </p:spPr>
      </p:pic>
      <p:sp>
        <p:nvSpPr>
          <p:cNvPr id="26" name="Text 20"/>
          <p:cNvSpPr txBox="1"/>
          <p:nvPr/>
        </p:nvSpPr>
        <p:spPr>
          <a:xfrm>
            <a:off x="6858000" y="5193792"/>
            <a:ext cx="4572000" cy="347472"/>
          </a:xfrm>
          <a:prstGeom prst="rect">
            <a:avLst/>
          </a:prstGeom>
          <a:noFill/>
          <a:ln/>
        </p:spPr>
        <p:txBody>
          <a:bodyPr wrap="square" lIns="0" tIns="0" rIns="0" bIns="0" rtlCol="0" anchor="t"/>
          <a:lstStyle/>
          <a:p>
            <a:pPr indent="0" marL="0">
              <a:buNone/>
            </a:pPr>
            <a:r>
              <a:rPr lang="en-US" sz="1600" b="1" dirty="0">
                <a:solidFill>
                  <a:schemeClr val="tx1"/>
                </a:solidFill>
              </a:rPr>
              <a:t>Model-agnostic</a:t>
            </a:r>
            <a:endParaRPr lang="en-US" sz="1600" dirty="0"/>
          </a:p>
        </p:txBody>
      </p:sp>
      <p:sp>
        <p:nvSpPr>
          <p:cNvPr id="27" name="Text 21"/>
          <p:cNvSpPr txBox="1"/>
          <p:nvPr/>
        </p:nvSpPr>
        <p:spPr>
          <a:xfrm>
            <a:off x="6858000" y="5541264"/>
            <a:ext cx="4617720" cy="548640"/>
          </a:xfrm>
          <a:prstGeom prst="rect">
            <a:avLst/>
          </a:prstGeom>
          <a:noFill/>
          <a:ln/>
        </p:spPr>
        <p:txBody>
          <a:bodyPr wrap="square" lIns="0" tIns="0" rIns="0" bIns="0" rtlCol="0" anchor="t"/>
          <a:lstStyle/>
          <a:p>
            <a:pPr indent="0" marL="0">
              <a:buNone/>
            </a:pPr>
            <a:r>
              <a:rPr lang="en-US" sz="1300" dirty="0">
                <a:solidFill>
                  <a:schemeClr val="tx2"/>
                </a:solidFill>
              </a:rPr>
              <a:t>Works with Llama, Mistral, Qwen, Gemma, DeepSeek and NVIDIA's own Nemotron models.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000" b="1" dirty="0">
                <a:solidFill>
                  <a:schemeClr val="tx1"/>
                </a:solidFill>
              </a:rPr>
              <a:t>How NeMo evolved</a:t>
            </a:r>
            <a:endParaRPr lang="en-US" sz="3000" dirty="0"/>
          </a:p>
        </p:txBody>
      </p:sp>
      <p:sp>
        <p:nvSpPr>
          <p:cNvPr id="3" name="Text 0"/>
          <p:cNvSpPr/>
          <p:nvPr>
            <p:ph idx="101" type="body" hasCustomPrompt="1"/>
          </p:nvPr>
        </p:nvSpPr>
        <p:spPr>
          <a:xfrm>
            <a:off x="548640" y="960120"/>
            <a:ext cx="11064240" cy="411480"/>
          </a:xfrm>
          <a:prstGeom prst="rect">
            <a:avLst/>
          </a:prstGeom>
          <a:noFill/>
          <a:ln/>
        </p:spPr>
        <p:txBody>
          <a:bodyPr wrap="square" lIns="0" tIns="0" rIns="0" bIns="0" rtlCol="0" anchor="t"/>
          <a:lstStyle/>
          <a:p>
            <a:pPr indent="0" marL="0">
              <a:buNone/>
            </a:pPr>
            <a:r>
              <a:rPr lang="en-US" sz="1600" dirty="0">
                <a:solidFill>
                  <a:schemeClr val="accent5"/>
                </a:solidFill>
              </a:rPr>
              <a:t>From a speech research toolkit to an enterprise platform for agents</a:t>
            </a:r>
            <a:endParaRPr lang="en-US" sz="1600" dirty="0"/>
          </a:p>
        </p:txBody>
      </p:sp>
      <p:sp>
        <p:nvSpPr>
          <p:cNvPr id="4" name="Shape 2"/>
          <p:cNvSpPr/>
          <p:nvPr/>
        </p:nvSpPr>
        <p:spPr>
          <a:xfrm>
            <a:off x="822960" y="2743200"/>
            <a:ext cx="10561320" cy="914"/>
          </a:xfrm>
          <a:prstGeom prst="line">
            <a:avLst/>
          </a:prstGeom>
          <a:noFill/>
          <a:ln w="25400">
            <a:solidFill>
              <a:schemeClr val="accent5"/>
            </a:solidFill>
            <a:prstDash val="solid"/>
          </a:ln>
        </p:spPr>
      </p:sp>
      <p:sp>
        <p:nvSpPr>
          <p:cNvPr id="5" name="Text 3"/>
          <p:cNvSpPr txBox="1"/>
          <p:nvPr/>
        </p:nvSpPr>
        <p:spPr>
          <a:xfrm>
            <a:off x="411480" y="2057400"/>
            <a:ext cx="1737360" cy="365760"/>
          </a:xfrm>
          <a:prstGeom prst="rect">
            <a:avLst/>
          </a:prstGeom>
          <a:noFill/>
          <a:ln/>
        </p:spPr>
        <p:txBody>
          <a:bodyPr wrap="square" lIns="0" tIns="0" rIns="0" bIns="0" rtlCol="0" anchor="t"/>
          <a:lstStyle/>
          <a:p>
            <a:pPr algn="ctr" indent="0" marL="0">
              <a:buNone/>
            </a:pPr>
            <a:r>
              <a:rPr lang="en-US" sz="1600" b="1" dirty="0">
                <a:solidFill>
                  <a:schemeClr val="accent2"/>
                </a:solidFill>
              </a:rPr>
              <a:t>2019</a:t>
            </a:r>
            <a:endParaRPr lang="en-US" sz="1600" dirty="0"/>
          </a:p>
        </p:txBody>
      </p:sp>
      <p:sp>
        <p:nvSpPr>
          <p:cNvPr id="6" name="Shape 4"/>
          <p:cNvSpPr/>
          <p:nvPr/>
        </p:nvSpPr>
        <p:spPr>
          <a:xfrm>
            <a:off x="1133856" y="2596896"/>
            <a:ext cx="292608" cy="292608"/>
          </a:xfrm>
          <a:prstGeom prst="ellipse">
            <a:avLst/>
          </a:prstGeom>
          <a:solidFill>
            <a:schemeClr val="accent1"/>
          </a:solidFill>
          <a:ln w="25400">
            <a:solidFill>
              <a:schemeClr val="accent1"/>
            </a:solidFill>
            <a:prstDash val="solid"/>
          </a:ln>
        </p:spPr>
      </p:sp>
      <p:sp>
        <p:nvSpPr>
          <p:cNvPr id="7" name="Text 5"/>
          <p:cNvSpPr txBox="1"/>
          <p:nvPr/>
        </p:nvSpPr>
        <p:spPr>
          <a:xfrm>
            <a:off x="411480" y="3063240"/>
            <a:ext cx="1737360" cy="365760"/>
          </a:xfrm>
          <a:prstGeom prst="rect">
            <a:avLst/>
          </a:prstGeom>
          <a:noFill/>
          <a:ln/>
        </p:spPr>
        <p:txBody>
          <a:bodyPr wrap="square" lIns="0" tIns="0" rIns="0" bIns="0" rtlCol="0" anchor="t"/>
          <a:lstStyle/>
          <a:p>
            <a:pPr algn="ctr" indent="0" marL="0">
              <a:buNone/>
            </a:pPr>
            <a:r>
              <a:rPr lang="en-US" sz="1500" b="1" dirty="0">
                <a:solidFill>
                  <a:schemeClr val="tx1"/>
                </a:solidFill>
              </a:rPr>
              <a:t>NeMo toolkit</a:t>
            </a:r>
            <a:endParaRPr lang="en-US" sz="1500" dirty="0"/>
          </a:p>
        </p:txBody>
      </p:sp>
      <p:sp>
        <p:nvSpPr>
          <p:cNvPr id="8" name="Text 6"/>
          <p:cNvSpPr txBox="1"/>
          <p:nvPr/>
        </p:nvSpPr>
        <p:spPr>
          <a:xfrm>
            <a:off x="411480" y="3474720"/>
            <a:ext cx="1737360" cy="1188720"/>
          </a:xfrm>
          <a:prstGeom prst="rect">
            <a:avLst/>
          </a:prstGeom>
          <a:noFill/>
          <a:ln/>
        </p:spPr>
        <p:txBody>
          <a:bodyPr wrap="square" lIns="0" tIns="0" rIns="0" bIns="0" rtlCol="0" anchor="t"/>
          <a:lstStyle/>
          <a:p>
            <a:pPr algn="ctr" indent="0" marL="0">
              <a:buNone/>
            </a:pPr>
            <a:r>
              <a:rPr lang="en-US" sz="1300" dirty="0">
                <a:solidFill>
                  <a:schemeClr val="tx2"/>
                </a:solidFill>
              </a:rPr>
              <a:t>Open-source toolkit for speech and NLP models</a:t>
            </a:r>
            <a:endParaRPr lang="en-US" sz="1300" dirty="0"/>
          </a:p>
        </p:txBody>
      </p:sp>
      <p:sp>
        <p:nvSpPr>
          <p:cNvPr id="9" name="Text 7"/>
          <p:cNvSpPr txBox="1"/>
          <p:nvPr/>
        </p:nvSpPr>
        <p:spPr>
          <a:xfrm>
            <a:off x="2331720" y="2057400"/>
            <a:ext cx="1737360" cy="365760"/>
          </a:xfrm>
          <a:prstGeom prst="rect">
            <a:avLst/>
          </a:prstGeom>
          <a:noFill/>
          <a:ln/>
        </p:spPr>
        <p:txBody>
          <a:bodyPr wrap="square" lIns="0" tIns="0" rIns="0" bIns="0" rtlCol="0" anchor="t"/>
          <a:lstStyle/>
          <a:p>
            <a:pPr algn="ctr" indent="0" marL="0">
              <a:buNone/>
            </a:pPr>
            <a:r>
              <a:rPr lang="en-US" sz="1600" b="1" dirty="0">
                <a:solidFill>
                  <a:schemeClr val="accent2"/>
                </a:solidFill>
              </a:rPr>
              <a:t>2019–21</a:t>
            </a:r>
            <a:endParaRPr lang="en-US" sz="1600" dirty="0"/>
          </a:p>
        </p:txBody>
      </p:sp>
      <p:sp>
        <p:nvSpPr>
          <p:cNvPr id="10" name="Shape 8"/>
          <p:cNvSpPr/>
          <p:nvPr/>
        </p:nvSpPr>
        <p:spPr>
          <a:xfrm>
            <a:off x="3054096" y="2596896"/>
            <a:ext cx="292608" cy="292608"/>
          </a:xfrm>
          <a:prstGeom prst="ellipse">
            <a:avLst/>
          </a:prstGeom>
          <a:solidFill>
            <a:schemeClr val="accent1"/>
          </a:solidFill>
          <a:ln w="25400">
            <a:solidFill>
              <a:schemeClr val="accent1"/>
            </a:solidFill>
            <a:prstDash val="solid"/>
          </a:ln>
        </p:spPr>
      </p:sp>
      <p:sp>
        <p:nvSpPr>
          <p:cNvPr id="11" name="Text 9"/>
          <p:cNvSpPr txBox="1"/>
          <p:nvPr/>
        </p:nvSpPr>
        <p:spPr>
          <a:xfrm>
            <a:off x="2331720" y="3063240"/>
            <a:ext cx="1737360" cy="365760"/>
          </a:xfrm>
          <a:prstGeom prst="rect">
            <a:avLst/>
          </a:prstGeom>
          <a:noFill/>
          <a:ln/>
        </p:spPr>
        <p:txBody>
          <a:bodyPr wrap="square" lIns="0" tIns="0" rIns="0" bIns="0" rtlCol="0" anchor="t"/>
          <a:lstStyle/>
          <a:p>
            <a:pPr algn="ctr" indent="0" marL="0">
              <a:buNone/>
            </a:pPr>
            <a:r>
              <a:rPr lang="en-US" sz="1500" b="1" dirty="0">
                <a:solidFill>
                  <a:schemeClr val="tx1"/>
                </a:solidFill>
              </a:rPr>
              <a:t>Megatron-LM</a:t>
            </a:r>
            <a:endParaRPr lang="en-US" sz="1500" dirty="0"/>
          </a:p>
        </p:txBody>
      </p:sp>
      <p:sp>
        <p:nvSpPr>
          <p:cNvPr id="12" name="Text 10"/>
          <p:cNvSpPr txBox="1"/>
          <p:nvPr/>
        </p:nvSpPr>
        <p:spPr>
          <a:xfrm>
            <a:off x="2331720" y="3474720"/>
            <a:ext cx="1737360" cy="1188720"/>
          </a:xfrm>
          <a:prstGeom prst="rect">
            <a:avLst/>
          </a:prstGeom>
          <a:noFill/>
          <a:ln/>
        </p:spPr>
        <p:txBody>
          <a:bodyPr wrap="square" lIns="0" tIns="0" rIns="0" bIns="0" rtlCol="0" anchor="t"/>
          <a:lstStyle/>
          <a:p>
            <a:pPr algn="ctr" indent="0" marL="0">
              <a:buNone/>
            </a:pPr>
            <a:r>
              <a:rPr lang="en-US" sz="1300" dirty="0">
                <a:solidFill>
                  <a:schemeClr val="tx2"/>
                </a:solidFill>
              </a:rPr>
              <a:t>Research on large-scale transformer parallelism</a:t>
            </a:r>
            <a:endParaRPr lang="en-US" sz="1300" dirty="0"/>
          </a:p>
        </p:txBody>
      </p:sp>
      <p:sp>
        <p:nvSpPr>
          <p:cNvPr id="13" name="Text 11"/>
          <p:cNvSpPr txBox="1"/>
          <p:nvPr/>
        </p:nvSpPr>
        <p:spPr>
          <a:xfrm>
            <a:off x="4251960" y="2057400"/>
            <a:ext cx="1737360" cy="365760"/>
          </a:xfrm>
          <a:prstGeom prst="rect">
            <a:avLst/>
          </a:prstGeom>
          <a:noFill/>
          <a:ln/>
        </p:spPr>
        <p:txBody>
          <a:bodyPr wrap="square" lIns="0" tIns="0" rIns="0" bIns="0" rtlCol="0" anchor="t"/>
          <a:lstStyle/>
          <a:p>
            <a:pPr algn="ctr" indent="0" marL="0">
              <a:buNone/>
            </a:pPr>
            <a:r>
              <a:rPr lang="en-US" sz="1600" b="1" dirty="0">
                <a:solidFill>
                  <a:schemeClr val="accent2"/>
                </a:solidFill>
              </a:rPr>
              <a:t>2022–23</a:t>
            </a:r>
            <a:endParaRPr lang="en-US" sz="1600" dirty="0"/>
          </a:p>
        </p:txBody>
      </p:sp>
      <p:sp>
        <p:nvSpPr>
          <p:cNvPr id="14" name="Shape 12"/>
          <p:cNvSpPr/>
          <p:nvPr/>
        </p:nvSpPr>
        <p:spPr>
          <a:xfrm>
            <a:off x="4974336" y="2596896"/>
            <a:ext cx="292608" cy="292608"/>
          </a:xfrm>
          <a:prstGeom prst="ellipse">
            <a:avLst/>
          </a:prstGeom>
          <a:solidFill>
            <a:schemeClr val="accent1"/>
          </a:solidFill>
          <a:ln w="25400">
            <a:solidFill>
              <a:schemeClr val="accent1"/>
            </a:solidFill>
            <a:prstDash val="solid"/>
          </a:ln>
        </p:spPr>
      </p:sp>
      <p:sp>
        <p:nvSpPr>
          <p:cNvPr id="15" name="Text 13"/>
          <p:cNvSpPr txBox="1"/>
          <p:nvPr/>
        </p:nvSpPr>
        <p:spPr>
          <a:xfrm>
            <a:off x="4251960" y="3063240"/>
            <a:ext cx="1737360" cy="365760"/>
          </a:xfrm>
          <a:prstGeom prst="rect">
            <a:avLst/>
          </a:prstGeom>
          <a:noFill/>
          <a:ln/>
        </p:spPr>
        <p:txBody>
          <a:bodyPr wrap="square" lIns="0" tIns="0" rIns="0" bIns="0" rtlCol="0" anchor="t"/>
          <a:lstStyle/>
          <a:p>
            <a:pPr algn="ctr" indent="0" marL="0">
              <a:buNone/>
            </a:pPr>
            <a:r>
              <a:rPr lang="en-US" sz="1500" b="1" dirty="0">
                <a:solidFill>
                  <a:schemeClr val="tx1"/>
                </a:solidFill>
              </a:rPr>
              <a:t>NeMo for LLMs</a:t>
            </a:r>
            <a:endParaRPr lang="en-US" sz="1500" dirty="0"/>
          </a:p>
        </p:txBody>
      </p:sp>
      <p:sp>
        <p:nvSpPr>
          <p:cNvPr id="16" name="Text 14"/>
          <p:cNvSpPr txBox="1"/>
          <p:nvPr/>
        </p:nvSpPr>
        <p:spPr>
          <a:xfrm>
            <a:off x="4251960" y="3474720"/>
            <a:ext cx="1737360" cy="1188720"/>
          </a:xfrm>
          <a:prstGeom prst="rect">
            <a:avLst/>
          </a:prstGeom>
          <a:noFill/>
          <a:ln/>
        </p:spPr>
        <p:txBody>
          <a:bodyPr wrap="square" lIns="0" tIns="0" rIns="0" bIns="0" rtlCol="0" anchor="t"/>
          <a:lstStyle/>
          <a:p>
            <a:pPr algn="ctr" indent="0" marL="0">
              <a:buNone/>
            </a:pPr>
            <a:r>
              <a:rPr lang="en-US" sz="1300" dirty="0">
                <a:solidFill>
                  <a:schemeClr val="tx2"/>
                </a:solidFill>
              </a:rPr>
              <a:t>Large-model training; NeMo Guardrails released</a:t>
            </a:r>
            <a:endParaRPr lang="en-US" sz="1300" dirty="0"/>
          </a:p>
        </p:txBody>
      </p:sp>
      <p:sp>
        <p:nvSpPr>
          <p:cNvPr id="17" name="Text 15"/>
          <p:cNvSpPr txBox="1"/>
          <p:nvPr/>
        </p:nvSpPr>
        <p:spPr>
          <a:xfrm>
            <a:off x="6172200" y="2057400"/>
            <a:ext cx="1737360" cy="365760"/>
          </a:xfrm>
          <a:prstGeom prst="rect">
            <a:avLst/>
          </a:prstGeom>
          <a:noFill/>
          <a:ln/>
        </p:spPr>
        <p:txBody>
          <a:bodyPr wrap="square" lIns="0" tIns="0" rIns="0" bIns="0" rtlCol="0" anchor="t"/>
          <a:lstStyle/>
          <a:p>
            <a:pPr algn="ctr" indent="0" marL="0">
              <a:buNone/>
            </a:pPr>
            <a:r>
              <a:rPr lang="en-US" sz="1600" b="1" dirty="0">
                <a:solidFill>
                  <a:schemeClr val="accent2"/>
                </a:solidFill>
              </a:rPr>
              <a:t>2024</a:t>
            </a:r>
            <a:endParaRPr lang="en-US" sz="1600" dirty="0"/>
          </a:p>
        </p:txBody>
      </p:sp>
      <p:sp>
        <p:nvSpPr>
          <p:cNvPr id="18" name="Shape 16"/>
          <p:cNvSpPr/>
          <p:nvPr/>
        </p:nvSpPr>
        <p:spPr>
          <a:xfrm>
            <a:off x="6894576" y="2596896"/>
            <a:ext cx="292608" cy="292608"/>
          </a:xfrm>
          <a:prstGeom prst="ellipse">
            <a:avLst/>
          </a:prstGeom>
          <a:solidFill>
            <a:schemeClr val="accent1"/>
          </a:solidFill>
          <a:ln w="25400">
            <a:solidFill>
              <a:schemeClr val="accent1"/>
            </a:solidFill>
            <a:prstDash val="solid"/>
          </a:ln>
        </p:spPr>
      </p:sp>
      <p:sp>
        <p:nvSpPr>
          <p:cNvPr id="19" name="Text 17"/>
          <p:cNvSpPr txBox="1"/>
          <p:nvPr/>
        </p:nvSpPr>
        <p:spPr>
          <a:xfrm>
            <a:off x="6172200" y="3063240"/>
            <a:ext cx="1737360" cy="365760"/>
          </a:xfrm>
          <a:prstGeom prst="rect">
            <a:avLst/>
          </a:prstGeom>
          <a:noFill/>
          <a:ln/>
        </p:spPr>
        <p:txBody>
          <a:bodyPr wrap="square" lIns="0" tIns="0" rIns="0" bIns="0" rtlCol="0" anchor="t"/>
          <a:lstStyle/>
          <a:p>
            <a:pPr algn="ctr" indent="0" marL="0">
              <a:buNone/>
            </a:pPr>
            <a:r>
              <a:rPr lang="en-US" sz="1500" b="1" dirty="0">
                <a:solidFill>
                  <a:schemeClr val="tx1"/>
                </a:solidFill>
              </a:rPr>
              <a:t>NeMo 2.0</a:t>
            </a:r>
            <a:endParaRPr lang="en-US" sz="1500" dirty="0"/>
          </a:p>
        </p:txBody>
      </p:sp>
      <p:sp>
        <p:nvSpPr>
          <p:cNvPr id="20" name="Text 18"/>
          <p:cNvSpPr txBox="1"/>
          <p:nvPr/>
        </p:nvSpPr>
        <p:spPr>
          <a:xfrm>
            <a:off x="6172200" y="3474720"/>
            <a:ext cx="1737360" cy="1188720"/>
          </a:xfrm>
          <a:prstGeom prst="rect">
            <a:avLst/>
          </a:prstGeom>
          <a:noFill/>
          <a:ln/>
        </p:spPr>
        <p:txBody>
          <a:bodyPr wrap="square" lIns="0" tIns="0" rIns="0" bIns="0" rtlCol="0" anchor="t"/>
          <a:lstStyle/>
          <a:p>
            <a:pPr algn="ctr" indent="0" marL="0">
              <a:buNone/>
            </a:pPr>
            <a:r>
              <a:rPr lang="en-US" sz="1300" dirty="0">
                <a:solidFill>
                  <a:schemeClr val="tx2"/>
                </a:solidFill>
              </a:rPr>
              <a:t>Python-based configs, NeMo-Run, Curator, first microservices, Nemotron-4 340B</a:t>
            </a:r>
            <a:endParaRPr lang="en-US" sz="1300" dirty="0"/>
          </a:p>
        </p:txBody>
      </p:sp>
      <p:sp>
        <p:nvSpPr>
          <p:cNvPr id="21" name="Text 19"/>
          <p:cNvSpPr txBox="1"/>
          <p:nvPr/>
        </p:nvSpPr>
        <p:spPr>
          <a:xfrm>
            <a:off x="8092440" y="2057400"/>
            <a:ext cx="1737360" cy="365760"/>
          </a:xfrm>
          <a:prstGeom prst="rect">
            <a:avLst/>
          </a:prstGeom>
          <a:noFill/>
          <a:ln/>
        </p:spPr>
        <p:txBody>
          <a:bodyPr wrap="square" lIns="0" tIns="0" rIns="0" bIns="0" rtlCol="0" anchor="t"/>
          <a:lstStyle/>
          <a:p>
            <a:pPr algn="ctr" indent="0" marL="0">
              <a:buNone/>
            </a:pPr>
            <a:r>
              <a:rPr lang="en-US" sz="1600" b="1" dirty="0">
                <a:solidFill>
                  <a:schemeClr val="accent2"/>
                </a:solidFill>
              </a:rPr>
              <a:t>2025</a:t>
            </a:r>
            <a:endParaRPr lang="en-US" sz="1600" dirty="0"/>
          </a:p>
        </p:txBody>
      </p:sp>
      <p:sp>
        <p:nvSpPr>
          <p:cNvPr id="22" name="Shape 20"/>
          <p:cNvSpPr/>
          <p:nvPr/>
        </p:nvSpPr>
        <p:spPr>
          <a:xfrm>
            <a:off x="8814816" y="2596896"/>
            <a:ext cx="292608" cy="292608"/>
          </a:xfrm>
          <a:prstGeom prst="ellipse">
            <a:avLst/>
          </a:prstGeom>
          <a:solidFill>
            <a:schemeClr val="accent1"/>
          </a:solidFill>
          <a:ln w="25400">
            <a:solidFill>
              <a:schemeClr val="accent1"/>
            </a:solidFill>
            <a:prstDash val="solid"/>
          </a:ln>
        </p:spPr>
      </p:sp>
      <p:sp>
        <p:nvSpPr>
          <p:cNvPr id="23" name="Text 21"/>
          <p:cNvSpPr txBox="1"/>
          <p:nvPr/>
        </p:nvSpPr>
        <p:spPr>
          <a:xfrm>
            <a:off x="8092440" y="3063240"/>
            <a:ext cx="1737360" cy="365760"/>
          </a:xfrm>
          <a:prstGeom prst="rect">
            <a:avLst/>
          </a:prstGeom>
          <a:noFill/>
          <a:ln/>
        </p:spPr>
        <p:txBody>
          <a:bodyPr wrap="square" lIns="0" tIns="0" rIns="0" bIns="0" rtlCol="0" anchor="t"/>
          <a:lstStyle/>
          <a:p>
            <a:pPr algn="ctr" indent="0" marL="0">
              <a:buNone/>
            </a:pPr>
            <a:r>
              <a:rPr lang="en-US" sz="1500" b="1" dirty="0">
                <a:solidFill>
                  <a:schemeClr val="tx1"/>
                </a:solidFill>
              </a:rPr>
              <a:t>Microservices GA</a:t>
            </a:r>
            <a:endParaRPr lang="en-US" sz="1500" dirty="0"/>
          </a:p>
        </p:txBody>
      </p:sp>
      <p:sp>
        <p:nvSpPr>
          <p:cNvPr id="24" name="Text 22"/>
          <p:cNvSpPr txBox="1"/>
          <p:nvPr/>
        </p:nvSpPr>
        <p:spPr>
          <a:xfrm>
            <a:off x="8092440" y="3474720"/>
            <a:ext cx="1737360" cy="1188720"/>
          </a:xfrm>
          <a:prstGeom prst="rect">
            <a:avLst/>
          </a:prstGeom>
          <a:noFill/>
          <a:ln/>
        </p:spPr>
        <p:txBody>
          <a:bodyPr wrap="square" lIns="0" tIns="0" rIns="0" bIns="0" rtlCol="0" anchor="t"/>
          <a:lstStyle/>
          <a:p>
            <a:pPr algn="ctr" indent="0" marL="0">
              <a:buNone/>
            </a:pPr>
            <a:r>
              <a:rPr lang="en-US" sz="1300" dirty="0">
                <a:solidFill>
                  <a:schemeClr val="tx2"/>
                </a:solidFill>
              </a:rPr>
              <a:t>Customizer, Evaluator, Guardrails GA; NeMo RL, AutoModel, Agent Toolkit</a:t>
            </a:r>
            <a:endParaRPr lang="en-US" sz="1300" dirty="0"/>
          </a:p>
        </p:txBody>
      </p:sp>
      <p:sp>
        <p:nvSpPr>
          <p:cNvPr id="25" name="Text 23"/>
          <p:cNvSpPr txBox="1"/>
          <p:nvPr/>
        </p:nvSpPr>
        <p:spPr>
          <a:xfrm>
            <a:off x="10012680" y="2057400"/>
            <a:ext cx="1737360" cy="365760"/>
          </a:xfrm>
          <a:prstGeom prst="rect">
            <a:avLst/>
          </a:prstGeom>
          <a:noFill/>
          <a:ln/>
        </p:spPr>
        <p:txBody>
          <a:bodyPr wrap="square" lIns="0" tIns="0" rIns="0" bIns="0" rtlCol="0" anchor="t"/>
          <a:lstStyle/>
          <a:p>
            <a:pPr algn="ctr" indent="0" marL="0">
              <a:buNone/>
            </a:pPr>
            <a:r>
              <a:rPr lang="en-US" sz="1600" b="1" dirty="0">
                <a:solidFill>
                  <a:schemeClr val="accent2"/>
                </a:solidFill>
              </a:rPr>
              <a:t>Now</a:t>
            </a:r>
            <a:endParaRPr lang="en-US" sz="1600" dirty="0"/>
          </a:p>
        </p:txBody>
      </p:sp>
      <p:sp>
        <p:nvSpPr>
          <p:cNvPr id="26" name="Shape 24"/>
          <p:cNvSpPr/>
          <p:nvPr/>
        </p:nvSpPr>
        <p:spPr>
          <a:xfrm>
            <a:off x="10735056" y="2596896"/>
            <a:ext cx="292608" cy="292608"/>
          </a:xfrm>
          <a:prstGeom prst="ellipse">
            <a:avLst/>
          </a:prstGeom>
          <a:solidFill>
            <a:schemeClr val="accent1"/>
          </a:solidFill>
          <a:ln w="25400">
            <a:solidFill>
              <a:schemeClr val="accent1"/>
            </a:solidFill>
            <a:prstDash val="solid"/>
          </a:ln>
        </p:spPr>
      </p:sp>
      <p:sp>
        <p:nvSpPr>
          <p:cNvPr id="27" name="Text 25"/>
          <p:cNvSpPr txBox="1"/>
          <p:nvPr/>
        </p:nvSpPr>
        <p:spPr>
          <a:xfrm>
            <a:off x="10012680" y="3063240"/>
            <a:ext cx="1737360" cy="365760"/>
          </a:xfrm>
          <a:prstGeom prst="rect">
            <a:avLst/>
          </a:prstGeom>
          <a:noFill/>
          <a:ln/>
        </p:spPr>
        <p:txBody>
          <a:bodyPr wrap="square" lIns="0" tIns="0" rIns="0" bIns="0" rtlCol="0" anchor="t"/>
          <a:lstStyle/>
          <a:p>
            <a:pPr algn="ctr" indent="0" marL="0">
              <a:buNone/>
            </a:pPr>
            <a:r>
              <a:rPr lang="en-US" sz="1500" b="1" dirty="0">
                <a:solidFill>
                  <a:schemeClr val="tx1"/>
                </a:solidFill>
              </a:rPr>
              <a:t>Agent lifecycle</a:t>
            </a:r>
            <a:endParaRPr lang="en-US" sz="1500" dirty="0"/>
          </a:p>
        </p:txBody>
      </p:sp>
      <p:sp>
        <p:nvSpPr>
          <p:cNvPr id="28" name="Text 26"/>
          <p:cNvSpPr txBox="1"/>
          <p:nvPr/>
        </p:nvSpPr>
        <p:spPr>
          <a:xfrm>
            <a:off x="10012680" y="3474720"/>
            <a:ext cx="1737360" cy="1188720"/>
          </a:xfrm>
          <a:prstGeom prst="rect">
            <a:avLst/>
          </a:prstGeom>
          <a:noFill/>
          <a:ln/>
        </p:spPr>
        <p:txBody>
          <a:bodyPr wrap="square" lIns="0" tIns="0" rIns="0" bIns="0" rtlCol="0" anchor="t"/>
          <a:lstStyle/>
          <a:p>
            <a:pPr algn="ctr" indent="0" marL="0">
              <a:buNone/>
            </a:pPr>
            <a:r>
              <a:rPr lang="en-US" sz="1300" dirty="0">
                <a:solidFill>
                  <a:schemeClr val="tx2"/>
                </a:solidFill>
              </a:rPr>
              <a:t>Data flywheel blueprints, Nemotron reasoning models, safety models</a:t>
            </a:r>
            <a:endParaRPr lang="en-US" sz="1300" dirty="0"/>
          </a:p>
        </p:txBody>
      </p:sp>
      <p:sp>
        <p:nvSpPr>
          <p:cNvPr id="29" name="Shape 27"/>
          <p:cNvSpPr/>
          <p:nvPr/>
        </p:nvSpPr>
        <p:spPr>
          <a:xfrm>
            <a:off x="548640" y="5029200"/>
            <a:ext cx="11064240" cy="868680"/>
          </a:xfrm>
          <a:prstGeom prst="roundRect">
            <a:avLst>
              <a:gd name="adj" fmla="val 8421"/>
            </a:avLst>
          </a:prstGeom>
          <a:solidFill>
            <a:schemeClr val="bg2"/>
          </a:solidFill>
          <a:ln/>
        </p:spPr>
      </p:sp>
      <p:pic>
        <p:nvPicPr>
          <p:cNvPr id="30" name="Image 0" descr="preencoded.png">    </p:cNvPr>
          <p:cNvPicPr>
            <a:picLocks noChangeAspect="1"/>
          </p:cNvPicPr>
          <p:nvPr/>
        </p:nvPicPr>
        <p:blipFill>
          <a:blip r:embed="rId1"/>
          <a:stretch>
            <a:fillRect/>
          </a:stretch>
        </p:blipFill>
        <p:spPr>
          <a:xfrm>
            <a:off x="777240" y="5280660"/>
            <a:ext cx="365760" cy="365760"/>
          </a:xfrm>
          <a:prstGeom prst="rect">
            <a:avLst/>
          </a:prstGeom>
        </p:spPr>
      </p:pic>
      <p:sp>
        <p:nvSpPr>
          <p:cNvPr id="31" name="Text 28"/>
          <p:cNvSpPr txBox="1"/>
          <p:nvPr/>
        </p:nvSpPr>
        <p:spPr>
          <a:xfrm>
            <a:off x="1325880" y="5029200"/>
            <a:ext cx="10058400" cy="868680"/>
          </a:xfrm>
          <a:prstGeom prst="rect">
            <a:avLst/>
          </a:prstGeom>
          <a:noFill/>
          <a:ln/>
        </p:spPr>
        <p:txBody>
          <a:bodyPr wrap="square" lIns="0" tIns="0" rIns="0" bIns="0" rtlCol="0" anchor="ctr"/>
          <a:lstStyle/>
          <a:p>
            <a:pPr indent="0" marL="0">
              <a:buNone/>
            </a:pPr>
            <a:r>
              <a:rPr lang="en-US" sz="1400" dirty="0">
                <a:solidFill>
                  <a:schemeClr val="tx1"/>
                </a:solidFill>
              </a:rPr>
              <a:t>Takeaway: NeMo grew from a library for researchers into a lifecycle platform for enterprises. Check current docs, because names and APIs move quickly.</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000" b="1" dirty="0">
                <a:solidFill>
                  <a:schemeClr val="tx1"/>
                </a:solidFill>
              </a:rPr>
              <a:t>The NeMo family map</a:t>
            </a:r>
            <a:endParaRPr lang="en-US" sz="3000" dirty="0"/>
          </a:p>
        </p:txBody>
      </p:sp>
      <p:sp>
        <p:nvSpPr>
          <p:cNvPr id="3" name="Text 0"/>
          <p:cNvSpPr/>
          <p:nvPr>
            <p:ph idx="101" type="body" hasCustomPrompt="1"/>
          </p:nvPr>
        </p:nvSpPr>
        <p:spPr>
          <a:xfrm>
            <a:off x="548640" y="960120"/>
            <a:ext cx="11064240" cy="411480"/>
          </a:xfrm>
          <a:prstGeom prst="rect">
            <a:avLst/>
          </a:prstGeom>
          <a:noFill/>
          <a:ln/>
        </p:spPr>
        <p:txBody>
          <a:bodyPr wrap="square" lIns="0" tIns="0" rIns="0" bIns="0" rtlCol="0" anchor="t"/>
          <a:lstStyle/>
          <a:p>
            <a:pPr indent="0" marL="0">
              <a:buNone/>
            </a:pPr>
            <a:r>
              <a:rPr lang="en-US" sz="1600" dirty="0">
                <a:solidFill>
                  <a:schemeClr val="accent5"/>
                </a:solidFill>
              </a:rPr>
              <a:t>Each stage of the lifecycle has a NeMo component; NIM serves the results</a:t>
            </a:r>
            <a:endParaRPr lang="en-US" sz="1600" dirty="0"/>
          </a:p>
        </p:txBody>
      </p:sp>
      <p:sp>
        <p:nvSpPr>
          <p:cNvPr id="4" name="Shape 2"/>
          <p:cNvSpPr/>
          <p:nvPr/>
        </p:nvSpPr>
        <p:spPr>
          <a:xfrm>
            <a:off x="548640" y="1572768"/>
            <a:ext cx="1737360" cy="4005072"/>
          </a:xfrm>
          <a:prstGeom prst="roundRect">
            <a:avLst>
              <a:gd name="adj" fmla="val 4211"/>
            </a:avLst>
          </a:prstGeom>
          <a:solidFill>
            <a:schemeClr val="bg2"/>
          </a:solidFill>
          <a:ln/>
        </p:spPr>
      </p:sp>
      <p:sp>
        <p:nvSpPr>
          <p:cNvPr id="5" name="Shape 3"/>
          <p:cNvSpPr/>
          <p:nvPr/>
        </p:nvSpPr>
        <p:spPr>
          <a:xfrm>
            <a:off x="685800" y="1691640"/>
            <a:ext cx="457200" cy="45720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786384" y="1792224"/>
            <a:ext cx="256032" cy="256032"/>
          </a:xfrm>
          <a:prstGeom prst="rect">
            <a:avLst/>
          </a:prstGeom>
        </p:spPr>
      </p:pic>
      <p:sp>
        <p:nvSpPr>
          <p:cNvPr id="7" name="Text 4"/>
          <p:cNvSpPr txBox="1"/>
          <p:nvPr/>
        </p:nvSpPr>
        <p:spPr>
          <a:xfrm>
            <a:off x="1207008" y="1691640"/>
            <a:ext cx="1051560" cy="457200"/>
          </a:xfrm>
          <a:prstGeom prst="rect">
            <a:avLst/>
          </a:prstGeom>
          <a:noFill/>
          <a:ln/>
        </p:spPr>
        <p:txBody>
          <a:bodyPr wrap="square" lIns="0" tIns="0" rIns="0" bIns="0" rtlCol="0" anchor="ctr"/>
          <a:lstStyle/>
          <a:p>
            <a:pPr indent="0" marL="0">
              <a:buNone/>
            </a:pPr>
            <a:r>
              <a:rPr lang="en-US" sz="1300" b="1" dirty="0">
                <a:solidFill>
                  <a:schemeClr val="tx1"/>
                </a:solidFill>
              </a:rPr>
              <a:t>Data</a:t>
            </a:r>
            <a:endParaRPr lang="en-US" sz="1300" dirty="0"/>
          </a:p>
        </p:txBody>
      </p:sp>
      <p:sp>
        <p:nvSpPr>
          <p:cNvPr id="8" name="Shape 5"/>
          <p:cNvSpPr/>
          <p:nvPr/>
        </p:nvSpPr>
        <p:spPr>
          <a:xfrm>
            <a:off x="640080" y="2286000"/>
            <a:ext cx="1554480" cy="731520"/>
          </a:xfrm>
          <a:prstGeom prst="roundRect">
            <a:avLst>
              <a:gd name="adj" fmla="val 6250"/>
            </a:avLst>
          </a:prstGeom>
          <a:solidFill>
            <a:schemeClr val="bg1"/>
          </a:solidFill>
          <a:ln w="9525">
            <a:solidFill>
              <a:srgbClr val="CBD8C9"/>
            </a:solidFill>
            <a:prstDash val="solid"/>
          </a:ln>
        </p:spPr>
      </p:sp>
      <p:sp>
        <p:nvSpPr>
          <p:cNvPr id="9" name="Text 6"/>
          <p:cNvSpPr txBox="1"/>
          <p:nvPr/>
        </p:nvSpPr>
        <p:spPr>
          <a:xfrm>
            <a:off x="713232" y="2322576"/>
            <a:ext cx="1426464" cy="658368"/>
          </a:xfrm>
          <a:prstGeom prst="rect">
            <a:avLst/>
          </a:prstGeom>
          <a:noFill/>
          <a:ln/>
        </p:spPr>
        <p:txBody>
          <a:bodyPr wrap="square" lIns="0" tIns="0" rIns="0" bIns="0" rtlCol="0" anchor="ctr"/>
          <a:lstStyle/>
          <a:p>
            <a:pPr indent="0" marL="0">
              <a:buNone/>
            </a:pPr>
            <a:r>
              <a:rPr lang="en-US" sz="1200" b="1" dirty="0">
                <a:solidFill>
                  <a:schemeClr val="tx1"/>
                </a:solidFill>
              </a:rPr>
              <a:t>NeMo Curator</a:t>
            </a:r>
            <a:endParaRPr lang="en-US" sz="1400" dirty="0"/>
          </a:p>
          <a:p>
            <a:pPr indent="0" marL="0">
              <a:buNone/>
            </a:pPr>
            <a:r>
              <a:rPr lang="en-US" sz="1000" dirty="0">
                <a:solidFill>
                  <a:schemeClr val="tx2"/>
                </a:solidFill>
              </a:rPr>
              <a:t>Clean, filter, dedupe at scale</a:t>
            </a:r>
            <a:endParaRPr lang="en-US" sz="1400" dirty="0"/>
          </a:p>
        </p:txBody>
      </p:sp>
      <p:sp>
        <p:nvSpPr>
          <p:cNvPr id="10" name="Shape 7"/>
          <p:cNvSpPr/>
          <p:nvPr/>
        </p:nvSpPr>
        <p:spPr>
          <a:xfrm>
            <a:off x="640080" y="3090672"/>
            <a:ext cx="1554480" cy="731520"/>
          </a:xfrm>
          <a:prstGeom prst="roundRect">
            <a:avLst>
              <a:gd name="adj" fmla="val 6250"/>
            </a:avLst>
          </a:prstGeom>
          <a:solidFill>
            <a:schemeClr val="bg1"/>
          </a:solidFill>
          <a:ln w="9525">
            <a:solidFill>
              <a:srgbClr val="CBD8C9"/>
            </a:solidFill>
            <a:prstDash val="solid"/>
          </a:ln>
        </p:spPr>
      </p:sp>
      <p:sp>
        <p:nvSpPr>
          <p:cNvPr id="11" name="Text 8"/>
          <p:cNvSpPr txBox="1"/>
          <p:nvPr/>
        </p:nvSpPr>
        <p:spPr>
          <a:xfrm>
            <a:off x="713232" y="3127248"/>
            <a:ext cx="1426464" cy="658368"/>
          </a:xfrm>
          <a:prstGeom prst="rect">
            <a:avLst/>
          </a:prstGeom>
          <a:noFill/>
          <a:ln/>
        </p:spPr>
        <p:txBody>
          <a:bodyPr wrap="square" lIns="0" tIns="0" rIns="0" bIns="0" rtlCol="0" anchor="ctr"/>
          <a:lstStyle/>
          <a:p>
            <a:pPr indent="0" marL="0">
              <a:buNone/>
            </a:pPr>
            <a:r>
              <a:rPr lang="en-US" sz="1200" b="1" dirty="0">
                <a:solidFill>
                  <a:schemeClr val="tx1"/>
                </a:solidFill>
              </a:rPr>
              <a:t>Data Designer</a:t>
            </a:r>
            <a:endParaRPr lang="en-US" sz="1400" dirty="0"/>
          </a:p>
          <a:p>
            <a:pPr indent="0" marL="0">
              <a:buNone/>
            </a:pPr>
            <a:r>
              <a:rPr lang="en-US" sz="1000" dirty="0">
                <a:solidFill>
                  <a:schemeClr val="tx2"/>
                </a:solidFill>
              </a:rPr>
              <a:t>Synthetic data generation</a:t>
            </a:r>
            <a:endParaRPr lang="en-US" sz="1400" dirty="0"/>
          </a:p>
        </p:txBody>
      </p:sp>
      <p:sp>
        <p:nvSpPr>
          <p:cNvPr id="12" name="Shape 9"/>
          <p:cNvSpPr/>
          <p:nvPr/>
        </p:nvSpPr>
        <p:spPr>
          <a:xfrm>
            <a:off x="640080" y="3895344"/>
            <a:ext cx="1554480" cy="731520"/>
          </a:xfrm>
          <a:prstGeom prst="roundRect">
            <a:avLst>
              <a:gd name="adj" fmla="val 6250"/>
            </a:avLst>
          </a:prstGeom>
          <a:solidFill>
            <a:schemeClr val="bg1"/>
          </a:solidFill>
          <a:ln w="9525">
            <a:solidFill>
              <a:srgbClr val="CBD8C9"/>
            </a:solidFill>
            <a:prstDash val="solid"/>
          </a:ln>
        </p:spPr>
      </p:sp>
      <p:sp>
        <p:nvSpPr>
          <p:cNvPr id="13" name="Text 10"/>
          <p:cNvSpPr txBox="1"/>
          <p:nvPr/>
        </p:nvSpPr>
        <p:spPr>
          <a:xfrm>
            <a:off x="713232" y="3931920"/>
            <a:ext cx="1426464" cy="658368"/>
          </a:xfrm>
          <a:prstGeom prst="rect">
            <a:avLst/>
          </a:prstGeom>
          <a:noFill/>
          <a:ln/>
        </p:spPr>
        <p:txBody>
          <a:bodyPr wrap="square" lIns="0" tIns="0" rIns="0" bIns="0" rtlCol="0" anchor="ctr"/>
          <a:lstStyle/>
          <a:p>
            <a:pPr indent="0" marL="0">
              <a:buNone/>
            </a:pPr>
            <a:r>
              <a:rPr lang="en-US" sz="1200" b="1" dirty="0">
                <a:solidFill>
                  <a:schemeClr val="tx1"/>
                </a:solidFill>
              </a:rPr>
              <a:t>Data Store / Entity Store</a:t>
            </a:r>
            <a:endParaRPr lang="en-US" sz="1400" dirty="0"/>
          </a:p>
          <a:p>
            <a:pPr indent="0" marL="0">
              <a:buNone/>
            </a:pPr>
            <a:r>
              <a:rPr lang="en-US" sz="1000" dirty="0">
                <a:solidFill>
                  <a:schemeClr val="tx2"/>
                </a:solidFill>
              </a:rPr>
              <a:t>Datasets, models, metadata</a:t>
            </a:r>
            <a:endParaRPr lang="en-US" sz="1400" dirty="0"/>
          </a:p>
        </p:txBody>
      </p:sp>
      <p:sp>
        <p:nvSpPr>
          <p:cNvPr id="14" name="Shape 11"/>
          <p:cNvSpPr/>
          <p:nvPr/>
        </p:nvSpPr>
        <p:spPr>
          <a:xfrm>
            <a:off x="2414016" y="1572768"/>
            <a:ext cx="1737360" cy="4005072"/>
          </a:xfrm>
          <a:prstGeom prst="roundRect">
            <a:avLst>
              <a:gd name="adj" fmla="val 4211"/>
            </a:avLst>
          </a:prstGeom>
          <a:solidFill>
            <a:schemeClr val="bg2"/>
          </a:solidFill>
          <a:ln/>
        </p:spPr>
      </p:sp>
      <p:sp>
        <p:nvSpPr>
          <p:cNvPr id="15" name="Shape 12"/>
          <p:cNvSpPr/>
          <p:nvPr/>
        </p:nvSpPr>
        <p:spPr>
          <a:xfrm>
            <a:off x="2551176" y="1691640"/>
            <a:ext cx="457200" cy="457200"/>
          </a:xfrm>
          <a:prstGeom prst="ellipse">
            <a:avLst/>
          </a:prstGeom>
          <a:solidFill>
            <a:schemeClr val="accent1"/>
          </a:solidFill>
          <a:ln/>
        </p:spPr>
      </p:sp>
      <p:pic>
        <p:nvPicPr>
          <p:cNvPr id="16" name="Image 1" descr="preencoded.png">    </p:cNvPr>
          <p:cNvPicPr>
            <a:picLocks noChangeAspect="1"/>
          </p:cNvPicPr>
          <p:nvPr/>
        </p:nvPicPr>
        <p:blipFill>
          <a:blip r:embed="rId2"/>
          <a:stretch>
            <a:fillRect/>
          </a:stretch>
        </p:blipFill>
        <p:spPr>
          <a:xfrm>
            <a:off x="2651760" y="1792224"/>
            <a:ext cx="256032" cy="256032"/>
          </a:xfrm>
          <a:prstGeom prst="rect">
            <a:avLst/>
          </a:prstGeom>
        </p:spPr>
      </p:pic>
      <p:sp>
        <p:nvSpPr>
          <p:cNvPr id="17" name="Text 13"/>
          <p:cNvSpPr txBox="1"/>
          <p:nvPr/>
        </p:nvSpPr>
        <p:spPr>
          <a:xfrm>
            <a:off x="3072384" y="1691640"/>
            <a:ext cx="1051560" cy="457200"/>
          </a:xfrm>
          <a:prstGeom prst="rect">
            <a:avLst/>
          </a:prstGeom>
          <a:noFill/>
          <a:ln/>
        </p:spPr>
        <p:txBody>
          <a:bodyPr wrap="square" lIns="0" tIns="0" rIns="0" bIns="0" rtlCol="0" anchor="ctr"/>
          <a:lstStyle/>
          <a:p>
            <a:pPr indent="0" marL="0">
              <a:buNone/>
            </a:pPr>
            <a:r>
              <a:rPr lang="en-US" sz="1300" b="1" dirty="0">
                <a:solidFill>
                  <a:schemeClr val="tx1"/>
                </a:solidFill>
              </a:rPr>
              <a:t>Build and customize</a:t>
            </a:r>
            <a:endParaRPr lang="en-US" sz="1300" dirty="0"/>
          </a:p>
        </p:txBody>
      </p:sp>
      <p:sp>
        <p:nvSpPr>
          <p:cNvPr id="18" name="Shape 14"/>
          <p:cNvSpPr/>
          <p:nvPr/>
        </p:nvSpPr>
        <p:spPr>
          <a:xfrm>
            <a:off x="2505456" y="2286000"/>
            <a:ext cx="1554480" cy="731520"/>
          </a:xfrm>
          <a:prstGeom prst="roundRect">
            <a:avLst>
              <a:gd name="adj" fmla="val 6250"/>
            </a:avLst>
          </a:prstGeom>
          <a:solidFill>
            <a:schemeClr val="bg1"/>
          </a:solidFill>
          <a:ln w="9525">
            <a:solidFill>
              <a:srgbClr val="CBD8C9"/>
            </a:solidFill>
            <a:prstDash val="solid"/>
          </a:ln>
        </p:spPr>
      </p:sp>
      <p:sp>
        <p:nvSpPr>
          <p:cNvPr id="19" name="Text 15"/>
          <p:cNvSpPr txBox="1"/>
          <p:nvPr/>
        </p:nvSpPr>
        <p:spPr>
          <a:xfrm>
            <a:off x="2578608" y="2322576"/>
            <a:ext cx="1426464" cy="658368"/>
          </a:xfrm>
          <a:prstGeom prst="rect">
            <a:avLst/>
          </a:prstGeom>
          <a:noFill/>
          <a:ln/>
        </p:spPr>
        <p:txBody>
          <a:bodyPr wrap="square" lIns="0" tIns="0" rIns="0" bIns="0" rtlCol="0" anchor="ctr"/>
          <a:lstStyle/>
          <a:p>
            <a:pPr indent="0" marL="0">
              <a:buNone/>
            </a:pPr>
            <a:r>
              <a:rPr lang="en-US" sz="1200" b="1" dirty="0">
                <a:solidFill>
                  <a:schemeClr val="tx1"/>
                </a:solidFill>
              </a:rPr>
              <a:t>NeMo Framework</a:t>
            </a:r>
            <a:endParaRPr lang="en-US" sz="1400" dirty="0"/>
          </a:p>
          <a:p>
            <a:pPr indent="0" marL="0">
              <a:buNone/>
            </a:pPr>
            <a:r>
              <a:rPr lang="en-US" sz="1000" dirty="0">
                <a:solidFill>
                  <a:schemeClr val="tx2"/>
                </a:solidFill>
              </a:rPr>
              <a:t>Pre-train and fine-tune (Megatron Core)</a:t>
            </a:r>
            <a:endParaRPr lang="en-US" sz="1400" dirty="0"/>
          </a:p>
        </p:txBody>
      </p:sp>
      <p:sp>
        <p:nvSpPr>
          <p:cNvPr id="20" name="Shape 16"/>
          <p:cNvSpPr/>
          <p:nvPr/>
        </p:nvSpPr>
        <p:spPr>
          <a:xfrm>
            <a:off x="2505456" y="3090672"/>
            <a:ext cx="1554480" cy="731520"/>
          </a:xfrm>
          <a:prstGeom prst="roundRect">
            <a:avLst>
              <a:gd name="adj" fmla="val 6250"/>
            </a:avLst>
          </a:prstGeom>
          <a:solidFill>
            <a:schemeClr val="bg1"/>
          </a:solidFill>
          <a:ln w="9525">
            <a:solidFill>
              <a:srgbClr val="CBD8C9"/>
            </a:solidFill>
            <a:prstDash val="solid"/>
          </a:ln>
        </p:spPr>
      </p:sp>
      <p:sp>
        <p:nvSpPr>
          <p:cNvPr id="21" name="Text 17"/>
          <p:cNvSpPr txBox="1"/>
          <p:nvPr/>
        </p:nvSpPr>
        <p:spPr>
          <a:xfrm>
            <a:off x="2578608" y="3127248"/>
            <a:ext cx="1426464" cy="658368"/>
          </a:xfrm>
          <a:prstGeom prst="rect">
            <a:avLst/>
          </a:prstGeom>
          <a:noFill/>
          <a:ln/>
        </p:spPr>
        <p:txBody>
          <a:bodyPr wrap="square" lIns="0" tIns="0" rIns="0" bIns="0" rtlCol="0" anchor="ctr"/>
          <a:lstStyle/>
          <a:p>
            <a:pPr indent="0" marL="0">
              <a:buNone/>
            </a:pPr>
            <a:r>
              <a:rPr lang="en-US" sz="1200" b="1" dirty="0">
                <a:solidFill>
                  <a:schemeClr val="tx1"/>
                </a:solidFill>
              </a:rPr>
              <a:t>NeMo AutoModel</a:t>
            </a:r>
            <a:endParaRPr lang="en-US" sz="1400" dirty="0"/>
          </a:p>
          <a:p>
            <a:pPr indent="0" marL="0">
              <a:buNone/>
            </a:pPr>
            <a:r>
              <a:rPr lang="en-US" sz="1000" dirty="0">
                <a:solidFill>
                  <a:schemeClr val="tx2"/>
                </a:solidFill>
              </a:rPr>
              <a:t>Fine-tune Hugging Face models</a:t>
            </a:r>
            <a:endParaRPr lang="en-US" sz="1400" dirty="0"/>
          </a:p>
        </p:txBody>
      </p:sp>
      <p:sp>
        <p:nvSpPr>
          <p:cNvPr id="22" name="Shape 18"/>
          <p:cNvSpPr/>
          <p:nvPr/>
        </p:nvSpPr>
        <p:spPr>
          <a:xfrm>
            <a:off x="2505456" y="3895344"/>
            <a:ext cx="1554480" cy="731520"/>
          </a:xfrm>
          <a:prstGeom prst="roundRect">
            <a:avLst>
              <a:gd name="adj" fmla="val 6250"/>
            </a:avLst>
          </a:prstGeom>
          <a:solidFill>
            <a:schemeClr val="bg1"/>
          </a:solidFill>
          <a:ln w="9525">
            <a:solidFill>
              <a:srgbClr val="CBD8C9"/>
            </a:solidFill>
            <a:prstDash val="solid"/>
          </a:ln>
        </p:spPr>
      </p:sp>
      <p:sp>
        <p:nvSpPr>
          <p:cNvPr id="23" name="Text 19"/>
          <p:cNvSpPr txBox="1"/>
          <p:nvPr/>
        </p:nvSpPr>
        <p:spPr>
          <a:xfrm>
            <a:off x="2578608" y="3931920"/>
            <a:ext cx="1426464" cy="658368"/>
          </a:xfrm>
          <a:prstGeom prst="rect">
            <a:avLst/>
          </a:prstGeom>
          <a:noFill/>
          <a:ln/>
        </p:spPr>
        <p:txBody>
          <a:bodyPr wrap="square" lIns="0" tIns="0" rIns="0" bIns="0" rtlCol="0" anchor="ctr"/>
          <a:lstStyle/>
          <a:p>
            <a:pPr indent="0" marL="0">
              <a:buNone/>
            </a:pPr>
            <a:r>
              <a:rPr lang="en-US" sz="1200" b="1" dirty="0">
                <a:solidFill>
                  <a:schemeClr val="tx1"/>
                </a:solidFill>
              </a:rPr>
              <a:t>NeMo RL</a:t>
            </a:r>
            <a:endParaRPr lang="en-US" sz="1400" dirty="0"/>
          </a:p>
          <a:p>
            <a:pPr indent="0" marL="0">
              <a:buNone/>
            </a:pPr>
            <a:r>
              <a:rPr lang="en-US" sz="1000" dirty="0">
                <a:solidFill>
                  <a:schemeClr val="tx2"/>
                </a:solidFill>
              </a:rPr>
              <a:t>DPO, GRPO, RL post-training</a:t>
            </a:r>
            <a:endParaRPr lang="en-US" sz="1400" dirty="0"/>
          </a:p>
        </p:txBody>
      </p:sp>
      <p:sp>
        <p:nvSpPr>
          <p:cNvPr id="24" name="Shape 20"/>
          <p:cNvSpPr/>
          <p:nvPr/>
        </p:nvSpPr>
        <p:spPr>
          <a:xfrm>
            <a:off x="2505456" y="4700016"/>
            <a:ext cx="1554480" cy="731520"/>
          </a:xfrm>
          <a:prstGeom prst="roundRect">
            <a:avLst>
              <a:gd name="adj" fmla="val 6250"/>
            </a:avLst>
          </a:prstGeom>
          <a:solidFill>
            <a:schemeClr val="bg1"/>
          </a:solidFill>
          <a:ln w="9525">
            <a:solidFill>
              <a:srgbClr val="CBD8C9"/>
            </a:solidFill>
            <a:prstDash val="solid"/>
          </a:ln>
        </p:spPr>
      </p:sp>
      <p:sp>
        <p:nvSpPr>
          <p:cNvPr id="25" name="Text 21"/>
          <p:cNvSpPr txBox="1"/>
          <p:nvPr/>
        </p:nvSpPr>
        <p:spPr>
          <a:xfrm>
            <a:off x="2578608" y="4736592"/>
            <a:ext cx="1426464" cy="658368"/>
          </a:xfrm>
          <a:prstGeom prst="rect">
            <a:avLst/>
          </a:prstGeom>
          <a:noFill/>
          <a:ln/>
        </p:spPr>
        <p:txBody>
          <a:bodyPr wrap="square" lIns="0" tIns="0" rIns="0" bIns="0" rtlCol="0" anchor="ctr"/>
          <a:lstStyle/>
          <a:p>
            <a:pPr indent="0" marL="0">
              <a:buNone/>
            </a:pPr>
            <a:r>
              <a:rPr lang="en-US" sz="1200" b="1" dirty="0">
                <a:solidFill>
                  <a:schemeClr val="tx1"/>
                </a:solidFill>
              </a:rPr>
              <a:t>NeMo Customizer</a:t>
            </a:r>
            <a:endParaRPr lang="en-US" sz="1400" dirty="0"/>
          </a:p>
          <a:p>
            <a:pPr indent="0" marL="0">
              <a:buNone/>
            </a:pPr>
            <a:r>
              <a:rPr lang="en-US" sz="1000" dirty="0">
                <a:solidFill>
                  <a:schemeClr val="tx2"/>
                </a:solidFill>
              </a:rPr>
              <a:t>Fine-tuning as an API</a:t>
            </a:r>
            <a:endParaRPr lang="en-US" sz="1400" dirty="0"/>
          </a:p>
        </p:txBody>
      </p:sp>
      <p:sp>
        <p:nvSpPr>
          <p:cNvPr id="26" name="Shape 22"/>
          <p:cNvSpPr/>
          <p:nvPr/>
        </p:nvSpPr>
        <p:spPr>
          <a:xfrm>
            <a:off x="4279392" y="1572768"/>
            <a:ext cx="1737360" cy="4005072"/>
          </a:xfrm>
          <a:prstGeom prst="roundRect">
            <a:avLst>
              <a:gd name="adj" fmla="val 4211"/>
            </a:avLst>
          </a:prstGeom>
          <a:solidFill>
            <a:schemeClr val="bg2"/>
          </a:solidFill>
          <a:ln/>
        </p:spPr>
      </p:sp>
      <p:sp>
        <p:nvSpPr>
          <p:cNvPr id="27" name="Shape 23"/>
          <p:cNvSpPr/>
          <p:nvPr/>
        </p:nvSpPr>
        <p:spPr>
          <a:xfrm>
            <a:off x="4416552" y="1691640"/>
            <a:ext cx="457200" cy="457200"/>
          </a:xfrm>
          <a:prstGeom prst="ellipse">
            <a:avLst/>
          </a:prstGeom>
          <a:solidFill>
            <a:schemeClr val="accent1"/>
          </a:solidFill>
          <a:ln/>
        </p:spPr>
      </p:sp>
      <p:pic>
        <p:nvPicPr>
          <p:cNvPr id="28" name="Image 2" descr="preencoded.png">    </p:cNvPr>
          <p:cNvPicPr>
            <a:picLocks noChangeAspect="1"/>
          </p:cNvPicPr>
          <p:nvPr/>
        </p:nvPicPr>
        <p:blipFill>
          <a:blip r:embed="rId3"/>
          <a:stretch>
            <a:fillRect/>
          </a:stretch>
        </p:blipFill>
        <p:spPr>
          <a:xfrm>
            <a:off x="4517136" y="1792224"/>
            <a:ext cx="256032" cy="256032"/>
          </a:xfrm>
          <a:prstGeom prst="rect">
            <a:avLst/>
          </a:prstGeom>
        </p:spPr>
      </p:pic>
      <p:sp>
        <p:nvSpPr>
          <p:cNvPr id="29" name="Text 24"/>
          <p:cNvSpPr txBox="1"/>
          <p:nvPr/>
        </p:nvSpPr>
        <p:spPr>
          <a:xfrm>
            <a:off x="4937760" y="1691640"/>
            <a:ext cx="1051560" cy="457200"/>
          </a:xfrm>
          <a:prstGeom prst="rect">
            <a:avLst/>
          </a:prstGeom>
          <a:noFill/>
          <a:ln/>
        </p:spPr>
        <p:txBody>
          <a:bodyPr wrap="square" lIns="0" tIns="0" rIns="0" bIns="0" rtlCol="0" anchor="ctr"/>
          <a:lstStyle/>
          <a:p>
            <a:pPr indent="0" marL="0">
              <a:buNone/>
            </a:pPr>
            <a:r>
              <a:rPr lang="en-US" sz="1300" b="1" dirty="0">
                <a:solidFill>
                  <a:schemeClr val="tx1"/>
                </a:solidFill>
              </a:rPr>
              <a:t>Evaluate</a:t>
            </a:r>
            <a:endParaRPr lang="en-US" sz="1300" dirty="0"/>
          </a:p>
        </p:txBody>
      </p:sp>
      <p:sp>
        <p:nvSpPr>
          <p:cNvPr id="30" name="Shape 25"/>
          <p:cNvSpPr/>
          <p:nvPr/>
        </p:nvSpPr>
        <p:spPr>
          <a:xfrm>
            <a:off x="4370832" y="2286000"/>
            <a:ext cx="1554480" cy="731520"/>
          </a:xfrm>
          <a:prstGeom prst="roundRect">
            <a:avLst>
              <a:gd name="adj" fmla="val 6250"/>
            </a:avLst>
          </a:prstGeom>
          <a:solidFill>
            <a:schemeClr val="bg1"/>
          </a:solidFill>
          <a:ln w="9525">
            <a:solidFill>
              <a:srgbClr val="CBD8C9"/>
            </a:solidFill>
            <a:prstDash val="solid"/>
          </a:ln>
        </p:spPr>
      </p:sp>
      <p:sp>
        <p:nvSpPr>
          <p:cNvPr id="31" name="Text 26"/>
          <p:cNvSpPr txBox="1"/>
          <p:nvPr/>
        </p:nvSpPr>
        <p:spPr>
          <a:xfrm>
            <a:off x="4443984" y="2322576"/>
            <a:ext cx="1426464" cy="658368"/>
          </a:xfrm>
          <a:prstGeom prst="rect">
            <a:avLst/>
          </a:prstGeom>
          <a:noFill/>
          <a:ln/>
        </p:spPr>
        <p:txBody>
          <a:bodyPr wrap="square" lIns="0" tIns="0" rIns="0" bIns="0" rtlCol="0" anchor="ctr"/>
          <a:lstStyle/>
          <a:p>
            <a:pPr indent="0" marL="0">
              <a:buNone/>
            </a:pPr>
            <a:r>
              <a:rPr lang="en-US" sz="1200" b="1" dirty="0">
                <a:solidFill>
                  <a:schemeClr val="tx1"/>
                </a:solidFill>
              </a:rPr>
              <a:t>NeMo Evaluator</a:t>
            </a:r>
            <a:endParaRPr lang="en-US" sz="1400" dirty="0"/>
          </a:p>
          <a:p>
            <a:pPr indent="0" marL="0">
              <a:buNone/>
            </a:pPr>
            <a:r>
              <a:rPr lang="en-US" sz="1000" dirty="0">
                <a:solidFill>
                  <a:schemeClr val="tx2"/>
                </a:solidFill>
              </a:rPr>
              <a:t>Benchmarks, custom sets, LLM-as-judge</a:t>
            </a:r>
            <a:endParaRPr lang="en-US" sz="1400" dirty="0"/>
          </a:p>
        </p:txBody>
      </p:sp>
      <p:sp>
        <p:nvSpPr>
          <p:cNvPr id="32" name="Shape 27"/>
          <p:cNvSpPr/>
          <p:nvPr/>
        </p:nvSpPr>
        <p:spPr>
          <a:xfrm>
            <a:off x="4370832" y="3090672"/>
            <a:ext cx="1554480" cy="731520"/>
          </a:xfrm>
          <a:prstGeom prst="roundRect">
            <a:avLst>
              <a:gd name="adj" fmla="val 6250"/>
            </a:avLst>
          </a:prstGeom>
          <a:solidFill>
            <a:schemeClr val="bg1"/>
          </a:solidFill>
          <a:ln w="9525">
            <a:solidFill>
              <a:srgbClr val="CBD8C9"/>
            </a:solidFill>
            <a:prstDash val="solid"/>
          </a:ln>
        </p:spPr>
      </p:sp>
      <p:sp>
        <p:nvSpPr>
          <p:cNvPr id="33" name="Text 28"/>
          <p:cNvSpPr txBox="1"/>
          <p:nvPr/>
        </p:nvSpPr>
        <p:spPr>
          <a:xfrm>
            <a:off x="4443984" y="3127248"/>
            <a:ext cx="1426464" cy="658368"/>
          </a:xfrm>
          <a:prstGeom prst="rect">
            <a:avLst/>
          </a:prstGeom>
          <a:noFill/>
          <a:ln/>
        </p:spPr>
        <p:txBody>
          <a:bodyPr wrap="square" lIns="0" tIns="0" rIns="0" bIns="0" rtlCol="0" anchor="ctr"/>
          <a:lstStyle/>
          <a:p>
            <a:pPr indent="0" marL="0">
              <a:buNone/>
            </a:pPr>
            <a:r>
              <a:rPr lang="en-US" sz="1200" b="1" dirty="0">
                <a:solidFill>
                  <a:schemeClr val="tx1"/>
                </a:solidFill>
              </a:rPr>
              <a:t>NeMo Auditor</a:t>
            </a:r>
            <a:endParaRPr lang="en-US" sz="1400" dirty="0"/>
          </a:p>
          <a:p>
            <a:pPr indent="0" marL="0">
              <a:buNone/>
            </a:pPr>
            <a:r>
              <a:rPr lang="en-US" sz="1000" dirty="0">
                <a:solidFill>
                  <a:schemeClr val="tx2"/>
                </a:solidFill>
              </a:rPr>
              <a:t>Probe models for vulnerabilities</a:t>
            </a:r>
            <a:endParaRPr lang="en-US" sz="1400" dirty="0"/>
          </a:p>
        </p:txBody>
      </p:sp>
      <p:sp>
        <p:nvSpPr>
          <p:cNvPr id="34" name="Shape 29"/>
          <p:cNvSpPr/>
          <p:nvPr/>
        </p:nvSpPr>
        <p:spPr>
          <a:xfrm>
            <a:off x="6144768" y="1572768"/>
            <a:ext cx="1737360" cy="4005072"/>
          </a:xfrm>
          <a:prstGeom prst="roundRect">
            <a:avLst>
              <a:gd name="adj" fmla="val 4211"/>
            </a:avLst>
          </a:prstGeom>
          <a:solidFill>
            <a:schemeClr val="bg2"/>
          </a:solidFill>
          <a:ln/>
        </p:spPr>
      </p:sp>
      <p:sp>
        <p:nvSpPr>
          <p:cNvPr id="35" name="Shape 30"/>
          <p:cNvSpPr/>
          <p:nvPr/>
        </p:nvSpPr>
        <p:spPr>
          <a:xfrm>
            <a:off x="6281928" y="1691640"/>
            <a:ext cx="457200" cy="457200"/>
          </a:xfrm>
          <a:prstGeom prst="ellipse">
            <a:avLst/>
          </a:prstGeom>
          <a:solidFill>
            <a:schemeClr val="accent1"/>
          </a:solidFill>
          <a:ln/>
        </p:spPr>
      </p:sp>
      <p:pic>
        <p:nvPicPr>
          <p:cNvPr id="36" name="Image 3" descr="preencoded.png">    </p:cNvPr>
          <p:cNvPicPr>
            <a:picLocks noChangeAspect="1"/>
          </p:cNvPicPr>
          <p:nvPr/>
        </p:nvPicPr>
        <p:blipFill>
          <a:blip r:embed="rId4"/>
          <a:stretch>
            <a:fillRect/>
          </a:stretch>
        </p:blipFill>
        <p:spPr>
          <a:xfrm>
            <a:off x="6382512" y="1792224"/>
            <a:ext cx="256032" cy="256032"/>
          </a:xfrm>
          <a:prstGeom prst="rect">
            <a:avLst/>
          </a:prstGeom>
        </p:spPr>
      </p:pic>
      <p:sp>
        <p:nvSpPr>
          <p:cNvPr id="37" name="Text 31"/>
          <p:cNvSpPr txBox="1"/>
          <p:nvPr/>
        </p:nvSpPr>
        <p:spPr>
          <a:xfrm>
            <a:off x="6803136" y="1691640"/>
            <a:ext cx="1051560" cy="457200"/>
          </a:xfrm>
          <a:prstGeom prst="rect">
            <a:avLst/>
          </a:prstGeom>
          <a:noFill/>
          <a:ln/>
        </p:spPr>
        <p:txBody>
          <a:bodyPr wrap="square" lIns="0" tIns="0" rIns="0" bIns="0" rtlCol="0" anchor="ctr"/>
          <a:lstStyle/>
          <a:p>
            <a:pPr indent="0" marL="0">
              <a:buNone/>
            </a:pPr>
            <a:r>
              <a:rPr lang="en-US" sz="1300" b="1" dirty="0">
                <a:solidFill>
                  <a:schemeClr val="tx1"/>
                </a:solidFill>
              </a:rPr>
              <a:t>Safeguard</a:t>
            </a:r>
            <a:endParaRPr lang="en-US" sz="1300" dirty="0"/>
          </a:p>
        </p:txBody>
      </p:sp>
      <p:sp>
        <p:nvSpPr>
          <p:cNvPr id="38" name="Shape 32"/>
          <p:cNvSpPr/>
          <p:nvPr/>
        </p:nvSpPr>
        <p:spPr>
          <a:xfrm>
            <a:off x="6236208" y="2286000"/>
            <a:ext cx="1554480" cy="731520"/>
          </a:xfrm>
          <a:prstGeom prst="roundRect">
            <a:avLst>
              <a:gd name="adj" fmla="val 6250"/>
            </a:avLst>
          </a:prstGeom>
          <a:solidFill>
            <a:schemeClr val="bg1"/>
          </a:solidFill>
          <a:ln w="9525">
            <a:solidFill>
              <a:srgbClr val="CBD8C9"/>
            </a:solidFill>
            <a:prstDash val="solid"/>
          </a:ln>
        </p:spPr>
      </p:sp>
      <p:sp>
        <p:nvSpPr>
          <p:cNvPr id="39" name="Text 33"/>
          <p:cNvSpPr txBox="1"/>
          <p:nvPr/>
        </p:nvSpPr>
        <p:spPr>
          <a:xfrm>
            <a:off x="6309360" y="2322576"/>
            <a:ext cx="1426464" cy="658368"/>
          </a:xfrm>
          <a:prstGeom prst="rect">
            <a:avLst/>
          </a:prstGeom>
          <a:noFill/>
          <a:ln/>
        </p:spPr>
        <p:txBody>
          <a:bodyPr wrap="square" lIns="0" tIns="0" rIns="0" bIns="0" rtlCol="0" anchor="ctr"/>
          <a:lstStyle/>
          <a:p>
            <a:pPr indent="0" marL="0">
              <a:buNone/>
            </a:pPr>
            <a:r>
              <a:rPr lang="en-US" sz="1200" b="1" dirty="0">
                <a:solidFill>
                  <a:schemeClr val="tx1"/>
                </a:solidFill>
              </a:rPr>
              <a:t>NeMo Guardrails</a:t>
            </a:r>
            <a:endParaRPr lang="en-US" sz="1400" dirty="0"/>
          </a:p>
          <a:p>
            <a:pPr indent="0" marL="0">
              <a:buNone/>
            </a:pPr>
            <a:r>
              <a:rPr lang="en-US" sz="1000" dirty="0">
                <a:solidFill>
                  <a:schemeClr val="tx2"/>
                </a:solidFill>
              </a:rPr>
              <a:t>Programmable input / output rails</a:t>
            </a:r>
            <a:endParaRPr lang="en-US" sz="1400" dirty="0"/>
          </a:p>
        </p:txBody>
      </p:sp>
      <p:sp>
        <p:nvSpPr>
          <p:cNvPr id="40" name="Shape 34"/>
          <p:cNvSpPr/>
          <p:nvPr/>
        </p:nvSpPr>
        <p:spPr>
          <a:xfrm>
            <a:off x="6236208" y="3090672"/>
            <a:ext cx="1554480" cy="731520"/>
          </a:xfrm>
          <a:prstGeom prst="roundRect">
            <a:avLst>
              <a:gd name="adj" fmla="val 6250"/>
            </a:avLst>
          </a:prstGeom>
          <a:solidFill>
            <a:schemeClr val="bg1"/>
          </a:solidFill>
          <a:ln w="9525">
            <a:solidFill>
              <a:srgbClr val="CBD8C9"/>
            </a:solidFill>
            <a:prstDash val="solid"/>
          </a:ln>
        </p:spPr>
      </p:sp>
      <p:sp>
        <p:nvSpPr>
          <p:cNvPr id="41" name="Text 35"/>
          <p:cNvSpPr txBox="1"/>
          <p:nvPr/>
        </p:nvSpPr>
        <p:spPr>
          <a:xfrm>
            <a:off x="6309360" y="3127248"/>
            <a:ext cx="1426464" cy="658368"/>
          </a:xfrm>
          <a:prstGeom prst="rect">
            <a:avLst/>
          </a:prstGeom>
          <a:noFill/>
          <a:ln/>
        </p:spPr>
        <p:txBody>
          <a:bodyPr wrap="square" lIns="0" tIns="0" rIns="0" bIns="0" rtlCol="0" anchor="ctr"/>
          <a:lstStyle/>
          <a:p>
            <a:pPr indent="0" marL="0">
              <a:buNone/>
            </a:pPr>
            <a:r>
              <a:rPr lang="en-US" sz="1200" b="1" dirty="0">
                <a:solidFill>
                  <a:schemeClr val="tx1"/>
                </a:solidFill>
              </a:rPr>
              <a:t>Nemotron safety models</a:t>
            </a:r>
            <a:endParaRPr lang="en-US" sz="1400" dirty="0"/>
          </a:p>
          <a:p>
            <a:pPr indent="0" marL="0">
              <a:buNone/>
            </a:pPr>
            <a:r>
              <a:rPr lang="en-US" sz="1000" dirty="0">
                <a:solidFill>
                  <a:schemeClr val="tx2"/>
                </a:solidFill>
              </a:rPr>
              <a:t>Content safety, topic control, jailbreak</a:t>
            </a:r>
            <a:endParaRPr lang="en-US" sz="1400" dirty="0"/>
          </a:p>
        </p:txBody>
      </p:sp>
      <p:sp>
        <p:nvSpPr>
          <p:cNvPr id="42" name="Shape 36"/>
          <p:cNvSpPr/>
          <p:nvPr/>
        </p:nvSpPr>
        <p:spPr>
          <a:xfrm>
            <a:off x="8010144" y="1572768"/>
            <a:ext cx="1737360" cy="4005072"/>
          </a:xfrm>
          <a:prstGeom prst="roundRect">
            <a:avLst>
              <a:gd name="adj" fmla="val 4211"/>
            </a:avLst>
          </a:prstGeom>
          <a:solidFill>
            <a:schemeClr val="bg2"/>
          </a:solidFill>
          <a:ln/>
        </p:spPr>
      </p:sp>
      <p:sp>
        <p:nvSpPr>
          <p:cNvPr id="43" name="Shape 37"/>
          <p:cNvSpPr/>
          <p:nvPr/>
        </p:nvSpPr>
        <p:spPr>
          <a:xfrm>
            <a:off x="8147304" y="1691640"/>
            <a:ext cx="457200" cy="457200"/>
          </a:xfrm>
          <a:prstGeom prst="ellipse">
            <a:avLst/>
          </a:prstGeom>
          <a:solidFill>
            <a:schemeClr val="accent1"/>
          </a:solidFill>
          <a:ln/>
        </p:spPr>
      </p:sp>
      <p:pic>
        <p:nvPicPr>
          <p:cNvPr id="44" name="Image 4" descr="preencoded.png">    </p:cNvPr>
          <p:cNvPicPr>
            <a:picLocks noChangeAspect="1"/>
          </p:cNvPicPr>
          <p:nvPr/>
        </p:nvPicPr>
        <p:blipFill>
          <a:blip r:embed="rId5"/>
          <a:stretch>
            <a:fillRect/>
          </a:stretch>
        </p:blipFill>
        <p:spPr>
          <a:xfrm>
            <a:off x="8247888" y="1792224"/>
            <a:ext cx="256032" cy="256032"/>
          </a:xfrm>
          <a:prstGeom prst="rect">
            <a:avLst/>
          </a:prstGeom>
        </p:spPr>
      </p:pic>
      <p:sp>
        <p:nvSpPr>
          <p:cNvPr id="45" name="Text 38"/>
          <p:cNvSpPr txBox="1"/>
          <p:nvPr/>
        </p:nvSpPr>
        <p:spPr>
          <a:xfrm>
            <a:off x="8668512" y="1691640"/>
            <a:ext cx="1051560" cy="457200"/>
          </a:xfrm>
          <a:prstGeom prst="rect">
            <a:avLst/>
          </a:prstGeom>
          <a:noFill/>
          <a:ln/>
        </p:spPr>
        <p:txBody>
          <a:bodyPr wrap="square" lIns="0" tIns="0" rIns="0" bIns="0" rtlCol="0" anchor="ctr"/>
          <a:lstStyle/>
          <a:p>
            <a:pPr indent="0" marL="0">
              <a:buNone/>
            </a:pPr>
            <a:r>
              <a:rPr lang="en-US" sz="1300" b="1" dirty="0">
                <a:solidFill>
                  <a:schemeClr val="tx1"/>
                </a:solidFill>
              </a:rPr>
              <a:t>Retrieve</a:t>
            </a:r>
            <a:endParaRPr lang="en-US" sz="1300" dirty="0"/>
          </a:p>
        </p:txBody>
      </p:sp>
      <p:sp>
        <p:nvSpPr>
          <p:cNvPr id="46" name="Shape 39"/>
          <p:cNvSpPr/>
          <p:nvPr/>
        </p:nvSpPr>
        <p:spPr>
          <a:xfrm>
            <a:off x="8101584" y="2286000"/>
            <a:ext cx="1554480" cy="731520"/>
          </a:xfrm>
          <a:prstGeom prst="roundRect">
            <a:avLst>
              <a:gd name="adj" fmla="val 6250"/>
            </a:avLst>
          </a:prstGeom>
          <a:solidFill>
            <a:schemeClr val="bg1"/>
          </a:solidFill>
          <a:ln w="9525">
            <a:solidFill>
              <a:srgbClr val="CBD8C9"/>
            </a:solidFill>
            <a:prstDash val="solid"/>
          </a:ln>
        </p:spPr>
      </p:sp>
      <p:sp>
        <p:nvSpPr>
          <p:cNvPr id="47" name="Text 40"/>
          <p:cNvSpPr txBox="1"/>
          <p:nvPr/>
        </p:nvSpPr>
        <p:spPr>
          <a:xfrm>
            <a:off x="8174736" y="2322576"/>
            <a:ext cx="1426464" cy="658368"/>
          </a:xfrm>
          <a:prstGeom prst="rect">
            <a:avLst/>
          </a:prstGeom>
          <a:noFill/>
          <a:ln/>
        </p:spPr>
        <p:txBody>
          <a:bodyPr wrap="square" lIns="0" tIns="0" rIns="0" bIns="0" rtlCol="0" anchor="ctr"/>
          <a:lstStyle/>
          <a:p>
            <a:pPr indent="0" marL="0">
              <a:buNone/>
            </a:pPr>
            <a:r>
              <a:rPr lang="en-US" sz="1200" b="1" dirty="0">
                <a:solidFill>
                  <a:schemeClr val="tx1"/>
                </a:solidFill>
              </a:rPr>
              <a:t>NeMo Retriever</a:t>
            </a:r>
            <a:endParaRPr lang="en-US" sz="1400" dirty="0"/>
          </a:p>
          <a:p>
            <a:pPr indent="0" marL="0">
              <a:buNone/>
            </a:pPr>
            <a:r>
              <a:rPr lang="en-US" sz="1000" dirty="0">
                <a:solidFill>
                  <a:schemeClr val="tx2"/>
                </a:solidFill>
              </a:rPr>
              <a:t>Extraction, embedding and reranking NIMs</a:t>
            </a:r>
            <a:endParaRPr lang="en-US" sz="1400" dirty="0"/>
          </a:p>
        </p:txBody>
      </p:sp>
      <p:sp>
        <p:nvSpPr>
          <p:cNvPr id="48" name="Shape 41"/>
          <p:cNvSpPr/>
          <p:nvPr/>
        </p:nvSpPr>
        <p:spPr>
          <a:xfrm>
            <a:off x="9875520" y="1572768"/>
            <a:ext cx="1737360" cy="4005072"/>
          </a:xfrm>
          <a:prstGeom prst="roundRect">
            <a:avLst>
              <a:gd name="adj" fmla="val 4211"/>
            </a:avLst>
          </a:prstGeom>
          <a:solidFill>
            <a:schemeClr val="bg2"/>
          </a:solidFill>
          <a:ln/>
        </p:spPr>
      </p:sp>
      <p:sp>
        <p:nvSpPr>
          <p:cNvPr id="49" name="Shape 42"/>
          <p:cNvSpPr/>
          <p:nvPr/>
        </p:nvSpPr>
        <p:spPr>
          <a:xfrm>
            <a:off x="10012680" y="1691640"/>
            <a:ext cx="457200" cy="457200"/>
          </a:xfrm>
          <a:prstGeom prst="ellipse">
            <a:avLst/>
          </a:prstGeom>
          <a:solidFill>
            <a:schemeClr val="accent1"/>
          </a:solidFill>
          <a:ln/>
        </p:spPr>
      </p:sp>
      <p:pic>
        <p:nvPicPr>
          <p:cNvPr id="50" name="Image 5" descr="preencoded.png">    </p:cNvPr>
          <p:cNvPicPr>
            <a:picLocks noChangeAspect="1"/>
          </p:cNvPicPr>
          <p:nvPr/>
        </p:nvPicPr>
        <p:blipFill>
          <a:blip r:embed="rId6"/>
          <a:stretch>
            <a:fillRect/>
          </a:stretch>
        </p:blipFill>
        <p:spPr>
          <a:xfrm>
            <a:off x="10113264" y="1792224"/>
            <a:ext cx="256032" cy="256032"/>
          </a:xfrm>
          <a:prstGeom prst="rect">
            <a:avLst/>
          </a:prstGeom>
        </p:spPr>
      </p:pic>
      <p:sp>
        <p:nvSpPr>
          <p:cNvPr id="51" name="Text 43"/>
          <p:cNvSpPr txBox="1"/>
          <p:nvPr/>
        </p:nvSpPr>
        <p:spPr>
          <a:xfrm>
            <a:off x="10533888" y="1691640"/>
            <a:ext cx="1051560" cy="457200"/>
          </a:xfrm>
          <a:prstGeom prst="rect">
            <a:avLst/>
          </a:prstGeom>
          <a:noFill/>
          <a:ln/>
        </p:spPr>
        <p:txBody>
          <a:bodyPr wrap="square" lIns="0" tIns="0" rIns="0" bIns="0" rtlCol="0" anchor="ctr"/>
          <a:lstStyle/>
          <a:p>
            <a:pPr indent="0" marL="0">
              <a:buNone/>
            </a:pPr>
            <a:r>
              <a:rPr lang="en-US" sz="1300" b="1" dirty="0">
                <a:solidFill>
                  <a:schemeClr val="tx1"/>
                </a:solidFill>
              </a:rPr>
              <a:t>Deploy and operate</a:t>
            </a:r>
            <a:endParaRPr lang="en-US" sz="1300" dirty="0"/>
          </a:p>
        </p:txBody>
      </p:sp>
      <p:sp>
        <p:nvSpPr>
          <p:cNvPr id="52" name="Shape 44"/>
          <p:cNvSpPr/>
          <p:nvPr/>
        </p:nvSpPr>
        <p:spPr>
          <a:xfrm>
            <a:off x="9966960" y="2286000"/>
            <a:ext cx="1554480" cy="731520"/>
          </a:xfrm>
          <a:prstGeom prst="roundRect">
            <a:avLst>
              <a:gd name="adj" fmla="val 6250"/>
            </a:avLst>
          </a:prstGeom>
          <a:solidFill>
            <a:schemeClr val="bg1"/>
          </a:solidFill>
          <a:ln w="9525">
            <a:solidFill>
              <a:srgbClr val="CBD8C9"/>
            </a:solidFill>
            <a:prstDash val="solid"/>
          </a:ln>
        </p:spPr>
      </p:sp>
      <p:sp>
        <p:nvSpPr>
          <p:cNvPr id="53" name="Text 45"/>
          <p:cNvSpPr txBox="1"/>
          <p:nvPr/>
        </p:nvSpPr>
        <p:spPr>
          <a:xfrm>
            <a:off x="10040112" y="2322576"/>
            <a:ext cx="1426464" cy="658368"/>
          </a:xfrm>
          <a:prstGeom prst="rect">
            <a:avLst/>
          </a:prstGeom>
          <a:noFill/>
          <a:ln/>
        </p:spPr>
        <p:txBody>
          <a:bodyPr wrap="square" lIns="0" tIns="0" rIns="0" bIns="0" rtlCol="0" anchor="ctr"/>
          <a:lstStyle/>
          <a:p>
            <a:pPr indent="0" marL="0">
              <a:buNone/>
            </a:pPr>
            <a:r>
              <a:rPr lang="en-US" sz="1200" b="1" dirty="0">
                <a:solidFill>
                  <a:schemeClr val="tx1"/>
                </a:solidFill>
              </a:rPr>
              <a:t>NVIDIA NIM</a:t>
            </a:r>
            <a:endParaRPr lang="en-US" sz="1400" dirty="0"/>
          </a:p>
          <a:p>
            <a:pPr indent="0" marL="0">
              <a:buNone/>
            </a:pPr>
            <a:r>
              <a:rPr lang="en-US" sz="1000" dirty="0">
                <a:solidFill>
                  <a:schemeClr val="tx2"/>
                </a:solidFill>
              </a:rPr>
              <a:t>Optimized inference microservices</a:t>
            </a:r>
            <a:endParaRPr lang="en-US" sz="1400" dirty="0"/>
          </a:p>
        </p:txBody>
      </p:sp>
      <p:sp>
        <p:nvSpPr>
          <p:cNvPr id="54" name="Shape 46"/>
          <p:cNvSpPr/>
          <p:nvPr/>
        </p:nvSpPr>
        <p:spPr>
          <a:xfrm>
            <a:off x="9966960" y="3090672"/>
            <a:ext cx="1554480" cy="731520"/>
          </a:xfrm>
          <a:prstGeom prst="roundRect">
            <a:avLst>
              <a:gd name="adj" fmla="val 6250"/>
            </a:avLst>
          </a:prstGeom>
          <a:solidFill>
            <a:schemeClr val="bg1"/>
          </a:solidFill>
          <a:ln w="9525">
            <a:solidFill>
              <a:srgbClr val="CBD8C9"/>
            </a:solidFill>
            <a:prstDash val="solid"/>
          </a:ln>
        </p:spPr>
      </p:sp>
      <p:sp>
        <p:nvSpPr>
          <p:cNvPr id="55" name="Text 47"/>
          <p:cNvSpPr txBox="1"/>
          <p:nvPr/>
        </p:nvSpPr>
        <p:spPr>
          <a:xfrm>
            <a:off x="10040112" y="3127248"/>
            <a:ext cx="1426464" cy="658368"/>
          </a:xfrm>
          <a:prstGeom prst="rect">
            <a:avLst/>
          </a:prstGeom>
          <a:noFill/>
          <a:ln/>
        </p:spPr>
        <p:txBody>
          <a:bodyPr wrap="square" lIns="0" tIns="0" rIns="0" bIns="0" rtlCol="0" anchor="ctr"/>
          <a:lstStyle/>
          <a:p>
            <a:pPr indent="0" marL="0">
              <a:buNone/>
            </a:pPr>
            <a:r>
              <a:rPr lang="en-US" sz="1200" b="1" dirty="0">
                <a:solidFill>
                  <a:schemeClr val="tx1"/>
                </a:solidFill>
              </a:rPr>
              <a:t>NeMo Agent Toolkit</a:t>
            </a:r>
            <a:endParaRPr lang="en-US" sz="1400" dirty="0"/>
          </a:p>
          <a:p>
            <a:pPr indent="0" marL="0">
              <a:buNone/>
            </a:pPr>
            <a:r>
              <a:rPr lang="en-US" sz="1000" dirty="0">
                <a:solidFill>
                  <a:schemeClr val="tx2"/>
                </a:solidFill>
              </a:rPr>
              <a:t>Profile and observe agents</a:t>
            </a:r>
            <a:endParaRPr lang="en-US" sz="1400" dirty="0"/>
          </a:p>
        </p:txBody>
      </p:sp>
      <p:sp>
        <p:nvSpPr>
          <p:cNvPr id="56" name="Text 48"/>
          <p:cNvSpPr/>
          <p:nvPr/>
        </p:nvSpPr>
        <p:spPr>
          <a:xfrm>
            <a:off x="548640" y="5687568"/>
            <a:ext cx="11064240" cy="484632"/>
          </a:xfrm>
          <a:prstGeom prst="roundRect">
            <a:avLst>
              <a:gd name="adj" fmla="val 9434"/>
            </a:avLst>
          </a:prstGeom>
          <a:solidFill>
            <a:schemeClr val="tx1"/>
          </a:solidFill>
          <a:ln/>
        </p:spPr>
        <p:txBody>
          <a:bodyPr wrap="square" lIns="381" tIns="381" rIns="381" bIns="381" rtlCol="0" anchor="ctr"/>
          <a:lstStyle/>
          <a:p>
            <a:pPr algn="ctr" indent="0" marL="0">
              <a:buNone/>
            </a:pPr>
            <a:r>
              <a:rPr lang="en-US" sz="1300" b="1" dirty="0">
                <a:solidFill>
                  <a:schemeClr val="bg1"/>
                </a:solidFill>
              </a:rPr>
              <a:t>Foundation: Nemotron and open models  ·  NVIDIA AI Enterprise  ·  Kubernetes / Slurm  ·  CUDA  ·  NVIDIA GPUs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000" b="1" dirty="0">
                <a:solidFill>
                  <a:schemeClr val="tx1"/>
                </a:solidFill>
              </a:rPr>
              <a:t>NeMo Framework vs NeMo microservices</a:t>
            </a:r>
            <a:endParaRPr lang="en-US" sz="3000" dirty="0"/>
          </a:p>
        </p:txBody>
      </p:sp>
      <p:sp>
        <p:nvSpPr>
          <p:cNvPr id="3" name="Text 0"/>
          <p:cNvSpPr/>
          <p:nvPr>
            <p:ph idx="101" type="body" hasCustomPrompt="1"/>
          </p:nvPr>
        </p:nvSpPr>
        <p:spPr>
          <a:xfrm>
            <a:off x="548640" y="960120"/>
            <a:ext cx="11064240" cy="411480"/>
          </a:xfrm>
          <a:prstGeom prst="rect">
            <a:avLst/>
          </a:prstGeom>
          <a:noFill/>
          <a:ln/>
        </p:spPr>
        <p:txBody>
          <a:bodyPr wrap="square" lIns="0" tIns="0" rIns="0" bIns="0" rtlCol="0" anchor="t"/>
          <a:lstStyle/>
          <a:p>
            <a:pPr indent="0" marL="0">
              <a:buNone/>
            </a:pPr>
            <a:r>
              <a:rPr lang="en-US" sz="1600" dirty="0">
                <a:solidFill>
                  <a:schemeClr val="accent5"/>
                </a:solidFill>
              </a:rPr>
              <a:t>Two ways to consume the same capabilities, for different teams</a:t>
            </a:r>
            <a:endParaRPr lang="en-US" sz="1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1828800"/>
                <a:gridCol w="4617720"/>
                <a:gridCol w="4617720"/>
              </a:tblGrid>
              <a:tr h="457200">
                <a:tc>
                  <a:txBody>
                    <a:bodyPr/>
                    <a:lstStyle/>
                    <a:p>
                      <a:pPr indent="0" marL="0">
                        <a:buNone/>
                      </a:pP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NeMo Framework (libraries)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NeMo microservices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tx1"/>
                    </a:solidFill>
                  </a:tcPr>
                </a:tc>
              </a:tr>
              <a:tr h="457200">
                <a:tc>
                  <a:txBody>
                    <a:bodyPr/>
                    <a:lstStyle/>
                    <a:p>
                      <a:pPr indent="0" marL="0">
                        <a:buNone/>
                      </a:pPr>
                      <a:r>
                        <a:rPr lang="en-US" sz="1300" b="1" dirty="0">
                          <a:solidFill>
                            <a:schemeClr val="tx1"/>
                          </a:solidFill>
                        </a:rPr>
                        <a:t>What it is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Python libraries: NeMo, Megatron Core, AutoModel, RL, NeMo-Run</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Containerized services with REST APIs and Helm charts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r>
              <a:tr h="457200">
                <a:tc>
                  <a:txBody>
                    <a:bodyPr/>
                    <a:lstStyle/>
                    <a:p>
                      <a:pPr indent="0" marL="0">
                        <a:buNone/>
                      </a:pPr>
                      <a:r>
                        <a:rPr lang="en-US" sz="1300" b="1" dirty="0">
                          <a:solidFill>
                            <a:schemeClr val="tx1"/>
                          </a:solidFill>
                        </a:rPr>
                        <a:t>Primary users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ML researchers and ML engineers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Platform teams, MLOps and application developers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r>
              <a:tr h="457200">
                <a:tc>
                  <a:txBody>
                    <a:bodyPr/>
                    <a:lstStyle/>
                    <a:p>
                      <a:pPr indent="0" marL="0">
                        <a:buNone/>
                      </a:pPr>
                      <a:r>
                        <a:rPr lang="en-US" sz="1300" b="1" dirty="0">
                          <a:solidFill>
                            <a:schemeClr val="tx1"/>
                          </a:solidFill>
                        </a:rPr>
                        <a:t>Interface</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Python code, recipes, notebooks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HTTP APIs, Python SDK, CLI</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r>
              <a:tr h="457200">
                <a:tc>
                  <a:txBody>
                    <a:bodyPr/>
                    <a:lstStyle/>
                    <a:p>
                      <a:pPr indent="0" marL="0">
                        <a:buNone/>
                      </a:pPr>
                      <a:r>
                        <a:rPr lang="en-US" sz="1300" b="1" dirty="0">
                          <a:solidFill>
                            <a:schemeClr val="tx1"/>
                          </a:solidFill>
                        </a:rPr>
                        <a:t>Scale</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 GPU to thousands of GPUs (Slurm, K8s)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Typically single-node to multi-node jobs on Kubernetes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r>
              <a:tr h="457200">
                <a:tc>
                  <a:txBody>
                    <a:bodyPr/>
                    <a:lstStyle/>
                    <a:p>
                      <a:pPr indent="0" marL="0">
                        <a:buNone/>
                      </a:pPr>
                      <a:r>
                        <a:rPr lang="en-US" sz="1300" b="1" dirty="0">
                          <a:solidFill>
                            <a:schemeClr val="tx1"/>
                          </a:solidFill>
                        </a:rPr>
                        <a:t>Strengths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Full control: pre-training, new architectures, custom parallelism</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Simple, repeatable fine-tune / evaluate / guardrail workflows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r>
              <a:tr h="457200">
                <a:tc>
                  <a:txBody>
                    <a:bodyPr/>
                    <a:lstStyle/>
                    <a:p>
                      <a:pPr indent="0" marL="0">
                        <a:buNone/>
                      </a:pPr>
                      <a:r>
                        <a:rPr lang="en-US" sz="1300" b="1" dirty="0">
                          <a:solidFill>
                            <a:schemeClr val="tx1"/>
                          </a:solidFill>
                        </a:rPr>
                        <a:t>Typical jobs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Pre-training, continued pre-training, large SFT and RL</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LoRA / SFT customizations, evaluations, safety rails, flywheels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r>
              <a:tr h="457200">
                <a:tc>
                  <a:txBody>
                    <a:bodyPr/>
                    <a:lstStyle/>
                    <a:p>
                      <a:pPr indent="0" marL="0">
                        <a:buNone/>
                      </a:pPr>
                      <a:r>
                        <a:rPr lang="en-US" sz="1300" b="1" dirty="0">
                          <a:solidFill>
                            <a:schemeClr val="tx1"/>
                          </a:solidFill>
                        </a:rPr>
                        <a:t>Licensing</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Open source (Apache 2.0)</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NVIDIA AI Enterprise licence for production</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r>
            </a:tbl>
          </a:graphicData>
        </a:graphic>
      </p:graphicFrame>
      <p:sp>
        <p:nvSpPr>
          <p:cNvPr id="5" name="Shape 2"/>
          <p:cNvSpPr/>
          <p:nvPr/>
        </p:nvSpPr>
        <p:spPr>
          <a:xfrm>
            <a:off x="548640" y="5669280"/>
            <a:ext cx="11064240" cy="502920"/>
          </a:xfrm>
          <a:prstGeom prst="roundRect">
            <a:avLst>
              <a:gd name="adj" fmla="val 14545"/>
            </a:avLst>
          </a:prstGeom>
          <a:solidFill>
            <a:schemeClr val="tx1"/>
          </a:solidFill>
          <a:ln/>
        </p:spPr>
      </p:sp>
      <p:pic>
        <p:nvPicPr>
          <p:cNvPr id="6" name="Image 0" descr="preencoded.png">    </p:cNvPr>
          <p:cNvPicPr>
            <a:picLocks noChangeAspect="1"/>
          </p:cNvPicPr>
          <p:nvPr/>
        </p:nvPicPr>
        <p:blipFill>
          <a:blip r:embed="rId1"/>
          <a:stretch>
            <a:fillRect/>
          </a:stretch>
        </p:blipFill>
        <p:spPr>
          <a:xfrm>
            <a:off x="777240" y="5737860"/>
            <a:ext cx="365760" cy="365760"/>
          </a:xfrm>
          <a:prstGeom prst="rect">
            <a:avLst/>
          </a:prstGeom>
        </p:spPr>
      </p:pic>
      <p:sp>
        <p:nvSpPr>
          <p:cNvPr id="7" name="Text 3"/>
          <p:cNvSpPr txBox="1"/>
          <p:nvPr/>
        </p:nvSpPr>
        <p:spPr>
          <a:xfrm>
            <a:off x="1325880" y="5669280"/>
            <a:ext cx="10058400" cy="502920"/>
          </a:xfrm>
          <a:prstGeom prst="rect">
            <a:avLst/>
          </a:prstGeom>
          <a:noFill/>
          <a:ln/>
        </p:spPr>
        <p:txBody>
          <a:bodyPr wrap="square" lIns="0" tIns="0" rIns="0" bIns="0" rtlCol="0" anchor="ctr"/>
          <a:lstStyle/>
          <a:p>
            <a:pPr indent="0" marL="0">
              <a:buNone/>
            </a:pPr>
            <a:r>
              <a:rPr lang="en-US" sz="1400" dirty="0">
                <a:solidFill>
                  <a:schemeClr val="bg1"/>
                </a:solidFill>
              </a:rPr>
              <a:t>Many enterprises use both: microservices for everyday customization, the framework for deep research and large training runs.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40080" y="1463040"/>
            <a:ext cx="2743200" cy="1371600"/>
          </a:xfrm>
          <a:prstGeom prst="rect">
            <a:avLst/>
          </a:prstGeom>
          <a:noFill/>
          <a:ln/>
        </p:spPr>
        <p:txBody>
          <a:bodyPr wrap="square" lIns="0" tIns="0" rIns="0" bIns="0" rtlCol="0" anchor="t"/>
          <a:lstStyle/>
          <a:p>
            <a:pPr indent="0" marL="0">
              <a:buNone/>
            </a:pPr>
            <a:r>
              <a:rPr lang="en-US" sz="8800" b="1" dirty="0">
                <a:solidFill>
                  <a:schemeClr val="accent1"/>
                </a:solidFill>
              </a:rPr>
              <a:t>03</a:t>
            </a:r>
            <a:endParaRPr lang="en-US" sz="8800" dirty="0"/>
          </a:p>
        </p:txBody>
      </p:sp>
      <p:sp>
        <p:nvSpPr>
          <p:cNvPr id="3" name="Text 0"/>
          <p:cNvSpPr/>
          <p:nvPr>
            <p:ph idx="101" type="title" hasCustomPrompt="1"/>
          </p:nvPr>
        </p:nvSpPr>
        <p:spPr>
          <a:xfrm>
            <a:off x="640080" y="2743200"/>
            <a:ext cx="7498080" cy="1371600"/>
          </a:xfrm>
          <a:prstGeom prst="rect">
            <a:avLst/>
          </a:prstGeom>
          <a:noFill/>
          <a:ln/>
        </p:spPr>
        <p:txBody>
          <a:bodyPr wrap="square" lIns="0" tIns="0" rIns="0" bIns="0" rtlCol="0" anchor="t"/>
          <a:lstStyle/>
          <a:p>
            <a:pPr algn="l" indent="0" marL="0">
              <a:buNone/>
            </a:pPr>
            <a:r>
              <a:rPr lang="en-US" sz="3600" b="1" dirty="0">
                <a:solidFill>
                  <a:schemeClr val="bg1"/>
                </a:solidFill>
              </a:rPr>
              <a:t>NeMo component deep dive</a:t>
            </a:r>
            <a:endParaRPr lang="en-US" sz="3600" dirty="0"/>
          </a:p>
        </p:txBody>
      </p:sp>
      <p:sp>
        <p:nvSpPr>
          <p:cNvPr id="4" name="Text 0"/>
          <p:cNvSpPr/>
          <p:nvPr>
            <p:ph idx="102" type="body" hasCustomPrompt="1"/>
          </p:nvPr>
        </p:nvSpPr>
        <p:spPr>
          <a:xfrm>
            <a:off x="640080" y="4297680"/>
            <a:ext cx="6949440" cy="1280160"/>
          </a:xfrm>
          <a:prstGeom prst="rect">
            <a:avLst/>
          </a:prstGeom>
          <a:noFill/>
          <a:ln/>
        </p:spPr>
        <p:txBody>
          <a:bodyPr wrap="square" lIns="0" tIns="0" rIns="0" bIns="0" rtlCol="0" anchor="t"/>
          <a:lstStyle/>
          <a:p>
            <a:pPr indent="0" marL="0">
              <a:buNone/>
            </a:pPr>
            <a:r>
              <a:rPr lang="en-US" sz="1800" dirty="0">
                <a:solidFill>
                  <a:srgbClr val="C9D3CC"/>
                </a:solidFill>
              </a:rPr>
              <a:t>Data, training, customization, alignment, evaluation, guardrails, retrieval, agents and deployment</a:t>
            </a:r>
            <a:endParaRPr lang="en-US" sz="1800" dirty="0"/>
          </a:p>
        </p:txBody>
      </p:sp>
      <p:sp>
        <p:nvSpPr>
          <p:cNvPr id="5" name="Shape 3"/>
          <p:cNvSpPr/>
          <p:nvPr/>
        </p:nvSpPr>
        <p:spPr>
          <a:xfrm>
            <a:off x="8503920" y="1188720"/>
            <a:ext cx="396240" cy="400304"/>
          </a:xfrm>
          <a:prstGeom prst="roundRect">
            <a:avLst>
              <a:gd name="adj" fmla="val 9231"/>
            </a:avLst>
          </a:prstGeom>
          <a:solidFill>
            <a:schemeClr val="accent1"/>
          </a:solidFill>
          <a:ln/>
        </p:spPr>
      </p:sp>
      <p:sp>
        <p:nvSpPr>
          <p:cNvPr id="6" name="Shape 4"/>
          <p:cNvSpPr/>
          <p:nvPr/>
        </p:nvSpPr>
        <p:spPr>
          <a:xfrm>
            <a:off x="9009888" y="1188720"/>
            <a:ext cx="396240" cy="400304"/>
          </a:xfrm>
          <a:prstGeom prst="roundRect">
            <a:avLst>
              <a:gd name="adj" fmla="val 9231"/>
            </a:avLst>
          </a:prstGeom>
          <a:solidFill>
            <a:schemeClr val="accent1">
              <a:alpha val="20000"/>
            </a:schemeClr>
          </a:solidFill>
          <a:ln/>
        </p:spPr>
      </p:sp>
      <p:sp>
        <p:nvSpPr>
          <p:cNvPr id="7" name="Shape 5"/>
          <p:cNvSpPr/>
          <p:nvPr/>
        </p:nvSpPr>
        <p:spPr>
          <a:xfrm>
            <a:off x="9515856" y="1188720"/>
            <a:ext cx="396240" cy="400304"/>
          </a:xfrm>
          <a:prstGeom prst="roundRect">
            <a:avLst>
              <a:gd name="adj" fmla="val 9231"/>
            </a:avLst>
          </a:prstGeom>
          <a:solidFill>
            <a:schemeClr val="accent1">
              <a:alpha val="45000"/>
            </a:schemeClr>
          </a:solidFill>
          <a:ln/>
        </p:spPr>
      </p:sp>
      <p:sp>
        <p:nvSpPr>
          <p:cNvPr id="8" name="Shape 6"/>
          <p:cNvSpPr/>
          <p:nvPr/>
        </p:nvSpPr>
        <p:spPr>
          <a:xfrm>
            <a:off x="10021824" y="1188720"/>
            <a:ext cx="396240" cy="400304"/>
          </a:xfrm>
          <a:prstGeom prst="roundRect">
            <a:avLst>
              <a:gd name="adj" fmla="val 9231"/>
            </a:avLst>
          </a:prstGeom>
          <a:solidFill>
            <a:schemeClr val="accent1">
              <a:alpha val="75000"/>
            </a:schemeClr>
          </a:solidFill>
          <a:ln/>
        </p:spPr>
      </p:sp>
      <p:sp>
        <p:nvSpPr>
          <p:cNvPr id="9" name="Shape 7"/>
          <p:cNvSpPr/>
          <p:nvPr/>
        </p:nvSpPr>
        <p:spPr>
          <a:xfrm>
            <a:off x="10527792" y="1188720"/>
            <a:ext cx="396240" cy="400304"/>
          </a:xfrm>
          <a:prstGeom prst="roundRect">
            <a:avLst>
              <a:gd name="adj" fmla="val 9231"/>
            </a:avLst>
          </a:prstGeom>
          <a:solidFill>
            <a:schemeClr val="accent1"/>
          </a:solidFill>
          <a:ln/>
        </p:spPr>
      </p:sp>
      <p:sp>
        <p:nvSpPr>
          <p:cNvPr id="10" name="Shape 8"/>
          <p:cNvSpPr/>
          <p:nvPr/>
        </p:nvSpPr>
        <p:spPr>
          <a:xfrm>
            <a:off x="11033760" y="1188720"/>
            <a:ext cx="396240" cy="400304"/>
          </a:xfrm>
          <a:prstGeom prst="roundRect">
            <a:avLst>
              <a:gd name="adj" fmla="val 9231"/>
            </a:avLst>
          </a:prstGeom>
          <a:solidFill>
            <a:schemeClr val="accent1">
              <a:alpha val="20000"/>
            </a:schemeClr>
          </a:solidFill>
          <a:ln/>
        </p:spPr>
      </p:sp>
      <p:sp>
        <p:nvSpPr>
          <p:cNvPr id="11" name="Shape 9"/>
          <p:cNvSpPr/>
          <p:nvPr/>
        </p:nvSpPr>
        <p:spPr>
          <a:xfrm>
            <a:off x="8503920" y="1698752"/>
            <a:ext cx="396240" cy="400304"/>
          </a:xfrm>
          <a:prstGeom prst="roundRect">
            <a:avLst>
              <a:gd name="adj" fmla="val 9231"/>
            </a:avLst>
          </a:prstGeom>
          <a:solidFill>
            <a:schemeClr val="accent1">
              <a:alpha val="20000"/>
            </a:schemeClr>
          </a:solidFill>
          <a:ln/>
        </p:spPr>
      </p:sp>
      <p:sp>
        <p:nvSpPr>
          <p:cNvPr id="12" name="Shape 10"/>
          <p:cNvSpPr/>
          <p:nvPr/>
        </p:nvSpPr>
        <p:spPr>
          <a:xfrm>
            <a:off x="9009888" y="1698752"/>
            <a:ext cx="396240" cy="400304"/>
          </a:xfrm>
          <a:prstGeom prst="roundRect">
            <a:avLst>
              <a:gd name="adj" fmla="val 9231"/>
            </a:avLst>
          </a:prstGeom>
          <a:solidFill>
            <a:schemeClr val="accent1">
              <a:alpha val="20000"/>
            </a:schemeClr>
          </a:solidFill>
          <a:ln/>
        </p:spPr>
      </p:sp>
      <p:sp>
        <p:nvSpPr>
          <p:cNvPr id="13" name="Shape 11"/>
          <p:cNvSpPr/>
          <p:nvPr/>
        </p:nvSpPr>
        <p:spPr>
          <a:xfrm>
            <a:off x="9515856" y="1698752"/>
            <a:ext cx="396240" cy="400304"/>
          </a:xfrm>
          <a:prstGeom prst="roundRect">
            <a:avLst>
              <a:gd name="adj" fmla="val 9231"/>
            </a:avLst>
          </a:prstGeom>
          <a:solidFill>
            <a:schemeClr val="accent1">
              <a:alpha val="20000"/>
            </a:schemeClr>
          </a:solidFill>
          <a:ln/>
        </p:spPr>
      </p:sp>
      <p:sp>
        <p:nvSpPr>
          <p:cNvPr id="14" name="Shape 12"/>
          <p:cNvSpPr/>
          <p:nvPr/>
        </p:nvSpPr>
        <p:spPr>
          <a:xfrm>
            <a:off x="10021824" y="1698752"/>
            <a:ext cx="396240" cy="400304"/>
          </a:xfrm>
          <a:prstGeom prst="roundRect">
            <a:avLst>
              <a:gd name="adj" fmla="val 9231"/>
            </a:avLst>
          </a:prstGeom>
          <a:solidFill>
            <a:schemeClr val="accent1">
              <a:alpha val="20000"/>
            </a:schemeClr>
          </a:solidFill>
          <a:ln/>
        </p:spPr>
      </p:sp>
      <p:sp>
        <p:nvSpPr>
          <p:cNvPr id="15" name="Shape 13"/>
          <p:cNvSpPr/>
          <p:nvPr/>
        </p:nvSpPr>
        <p:spPr>
          <a:xfrm>
            <a:off x="10527792" y="1698752"/>
            <a:ext cx="396240" cy="400304"/>
          </a:xfrm>
          <a:prstGeom prst="roundRect">
            <a:avLst>
              <a:gd name="adj" fmla="val 9231"/>
            </a:avLst>
          </a:prstGeom>
          <a:solidFill>
            <a:schemeClr val="accent1">
              <a:alpha val="20000"/>
            </a:schemeClr>
          </a:solidFill>
          <a:ln/>
        </p:spPr>
      </p:sp>
      <p:sp>
        <p:nvSpPr>
          <p:cNvPr id="16" name="Shape 14"/>
          <p:cNvSpPr/>
          <p:nvPr/>
        </p:nvSpPr>
        <p:spPr>
          <a:xfrm>
            <a:off x="11033760" y="1698752"/>
            <a:ext cx="396240" cy="400304"/>
          </a:xfrm>
          <a:prstGeom prst="roundRect">
            <a:avLst>
              <a:gd name="adj" fmla="val 9231"/>
            </a:avLst>
          </a:prstGeom>
          <a:solidFill>
            <a:schemeClr val="accent1">
              <a:alpha val="20000"/>
            </a:schemeClr>
          </a:solidFill>
          <a:ln/>
        </p:spPr>
      </p:sp>
      <p:sp>
        <p:nvSpPr>
          <p:cNvPr id="17" name="Shape 15"/>
          <p:cNvSpPr/>
          <p:nvPr/>
        </p:nvSpPr>
        <p:spPr>
          <a:xfrm>
            <a:off x="8503920" y="2208784"/>
            <a:ext cx="396240" cy="400304"/>
          </a:xfrm>
          <a:prstGeom prst="roundRect">
            <a:avLst>
              <a:gd name="adj" fmla="val 9231"/>
            </a:avLst>
          </a:prstGeom>
          <a:solidFill>
            <a:schemeClr val="accent1">
              <a:alpha val="45000"/>
            </a:schemeClr>
          </a:solidFill>
          <a:ln/>
        </p:spPr>
      </p:sp>
      <p:sp>
        <p:nvSpPr>
          <p:cNvPr id="18" name="Shape 16"/>
          <p:cNvSpPr/>
          <p:nvPr/>
        </p:nvSpPr>
        <p:spPr>
          <a:xfrm>
            <a:off x="9009888" y="2208784"/>
            <a:ext cx="396240" cy="400304"/>
          </a:xfrm>
          <a:prstGeom prst="roundRect">
            <a:avLst>
              <a:gd name="adj" fmla="val 9231"/>
            </a:avLst>
          </a:prstGeom>
          <a:solidFill>
            <a:schemeClr val="accent1">
              <a:alpha val="20000"/>
            </a:schemeClr>
          </a:solidFill>
          <a:ln/>
        </p:spPr>
      </p:sp>
      <p:sp>
        <p:nvSpPr>
          <p:cNvPr id="19" name="Shape 17"/>
          <p:cNvSpPr/>
          <p:nvPr/>
        </p:nvSpPr>
        <p:spPr>
          <a:xfrm>
            <a:off x="9515856" y="2208784"/>
            <a:ext cx="396240" cy="400304"/>
          </a:xfrm>
          <a:prstGeom prst="roundRect">
            <a:avLst>
              <a:gd name="adj" fmla="val 9231"/>
            </a:avLst>
          </a:prstGeom>
          <a:solidFill>
            <a:schemeClr val="accent1"/>
          </a:solidFill>
          <a:ln/>
        </p:spPr>
      </p:sp>
      <p:sp>
        <p:nvSpPr>
          <p:cNvPr id="20" name="Shape 18"/>
          <p:cNvSpPr/>
          <p:nvPr/>
        </p:nvSpPr>
        <p:spPr>
          <a:xfrm>
            <a:off x="10021824" y="2208784"/>
            <a:ext cx="396240" cy="400304"/>
          </a:xfrm>
          <a:prstGeom prst="roundRect">
            <a:avLst>
              <a:gd name="adj" fmla="val 9231"/>
            </a:avLst>
          </a:prstGeom>
          <a:solidFill>
            <a:schemeClr val="accent1">
              <a:alpha val="75000"/>
            </a:schemeClr>
          </a:solidFill>
          <a:ln/>
        </p:spPr>
      </p:sp>
      <p:sp>
        <p:nvSpPr>
          <p:cNvPr id="21" name="Shape 19"/>
          <p:cNvSpPr/>
          <p:nvPr/>
        </p:nvSpPr>
        <p:spPr>
          <a:xfrm>
            <a:off x="10527792" y="2208784"/>
            <a:ext cx="396240" cy="400304"/>
          </a:xfrm>
          <a:prstGeom prst="roundRect">
            <a:avLst>
              <a:gd name="adj" fmla="val 9231"/>
            </a:avLst>
          </a:prstGeom>
          <a:solidFill>
            <a:schemeClr val="accent1">
              <a:alpha val="45000"/>
            </a:schemeClr>
          </a:solidFill>
          <a:ln/>
        </p:spPr>
      </p:sp>
      <p:sp>
        <p:nvSpPr>
          <p:cNvPr id="22" name="Shape 20"/>
          <p:cNvSpPr/>
          <p:nvPr/>
        </p:nvSpPr>
        <p:spPr>
          <a:xfrm>
            <a:off x="11033760" y="2208784"/>
            <a:ext cx="396240" cy="400304"/>
          </a:xfrm>
          <a:prstGeom prst="roundRect">
            <a:avLst>
              <a:gd name="adj" fmla="val 9231"/>
            </a:avLst>
          </a:prstGeom>
          <a:solidFill>
            <a:schemeClr val="accent1">
              <a:alpha val="20000"/>
            </a:schemeClr>
          </a:solidFill>
          <a:ln/>
        </p:spPr>
      </p:sp>
      <p:sp>
        <p:nvSpPr>
          <p:cNvPr id="23" name="Shape 21"/>
          <p:cNvSpPr/>
          <p:nvPr/>
        </p:nvSpPr>
        <p:spPr>
          <a:xfrm>
            <a:off x="8503920" y="2718816"/>
            <a:ext cx="396240" cy="400304"/>
          </a:xfrm>
          <a:prstGeom prst="roundRect">
            <a:avLst>
              <a:gd name="adj" fmla="val 9231"/>
            </a:avLst>
          </a:prstGeom>
          <a:solidFill>
            <a:schemeClr val="accent1">
              <a:alpha val="75000"/>
            </a:schemeClr>
          </a:solidFill>
          <a:ln/>
        </p:spPr>
      </p:sp>
      <p:sp>
        <p:nvSpPr>
          <p:cNvPr id="24" name="Shape 22"/>
          <p:cNvSpPr/>
          <p:nvPr/>
        </p:nvSpPr>
        <p:spPr>
          <a:xfrm>
            <a:off x="9009888" y="2718816"/>
            <a:ext cx="396240" cy="400304"/>
          </a:xfrm>
          <a:prstGeom prst="roundRect">
            <a:avLst>
              <a:gd name="adj" fmla="val 9231"/>
            </a:avLst>
          </a:prstGeom>
          <a:solidFill>
            <a:schemeClr val="accent1">
              <a:alpha val="20000"/>
            </a:schemeClr>
          </a:solidFill>
          <a:ln/>
        </p:spPr>
      </p:sp>
      <p:sp>
        <p:nvSpPr>
          <p:cNvPr id="25" name="Shape 23"/>
          <p:cNvSpPr/>
          <p:nvPr/>
        </p:nvSpPr>
        <p:spPr>
          <a:xfrm>
            <a:off x="9515856" y="2718816"/>
            <a:ext cx="396240" cy="400304"/>
          </a:xfrm>
          <a:prstGeom prst="roundRect">
            <a:avLst>
              <a:gd name="adj" fmla="val 9231"/>
            </a:avLst>
          </a:prstGeom>
          <a:solidFill>
            <a:schemeClr val="accent1">
              <a:alpha val="75000"/>
            </a:schemeClr>
          </a:solidFill>
          <a:ln/>
        </p:spPr>
      </p:sp>
      <p:sp>
        <p:nvSpPr>
          <p:cNvPr id="26" name="Shape 24"/>
          <p:cNvSpPr/>
          <p:nvPr/>
        </p:nvSpPr>
        <p:spPr>
          <a:xfrm>
            <a:off x="10021824" y="2718816"/>
            <a:ext cx="396240" cy="400304"/>
          </a:xfrm>
          <a:prstGeom prst="roundRect">
            <a:avLst>
              <a:gd name="adj" fmla="val 9231"/>
            </a:avLst>
          </a:prstGeom>
          <a:solidFill>
            <a:schemeClr val="accent1">
              <a:alpha val="20000"/>
            </a:schemeClr>
          </a:solidFill>
          <a:ln/>
        </p:spPr>
      </p:sp>
      <p:sp>
        <p:nvSpPr>
          <p:cNvPr id="27" name="Shape 25"/>
          <p:cNvSpPr/>
          <p:nvPr/>
        </p:nvSpPr>
        <p:spPr>
          <a:xfrm>
            <a:off x="10527792" y="2718816"/>
            <a:ext cx="396240" cy="400304"/>
          </a:xfrm>
          <a:prstGeom prst="roundRect">
            <a:avLst>
              <a:gd name="adj" fmla="val 9231"/>
            </a:avLst>
          </a:prstGeom>
          <a:solidFill>
            <a:schemeClr val="accent1">
              <a:alpha val="75000"/>
            </a:schemeClr>
          </a:solidFill>
          <a:ln/>
        </p:spPr>
      </p:sp>
      <p:sp>
        <p:nvSpPr>
          <p:cNvPr id="28" name="Shape 26"/>
          <p:cNvSpPr/>
          <p:nvPr/>
        </p:nvSpPr>
        <p:spPr>
          <a:xfrm>
            <a:off x="11033760" y="2718816"/>
            <a:ext cx="396240" cy="400304"/>
          </a:xfrm>
          <a:prstGeom prst="roundRect">
            <a:avLst>
              <a:gd name="adj" fmla="val 9231"/>
            </a:avLst>
          </a:prstGeom>
          <a:solidFill>
            <a:schemeClr val="accent1">
              <a:alpha val="20000"/>
            </a:schemeClr>
          </a:solidFill>
          <a:ln/>
        </p:spPr>
      </p:sp>
      <p:sp>
        <p:nvSpPr>
          <p:cNvPr id="29" name="Shape 27"/>
          <p:cNvSpPr/>
          <p:nvPr/>
        </p:nvSpPr>
        <p:spPr>
          <a:xfrm>
            <a:off x="8503920" y="3228848"/>
            <a:ext cx="396240" cy="400304"/>
          </a:xfrm>
          <a:prstGeom prst="roundRect">
            <a:avLst>
              <a:gd name="adj" fmla="val 9231"/>
            </a:avLst>
          </a:prstGeom>
          <a:solidFill>
            <a:schemeClr val="accent1"/>
          </a:solidFill>
          <a:ln/>
        </p:spPr>
      </p:sp>
      <p:sp>
        <p:nvSpPr>
          <p:cNvPr id="30" name="Shape 28"/>
          <p:cNvSpPr/>
          <p:nvPr/>
        </p:nvSpPr>
        <p:spPr>
          <a:xfrm>
            <a:off x="9009888" y="3228848"/>
            <a:ext cx="396240" cy="400304"/>
          </a:xfrm>
          <a:prstGeom prst="roundRect">
            <a:avLst>
              <a:gd name="adj" fmla="val 9231"/>
            </a:avLst>
          </a:prstGeom>
          <a:solidFill>
            <a:schemeClr val="accent1">
              <a:alpha val="20000"/>
            </a:schemeClr>
          </a:solidFill>
          <a:ln/>
        </p:spPr>
      </p:sp>
      <p:sp>
        <p:nvSpPr>
          <p:cNvPr id="31" name="Shape 29"/>
          <p:cNvSpPr/>
          <p:nvPr/>
        </p:nvSpPr>
        <p:spPr>
          <a:xfrm>
            <a:off x="9515856" y="3228848"/>
            <a:ext cx="396240" cy="400304"/>
          </a:xfrm>
          <a:prstGeom prst="roundRect">
            <a:avLst>
              <a:gd name="adj" fmla="val 9231"/>
            </a:avLst>
          </a:prstGeom>
          <a:solidFill>
            <a:schemeClr val="accent1">
              <a:alpha val="45000"/>
            </a:schemeClr>
          </a:solidFill>
          <a:ln/>
        </p:spPr>
      </p:sp>
      <p:sp>
        <p:nvSpPr>
          <p:cNvPr id="32" name="Shape 30"/>
          <p:cNvSpPr/>
          <p:nvPr/>
        </p:nvSpPr>
        <p:spPr>
          <a:xfrm>
            <a:off x="10021824" y="3228848"/>
            <a:ext cx="396240" cy="400304"/>
          </a:xfrm>
          <a:prstGeom prst="roundRect">
            <a:avLst>
              <a:gd name="adj" fmla="val 9231"/>
            </a:avLst>
          </a:prstGeom>
          <a:solidFill>
            <a:schemeClr val="accent1">
              <a:alpha val="75000"/>
            </a:schemeClr>
          </a:solidFill>
          <a:ln/>
        </p:spPr>
      </p:sp>
      <p:sp>
        <p:nvSpPr>
          <p:cNvPr id="33" name="Shape 31"/>
          <p:cNvSpPr/>
          <p:nvPr/>
        </p:nvSpPr>
        <p:spPr>
          <a:xfrm>
            <a:off x="10527792" y="3228848"/>
            <a:ext cx="396240" cy="400304"/>
          </a:xfrm>
          <a:prstGeom prst="roundRect">
            <a:avLst>
              <a:gd name="adj" fmla="val 9231"/>
            </a:avLst>
          </a:prstGeom>
          <a:solidFill>
            <a:schemeClr val="accent1"/>
          </a:solidFill>
          <a:ln/>
        </p:spPr>
      </p:sp>
      <p:sp>
        <p:nvSpPr>
          <p:cNvPr id="34" name="Shape 32"/>
          <p:cNvSpPr/>
          <p:nvPr/>
        </p:nvSpPr>
        <p:spPr>
          <a:xfrm>
            <a:off x="11033760" y="3228848"/>
            <a:ext cx="396240" cy="400304"/>
          </a:xfrm>
          <a:prstGeom prst="roundRect">
            <a:avLst>
              <a:gd name="adj" fmla="val 9231"/>
            </a:avLst>
          </a:prstGeom>
          <a:solidFill>
            <a:schemeClr val="accent1">
              <a:alpha val="20000"/>
            </a:schemeClr>
          </a:solidFill>
          <a:ln/>
        </p:spPr>
      </p:sp>
      <p:sp>
        <p:nvSpPr>
          <p:cNvPr id="35" name="Shape 33"/>
          <p:cNvSpPr/>
          <p:nvPr/>
        </p:nvSpPr>
        <p:spPr>
          <a:xfrm>
            <a:off x="8503920" y="3738880"/>
            <a:ext cx="396240" cy="400304"/>
          </a:xfrm>
          <a:prstGeom prst="roundRect">
            <a:avLst>
              <a:gd name="adj" fmla="val 9231"/>
            </a:avLst>
          </a:prstGeom>
          <a:solidFill>
            <a:schemeClr val="accent1">
              <a:alpha val="20000"/>
            </a:schemeClr>
          </a:solidFill>
          <a:ln/>
        </p:spPr>
      </p:sp>
      <p:sp>
        <p:nvSpPr>
          <p:cNvPr id="36" name="Shape 34"/>
          <p:cNvSpPr/>
          <p:nvPr/>
        </p:nvSpPr>
        <p:spPr>
          <a:xfrm>
            <a:off x="9009888" y="3738880"/>
            <a:ext cx="396240" cy="400304"/>
          </a:xfrm>
          <a:prstGeom prst="roundRect">
            <a:avLst>
              <a:gd name="adj" fmla="val 9231"/>
            </a:avLst>
          </a:prstGeom>
          <a:solidFill>
            <a:schemeClr val="accent1">
              <a:alpha val="20000"/>
            </a:schemeClr>
          </a:solidFill>
          <a:ln/>
        </p:spPr>
      </p:sp>
      <p:sp>
        <p:nvSpPr>
          <p:cNvPr id="37" name="Shape 35"/>
          <p:cNvSpPr/>
          <p:nvPr/>
        </p:nvSpPr>
        <p:spPr>
          <a:xfrm>
            <a:off x="9515856" y="3738880"/>
            <a:ext cx="396240" cy="400304"/>
          </a:xfrm>
          <a:prstGeom prst="roundRect">
            <a:avLst>
              <a:gd name="adj" fmla="val 9231"/>
            </a:avLst>
          </a:prstGeom>
          <a:solidFill>
            <a:schemeClr val="accent1">
              <a:alpha val="20000"/>
            </a:schemeClr>
          </a:solidFill>
          <a:ln/>
        </p:spPr>
      </p:sp>
      <p:sp>
        <p:nvSpPr>
          <p:cNvPr id="38" name="Shape 36"/>
          <p:cNvSpPr/>
          <p:nvPr/>
        </p:nvSpPr>
        <p:spPr>
          <a:xfrm>
            <a:off x="10021824" y="3738880"/>
            <a:ext cx="396240" cy="400304"/>
          </a:xfrm>
          <a:prstGeom prst="roundRect">
            <a:avLst>
              <a:gd name="adj" fmla="val 9231"/>
            </a:avLst>
          </a:prstGeom>
          <a:solidFill>
            <a:schemeClr val="accent1">
              <a:alpha val="20000"/>
            </a:schemeClr>
          </a:solidFill>
          <a:ln/>
        </p:spPr>
      </p:sp>
      <p:sp>
        <p:nvSpPr>
          <p:cNvPr id="39" name="Shape 37"/>
          <p:cNvSpPr/>
          <p:nvPr/>
        </p:nvSpPr>
        <p:spPr>
          <a:xfrm>
            <a:off x="10527792" y="3738880"/>
            <a:ext cx="396240" cy="400304"/>
          </a:xfrm>
          <a:prstGeom prst="roundRect">
            <a:avLst>
              <a:gd name="adj" fmla="val 9231"/>
            </a:avLst>
          </a:prstGeom>
          <a:solidFill>
            <a:schemeClr val="accent1">
              <a:alpha val="20000"/>
            </a:schemeClr>
          </a:solidFill>
          <a:ln/>
        </p:spPr>
      </p:sp>
      <p:sp>
        <p:nvSpPr>
          <p:cNvPr id="40" name="Shape 38"/>
          <p:cNvSpPr/>
          <p:nvPr/>
        </p:nvSpPr>
        <p:spPr>
          <a:xfrm>
            <a:off x="11033760" y="3738880"/>
            <a:ext cx="396240" cy="400304"/>
          </a:xfrm>
          <a:prstGeom prst="roundRect">
            <a:avLst>
              <a:gd name="adj" fmla="val 9231"/>
            </a:avLst>
          </a:prstGeom>
          <a:solidFill>
            <a:schemeClr val="accent1">
              <a:alpha val="20000"/>
            </a:schemeClr>
          </a:solidFill>
          <a:ln/>
        </p:spPr>
      </p:sp>
      <p:sp>
        <p:nvSpPr>
          <p:cNvPr id="41" name="Shape 39"/>
          <p:cNvSpPr/>
          <p:nvPr/>
        </p:nvSpPr>
        <p:spPr>
          <a:xfrm>
            <a:off x="8503920" y="4248912"/>
            <a:ext cx="396240" cy="400304"/>
          </a:xfrm>
          <a:prstGeom prst="roundRect">
            <a:avLst>
              <a:gd name="adj" fmla="val 9231"/>
            </a:avLst>
          </a:prstGeom>
          <a:solidFill>
            <a:schemeClr val="accent1">
              <a:alpha val="45000"/>
            </a:schemeClr>
          </a:solidFill>
          <a:ln/>
        </p:spPr>
      </p:sp>
      <p:sp>
        <p:nvSpPr>
          <p:cNvPr id="42" name="Shape 40"/>
          <p:cNvSpPr/>
          <p:nvPr/>
        </p:nvSpPr>
        <p:spPr>
          <a:xfrm>
            <a:off x="9009888" y="4248912"/>
            <a:ext cx="396240" cy="400304"/>
          </a:xfrm>
          <a:prstGeom prst="roundRect">
            <a:avLst>
              <a:gd name="adj" fmla="val 9231"/>
            </a:avLst>
          </a:prstGeom>
          <a:solidFill>
            <a:schemeClr val="accent1">
              <a:alpha val="20000"/>
            </a:schemeClr>
          </a:solidFill>
          <a:ln/>
        </p:spPr>
      </p:sp>
      <p:sp>
        <p:nvSpPr>
          <p:cNvPr id="43" name="Shape 41"/>
          <p:cNvSpPr/>
          <p:nvPr/>
        </p:nvSpPr>
        <p:spPr>
          <a:xfrm>
            <a:off x="9515856" y="4248912"/>
            <a:ext cx="396240" cy="400304"/>
          </a:xfrm>
          <a:prstGeom prst="roundRect">
            <a:avLst>
              <a:gd name="adj" fmla="val 9231"/>
            </a:avLst>
          </a:prstGeom>
          <a:solidFill>
            <a:schemeClr val="accent1"/>
          </a:solidFill>
          <a:ln/>
        </p:spPr>
      </p:sp>
      <p:sp>
        <p:nvSpPr>
          <p:cNvPr id="44" name="Shape 42"/>
          <p:cNvSpPr/>
          <p:nvPr/>
        </p:nvSpPr>
        <p:spPr>
          <a:xfrm>
            <a:off x="10021824" y="4248912"/>
            <a:ext cx="396240" cy="400304"/>
          </a:xfrm>
          <a:prstGeom prst="roundRect">
            <a:avLst>
              <a:gd name="adj" fmla="val 9231"/>
            </a:avLst>
          </a:prstGeom>
          <a:solidFill>
            <a:schemeClr val="accent1">
              <a:alpha val="75000"/>
            </a:schemeClr>
          </a:solidFill>
          <a:ln/>
        </p:spPr>
      </p:sp>
      <p:sp>
        <p:nvSpPr>
          <p:cNvPr id="45" name="Shape 43"/>
          <p:cNvSpPr/>
          <p:nvPr/>
        </p:nvSpPr>
        <p:spPr>
          <a:xfrm>
            <a:off x="10527792" y="4248912"/>
            <a:ext cx="396240" cy="400304"/>
          </a:xfrm>
          <a:prstGeom prst="roundRect">
            <a:avLst>
              <a:gd name="adj" fmla="val 9231"/>
            </a:avLst>
          </a:prstGeom>
          <a:solidFill>
            <a:schemeClr val="accent1">
              <a:alpha val="45000"/>
            </a:schemeClr>
          </a:solidFill>
          <a:ln/>
        </p:spPr>
      </p:sp>
      <p:sp>
        <p:nvSpPr>
          <p:cNvPr id="46" name="Shape 44"/>
          <p:cNvSpPr/>
          <p:nvPr/>
        </p:nvSpPr>
        <p:spPr>
          <a:xfrm>
            <a:off x="11033760" y="4248912"/>
            <a:ext cx="396240" cy="400304"/>
          </a:xfrm>
          <a:prstGeom prst="roundRect">
            <a:avLst>
              <a:gd name="adj" fmla="val 9231"/>
            </a:avLst>
          </a:prstGeom>
          <a:solidFill>
            <a:schemeClr val="accent1">
              <a:alpha val="20000"/>
            </a:schemeClr>
          </a:solidFill>
          <a:ln/>
        </p:spPr>
      </p:sp>
      <p:sp>
        <p:nvSpPr>
          <p:cNvPr id="47" name="Shape 45"/>
          <p:cNvSpPr/>
          <p:nvPr/>
        </p:nvSpPr>
        <p:spPr>
          <a:xfrm>
            <a:off x="8503920" y="4758944"/>
            <a:ext cx="396240" cy="400304"/>
          </a:xfrm>
          <a:prstGeom prst="roundRect">
            <a:avLst>
              <a:gd name="adj" fmla="val 9231"/>
            </a:avLst>
          </a:prstGeom>
          <a:solidFill>
            <a:schemeClr val="accent1">
              <a:alpha val="75000"/>
            </a:schemeClr>
          </a:solidFill>
          <a:ln/>
        </p:spPr>
      </p:sp>
      <p:sp>
        <p:nvSpPr>
          <p:cNvPr id="48" name="Shape 46"/>
          <p:cNvSpPr/>
          <p:nvPr/>
        </p:nvSpPr>
        <p:spPr>
          <a:xfrm>
            <a:off x="9009888" y="4758944"/>
            <a:ext cx="396240" cy="400304"/>
          </a:xfrm>
          <a:prstGeom prst="roundRect">
            <a:avLst>
              <a:gd name="adj" fmla="val 9231"/>
            </a:avLst>
          </a:prstGeom>
          <a:solidFill>
            <a:schemeClr val="accent1">
              <a:alpha val="20000"/>
            </a:schemeClr>
          </a:solidFill>
          <a:ln/>
        </p:spPr>
      </p:sp>
      <p:sp>
        <p:nvSpPr>
          <p:cNvPr id="49" name="Shape 47"/>
          <p:cNvSpPr/>
          <p:nvPr/>
        </p:nvSpPr>
        <p:spPr>
          <a:xfrm>
            <a:off x="9515856" y="4758944"/>
            <a:ext cx="396240" cy="400304"/>
          </a:xfrm>
          <a:prstGeom prst="roundRect">
            <a:avLst>
              <a:gd name="adj" fmla="val 9231"/>
            </a:avLst>
          </a:prstGeom>
          <a:solidFill>
            <a:schemeClr val="accent1">
              <a:alpha val="75000"/>
            </a:schemeClr>
          </a:solidFill>
          <a:ln/>
        </p:spPr>
      </p:sp>
      <p:sp>
        <p:nvSpPr>
          <p:cNvPr id="50" name="Shape 48"/>
          <p:cNvSpPr/>
          <p:nvPr/>
        </p:nvSpPr>
        <p:spPr>
          <a:xfrm>
            <a:off x="10021824" y="4758944"/>
            <a:ext cx="396240" cy="400304"/>
          </a:xfrm>
          <a:prstGeom prst="roundRect">
            <a:avLst>
              <a:gd name="adj" fmla="val 9231"/>
            </a:avLst>
          </a:prstGeom>
          <a:solidFill>
            <a:schemeClr val="accent1">
              <a:alpha val="20000"/>
            </a:schemeClr>
          </a:solidFill>
          <a:ln/>
        </p:spPr>
      </p:sp>
      <p:sp>
        <p:nvSpPr>
          <p:cNvPr id="51" name="Shape 49"/>
          <p:cNvSpPr/>
          <p:nvPr/>
        </p:nvSpPr>
        <p:spPr>
          <a:xfrm>
            <a:off x="10527792" y="4758944"/>
            <a:ext cx="396240" cy="400304"/>
          </a:xfrm>
          <a:prstGeom prst="roundRect">
            <a:avLst>
              <a:gd name="adj" fmla="val 9231"/>
            </a:avLst>
          </a:prstGeom>
          <a:solidFill>
            <a:schemeClr val="accent1">
              <a:alpha val="75000"/>
            </a:schemeClr>
          </a:solidFill>
          <a:ln/>
        </p:spPr>
      </p:sp>
      <p:sp>
        <p:nvSpPr>
          <p:cNvPr id="52" name="Shape 50"/>
          <p:cNvSpPr/>
          <p:nvPr/>
        </p:nvSpPr>
        <p:spPr>
          <a:xfrm>
            <a:off x="11033760" y="4758944"/>
            <a:ext cx="396240" cy="400304"/>
          </a:xfrm>
          <a:prstGeom prst="roundRect">
            <a:avLst>
              <a:gd name="adj" fmla="val 9231"/>
            </a:avLst>
          </a:prstGeom>
          <a:solidFill>
            <a:schemeClr val="accent1">
              <a:alpha val="20000"/>
            </a:schemeClr>
          </a:solidFill>
          <a:ln/>
        </p:spPr>
      </p:sp>
      <p:sp>
        <p:nvSpPr>
          <p:cNvPr id="53" name="Shape 51"/>
          <p:cNvSpPr/>
          <p:nvPr/>
        </p:nvSpPr>
        <p:spPr>
          <a:xfrm>
            <a:off x="8503920" y="5268976"/>
            <a:ext cx="396240" cy="400304"/>
          </a:xfrm>
          <a:prstGeom prst="roundRect">
            <a:avLst>
              <a:gd name="adj" fmla="val 9231"/>
            </a:avLst>
          </a:prstGeom>
          <a:solidFill>
            <a:schemeClr val="accent1"/>
          </a:solidFill>
          <a:ln/>
        </p:spPr>
      </p:sp>
      <p:sp>
        <p:nvSpPr>
          <p:cNvPr id="54" name="Shape 52"/>
          <p:cNvSpPr/>
          <p:nvPr/>
        </p:nvSpPr>
        <p:spPr>
          <a:xfrm>
            <a:off x="9009888" y="5268976"/>
            <a:ext cx="396240" cy="400304"/>
          </a:xfrm>
          <a:prstGeom prst="roundRect">
            <a:avLst>
              <a:gd name="adj" fmla="val 9231"/>
            </a:avLst>
          </a:prstGeom>
          <a:solidFill>
            <a:schemeClr val="accent1">
              <a:alpha val="20000"/>
            </a:schemeClr>
          </a:solidFill>
          <a:ln/>
        </p:spPr>
      </p:sp>
      <p:sp>
        <p:nvSpPr>
          <p:cNvPr id="55" name="Shape 53"/>
          <p:cNvSpPr/>
          <p:nvPr/>
        </p:nvSpPr>
        <p:spPr>
          <a:xfrm>
            <a:off x="9515856" y="5268976"/>
            <a:ext cx="396240" cy="400304"/>
          </a:xfrm>
          <a:prstGeom prst="roundRect">
            <a:avLst>
              <a:gd name="adj" fmla="val 9231"/>
            </a:avLst>
          </a:prstGeom>
          <a:solidFill>
            <a:schemeClr val="accent1">
              <a:alpha val="45000"/>
            </a:schemeClr>
          </a:solidFill>
          <a:ln/>
        </p:spPr>
      </p:sp>
      <p:sp>
        <p:nvSpPr>
          <p:cNvPr id="56" name="Shape 54"/>
          <p:cNvSpPr/>
          <p:nvPr/>
        </p:nvSpPr>
        <p:spPr>
          <a:xfrm>
            <a:off x="10021824" y="5268976"/>
            <a:ext cx="396240" cy="400304"/>
          </a:xfrm>
          <a:prstGeom prst="roundRect">
            <a:avLst>
              <a:gd name="adj" fmla="val 9231"/>
            </a:avLst>
          </a:prstGeom>
          <a:solidFill>
            <a:schemeClr val="accent1">
              <a:alpha val="75000"/>
            </a:schemeClr>
          </a:solidFill>
          <a:ln/>
        </p:spPr>
      </p:sp>
      <p:sp>
        <p:nvSpPr>
          <p:cNvPr id="57" name="Shape 55"/>
          <p:cNvSpPr/>
          <p:nvPr/>
        </p:nvSpPr>
        <p:spPr>
          <a:xfrm>
            <a:off x="10527792" y="5268976"/>
            <a:ext cx="396240" cy="400304"/>
          </a:xfrm>
          <a:prstGeom prst="roundRect">
            <a:avLst>
              <a:gd name="adj" fmla="val 9231"/>
            </a:avLst>
          </a:prstGeom>
          <a:solidFill>
            <a:schemeClr val="accent1"/>
          </a:solidFill>
          <a:ln/>
        </p:spPr>
      </p:sp>
      <p:sp>
        <p:nvSpPr>
          <p:cNvPr id="58" name="Shape 56"/>
          <p:cNvSpPr/>
          <p:nvPr/>
        </p:nvSpPr>
        <p:spPr>
          <a:xfrm>
            <a:off x="11033760" y="5268976"/>
            <a:ext cx="396240" cy="400304"/>
          </a:xfrm>
          <a:prstGeom prst="roundRect">
            <a:avLst>
              <a:gd name="adj" fmla="val 9231"/>
            </a:avLst>
          </a:prstGeom>
          <a:solidFill>
            <a:schemeClr val="accent1">
              <a:alpha val="20000"/>
            </a:schemeClr>
          </a:solid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000" b="1" dirty="0">
                <a:solidFill>
                  <a:schemeClr val="tx1"/>
                </a:solidFill>
              </a:rPr>
              <a:t>NeMo Curator: high-quality data at scale</a:t>
            </a:r>
            <a:endParaRPr lang="en-US" sz="3000" dirty="0"/>
          </a:p>
        </p:txBody>
      </p:sp>
      <p:sp>
        <p:nvSpPr>
          <p:cNvPr id="3" name="Text 0"/>
          <p:cNvSpPr/>
          <p:nvPr>
            <p:ph idx="101" type="body" hasCustomPrompt="1"/>
          </p:nvPr>
        </p:nvSpPr>
        <p:spPr>
          <a:xfrm>
            <a:off x="548640" y="960120"/>
            <a:ext cx="11064240" cy="411480"/>
          </a:xfrm>
          <a:prstGeom prst="rect">
            <a:avLst/>
          </a:prstGeom>
          <a:noFill/>
          <a:ln/>
        </p:spPr>
        <p:txBody>
          <a:bodyPr wrap="square" lIns="0" tIns="0" rIns="0" bIns="0" rtlCol="0" anchor="t"/>
          <a:lstStyle/>
          <a:p>
            <a:pPr indent="0" marL="0">
              <a:buNone/>
            </a:pPr>
            <a:r>
              <a:rPr lang="en-US" sz="1600" dirty="0">
                <a:solidFill>
                  <a:schemeClr val="accent5"/>
                </a:solidFill>
              </a:rPr>
              <a:t>Garbage in, garbage out. Curation is often the biggest lever on model quality</a:t>
            </a:r>
            <a:endParaRPr lang="en-US" sz="1600" dirty="0"/>
          </a:p>
        </p:txBody>
      </p:sp>
      <p:sp>
        <p:nvSpPr>
          <p:cNvPr id="4" name="Text 2"/>
          <p:cNvSpPr/>
          <p:nvPr/>
        </p:nvSpPr>
        <p:spPr>
          <a:xfrm>
            <a:off x="548640" y="1600200"/>
            <a:ext cx="1691640" cy="1417320"/>
          </a:xfrm>
          <a:prstGeom prst="roundRect">
            <a:avLst>
              <a:gd name="adj" fmla="val 3871"/>
            </a:avLst>
          </a:prstGeom>
          <a:solidFill>
            <a:schemeClr val="bg2"/>
          </a:solidFill>
          <a:ln/>
        </p:spPr>
        <p:txBody>
          <a:bodyPr wrap="square" lIns="1016" tIns="1016" rIns="1016" bIns="1016" rtlCol="0" anchor="ctr"/>
          <a:lstStyle/>
          <a:p>
            <a:pPr algn="ctr" indent="0" marL="0">
              <a:buNone/>
            </a:pPr>
            <a:r>
              <a:rPr lang="en-US" sz="1500" b="1" dirty="0">
                <a:solidFill>
                  <a:schemeClr val="tx1"/>
                </a:solidFill>
              </a:rPr>
              <a:t>Ingest</a:t>
            </a:r>
            <a:endParaRPr lang="en-US" sz="1500" dirty="0"/>
          </a:p>
          <a:p>
            <a:pPr algn="ctr" indent="0" marL="0">
              <a:buNone/>
            </a:pPr>
            <a:r>
              <a:rPr lang="en-US" sz="1200" dirty="0">
                <a:solidFill>
                  <a:schemeClr val="tx1"/>
                </a:solidFill>
              </a:rPr>
              <a:t>Web crawls, documents, logs, PDFs, images, video</a:t>
            </a:r>
            <a:endParaRPr lang="en-US" sz="1500" dirty="0"/>
          </a:p>
        </p:txBody>
      </p:sp>
      <p:sp>
        <p:nvSpPr>
          <p:cNvPr id="5" name="Shape 3"/>
          <p:cNvSpPr/>
          <p:nvPr/>
        </p:nvSpPr>
        <p:spPr>
          <a:xfrm>
            <a:off x="2249424" y="2304288"/>
            <a:ext cx="164592" cy="914"/>
          </a:xfrm>
          <a:prstGeom prst="line">
            <a:avLst/>
          </a:prstGeom>
          <a:noFill/>
          <a:ln w="25400">
            <a:solidFill>
              <a:schemeClr val="accent2"/>
            </a:solidFill>
            <a:prstDash val="solid"/>
            <a:tailEnd type="triangle"/>
          </a:ln>
        </p:spPr>
      </p:sp>
      <p:sp>
        <p:nvSpPr>
          <p:cNvPr id="6" name="Text 4"/>
          <p:cNvSpPr/>
          <p:nvPr/>
        </p:nvSpPr>
        <p:spPr>
          <a:xfrm>
            <a:off x="2423160" y="1600200"/>
            <a:ext cx="1691640" cy="1417320"/>
          </a:xfrm>
          <a:prstGeom prst="roundRect">
            <a:avLst>
              <a:gd name="adj" fmla="val 3871"/>
            </a:avLst>
          </a:prstGeom>
          <a:solidFill>
            <a:schemeClr val="bg2"/>
          </a:solidFill>
          <a:ln/>
        </p:spPr>
        <p:txBody>
          <a:bodyPr wrap="square" lIns="1016" tIns="1016" rIns="1016" bIns="1016" rtlCol="0" anchor="ctr"/>
          <a:lstStyle/>
          <a:p>
            <a:pPr algn="ctr" indent="0" marL="0">
              <a:buNone/>
            </a:pPr>
            <a:r>
              <a:rPr lang="en-US" sz="1500" b="1" dirty="0">
                <a:solidFill>
                  <a:schemeClr val="tx1"/>
                </a:solidFill>
              </a:rPr>
              <a:t>Clean</a:t>
            </a:r>
            <a:endParaRPr lang="en-US" sz="1500" dirty="0"/>
          </a:p>
          <a:p>
            <a:pPr algn="ctr" indent="0" marL="0">
              <a:buNone/>
            </a:pPr>
            <a:r>
              <a:rPr lang="en-US" sz="1200" dirty="0">
                <a:solidFill>
                  <a:schemeClr val="tx1"/>
                </a:solidFill>
              </a:rPr>
              <a:t>Fix encoding, extract text, language identification</a:t>
            </a:r>
            <a:endParaRPr lang="en-US" sz="1500" dirty="0"/>
          </a:p>
        </p:txBody>
      </p:sp>
      <p:sp>
        <p:nvSpPr>
          <p:cNvPr id="7" name="Shape 5"/>
          <p:cNvSpPr/>
          <p:nvPr/>
        </p:nvSpPr>
        <p:spPr>
          <a:xfrm>
            <a:off x="4123944" y="2304288"/>
            <a:ext cx="164592" cy="914"/>
          </a:xfrm>
          <a:prstGeom prst="line">
            <a:avLst/>
          </a:prstGeom>
          <a:noFill/>
          <a:ln w="25400">
            <a:solidFill>
              <a:schemeClr val="accent2"/>
            </a:solidFill>
            <a:prstDash val="solid"/>
            <a:tailEnd type="triangle"/>
          </a:ln>
        </p:spPr>
      </p:sp>
      <p:sp>
        <p:nvSpPr>
          <p:cNvPr id="8" name="Text 6"/>
          <p:cNvSpPr/>
          <p:nvPr/>
        </p:nvSpPr>
        <p:spPr>
          <a:xfrm>
            <a:off x="4297680" y="1600200"/>
            <a:ext cx="1691640" cy="1417320"/>
          </a:xfrm>
          <a:prstGeom prst="roundRect">
            <a:avLst>
              <a:gd name="adj" fmla="val 3871"/>
            </a:avLst>
          </a:prstGeom>
          <a:solidFill>
            <a:schemeClr val="bg2"/>
          </a:solidFill>
          <a:ln/>
        </p:spPr>
        <p:txBody>
          <a:bodyPr wrap="square" lIns="1016" tIns="1016" rIns="1016" bIns="1016" rtlCol="0" anchor="ctr"/>
          <a:lstStyle/>
          <a:p>
            <a:pPr algn="ctr" indent="0" marL="0">
              <a:buNone/>
            </a:pPr>
            <a:r>
              <a:rPr lang="en-US" sz="1500" b="1" dirty="0">
                <a:solidFill>
                  <a:schemeClr val="tx1"/>
                </a:solidFill>
              </a:rPr>
              <a:t>Filter</a:t>
            </a:r>
            <a:endParaRPr lang="en-US" sz="1500" dirty="0"/>
          </a:p>
          <a:p>
            <a:pPr algn="ctr" indent="0" marL="0">
              <a:buNone/>
            </a:pPr>
            <a:r>
              <a:rPr lang="en-US" sz="1200" dirty="0">
                <a:solidFill>
                  <a:schemeClr val="tx1"/>
                </a:solidFill>
              </a:rPr>
              <a:t>Heuristics and quality classifiers; remove toxic content</a:t>
            </a:r>
            <a:endParaRPr lang="en-US" sz="1500" dirty="0"/>
          </a:p>
        </p:txBody>
      </p:sp>
      <p:sp>
        <p:nvSpPr>
          <p:cNvPr id="9" name="Shape 7"/>
          <p:cNvSpPr/>
          <p:nvPr/>
        </p:nvSpPr>
        <p:spPr>
          <a:xfrm>
            <a:off x="5998464" y="2304288"/>
            <a:ext cx="164592" cy="914"/>
          </a:xfrm>
          <a:prstGeom prst="line">
            <a:avLst/>
          </a:prstGeom>
          <a:noFill/>
          <a:ln w="25400">
            <a:solidFill>
              <a:schemeClr val="accent2"/>
            </a:solidFill>
            <a:prstDash val="solid"/>
            <a:tailEnd type="triangle"/>
          </a:ln>
        </p:spPr>
      </p:sp>
      <p:sp>
        <p:nvSpPr>
          <p:cNvPr id="10" name="Text 8"/>
          <p:cNvSpPr/>
          <p:nvPr/>
        </p:nvSpPr>
        <p:spPr>
          <a:xfrm>
            <a:off x="6172200" y="1600200"/>
            <a:ext cx="1691640" cy="1417320"/>
          </a:xfrm>
          <a:prstGeom prst="roundRect">
            <a:avLst>
              <a:gd name="adj" fmla="val 3871"/>
            </a:avLst>
          </a:prstGeom>
          <a:solidFill>
            <a:schemeClr val="accent1"/>
          </a:solidFill>
          <a:ln/>
        </p:spPr>
        <p:txBody>
          <a:bodyPr wrap="square" lIns="1016" tIns="1016" rIns="1016" bIns="1016" rtlCol="0" anchor="ctr"/>
          <a:lstStyle/>
          <a:p>
            <a:pPr algn="ctr" indent="0" marL="0">
              <a:buNone/>
            </a:pPr>
            <a:r>
              <a:rPr lang="en-US" sz="1500" b="1" dirty="0">
                <a:solidFill>
                  <a:schemeClr val="tx1"/>
                </a:solidFill>
              </a:rPr>
              <a:t>Deduplicate</a:t>
            </a:r>
            <a:endParaRPr lang="en-US" sz="1500" dirty="0"/>
          </a:p>
          <a:p>
            <a:pPr algn="ctr" indent="0" marL="0">
              <a:buNone/>
            </a:pPr>
            <a:r>
              <a:rPr lang="en-US" sz="1200" dirty="0">
                <a:solidFill>
                  <a:schemeClr val="tx1"/>
                </a:solidFill>
              </a:rPr>
              <a:t>Exact, fuzzy (MinHash) and semantic dedup</a:t>
            </a:r>
            <a:endParaRPr lang="en-US" sz="1500" dirty="0"/>
          </a:p>
        </p:txBody>
      </p:sp>
      <p:sp>
        <p:nvSpPr>
          <p:cNvPr id="11" name="Shape 9"/>
          <p:cNvSpPr/>
          <p:nvPr/>
        </p:nvSpPr>
        <p:spPr>
          <a:xfrm>
            <a:off x="7872984" y="2304288"/>
            <a:ext cx="164592" cy="914"/>
          </a:xfrm>
          <a:prstGeom prst="line">
            <a:avLst/>
          </a:prstGeom>
          <a:noFill/>
          <a:ln w="25400">
            <a:solidFill>
              <a:schemeClr val="accent2"/>
            </a:solidFill>
            <a:prstDash val="solid"/>
            <a:tailEnd type="triangle"/>
          </a:ln>
        </p:spPr>
      </p:sp>
      <p:sp>
        <p:nvSpPr>
          <p:cNvPr id="12" name="Text 10"/>
          <p:cNvSpPr/>
          <p:nvPr/>
        </p:nvSpPr>
        <p:spPr>
          <a:xfrm>
            <a:off x="8046720" y="1600200"/>
            <a:ext cx="1691640" cy="1417320"/>
          </a:xfrm>
          <a:prstGeom prst="roundRect">
            <a:avLst>
              <a:gd name="adj" fmla="val 3871"/>
            </a:avLst>
          </a:prstGeom>
          <a:solidFill>
            <a:schemeClr val="bg2"/>
          </a:solidFill>
          <a:ln/>
        </p:spPr>
        <p:txBody>
          <a:bodyPr wrap="square" lIns="1016" tIns="1016" rIns="1016" bIns="1016" rtlCol="0" anchor="ctr"/>
          <a:lstStyle/>
          <a:p>
            <a:pPr algn="ctr" indent="0" marL="0">
              <a:buNone/>
            </a:pPr>
            <a:r>
              <a:rPr lang="en-US" sz="1500" b="1" dirty="0">
                <a:solidFill>
                  <a:schemeClr val="tx1"/>
                </a:solidFill>
              </a:rPr>
              <a:t>Protect</a:t>
            </a:r>
            <a:endParaRPr lang="en-US" sz="1500" dirty="0"/>
          </a:p>
          <a:p>
            <a:pPr algn="ctr" indent="0" marL="0">
              <a:buNone/>
            </a:pPr>
            <a:r>
              <a:rPr lang="en-US" sz="1200" dirty="0">
                <a:solidFill>
                  <a:schemeClr val="tx1"/>
                </a:solidFill>
              </a:rPr>
              <a:t>PII detection and redaction</a:t>
            </a:r>
            <a:endParaRPr lang="en-US" sz="1500" dirty="0"/>
          </a:p>
        </p:txBody>
      </p:sp>
      <p:sp>
        <p:nvSpPr>
          <p:cNvPr id="13" name="Shape 11"/>
          <p:cNvSpPr/>
          <p:nvPr/>
        </p:nvSpPr>
        <p:spPr>
          <a:xfrm>
            <a:off x="9747504" y="2304288"/>
            <a:ext cx="164592" cy="914"/>
          </a:xfrm>
          <a:prstGeom prst="line">
            <a:avLst/>
          </a:prstGeom>
          <a:noFill/>
          <a:ln w="25400">
            <a:solidFill>
              <a:schemeClr val="accent2"/>
            </a:solidFill>
            <a:prstDash val="solid"/>
            <a:tailEnd type="triangle"/>
          </a:ln>
        </p:spPr>
      </p:sp>
      <p:sp>
        <p:nvSpPr>
          <p:cNvPr id="14" name="Text 12"/>
          <p:cNvSpPr/>
          <p:nvPr/>
        </p:nvSpPr>
        <p:spPr>
          <a:xfrm>
            <a:off x="9921240" y="1600200"/>
            <a:ext cx="1691640" cy="1417320"/>
          </a:xfrm>
          <a:prstGeom prst="roundRect">
            <a:avLst>
              <a:gd name="adj" fmla="val 3871"/>
            </a:avLst>
          </a:prstGeom>
          <a:solidFill>
            <a:schemeClr val="bg2"/>
          </a:solidFill>
          <a:ln/>
        </p:spPr>
        <p:txBody>
          <a:bodyPr wrap="square" lIns="1016" tIns="1016" rIns="1016" bIns="1016" rtlCol="0" anchor="ctr"/>
          <a:lstStyle/>
          <a:p>
            <a:pPr algn="ctr" indent="0" marL="0">
              <a:buNone/>
            </a:pPr>
            <a:r>
              <a:rPr lang="en-US" sz="1500" b="1" dirty="0">
                <a:solidFill>
                  <a:schemeClr val="tx1"/>
                </a:solidFill>
              </a:rPr>
              <a:t>Blend</a:t>
            </a:r>
            <a:endParaRPr lang="en-US" sz="1500" dirty="0"/>
          </a:p>
          <a:p>
            <a:pPr algn="ctr" indent="0" marL="0">
              <a:buNone/>
            </a:pPr>
            <a:r>
              <a:rPr lang="en-US" sz="1200" dirty="0">
                <a:solidFill>
                  <a:schemeClr val="tx1"/>
                </a:solidFill>
              </a:rPr>
              <a:t>Mix domains, shard and export for training</a:t>
            </a:r>
            <a:endParaRPr lang="en-US" sz="1500" dirty="0"/>
          </a:p>
        </p:txBody>
      </p:sp>
      <p:sp>
        <p:nvSpPr>
          <p:cNvPr id="15" name="card"/>
          <p:cNvSpPr/>
          <p:nvPr/>
        </p:nvSpPr>
        <p:spPr>
          <a:xfrm>
            <a:off x="548640" y="3246120"/>
            <a:ext cx="5440680" cy="2926080"/>
          </a:xfrm>
          <a:prstGeom prst="roundRect">
            <a:avLst>
              <a:gd name="adj" fmla="val 2500"/>
            </a:avLst>
          </a:prstGeom>
          <a:solidFill>
            <a:schemeClr val="bg2"/>
          </a:solidFill>
          <a:ln/>
        </p:spPr>
      </p:sp>
      <p:sp>
        <p:nvSpPr>
          <p:cNvPr id="16" name="Shape 14"/>
          <p:cNvSpPr/>
          <p:nvPr/>
        </p:nvSpPr>
        <p:spPr>
          <a:xfrm>
            <a:off x="749808" y="3447288"/>
            <a:ext cx="548640" cy="548640"/>
          </a:xfrm>
          <a:prstGeom prst="ellipse">
            <a:avLst/>
          </a:prstGeom>
          <a:solidFill>
            <a:schemeClr val="accent1"/>
          </a:solidFill>
          <a:ln/>
        </p:spPr>
      </p:sp>
      <p:pic>
        <p:nvPicPr>
          <p:cNvPr id="17" name="Image 0" descr="preencoded.png">    </p:cNvPr>
          <p:cNvPicPr>
            <a:picLocks noChangeAspect="1"/>
          </p:cNvPicPr>
          <p:nvPr/>
        </p:nvPicPr>
        <p:blipFill>
          <a:blip r:embed="rId1"/>
          <a:stretch>
            <a:fillRect/>
          </a:stretch>
        </p:blipFill>
        <p:spPr>
          <a:xfrm>
            <a:off x="870509" y="3567989"/>
            <a:ext cx="307238" cy="307238"/>
          </a:xfrm>
          <a:prstGeom prst="rect">
            <a:avLst/>
          </a:prstGeom>
        </p:spPr>
      </p:pic>
      <p:sp>
        <p:nvSpPr>
          <p:cNvPr id="18" name="Text 15"/>
          <p:cNvSpPr txBox="1"/>
          <p:nvPr/>
        </p:nvSpPr>
        <p:spPr>
          <a:xfrm>
            <a:off x="1417320" y="3447288"/>
            <a:ext cx="4389120" cy="548640"/>
          </a:xfrm>
          <a:prstGeom prst="rect">
            <a:avLst/>
          </a:prstGeom>
          <a:noFill/>
          <a:ln/>
        </p:spPr>
        <p:txBody>
          <a:bodyPr wrap="square" lIns="0" tIns="0" rIns="0" bIns="0" rtlCol="0" anchor="ctr"/>
          <a:lstStyle/>
          <a:p>
            <a:pPr indent="0" marL="0">
              <a:buNone/>
            </a:pPr>
            <a:r>
              <a:rPr lang="en-US" sz="1600" b="1" dirty="0">
                <a:solidFill>
                  <a:schemeClr val="tx1"/>
                </a:solidFill>
              </a:rPr>
              <a:t>How it works</a:t>
            </a:r>
            <a:endParaRPr lang="en-US" sz="1600" dirty="0"/>
          </a:p>
        </p:txBody>
      </p:sp>
      <p:sp>
        <p:nvSpPr>
          <p:cNvPr id="19" name="Text 16"/>
          <p:cNvSpPr txBox="1"/>
          <p:nvPr/>
        </p:nvSpPr>
        <p:spPr>
          <a:xfrm>
            <a:off x="749808" y="4142232"/>
            <a:ext cx="5038344" cy="1892808"/>
          </a:xfrm>
          <a:prstGeom prst="rect">
            <a:avLst/>
          </a:prstGeom>
          <a:noFill/>
          <a:ln/>
        </p:spPr>
        <p:txBody>
          <a:bodyPr wrap="square" lIns="0" tIns="0" rIns="0" bIns="0" rtlCol="0" anchor="t"/>
          <a:lstStyle/>
          <a:p>
            <a:pPr marL="342900" indent="-342900">
              <a:spcAft>
                <a:spcPts val="500"/>
              </a:spcAft>
              <a:buSzPct val="100000"/>
              <a:buChar char="•"/>
            </a:pPr>
            <a:r>
              <a:rPr lang="en-US" sz="1400" b="1" dirty="0">
                <a:solidFill>
                  <a:schemeClr val="tx2"/>
                </a:solidFill>
              </a:rPr>
              <a:t>GPU-accelerated </a:t>
            </a:r>
            <a:pPr indent="0" marL="0">
              <a:spcAft>
                <a:spcPts val="500"/>
              </a:spcAft>
              <a:buNone/>
            </a:pPr>
            <a:r>
              <a:rPr lang="en-US" sz="1400" dirty="0">
                <a:solidFill>
                  <a:schemeClr val="tx2"/>
                </a:solidFill>
              </a:rPr>
              <a:t>with RAPIDS (cuDF, cuML) and Dask / Ray for multi-node scale.</a:t>
            </a:r>
            <a:endParaRPr lang="en-US" sz="1400" dirty="0"/>
          </a:p>
          <a:p>
            <a:pPr marL="342900" indent="-342900">
              <a:spcAft>
                <a:spcPts val="500"/>
              </a:spcAft>
              <a:buSzPct val="100000"/>
              <a:buChar char="•"/>
            </a:pPr>
            <a:r>
              <a:rPr lang="en-US" sz="1400" b="1" dirty="0">
                <a:solidFill>
                  <a:schemeClr val="tx2"/>
                </a:solidFill>
              </a:rPr>
              <a:t>Modular pipeline </a:t>
            </a:r>
            <a:pPr indent="0" marL="0">
              <a:spcAft>
                <a:spcPts val="500"/>
              </a:spcAft>
              <a:buNone/>
            </a:pPr>
            <a:r>
              <a:rPr lang="en-US" sz="1400" dirty="0">
                <a:solidFill>
                  <a:schemeClr val="tx2"/>
                </a:solidFill>
              </a:rPr>
              <a:t>of Python stages you combine and reorder.</a:t>
            </a:r>
            <a:endParaRPr lang="en-US" sz="1400" dirty="0"/>
          </a:p>
          <a:p>
            <a:pPr marL="342900" indent="-342900">
              <a:spcAft>
                <a:spcPts val="500"/>
              </a:spcAft>
              <a:buSzPct val="100000"/>
              <a:buChar char="•"/>
            </a:pPr>
            <a:r>
              <a:rPr lang="en-US" sz="1400" b="1" dirty="0">
                <a:solidFill>
                  <a:schemeClr val="tx2"/>
                </a:solidFill>
              </a:rPr>
              <a:t>Multimodal: </a:t>
            </a:r>
            <a:pPr indent="0" marL="0">
              <a:spcAft>
                <a:spcPts val="500"/>
              </a:spcAft>
              <a:buNone/>
            </a:pPr>
            <a:r>
              <a:rPr lang="en-US" sz="1400" dirty="0">
                <a:solidFill>
                  <a:schemeClr val="tx2"/>
                </a:solidFill>
              </a:rPr>
              <a:t>text, image (aesthetic, NSFW, embedding filters) and video (splitting, captioning) curation.</a:t>
            </a:r>
            <a:endParaRPr lang="en-US" sz="1400" dirty="0"/>
          </a:p>
        </p:txBody>
      </p:sp>
      <p:sp>
        <p:nvSpPr>
          <p:cNvPr id="20" name="card"/>
          <p:cNvSpPr/>
          <p:nvPr/>
        </p:nvSpPr>
        <p:spPr>
          <a:xfrm>
            <a:off x="6172200" y="3246120"/>
            <a:ext cx="5440680" cy="2926080"/>
          </a:xfrm>
          <a:prstGeom prst="roundRect">
            <a:avLst>
              <a:gd name="adj" fmla="val 2500"/>
            </a:avLst>
          </a:prstGeom>
          <a:solidFill>
            <a:schemeClr val="bg2"/>
          </a:solidFill>
          <a:ln/>
        </p:spPr>
      </p:sp>
      <p:sp>
        <p:nvSpPr>
          <p:cNvPr id="21" name="Shape 18"/>
          <p:cNvSpPr/>
          <p:nvPr/>
        </p:nvSpPr>
        <p:spPr>
          <a:xfrm>
            <a:off x="6373368" y="3447288"/>
            <a:ext cx="548640" cy="548640"/>
          </a:xfrm>
          <a:prstGeom prst="ellipse">
            <a:avLst/>
          </a:prstGeom>
          <a:solidFill>
            <a:schemeClr val="accent1"/>
          </a:solidFill>
          <a:ln/>
        </p:spPr>
      </p:sp>
      <p:pic>
        <p:nvPicPr>
          <p:cNvPr id="22" name="Image 1" descr="preencoded.png">    </p:cNvPr>
          <p:cNvPicPr>
            <a:picLocks noChangeAspect="1"/>
          </p:cNvPicPr>
          <p:nvPr/>
        </p:nvPicPr>
        <p:blipFill>
          <a:blip r:embed="rId2"/>
          <a:stretch>
            <a:fillRect/>
          </a:stretch>
        </p:blipFill>
        <p:spPr>
          <a:xfrm>
            <a:off x="6494069" y="3567989"/>
            <a:ext cx="307238" cy="307238"/>
          </a:xfrm>
          <a:prstGeom prst="rect">
            <a:avLst/>
          </a:prstGeom>
        </p:spPr>
      </p:pic>
      <p:sp>
        <p:nvSpPr>
          <p:cNvPr id="23" name="Text 19"/>
          <p:cNvSpPr txBox="1"/>
          <p:nvPr/>
        </p:nvSpPr>
        <p:spPr>
          <a:xfrm>
            <a:off x="7040880" y="3447288"/>
            <a:ext cx="4389120" cy="548640"/>
          </a:xfrm>
          <a:prstGeom prst="rect">
            <a:avLst/>
          </a:prstGeom>
          <a:noFill/>
          <a:ln/>
        </p:spPr>
        <p:txBody>
          <a:bodyPr wrap="square" lIns="0" tIns="0" rIns="0" bIns="0" rtlCol="0" anchor="ctr"/>
          <a:lstStyle/>
          <a:p>
            <a:pPr indent="0" marL="0">
              <a:buNone/>
            </a:pPr>
            <a:r>
              <a:rPr lang="en-US" sz="1600" b="1" dirty="0">
                <a:solidFill>
                  <a:schemeClr val="tx1"/>
                </a:solidFill>
              </a:rPr>
              <a:t>Enterprise uses</a:t>
            </a:r>
            <a:endParaRPr lang="en-US" sz="1600" dirty="0"/>
          </a:p>
        </p:txBody>
      </p:sp>
      <p:sp>
        <p:nvSpPr>
          <p:cNvPr id="24" name="Text 20"/>
          <p:cNvSpPr txBox="1"/>
          <p:nvPr/>
        </p:nvSpPr>
        <p:spPr>
          <a:xfrm>
            <a:off x="6373368" y="4142232"/>
            <a:ext cx="5038344" cy="1892808"/>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2"/>
                </a:solidFill>
              </a:rPr>
              <a:t>Prepare domain corpora for continued pre-training</a:t>
            </a:r>
            <a:endParaRPr lang="en-US" sz="1400" dirty="0"/>
          </a:p>
          <a:p>
            <a:pPr marL="342900" indent="-342900">
              <a:spcAft>
                <a:spcPts val="500"/>
              </a:spcAft>
              <a:buSzPct val="100000"/>
              <a:buChar char="•"/>
            </a:pPr>
            <a:r>
              <a:rPr lang="en-US" sz="1400" dirty="0">
                <a:solidFill>
                  <a:schemeClr val="tx2"/>
                </a:solidFill>
              </a:rPr>
              <a:t>Clean and deduplicate fine-tuning and evaluation sets</a:t>
            </a:r>
            <a:endParaRPr lang="en-US" sz="1400" dirty="0"/>
          </a:p>
          <a:p>
            <a:pPr marL="342900" indent="-342900">
              <a:spcAft>
                <a:spcPts val="500"/>
              </a:spcAft>
              <a:buSzPct val="100000"/>
              <a:buChar char="•"/>
            </a:pPr>
            <a:r>
              <a:rPr lang="en-US" sz="1400" dirty="0">
                <a:solidFill>
                  <a:schemeClr val="tx2"/>
                </a:solidFill>
              </a:rPr>
              <a:t>Remove PII from support logs before reuse</a:t>
            </a:r>
            <a:endParaRPr lang="en-US" sz="1400" dirty="0"/>
          </a:p>
          <a:p>
            <a:pPr marL="342900" indent="-342900">
              <a:spcAft>
                <a:spcPts val="500"/>
              </a:spcAft>
              <a:buSzPct val="100000"/>
              <a:buChar char="•"/>
            </a:pPr>
            <a:r>
              <a:rPr lang="en-US" sz="1400" dirty="0">
                <a:solidFill>
                  <a:schemeClr val="tx2"/>
                </a:solidFill>
              </a:rPr>
              <a:t>Curate production logs in a data flywheel</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000" b="1" dirty="0">
                <a:solidFill>
                  <a:schemeClr val="tx1"/>
                </a:solidFill>
              </a:rPr>
              <a:t>Synthetic data generation</a:t>
            </a:r>
            <a:endParaRPr lang="en-US" sz="3000" dirty="0"/>
          </a:p>
        </p:txBody>
      </p:sp>
      <p:sp>
        <p:nvSpPr>
          <p:cNvPr id="3" name="Text 0"/>
          <p:cNvSpPr/>
          <p:nvPr>
            <p:ph idx="101" type="body" hasCustomPrompt="1"/>
          </p:nvPr>
        </p:nvSpPr>
        <p:spPr>
          <a:xfrm>
            <a:off x="548640" y="960120"/>
            <a:ext cx="11064240" cy="411480"/>
          </a:xfrm>
          <a:prstGeom prst="rect">
            <a:avLst/>
          </a:prstGeom>
          <a:noFill/>
          <a:ln/>
        </p:spPr>
        <p:txBody>
          <a:bodyPr wrap="square" lIns="0" tIns="0" rIns="0" bIns="0" rtlCol="0" anchor="t"/>
          <a:lstStyle/>
          <a:p>
            <a:pPr indent="0" marL="0">
              <a:buNone/>
            </a:pPr>
            <a:r>
              <a:rPr lang="en-US" sz="1600" dirty="0">
                <a:solidFill>
                  <a:schemeClr val="accent5"/>
                </a:solidFill>
              </a:rPr>
              <a:t>When real labelled data is scarce, sensitive or imbalanced, generate it, with care</a:t>
            </a:r>
            <a:endParaRPr lang="en-US" sz="1600" dirty="0"/>
          </a:p>
        </p:txBody>
      </p:sp>
      <p:sp>
        <p:nvSpPr>
          <p:cNvPr id="4" name="Text 2"/>
          <p:cNvSpPr/>
          <p:nvPr/>
        </p:nvSpPr>
        <p:spPr>
          <a:xfrm>
            <a:off x="548640" y="1691640"/>
            <a:ext cx="594360" cy="594360"/>
          </a:xfrm>
          <a:prstGeom prst="roundRect">
            <a:avLst>
              <a:gd name="adj" fmla="val 7692"/>
            </a:avLst>
          </a:prstGeom>
          <a:solidFill>
            <a:schemeClr val="accent1"/>
          </a:solidFill>
          <a:ln/>
        </p:spPr>
        <p:txBody>
          <a:bodyPr wrap="square" lIns="381" tIns="381" rIns="381" bIns="381" rtlCol="0" anchor="ctr"/>
          <a:lstStyle/>
          <a:p>
            <a:pPr algn="ctr" indent="0" marL="0">
              <a:buNone/>
            </a:pPr>
            <a:r>
              <a:rPr lang="en-US" sz="1800" b="1" dirty="0">
                <a:solidFill>
                  <a:schemeClr val="tx1"/>
                </a:solidFill>
              </a:rPr>
              <a:t>1</a:t>
            </a:r>
            <a:endParaRPr lang="en-US" sz="1800" dirty="0"/>
          </a:p>
        </p:txBody>
      </p:sp>
      <p:sp>
        <p:nvSpPr>
          <p:cNvPr id="5" name="Text 3"/>
          <p:cNvSpPr txBox="1"/>
          <p:nvPr/>
        </p:nvSpPr>
        <p:spPr>
          <a:xfrm>
            <a:off x="1325880" y="1600200"/>
            <a:ext cx="2286000" cy="777240"/>
          </a:xfrm>
          <a:prstGeom prst="rect">
            <a:avLst/>
          </a:prstGeom>
          <a:noFill/>
          <a:ln/>
        </p:spPr>
        <p:txBody>
          <a:bodyPr wrap="square" lIns="0" tIns="0" rIns="0" bIns="0" rtlCol="0" anchor="ctr"/>
          <a:lstStyle/>
          <a:p>
            <a:pPr indent="0" marL="0">
              <a:buNone/>
            </a:pPr>
            <a:r>
              <a:rPr lang="en-US" sz="1600" b="1" dirty="0">
                <a:solidFill>
                  <a:schemeClr val="tx1"/>
                </a:solidFill>
              </a:rPr>
              <a:t>Define the schema</a:t>
            </a:r>
            <a:endParaRPr lang="en-US" sz="1600" dirty="0"/>
          </a:p>
        </p:txBody>
      </p:sp>
      <p:sp>
        <p:nvSpPr>
          <p:cNvPr id="6" name="Text 4"/>
          <p:cNvSpPr txBox="1"/>
          <p:nvPr/>
        </p:nvSpPr>
        <p:spPr>
          <a:xfrm>
            <a:off x="3611880" y="1600200"/>
            <a:ext cx="3291840" cy="777240"/>
          </a:xfrm>
          <a:prstGeom prst="rect">
            <a:avLst/>
          </a:prstGeom>
          <a:noFill/>
          <a:ln/>
        </p:spPr>
        <p:txBody>
          <a:bodyPr wrap="square" lIns="0" tIns="0" rIns="0" bIns="0" rtlCol="0" anchor="ctr"/>
          <a:lstStyle/>
          <a:p>
            <a:pPr indent="0" marL="0">
              <a:buNone/>
            </a:pPr>
            <a:r>
              <a:rPr lang="en-US" sz="1300" dirty="0">
                <a:solidFill>
                  <a:schemeClr val="tx2"/>
                </a:solidFill>
              </a:rPr>
              <a:t>Topics, personas, difficulty, output format (e.g. question, answer, reasoning)</a:t>
            </a:r>
            <a:endParaRPr lang="en-US" sz="1300" dirty="0"/>
          </a:p>
        </p:txBody>
      </p:sp>
      <p:sp>
        <p:nvSpPr>
          <p:cNvPr id="7" name="Text 5"/>
          <p:cNvSpPr/>
          <p:nvPr/>
        </p:nvSpPr>
        <p:spPr>
          <a:xfrm>
            <a:off x="548640" y="2587752"/>
            <a:ext cx="594360" cy="594360"/>
          </a:xfrm>
          <a:prstGeom prst="roundRect">
            <a:avLst>
              <a:gd name="adj" fmla="val 7692"/>
            </a:avLst>
          </a:prstGeom>
          <a:solidFill>
            <a:schemeClr val="accent1"/>
          </a:solidFill>
          <a:ln/>
        </p:spPr>
        <p:txBody>
          <a:bodyPr wrap="square" lIns="381" tIns="381" rIns="381" bIns="381" rtlCol="0" anchor="ctr"/>
          <a:lstStyle/>
          <a:p>
            <a:pPr algn="ctr" indent="0" marL="0">
              <a:buNone/>
            </a:pPr>
            <a:r>
              <a:rPr lang="en-US" sz="1800" b="1" dirty="0">
                <a:solidFill>
                  <a:schemeClr val="tx1"/>
                </a:solidFill>
              </a:rPr>
              <a:t>2</a:t>
            </a:r>
            <a:endParaRPr lang="en-US" sz="1800" dirty="0"/>
          </a:p>
        </p:txBody>
      </p:sp>
      <p:sp>
        <p:nvSpPr>
          <p:cNvPr id="8" name="Text 6"/>
          <p:cNvSpPr txBox="1"/>
          <p:nvPr/>
        </p:nvSpPr>
        <p:spPr>
          <a:xfrm>
            <a:off x="1325880" y="2496312"/>
            <a:ext cx="2286000" cy="777240"/>
          </a:xfrm>
          <a:prstGeom prst="rect">
            <a:avLst/>
          </a:prstGeom>
          <a:noFill/>
          <a:ln/>
        </p:spPr>
        <p:txBody>
          <a:bodyPr wrap="square" lIns="0" tIns="0" rIns="0" bIns="0" rtlCol="0" anchor="ctr"/>
          <a:lstStyle/>
          <a:p>
            <a:pPr indent="0" marL="0">
              <a:buNone/>
            </a:pPr>
            <a:r>
              <a:rPr lang="en-US" sz="1600" b="1" dirty="0">
                <a:solidFill>
                  <a:schemeClr val="tx1"/>
                </a:solidFill>
              </a:rPr>
              <a:t>Generate</a:t>
            </a:r>
            <a:endParaRPr lang="en-US" sz="1600" dirty="0"/>
          </a:p>
        </p:txBody>
      </p:sp>
      <p:sp>
        <p:nvSpPr>
          <p:cNvPr id="9" name="Text 7"/>
          <p:cNvSpPr txBox="1"/>
          <p:nvPr/>
        </p:nvSpPr>
        <p:spPr>
          <a:xfrm>
            <a:off x="3611880" y="2496312"/>
            <a:ext cx="3291840" cy="777240"/>
          </a:xfrm>
          <a:prstGeom prst="rect">
            <a:avLst/>
          </a:prstGeom>
          <a:noFill/>
          <a:ln/>
        </p:spPr>
        <p:txBody>
          <a:bodyPr wrap="square" lIns="0" tIns="0" rIns="0" bIns="0" rtlCol="0" anchor="ctr"/>
          <a:lstStyle/>
          <a:p>
            <a:pPr indent="0" marL="0">
              <a:buNone/>
            </a:pPr>
            <a:r>
              <a:rPr lang="en-US" sz="1300" dirty="0">
                <a:solidFill>
                  <a:schemeClr val="tx2"/>
                </a:solidFill>
              </a:rPr>
              <a:t>A strong "teacher" LLM produces candidate examples</a:t>
            </a:r>
            <a:endParaRPr lang="en-US" sz="1300" dirty="0"/>
          </a:p>
        </p:txBody>
      </p:sp>
      <p:sp>
        <p:nvSpPr>
          <p:cNvPr id="10" name="Text 8"/>
          <p:cNvSpPr/>
          <p:nvPr/>
        </p:nvSpPr>
        <p:spPr>
          <a:xfrm>
            <a:off x="548640" y="3483864"/>
            <a:ext cx="594360" cy="594360"/>
          </a:xfrm>
          <a:prstGeom prst="roundRect">
            <a:avLst>
              <a:gd name="adj" fmla="val 7692"/>
            </a:avLst>
          </a:prstGeom>
          <a:solidFill>
            <a:schemeClr val="accent1"/>
          </a:solidFill>
          <a:ln/>
        </p:spPr>
        <p:txBody>
          <a:bodyPr wrap="square" lIns="381" tIns="381" rIns="381" bIns="381" rtlCol="0" anchor="ctr"/>
          <a:lstStyle/>
          <a:p>
            <a:pPr algn="ctr" indent="0" marL="0">
              <a:buNone/>
            </a:pPr>
            <a:r>
              <a:rPr lang="en-US" sz="1800" b="1" dirty="0">
                <a:solidFill>
                  <a:schemeClr val="tx1"/>
                </a:solidFill>
              </a:rPr>
              <a:t>3</a:t>
            </a:r>
            <a:endParaRPr lang="en-US" sz="1800" dirty="0"/>
          </a:p>
        </p:txBody>
      </p:sp>
      <p:sp>
        <p:nvSpPr>
          <p:cNvPr id="11" name="Text 9"/>
          <p:cNvSpPr txBox="1"/>
          <p:nvPr/>
        </p:nvSpPr>
        <p:spPr>
          <a:xfrm>
            <a:off x="1325880" y="3392424"/>
            <a:ext cx="2286000" cy="777240"/>
          </a:xfrm>
          <a:prstGeom prst="rect">
            <a:avLst/>
          </a:prstGeom>
          <a:noFill/>
          <a:ln/>
        </p:spPr>
        <p:txBody>
          <a:bodyPr wrap="square" lIns="0" tIns="0" rIns="0" bIns="0" rtlCol="0" anchor="ctr"/>
          <a:lstStyle/>
          <a:p>
            <a:pPr indent="0" marL="0">
              <a:buNone/>
            </a:pPr>
            <a:r>
              <a:rPr lang="en-US" sz="1600" b="1" dirty="0">
                <a:solidFill>
                  <a:schemeClr val="tx1"/>
                </a:solidFill>
              </a:rPr>
              <a:t>Judge and filter</a:t>
            </a:r>
            <a:endParaRPr lang="en-US" sz="1600" dirty="0"/>
          </a:p>
        </p:txBody>
      </p:sp>
      <p:sp>
        <p:nvSpPr>
          <p:cNvPr id="12" name="Text 10"/>
          <p:cNvSpPr txBox="1"/>
          <p:nvPr/>
        </p:nvSpPr>
        <p:spPr>
          <a:xfrm>
            <a:off x="3611880" y="3392424"/>
            <a:ext cx="3291840" cy="777240"/>
          </a:xfrm>
          <a:prstGeom prst="rect">
            <a:avLst/>
          </a:prstGeom>
          <a:noFill/>
          <a:ln/>
        </p:spPr>
        <p:txBody>
          <a:bodyPr wrap="square" lIns="0" tIns="0" rIns="0" bIns="0" rtlCol="0" anchor="ctr"/>
          <a:lstStyle/>
          <a:p>
            <a:pPr indent="0" marL="0">
              <a:buNone/>
            </a:pPr>
            <a:r>
              <a:rPr lang="en-US" sz="1300" dirty="0">
                <a:solidFill>
                  <a:schemeClr val="tx2"/>
                </a:solidFill>
              </a:rPr>
              <a:t>Reward models or LLM-as-a-judge score quality; low scores are dropped</a:t>
            </a:r>
            <a:endParaRPr lang="en-US" sz="1300" dirty="0"/>
          </a:p>
        </p:txBody>
      </p:sp>
      <p:sp>
        <p:nvSpPr>
          <p:cNvPr id="13" name="Text 11"/>
          <p:cNvSpPr/>
          <p:nvPr/>
        </p:nvSpPr>
        <p:spPr>
          <a:xfrm>
            <a:off x="548640" y="4379976"/>
            <a:ext cx="594360" cy="594360"/>
          </a:xfrm>
          <a:prstGeom prst="roundRect">
            <a:avLst>
              <a:gd name="adj" fmla="val 7692"/>
            </a:avLst>
          </a:prstGeom>
          <a:solidFill>
            <a:schemeClr val="accent1"/>
          </a:solidFill>
          <a:ln/>
        </p:spPr>
        <p:txBody>
          <a:bodyPr wrap="square" lIns="381" tIns="381" rIns="381" bIns="381" rtlCol="0" anchor="ctr"/>
          <a:lstStyle/>
          <a:p>
            <a:pPr algn="ctr" indent="0" marL="0">
              <a:buNone/>
            </a:pPr>
            <a:r>
              <a:rPr lang="en-US" sz="1800" b="1" dirty="0">
                <a:solidFill>
                  <a:schemeClr val="tx1"/>
                </a:solidFill>
              </a:rPr>
              <a:t>4</a:t>
            </a:r>
            <a:endParaRPr lang="en-US" sz="1800" dirty="0"/>
          </a:p>
        </p:txBody>
      </p:sp>
      <p:sp>
        <p:nvSpPr>
          <p:cNvPr id="14" name="Text 12"/>
          <p:cNvSpPr txBox="1"/>
          <p:nvPr/>
        </p:nvSpPr>
        <p:spPr>
          <a:xfrm>
            <a:off x="1325880" y="4288536"/>
            <a:ext cx="2286000" cy="777240"/>
          </a:xfrm>
          <a:prstGeom prst="rect">
            <a:avLst/>
          </a:prstGeom>
          <a:noFill/>
          <a:ln/>
        </p:spPr>
        <p:txBody>
          <a:bodyPr wrap="square" lIns="0" tIns="0" rIns="0" bIns="0" rtlCol="0" anchor="ctr"/>
          <a:lstStyle/>
          <a:p>
            <a:pPr indent="0" marL="0">
              <a:buNone/>
            </a:pPr>
            <a:r>
              <a:rPr lang="en-US" sz="1600" b="1" dirty="0">
                <a:solidFill>
                  <a:schemeClr val="tx1"/>
                </a:solidFill>
              </a:rPr>
              <a:t>Curate</a:t>
            </a:r>
            <a:endParaRPr lang="en-US" sz="1600" dirty="0"/>
          </a:p>
        </p:txBody>
      </p:sp>
      <p:sp>
        <p:nvSpPr>
          <p:cNvPr id="15" name="Text 13"/>
          <p:cNvSpPr txBox="1"/>
          <p:nvPr/>
        </p:nvSpPr>
        <p:spPr>
          <a:xfrm>
            <a:off x="3611880" y="4288536"/>
            <a:ext cx="3291840" cy="777240"/>
          </a:xfrm>
          <a:prstGeom prst="rect">
            <a:avLst/>
          </a:prstGeom>
          <a:noFill/>
          <a:ln/>
        </p:spPr>
        <p:txBody>
          <a:bodyPr wrap="square" lIns="0" tIns="0" rIns="0" bIns="0" rtlCol="0" anchor="ctr"/>
          <a:lstStyle/>
          <a:p>
            <a:pPr indent="0" marL="0">
              <a:buNone/>
            </a:pPr>
            <a:r>
              <a:rPr lang="en-US" sz="1300" dirty="0">
                <a:solidFill>
                  <a:schemeClr val="tx2"/>
                </a:solidFill>
              </a:rPr>
              <a:t>Deduplicate and check diversity, balance and safety with Curator</a:t>
            </a:r>
            <a:endParaRPr lang="en-US" sz="1300" dirty="0"/>
          </a:p>
        </p:txBody>
      </p:sp>
      <p:sp>
        <p:nvSpPr>
          <p:cNvPr id="16" name="Text 14"/>
          <p:cNvSpPr/>
          <p:nvPr/>
        </p:nvSpPr>
        <p:spPr>
          <a:xfrm>
            <a:off x="548640" y="5276088"/>
            <a:ext cx="594360" cy="594360"/>
          </a:xfrm>
          <a:prstGeom prst="roundRect">
            <a:avLst>
              <a:gd name="adj" fmla="val 7692"/>
            </a:avLst>
          </a:prstGeom>
          <a:solidFill>
            <a:schemeClr val="accent1"/>
          </a:solidFill>
          <a:ln/>
        </p:spPr>
        <p:txBody>
          <a:bodyPr wrap="square" lIns="381" tIns="381" rIns="381" bIns="381" rtlCol="0" anchor="ctr"/>
          <a:lstStyle/>
          <a:p>
            <a:pPr algn="ctr" indent="0" marL="0">
              <a:buNone/>
            </a:pPr>
            <a:r>
              <a:rPr lang="en-US" sz="1800" b="1" dirty="0">
                <a:solidFill>
                  <a:schemeClr val="tx1"/>
                </a:solidFill>
              </a:rPr>
              <a:t>5</a:t>
            </a:r>
            <a:endParaRPr lang="en-US" sz="1800" dirty="0"/>
          </a:p>
        </p:txBody>
      </p:sp>
      <p:sp>
        <p:nvSpPr>
          <p:cNvPr id="17" name="Text 15"/>
          <p:cNvSpPr txBox="1"/>
          <p:nvPr/>
        </p:nvSpPr>
        <p:spPr>
          <a:xfrm>
            <a:off x="1325880" y="5184648"/>
            <a:ext cx="2286000" cy="777240"/>
          </a:xfrm>
          <a:prstGeom prst="rect">
            <a:avLst/>
          </a:prstGeom>
          <a:noFill/>
          <a:ln/>
        </p:spPr>
        <p:txBody>
          <a:bodyPr wrap="square" lIns="0" tIns="0" rIns="0" bIns="0" rtlCol="0" anchor="ctr"/>
          <a:lstStyle/>
          <a:p>
            <a:pPr indent="0" marL="0">
              <a:buNone/>
            </a:pPr>
            <a:r>
              <a:rPr lang="en-US" sz="1600" b="1" dirty="0">
                <a:solidFill>
                  <a:schemeClr val="tx1"/>
                </a:solidFill>
              </a:rPr>
              <a:t>Use</a:t>
            </a:r>
            <a:endParaRPr lang="en-US" sz="1600" dirty="0"/>
          </a:p>
        </p:txBody>
      </p:sp>
      <p:sp>
        <p:nvSpPr>
          <p:cNvPr id="18" name="Text 16"/>
          <p:cNvSpPr txBox="1"/>
          <p:nvPr/>
        </p:nvSpPr>
        <p:spPr>
          <a:xfrm>
            <a:off x="3611880" y="5184648"/>
            <a:ext cx="3291840" cy="777240"/>
          </a:xfrm>
          <a:prstGeom prst="rect">
            <a:avLst/>
          </a:prstGeom>
          <a:noFill/>
          <a:ln/>
        </p:spPr>
        <p:txBody>
          <a:bodyPr wrap="square" lIns="0" tIns="0" rIns="0" bIns="0" rtlCol="0" anchor="ctr"/>
          <a:lstStyle/>
          <a:p>
            <a:pPr indent="0" marL="0">
              <a:buNone/>
            </a:pPr>
            <a:r>
              <a:rPr lang="en-US" sz="1300" dirty="0">
                <a:solidFill>
                  <a:schemeClr val="tx2"/>
                </a:solidFill>
              </a:rPr>
              <a:t>Fine-tune, evaluate, or stress-test guardrails</a:t>
            </a:r>
            <a:endParaRPr lang="en-US" sz="1300" dirty="0"/>
          </a:p>
        </p:txBody>
      </p:sp>
      <p:sp>
        <p:nvSpPr>
          <p:cNvPr id="19" name="card"/>
          <p:cNvSpPr/>
          <p:nvPr/>
        </p:nvSpPr>
        <p:spPr>
          <a:xfrm>
            <a:off x="7178040" y="1600200"/>
            <a:ext cx="4434840" cy="2240280"/>
          </a:xfrm>
          <a:prstGeom prst="roundRect">
            <a:avLst>
              <a:gd name="adj" fmla="val 3265"/>
            </a:avLst>
          </a:prstGeom>
          <a:solidFill>
            <a:schemeClr val="bg2"/>
          </a:solidFill>
          <a:ln/>
        </p:spPr>
      </p:sp>
      <p:sp>
        <p:nvSpPr>
          <p:cNvPr id="20" name="Shape 18"/>
          <p:cNvSpPr/>
          <p:nvPr/>
        </p:nvSpPr>
        <p:spPr>
          <a:xfrm>
            <a:off x="7379208" y="1801368"/>
            <a:ext cx="548640" cy="548640"/>
          </a:xfrm>
          <a:prstGeom prst="ellipse">
            <a:avLst/>
          </a:prstGeom>
          <a:solidFill>
            <a:schemeClr val="accent1"/>
          </a:solidFill>
          <a:ln/>
        </p:spPr>
      </p:sp>
      <p:pic>
        <p:nvPicPr>
          <p:cNvPr id="21" name="Image 0" descr="preencoded.png">    </p:cNvPr>
          <p:cNvPicPr>
            <a:picLocks noChangeAspect="1"/>
          </p:cNvPicPr>
          <p:nvPr/>
        </p:nvPicPr>
        <p:blipFill>
          <a:blip r:embed="rId1"/>
          <a:stretch>
            <a:fillRect/>
          </a:stretch>
        </p:blipFill>
        <p:spPr>
          <a:xfrm>
            <a:off x="7499909" y="1922069"/>
            <a:ext cx="307238" cy="307238"/>
          </a:xfrm>
          <a:prstGeom prst="rect">
            <a:avLst/>
          </a:prstGeom>
        </p:spPr>
      </p:pic>
      <p:sp>
        <p:nvSpPr>
          <p:cNvPr id="22" name="Text 19"/>
          <p:cNvSpPr txBox="1"/>
          <p:nvPr/>
        </p:nvSpPr>
        <p:spPr>
          <a:xfrm>
            <a:off x="8046720" y="1801368"/>
            <a:ext cx="3383280" cy="548640"/>
          </a:xfrm>
          <a:prstGeom prst="rect">
            <a:avLst/>
          </a:prstGeom>
          <a:noFill/>
          <a:ln/>
        </p:spPr>
        <p:txBody>
          <a:bodyPr wrap="square" lIns="0" tIns="0" rIns="0" bIns="0" rtlCol="0" anchor="ctr"/>
          <a:lstStyle/>
          <a:p>
            <a:pPr indent="0" marL="0">
              <a:buNone/>
            </a:pPr>
            <a:r>
              <a:rPr lang="en-US" sz="1600" b="1" dirty="0">
                <a:solidFill>
                  <a:schemeClr val="tx1"/>
                </a:solidFill>
              </a:rPr>
              <a:t>NeMo tools</a:t>
            </a:r>
            <a:endParaRPr lang="en-US" sz="1600" dirty="0"/>
          </a:p>
        </p:txBody>
      </p:sp>
      <p:sp>
        <p:nvSpPr>
          <p:cNvPr id="23" name="Text 20"/>
          <p:cNvSpPr txBox="1"/>
          <p:nvPr/>
        </p:nvSpPr>
        <p:spPr>
          <a:xfrm>
            <a:off x="7379208" y="2496312"/>
            <a:ext cx="4032504" cy="1207008"/>
          </a:xfrm>
          <a:prstGeom prst="rect">
            <a:avLst/>
          </a:prstGeom>
          <a:noFill/>
          <a:ln/>
        </p:spPr>
        <p:txBody>
          <a:bodyPr wrap="square" lIns="0" tIns="0" rIns="0" bIns="0" rtlCol="0" anchor="t"/>
          <a:lstStyle/>
          <a:p>
            <a:pPr marL="342900" indent="-342900">
              <a:spcAft>
                <a:spcPts val="500"/>
              </a:spcAft>
              <a:buSzPct val="100000"/>
              <a:buChar char="•"/>
            </a:pPr>
            <a:r>
              <a:rPr lang="en-US" sz="1300" b="1" dirty="0">
                <a:solidFill>
                  <a:schemeClr val="tx2"/>
                </a:solidFill>
              </a:rPr>
              <a:t>NeMo Data Designer: </a:t>
            </a:r>
            <a:pPr indent="0" marL="0">
              <a:spcAft>
                <a:spcPts val="500"/>
              </a:spcAft>
              <a:buNone/>
            </a:pPr>
            <a:r>
              <a:rPr lang="en-US" sz="1300" dirty="0">
                <a:solidFill>
                  <a:schemeClr val="tx2"/>
                </a:solidFill>
              </a:rPr>
              <a:t>schema-driven synthetic data microservice / library</a:t>
            </a:r>
            <a:endParaRPr lang="en-US" sz="1300" dirty="0"/>
          </a:p>
          <a:p>
            <a:pPr marL="342900" indent="-342900">
              <a:spcAft>
                <a:spcPts val="500"/>
              </a:spcAft>
              <a:buSzPct val="100000"/>
              <a:buChar char="•"/>
            </a:pPr>
            <a:r>
              <a:rPr lang="en-US" sz="1300" b="1" dirty="0">
                <a:solidFill>
                  <a:schemeClr val="tx2"/>
                </a:solidFill>
              </a:rPr>
              <a:t>Nemotron models: </a:t>
            </a:r>
            <a:pPr indent="0" marL="0">
              <a:spcAft>
                <a:spcPts val="500"/>
              </a:spcAft>
              <a:buNone/>
            </a:pPr>
            <a:r>
              <a:rPr lang="en-US" sz="1300" dirty="0">
                <a:solidFill>
                  <a:schemeClr val="tx2"/>
                </a:solidFill>
              </a:rPr>
              <a:t>open instruct and reward models for generation and judging</a:t>
            </a:r>
            <a:endParaRPr lang="en-US" sz="1300" dirty="0"/>
          </a:p>
        </p:txBody>
      </p:sp>
      <p:sp>
        <p:nvSpPr>
          <p:cNvPr id="24" name="card"/>
          <p:cNvSpPr/>
          <p:nvPr/>
        </p:nvSpPr>
        <p:spPr>
          <a:xfrm>
            <a:off x="7178040" y="3977640"/>
            <a:ext cx="4434840" cy="2194560"/>
          </a:xfrm>
          <a:prstGeom prst="roundRect">
            <a:avLst>
              <a:gd name="adj" fmla="val 3333"/>
            </a:avLst>
          </a:prstGeom>
          <a:solidFill>
            <a:schemeClr val="bg2"/>
          </a:solidFill>
          <a:ln/>
        </p:spPr>
      </p:sp>
      <p:sp>
        <p:nvSpPr>
          <p:cNvPr id="25" name="Shape 22"/>
          <p:cNvSpPr/>
          <p:nvPr/>
        </p:nvSpPr>
        <p:spPr>
          <a:xfrm>
            <a:off x="7379208" y="4178808"/>
            <a:ext cx="548640" cy="548640"/>
          </a:xfrm>
          <a:prstGeom prst="ellipse">
            <a:avLst/>
          </a:prstGeom>
          <a:solidFill>
            <a:schemeClr val="accent1"/>
          </a:solidFill>
          <a:ln/>
        </p:spPr>
      </p:sp>
      <p:pic>
        <p:nvPicPr>
          <p:cNvPr id="26" name="Image 1" descr="preencoded.png">    </p:cNvPr>
          <p:cNvPicPr>
            <a:picLocks noChangeAspect="1"/>
          </p:cNvPicPr>
          <p:nvPr/>
        </p:nvPicPr>
        <p:blipFill>
          <a:blip r:embed="rId2"/>
          <a:stretch>
            <a:fillRect/>
          </a:stretch>
        </p:blipFill>
        <p:spPr>
          <a:xfrm>
            <a:off x="7499909" y="4299509"/>
            <a:ext cx="307238" cy="307238"/>
          </a:xfrm>
          <a:prstGeom prst="rect">
            <a:avLst/>
          </a:prstGeom>
        </p:spPr>
      </p:pic>
      <p:sp>
        <p:nvSpPr>
          <p:cNvPr id="27" name="Text 23"/>
          <p:cNvSpPr txBox="1"/>
          <p:nvPr/>
        </p:nvSpPr>
        <p:spPr>
          <a:xfrm>
            <a:off x="8046720" y="4178808"/>
            <a:ext cx="3383280" cy="548640"/>
          </a:xfrm>
          <a:prstGeom prst="rect">
            <a:avLst/>
          </a:prstGeom>
          <a:noFill/>
          <a:ln/>
        </p:spPr>
        <p:txBody>
          <a:bodyPr wrap="square" lIns="0" tIns="0" rIns="0" bIns="0" rtlCol="0" anchor="ctr"/>
          <a:lstStyle/>
          <a:p>
            <a:pPr indent="0" marL="0">
              <a:buNone/>
            </a:pPr>
            <a:r>
              <a:rPr lang="en-US" sz="1600" b="1" dirty="0">
                <a:solidFill>
                  <a:schemeClr val="tx1"/>
                </a:solidFill>
              </a:rPr>
              <a:t>Watch out for</a:t>
            </a:r>
            <a:endParaRPr lang="en-US" sz="1600" dirty="0"/>
          </a:p>
        </p:txBody>
      </p:sp>
      <p:sp>
        <p:nvSpPr>
          <p:cNvPr id="28" name="Text 24"/>
          <p:cNvSpPr txBox="1"/>
          <p:nvPr/>
        </p:nvSpPr>
        <p:spPr>
          <a:xfrm>
            <a:off x="7379208" y="4873752"/>
            <a:ext cx="4032504" cy="1161288"/>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2"/>
                </a:solidFill>
              </a:rPr>
              <a:t>Teacher model licence terms on synthetic outputs</a:t>
            </a:r>
            <a:endParaRPr lang="en-US" sz="1300" dirty="0"/>
          </a:p>
          <a:p>
            <a:pPr marL="342900" indent="-342900">
              <a:spcAft>
                <a:spcPts val="500"/>
              </a:spcAft>
              <a:buSzPct val="100000"/>
              <a:buChar char="•"/>
            </a:pPr>
            <a:r>
              <a:rPr lang="en-US" sz="1300" dirty="0">
                <a:solidFill>
                  <a:schemeClr val="tx2"/>
                </a:solidFill>
              </a:rPr>
              <a:t>Model collapse: always mix in real data</a:t>
            </a:r>
            <a:endParaRPr lang="en-US" sz="1300" dirty="0"/>
          </a:p>
          <a:p>
            <a:pPr marL="342900" indent="-342900">
              <a:spcAft>
                <a:spcPts val="500"/>
              </a:spcAft>
              <a:buSzPct val="100000"/>
              <a:buChar char="•"/>
            </a:pPr>
            <a:r>
              <a:rPr lang="en-US" sz="1300" dirty="0">
                <a:solidFill>
                  <a:schemeClr val="tx2"/>
                </a:solidFill>
              </a:rPr>
              <a:t>Bias copied from the teacher model</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000" b="1" dirty="0">
                <a:solidFill>
                  <a:schemeClr val="tx1"/>
                </a:solidFill>
              </a:rPr>
              <a:t>NeMo Framework: training at any scale</a:t>
            </a:r>
            <a:endParaRPr lang="en-US" sz="3000" dirty="0"/>
          </a:p>
        </p:txBody>
      </p:sp>
      <p:sp>
        <p:nvSpPr>
          <p:cNvPr id="3" name="Text 0"/>
          <p:cNvSpPr/>
          <p:nvPr>
            <p:ph idx="101" type="body" hasCustomPrompt="1"/>
          </p:nvPr>
        </p:nvSpPr>
        <p:spPr>
          <a:xfrm>
            <a:off x="548640" y="960120"/>
            <a:ext cx="11064240" cy="411480"/>
          </a:xfrm>
          <a:prstGeom prst="rect">
            <a:avLst/>
          </a:prstGeom>
          <a:noFill/>
          <a:ln/>
        </p:spPr>
        <p:txBody>
          <a:bodyPr wrap="square" lIns="0" tIns="0" rIns="0" bIns="0" rtlCol="0" anchor="t"/>
          <a:lstStyle/>
          <a:p>
            <a:pPr indent="0" marL="0">
              <a:buNone/>
            </a:pPr>
            <a:r>
              <a:rPr lang="en-US" sz="1600" dirty="0">
                <a:solidFill>
                  <a:schemeClr val="accent5"/>
                </a:solidFill>
              </a:rPr>
              <a:t>Megatron Core parallelism + Transformer Engine precision, configured with Python recipes</a:t>
            </a:r>
            <a:endParaRPr lang="en-US" sz="1600" dirty="0"/>
          </a:p>
        </p:txBody>
      </p:sp>
      <p:sp>
        <p:nvSpPr>
          <p:cNvPr id="4" name="Shape 2"/>
          <p:cNvSpPr/>
          <p:nvPr/>
        </p:nvSpPr>
        <p:spPr>
          <a:xfrm>
            <a:off x="548640" y="1600200"/>
            <a:ext cx="5760720" cy="685800"/>
          </a:xfrm>
          <a:prstGeom prst="roundRect">
            <a:avLst>
              <a:gd name="adj" fmla="val 8000"/>
            </a:avLst>
          </a:prstGeom>
          <a:solidFill>
            <a:schemeClr val="bg2"/>
          </a:solidFill>
          <a:ln/>
        </p:spPr>
      </p:sp>
      <p:sp>
        <p:nvSpPr>
          <p:cNvPr id="5" name="Text 3"/>
          <p:cNvSpPr txBox="1"/>
          <p:nvPr/>
        </p:nvSpPr>
        <p:spPr>
          <a:xfrm>
            <a:off x="731520" y="1600200"/>
            <a:ext cx="2194560" cy="685800"/>
          </a:xfrm>
          <a:prstGeom prst="rect">
            <a:avLst/>
          </a:prstGeom>
          <a:noFill/>
          <a:ln/>
        </p:spPr>
        <p:txBody>
          <a:bodyPr wrap="square" lIns="0" tIns="0" rIns="0" bIns="0" rtlCol="0" anchor="ctr"/>
          <a:lstStyle/>
          <a:p>
            <a:pPr indent="0" marL="0">
              <a:buNone/>
            </a:pPr>
            <a:r>
              <a:rPr lang="en-US" sz="1400" b="1" dirty="0">
                <a:solidFill>
                  <a:schemeClr val="tx1"/>
                </a:solidFill>
              </a:rPr>
              <a:t>Data parallel (DP / FSDP)</a:t>
            </a:r>
            <a:endParaRPr lang="en-US" sz="1400" dirty="0"/>
          </a:p>
        </p:txBody>
      </p:sp>
      <p:sp>
        <p:nvSpPr>
          <p:cNvPr id="6" name="Text 4"/>
          <p:cNvSpPr txBox="1"/>
          <p:nvPr/>
        </p:nvSpPr>
        <p:spPr>
          <a:xfrm>
            <a:off x="2926080" y="1600200"/>
            <a:ext cx="3291840" cy="685800"/>
          </a:xfrm>
          <a:prstGeom prst="rect">
            <a:avLst/>
          </a:prstGeom>
          <a:noFill/>
          <a:ln/>
        </p:spPr>
        <p:txBody>
          <a:bodyPr wrap="square" lIns="0" tIns="0" rIns="0" bIns="0" rtlCol="0" anchor="ctr"/>
          <a:lstStyle/>
          <a:p>
            <a:pPr indent="0" marL="0">
              <a:buNone/>
            </a:pPr>
            <a:r>
              <a:rPr lang="en-US" sz="1200" dirty="0">
                <a:solidFill>
                  <a:schemeClr val="tx2"/>
                </a:solidFill>
              </a:rPr>
              <a:t>Each GPU has a model copy (or shard) and different data; gradients are averaged</a:t>
            </a:r>
            <a:endParaRPr lang="en-US" sz="1200" dirty="0"/>
          </a:p>
        </p:txBody>
      </p:sp>
      <p:sp>
        <p:nvSpPr>
          <p:cNvPr id="7" name="Shape 5"/>
          <p:cNvSpPr/>
          <p:nvPr/>
        </p:nvSpPr>
        <p:spPr>
          <a:xfrm>
            <a:off x="548640" y="2377440"/>
            <a:ext cx="5760720" cy="685800"/>
          </a:xfrm>
          <a:prstGeom prst="roundRect">
            <a:avLst>
              <a:gd name="adj" fmla="val 8000"/>
            </a:avLst>
          </a:prstGeom>
          <a:solidFill>
            <a:schemeClr val="bg2"/>
          </a:solidFill>
          <a:ln/>
        </p:spPr>
      </p:sp>
      <p:sp>
        <p:nvSpPr>
          <p:cNvPr id="8" name="Text 6"/>
          <p:cNvSpPr txBox="1"/>
          <p:nvPr/>
        </p:nvSpPr>
        <p:spPr>
          <a:xfrm>
            <a:off x="731520" y="2377440"/>
            <a:ext cx="2194560" cy="685800"/>
          </a:xfrm>
          <a:prstGeom prst="rect">
            <a:avLst/>
          </a:prstGeom>
          <a:noFill/>
          <a:ln/>
        </p:spPr>
        <p:txBody>
          <a:bodyPr wrap="square" lIns="0" tIns="0" rIns="0" bIns="0" rtlCol="0" anchor="ctr"/>
          <a:lstStyle/>
          <a:p>
            <a:pPr indent="0" marL="0">
              <a:buNone/>
            </a:pPr>
            <a:r>
              <a:rPr lang="en-US" sz="1400" b="1" dirty="0">
                <a:solidFill>
                  <a:schemeClr val="tx1"/>
                </a:solidFill>
              </a:rPr>
              <a:t>Tensor parallel (TP)</a:t>
            </a:r>
            <a:endParaRPr lang="en-US" sz="1400" dirty="0"/>
          </a:p>
        </p:txBody>
      </p:sp>
      <p:sp>
        <p:nvSpPr>
          <p:cNvPr id="9" name="Text 7"/>
          <p:cNvSpPr txBox="1"/>
          <p:nvPr/>
        </p:nvSpPr>
        <p:spPr>
          <a:xfrm>
            <a:off x="2926080" y="2377440"/>
            <a:ext cx="3291840" cy="685800"/>
          </a:xfrm>
          <a:prstGeom prst="rect">
            <a:avLst/>
          </a:prstGeom>
          <a:noFill/>
          <a:ln/>
        </p:spPr>
        <p:txBody>
          <a:bodyPr wrap="square" lIns="0" tIns="0" rIns="0" bIns="0" rtlCol="0" anchor="ctr"/>
          <a:lstStyle/>
          <a:p>
            <a:pPr indent="0" marL="0">
              <a:buNone/>
            </a:pPr>
            <a:r>
              <a:rPr lang="en-US" sz="1200" dirty="0">
                <a:solidFill>
                  <a:schemeClr val="tx2"/>
                </a:solidFill>
              </a:rPr>
              <a:t>Each layer's matrices are split across GPUs; needs NVLink bandwidth</a:t>
            </a:r>
            <a:endParaRPr lang="en-US" sz="1200" dirty="0"/>
          </a:p>
        </p:txBody>
      </p:sp>
      <p:sp>
        <p:nvSpPr>
          <p:cNvPr id="10" name="Shape 8"/>
          <p:cNvSpPr/>
          <p:nvPr/>
        </p:nvSpPr>
        <p:spPr>
          <a:xfrm>
            <a:off x="548640" y="3154680"/>
            <a:ext cx="5760720" cy="685800"/>
          </a:xfrm>
          <a:prstGeom prst="roundRect">
            <a:avLst>
              <a:gd name="adj" fmla="val 8000"/>
            </a:avLst>
          </a:prstGeom>
          <a:solidFill>
            <a:schemeClr val="bg2"/>
          </a:solidFill>
          <a:ln/>
        </p:spPr>
      </p:sp>
      <p:sp>
        <p:nvSpPr>
          <p:cNvPr id="11" name="Text 9"/>
          <p:cNvSpPr txBox="1"/>
          <p:nvPr/>
        </p:nvSpPr>
        <p:spPr>
          <a:xfrm>
            <a:off x="731520" y="3154680"/>
            <a:ext cx="2194560" cy="685800"/>
          </a:xfrm>
          <a:prstGeom prst="rect">
            <a:avLst/>
          </a:prstGeom>
          <a:noFill/>
          <a:ln/>
        </p:spPr>
        <p:txBody>
          <a:bodyPr wrap="square" lIns="0" tIns="0" rIns="0" bIns="0" rtlCol="0" anchor="ctr"/>
          <a:lstStyle/>
          <a:p>
            <a:pPr indent="0" marL="0">
              <a:buNone/>
            </a:pPr>
            <a:r>
              <a:rPr lang="en-US" sz="1400" b="1" dirty="0">
                <a:solidFill>
                  <a:schemeClr val="tx1"/>
                </a:solidFill>
              </a:rPr>
              <a:t>Pipeline parallel (PP)</a:t>
            </a:r>
            <a:endParaRPr lang="en-US" sz="1400" dirty="0"/>
          </a:p>
        </p:txBody>
      </p:sp>
      <p:sp>
        <p:nvSpPr>
          <p:cNvPr id="12" name="Text 10"/>
          <p:cNvSpPr txBox="1"/>
          <p:nvPr/>
        </p:nvSpPr>
        <p:spPr>
          <a:xfrm>
            <a:off x="2926080" y="3154680"/>
            <a:ext cx="3291840" cy="685800"/>
          </a:xfrm>
          <a:prstGeom prst="rect">
            <a:avLst/>
          </a:prstGeom>
          <a:noFill/>
          <a:ln/>
        </p:spPr>
        <p:txBody>
          <a:bodyPr wrap="square" lIns="0" tIns="0" rIns="0" bIns="0" rtlCol="0" anchor="ctr"/>
          <a:lstStyle/>
          <a:p>
            <a:pPr indent="0" marL="0">
              <a:buNone/>
            </a:pPr>
            <a:r>
              <a:rPr lang="en-US" sz="1200" dirty="0">
                <a:solidFill>
                  <a:schemeClr val="tx2"/>
                </a:solidFill>
              </a:rPr>
              <a:t>Groups of layers on different GPUs; micro-batches flow through</a:t>
            </a:r>
            <a:endParaRPr lang="en-US" sz="1200" dirty="0"/>
          </a:p>
        </p:txBody>
      </p:sp>
      <p:sp>
        <p:nvSpPr>
          <p:cNvPr id="13" name="Shape 11"/>
          <p:cNvSpPr/>
          <p:nvPr/>
        </p:nvSpPr>
        <p:spPr>
          <a:xfrm>
            <a:off x="548640" y="3931920"/>
            <a:ext cx="5760720" cy="685800"/>
          </a:xfrm>
          <a:prstGeom prst="roundRect">
            <a:avLst>
              <a:gd name="adj" fmla="val 8000"/>
            </a:avLst>
          </a:prstGeom>
          <a:solidFill>
            <a:schemeClr val="bg2"/>
          </a:solidFill>
          <a:ln/>
        </p:spPr>
      </p:sp>
      <p:sp>
        <p:nvSpPr>
          <p:cNvPr id="14" name="Text 12"/>
          <p:cNvSpPr txBox="1"/>
          <p:nvPr/>
        </p:nvSpPr>
        <p:spPr>
          <a:xfrm>
            <a:off x="731520" y="3931920"/>
            <a:ext cx="2194560" cy="685800"/>
          </a:xfrm>
          <a:prstGeom prst="rect">
            <a:avLst/>
          </a:prstGeom>
          <a:noFill/>
          <a:ln/>
        </p:spPr>
        <p:txBody>
          <a:bodyPr wrap="square" lIns="0" tIns="0" rIns="0" bIns="0" rtlCol="0" anchor="ctr"/>
          <a:lstStyle/>
          <a:p>
            <a:pPr indent="0" marL="0">
              <a:buNone/>
            </a:pPr>
            <a:r>
              <a:rPr lang="en-US" sz="1400" b="1" dirty="0">
                <a:solidFill>
                  <a:schemeClr val="tx1"/>
                </a:solidFill>
              </a:rPr>
              <a:t>Context parallel (CP)</a:t>
            </a:r>
            <a:endParaRPr lang="en-US" sz="1400" dirty="0"/>
          </a:p>
        </p:txBody>
      </p:sp>
      <p:sp>
        <p:nvSpPr>
          <p:cNvPr id="15" name="Text 13"/>
          <p:cNvSpPr txBox="1"/>
          <p:nvPr/>
        </p:nvSpPr>
        <p:spPr>
          <a:xfrm>
            <a:off x="2926080" y="3931920"/>
            <a:ext cx="3291840" cy="685800"/>
          </a:xfrm>
          <a:prstGeom prst="rect">
            <a:avLst/>
          </a:prstGeom>
          <a:noFill/>
          <a:ln/>
        </p:spPr>
        <p:txBody>
          <a:bodyPr wrap="square" lIns="0" tIns="0" rIns="0" bIns="0" rtlCol="0" anchor="ctr"/>
          <a:lstStyle/>
          <a:p>
            <a:pPr indent="0" marL="0">
              <a:buNone/>
            </a:pPr>
            <a:r>
              <a:rPr lang="en-US" sz="1200" dirty="0">
                <a:solidFill>
                  <a:schemeClr val="tx2"/>
                </a:solidFill>
              </a:rPr>
              <a:t>Long sequences split across GPUs for 128K+ token training</a:t>
            </a:r>
            <a:endParaRPr lang="en-US" sz="1200" dirty="0"/>
          </a:p>
        </p:txBody>
      </p:sp>
      <p:sp>
        <p:nvSpPr>
          <p:cNvPr id="16" name="Shape 14"/>
          <p:cNvSpPr/>
          <p:nvPr/>
        </p:nvSpPr>
        <p:spPr>
          <a:xfrm>
            <a:off x="548640" y="4709160"/>
            <a:ext cx="5760720" cy="685800"/>
          </a:xfrm>
          <a:prstGeom prst="roundRect">
            <a:avLst>
              <a:gd name="adj" fmla="val 8000"/>
            </a:avLst>
          </a:prstGeom>
          <a:solidFill>
            <a:schemeClr val="bg2"/>
          </a:solidFill>
          <a:ln/>
        </p:spPr>
      </p:sp>
      <p:sp>
        <p:nvSpPr>
          <p:cNvPr id="17" name="Text 15"/>
          <p:cNvSpPr txBox="1"/>
          <p:nvPr/>
        </p:nvSpPr>
        <p:spPr>
          <a:xfrm>
            <a:off x="731520" y="4709160"/>
            <a:ext cx="2194560" cy="685800"/>
          </a:xfrm>
          <a:prstGeom prst="rect">
            <a:avLst/>
          </a:prstGeom>
          <a:noFill/>
          <a:ln/>
        </p:spPr>
        <p:txBody>
          <a:bodyPr wrap="square" lIns="0" tIns="0" rIns="0" bIns="0" rtlCol="0" anchor="ctr"/>
          <a:lstStyle/>
          <a:p>
            <a:pPr indent="0" marL="0">
              <a:buNone/>
            </a:pPr>
            <a:r>
              <a:rPr lang="en-US" sz="1400" b="1" dirty="0">
                <a:solidFill>
                  <a:schemeClr val="tx1"/>
                </a:solidFill>
              </a:rPr>
              <a:t>Expert parallel (EP)</a:t>
            </a:r>
            <a:endParaRPr lang="en-US" sz="1400" dirty="0"/>
          </a:p>
        </p:txBody>
      </p:sp>
      <p:sp>
        <p:nvSpPr>
          <p:cNvPr id="18" name="Text 16"/>
          <p:cNvSpPr txBox="1"/>
          <p:nvPr/>
        </p:nvSpPr>
        <p:spPr>
          <a:xfrm>
            <a:off x="2926080" y="4709160"/>
            <a:ext cx="3291840" cy="685800"/>
          </a:xfrm>
          <a:prstGeom prst="rect">
            <a:avLst/>
          </a:prstGeom>
          <a:noFill/>
          <a:ln/>
        </p:spPr>
        <p:txBody>
          <a:bodyPr wrap="square" lIns="0" tIns="0" rIns="0" bIns="0" rtlCol="0" anchor="ctr"/>
          <a:lstStyle/>
          <a:p>
            <a:pPr indent="0" marL="0">
              <a:buNone/>
            </a:pPr>
            <a:r>
              <a:rPr lang="en-US" sz="1200" dirty="0">
                <a:solidFill>
                  <a:schemeClr val="tx2"/>
                </a:solidFill>
              </a:rPr>
              <a:t>Mixture-of-experts layers spread experts across GPUs</a:t>
            </a:r>
            <a:endParaRPr lang="en-US" sz="1200" dirty="0"/>
          </a:p>
        </p:txBody>
      </p:sp>
      <p:sp>
        <p:nvSpPr>
          <p:cNvPr id="19" name="Text 17"/>
          <p:cNvSpPr txBox="1"/>
          <p:nvPr/>
        </p:nvSpPr>
        <p:spPr>
          <a:xfrm>
            <a:off x="548640" y="5532120"/>
            <a:ext cx="5760720" cy="731520"/>
          </a:xfrm>
          <a:prstGeom prst="rect">
            <a:avLst/>
          </a:prstGeom>
          <a:noFill/>
          <a:ln/>
        </p:spPr>
        <p:txBody>
          <a:bodyPr wrap="square" lIns="0" tIns="0" rIns="0" bIns="0" rtlCol="0" anchor="t"/>
          <a:lstStyle/>
          <a:p>
            <a:pPr marL="342900" indent="-342900">
              <a:spcAft>
                <a:spcPts val="400"/>
              </a:spcAft>
              <a:buSzPct val="100000"/>
              <a:buChar char="•"/>
            </a:pPr>
            <a:r>
              <a:rPr lang="en-US" sz="1200" b="1" dirty="0">
                <a:solidFill>
                  <a:schemeClr val="tx2"/>
                </a:solidFill>
              </a:rPr>
              <a:t>FP8 / FP4 training </a:t>
            </a:r>
            <a:pPr indent="0" marL="0">
              <a:spcAft>
                <a:spcPts val="400"/>
              </a:spcAft>
              <a:buNone/>
            </a:pPr>
            <a:r>
              <a:rPr lang="en-US" sz="1200" dirty="0">
                <a:solidFill>
                  <a:schemeClr val="tx2"/>
                </a:solidFill>
              </a:rPr>
              <a:t>via Transformer Engine</a:t>
            </a:r>
            <a:endParaRPr lang="en-US" sz="1200" dirty="0"/>
          </a:p>
          <a:p>
            <a:pPr marL="342900" indent="-342900">
              <a:spcAft>
                <a:spcPts val="400"/>
              </a:spcAft>
              <a:buSzPct val="100000"/>
              <a:buChar char="•"/>
            </a:pPr>
            <a:r>
              <a:rPr lang="en-US" sz="1200" b="1" dirty="0">
                <a:solidFill>
                  <a:schemeClr val="tx2"/>
                </a:solidFill>
              </a:rPr>
              <a:t>NeMo-Run </a:t>
            </a:r>
            <a:pPr indent="0" marL="0">
              <a:spcAft>
                <a:spcPts val="400"/>
              </a:spcAft>
              <a:buNone/>
            </a:pPr>
            <a:r>
              <a:rPr lang="en-US" sz="1200" dirty="0">
                <a:solidFill>
                  <a:schemeClr val="tx2"/>
                </a:solidFill>
              </a:rPr>
              <a:t>launches the same recipe locally, on Slurm or on K8s</a:t>
            </a:r>
            <a:endParaRPr lang="en-US" sz="1200" dirty="0"/>
          </a:p>
          <a:p>
            <a:pPr marL="342900" indent="-342900">
              <a:spcAft>
                <a:spcPts val="400"/>
              </a:spcAft>
              <a:buSzPct val="100000"/>
              <a:buChar char="•"/>
            </a:pPr>
            <a:r>
              <a:rPr lang="en-US" sz="1200" b="1" dirty="0">
                <a:solidFill>
                  <a:schemeClr val="tx2"/>
                </a:solidFill>
              </a:rPr>
              <a:t>Checkpoints </a:t>
            </a:r>
            <a:pPr indent="0" marL="0">
              <a:spcAft>
                <a:spcPts val="400"/>
              </a:spcAft>
              <a:buNone/>
            </a:pPr>
            <a:r>
              <a:rPr lang="en-US" sz="1200" dirty="0">
                <a:solidFill>
                  <a:schemeClr val="tx2"/>
                </a:solidFill>
              </a:rPr>
              <a:t>convert to and from Hugging Face formats</a:t>
            </a:r>
            <a:endParaRPr lang="en-US" sz="1200" dirty="0"/>
          </a:p>
        </p:txBody>
      </p:sp>
      <p:sp>
        <p:nvSpPr>
          <p:cNvPr id="20" name="Shape 18"/>
          <p:cNvSpPr/>
          <p:nvPr/>
        </p:nvSpPr>
        <p:spPr>
          <a:xfrm>
            <a:off x="6583680" y="1600200"/>
            <a:ext cx="5029200" cy="4572000"/>
          </a:xfrm>
          <a:prstGeom prst="roundRect">
            <a:avLst>
              <a:gd name="adj" fmla="val 1600"/>
            </a:avLst>
          </a:prstGeom>
          <a:solidFill>
            <a:srgbClr val="1B231C"/>
          </a:solidFill>
          <a:ln/>
        </p:spPr>
      </p:sp>
      <p:sp>
        <p:nvSpPr>
          <p:cNvPr id="21" name="Text 19"/>
          <p:cNvSpPr txBox="1"/>
          <p:nvPr/>
        </p:nvSpPr>
        <p:spPr>
          <a:xfrm>
            <a:off x="6812280" y="1737360"/>
            <a:ext cx="4572000" cy="320040"/>
          </a:xfrm>
          <a:prstGeom prst="rect">
            <a:avLst/>
          </a:prstGeom>
          <a:noFill/>
          <a:ln/>
        </p:spPr>
        <p:txBody>
          <a:bodyPr wrap="square" lIns="0" tIns="0" rIns="0" bIns="0" rtlCol="0" anchor="t"/>
          <a:lstStyle/>
          <a:p>
            <a:pPr indent="0" marL="0">
              <a:buNone/>
            </a:pPr>
            <a:r>
              <a:rPr lang="en-US" sz="1300" b="1" dirty="0">
                <a:solidFill>
                  <a:schemeClr val="accent1"/>
                </a:solidFill>
              </a:rPr>
              <a:t>NeMo 2.0 recipe (illustrative)</a:t>
            </a:r>
            <a:endParaRPr lang="en-US" sz="1300" dirty="0"/>
          </a:p>
        </p:txBody>
      </p:sp>
      <p:sp>
        <p:nvSpPr>
          <p:cNvPr id="22" name="Text 20"/>
          <p:cNvSpPr txBox="1"/>
          <p:nvPr/>
        </p:nvSpPr>
        <p:spPr>
          <a:xfrm>
            <a:off x="6812280" y="2103120"/>
            <a:ext cx="4572000" cy="3931920"/>
          </a:xfrm>
          <a:prstGeom prst="rect">
            <a:avLst/>
          </a:prstGeom>
          <a:noFill/>
          <a:ln/>
        </p:spPr>
        <p:txBody>
          <a:bodyPr wrap="square" lIns="0" tIns="0" rIns="0" bIns="0" rtlCol="0" anchor="t"/>
          <a:lstStyle/>
          <a:p>
            <a:pPr indent="0" marL="0">
              <a:spcAft>
                <a:spcPts val="100"/>
              </a:spcAft>
              <a:buNone/>
            </a:pPr>
            <a:r>
              <a:rPr lang="en-US" sz="1200" dirty="0">
                <a:solidFill>
                  <a:srgbClr val="EAF2E6"/>
                </a:solidFill>
                <a:latin typeface="Courier New" pitchFamily="34" charset="0"/>
                <a:ea typeface="Courier New" pitchFamily="34" charset="-122"/>
                <a:cs typeface="Courier New" pitchFamily="34" charset="-120"/>
              </a:rPr>
              <a:t>from nemo.collections import llm</a:t>
            </a:r>
            <a:endParaRPr lang="en-US" sz="1200" dirty="0"/>
          </a:p>
          <a:p>
            <a:pPr indent="0" marL="0">
              <a:spcAft>
                <a:spcPts val="100"/>
              </a:spcAft>
              <a:buNone/>
            </a:pPr>
            <a:r>
              <a:rPr lang="en-US" sz="1200" dirty="0">
                <a:solidFill>
                  <a:srgbClr val="EAF2E6"/>
                </a:solidFill>
                <a:latin typeface="Courier New" pitchFamily="34" charset="0"/>
                <a:ea typeface="Courier New" pitchFamily="34" charset="-122"/>
                <a:cs typeface="Courier New" pitchFamily="34" charset="-120"/>
              </a:rPr>
              <a:t>import nemo_run as run</a:t>
            </a:r>
            <a:endParaRPr lang="en-US" sz="1200" dirty="0"/>
          </a:p>
          <a:p>
            <a:pPr indent="0" marL="0">
              <a:spcAft>
                <a:spcPts val="100"/>
              </a:spcAft>
              <a:buNone/>
            </a:pPr>
            <a:r>
              <a:rPr lang="en-US" sz="1200" dirty="0">
                <a:solidFill>
                  <a:srgbClr val="EAF2E6"/>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8FA394"/>
                </a:solidFill>
                <a:latin typeface="Courier New" pitchFamily="34" charset="0"/>
                <a:ea typeface="Courier New" pitchFamily="34" charset="-122"/>
                <a:cs typeface="Courier New" pitchFamily="34" charset="-120"/>
              </a:rPr>
              <a:t># LoRA fine-tune Llama 3 8B on 8 GPUs</a:t>
            </a:r>
            <a:endParaRPr lang="en-US" sz="1200" dirty="0"/>
          </a:p>
          <a:p>
            <a:pPr indent="0" marL="0">
              <a:spcAft>
                <a:spcPts val="100"/>
              </a:spcAft>
              <a:buNone/>
            </a:pPr>
            <a:r>
              <a:rPr lang="en-US" sz="1200" dirty="0">
                <a:solidFill>
                  <a:srgbClr val="EAF2E6"/>
                </a:solidFill>
                <a:latin typeface="Courier New" pitchFamily="34" charset="0"/>
                <a:ea typeface="Courier New" pitchFamily="34" charset="-122"/>
                <a:cs typeface="Courier New" pitchFamily="34" charset="-120"/>
              </a:rPr>
              <a:t>recipe = llm.llama3_8b.finetune_recipe(</a:t>
            </a:r>
            <a:endParaRPr lang="en-US" sz="1200" dirty="0"/>
          </a:p>
          <a:p>
            <a:pPr indent="0" marL="0">
              <a:spcAft>
                <a:spcPts val="100"/>
              </a:spcAft>
              <a:buNone/>
            </a:pPr>
            <a:r>
              <a:rPr lang="en-US" sz="1200" dirty="0">
                <a:solidFill>
                  <a:srgbClr val="EAF2E6"/>
                </a:solidFill>
                <a:latin typeface="Courier New" pitchFamily="34" charset="0"/>
                <a:ea typeface="Courier New" pitchFamily="34" charset="-122"/>
                <a:cs typeface="Courier New" pitchFamily="34" charset="-120"/>
              </a:rPr>
              <a:t>    name="llama3_8b_lora",</a:t>
            </a:r>
            <a:endParaRPr lang="en-US" sz="1200" dirty="0"/>
          </a:p>
          <a:p>
            <a:pPr indent="0" marL="0">
              <a:spcAft>
                <a:spcPts val="100"/>
              </a:spcAft>
              <a:buNone/>
            </a:pPr>
            <a:r>
              <a:rPr lang="en-US" sz="1200" dirty="0">
                <a:solidFill>
                  <a:srgbClr val="EAF2E6"/>
                </a:solidFill>
                <a:latin typeface="Courier New" pitchFamily="34" charset="0"/>
                <a:ea typeface="Courier New" pitchFamily="34" charset="-122"/>
                <a:cs typeface="Courier New" pitchFamily="34" charset="-120"/>
              </a:rPr>
              <a:t>    dir="/checkpoints",</a:t>
            </a:r>
            <a:endParaRPr lang="en-US" sz="1200" dirty="0"/>
          </a:p>
          <a:p>
            <a:pPr indent="0" marL="0">
              <a:spcAft>
                <a:spcPts val="100"/>
              </a:spcAft>
              <a:buNone/>
            </a:pPr>
            <a:r>
              <a:rPr lang="en-US" sz="1200" dirty="0">
                <a:solidFill>
                  <a:srgbClr val="EAF2E6"/>
                </a:solidFill>
                <a:latin typeface="Courier New" pitchFamily="34" charset="0"/>
                <a:ea typeface="Courier New" pitchFamily="34" charset="-122"/>
                <a:cs typeface="Courier New" pitchFamily="34" charset="-120"/>
              </a:rPr>
              <a:t>    num_nodes=1,</a:t>
            </a:r>
            <a:endParaRPr lang="en-US" sz="1200" dirty="0"/>
          </a:p>
          <a:p>
            <a:pPr indent="0" marL="0">
              <a:spcAft>
                <a:spcPts val="100"/>
              </a:spcAft>
              <a:buNone/>
            </a:pPr>
            <a:r>
              <a:rPr lang="en-US" sz="1200" dirty="0">
                <a:solidFill>
                  <a:srgbClr val="EAF2E6"/>
                </a:solidFill>
                <a:latin typeface="Courier New" pitchFamily="34" charset="0"/>
                <a:ea typeface="Courier New" pitchFamily="34" charset="-122"/>
                <a:cs typeface="Courier New" pitchFamily="34" charset="-120"/>
              </a:rPr>
              <a:t>    num_gpus_per_node=8,</a:t>
            </a:r>
            <a:endParaRPr lang="en-US" sz="1200" dirty="0"/>
          </a:p>
          <a:p>
            <a:pPr indent="0" marL="0">
              <a:spcAft>
                <a:spcPts val="100"/>
              </a:spcAft>
              <a:buNone/>
            </a:pPr>
            <a:r>
              <a:rPr lang="en-US" sz="1200" dirty="0">
                <a:solidFill>
                  <a:srgbClr val="EAF2E6"/>
                </a:solidFill>
                <a:latin typeface="Courier New" pitchFamily="34" charset="0"/>
                <a:ea typeface="Courier New" pitchFamily="34" charset="-122"/>
                <a:cs typeface="Courier New" pitchFamily="34" charset="-120"/>
              </a:rPr>
              <a:t>    peft_scheme="lora",</a:t>
            </a:r>
            <a:endParaRPr lang="en-US" sz="1200" dirty="0"/>
          </a:p>
          <a:p>
            <a:pPr indent="0" marL="0">
              <a:spcAft>
                <a:spcPts val="100"/>
              </a:spcAft>
              <a:buNone/>
            </a:pPr>
            <a:r>
              <a:rPr lang="en-US" sz="1200" dirty="0">
                <a:solidFill>
                  <a:srgbClr val="EAF2E6"/>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AF2E6"/>
                </a:solidFill>
                <a:latin typeface="Courier New" pitchFamily="34" charset="0"/>
                <a:ea typeface="Courier New" pitchFamily="34" charset="-122"/>
                <a:cs typeface="Courier New" pitchFamily="34" charset="-120"/>
              </a:rPr>
              <a:t>recipe.trainer.max_steps = 1000</a:t>
            </a:r>
            <a:endParaRPr lang="en-US" sz="1200" dirty="0"/>
          </a:p>
          <a:p>
            <a:pPr indent="0" marL="0">
              <a:spcAft>
                <a:spcPts val="100"/>
              </a:spcAft>
              <a:buNone/>
            </a:pPr>
            <a:r>
              <a:rPr lang="en-US" sz="1200" dirty="0">
                <a:solidFill>
                  <a:srgbClr val="EAF2E6"/>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8FA394"/>
                </a:solidFill>
                <a:latin typeface="Courier New" pitchFamily="34" charset="0"/>
                <a:ea typeface="Courier New" pitchFamily="34" charset="-122"/>
                <a:cs typeface="Courier New" pitchFamily="34" charset="-120"/>
              </a:rPr>
              <a:t># Run locally; swap for a Slurm</a:t>
            </a:r>
            <a:endParaRPr lang="en-US" sz="1200" dirty="0"/>
          </a:p>
          <a:p>
            <a:pPr indent="0" marL="0">
              <a:spcAft>
                <a:spcPts val="100"/>
              </a:spcAft>
              <a:buNone/>
            </a:pPr>
            <a:r>
              <a:rPr lang="en-US" sz="1200" dirty="0">
                <a:solidFill>
                  <a:srgbClr val="8FA394"/>
                </a:solidFill>
                <a:latin typeface="Courier New" pitchFamily="34" charset="0"/>
                <a:ea typeface="Courier New" pitchFamily="34" charset="-122"/>
                <a:cs typeface="Courier New" pitchFamily="34" charset="-120"/>
              </a:rPr>
              <a:t># or Kubernetes executor at scale</a:t>
            </a:r>
            <a:endParaRPr lang="en-US" sz="1200" dirty="0"/>
          </a:p>
          <a:p>
            <a:pPr indent="0" marL="0">
              <a:spcAft>
                <a:spcPts val="100"/>
              </a:spcAft>
              <a:buNone/>
            </a:pPr>
            <a:r>
              <a:rPr lang="en-US" sz="1200" dirty="0">
                <a:solidFill>
                  <a:srgbClr val="EAF2E6"/>
                </a:solidFill>
                <a:latin typeface="Courier New" pitchFamily="34" charset="0"/>
                <a:ea typeface="Courier New" pitchFamily="34" charset="-122"/>
                <a:cs typeface="Courier New" pitchFamily="34" charset="-120"/>
              </a:rPr>
              <a:t>run.run(recipe, executor=run.LocalExecutor())</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000" b="1" dirty="0">
                <a:solidFill>
                  <a:schemeClr val="tx1"/>
                </a:solidFill>
              </a:rPr>
              <a:t>Choosing a customization technique</a:t>
            </a:r>
            <a:endParaRPr lang="en-US" sz="3000" dirty="0"/>
          </a:p>
        </p:txBody>
      </p:sp>
      <p:sp>
        <p:nvSpPr>
          <p:cNvPr id="3" name="Text 0"/>
          <p:cNvSpPr/>
          <p:nvPr>
            <p:ph idx="101" type="body" hasCustomPrompt="1"/>
          </p:nvPr>
        </p:nvSpPr>
        <p:spPr>
          <a:xfrm>
            <a:off x="548640" y="960120"/>
            <a:ext cx="11064240" cy="411480"/>
          </a:xfrm>
          <a:prstGeom prst="rect">
            <a:avLst/>
          </a:prstGeom>
          <a:noFill/>
          <a:ln/>
        </p:spPr>
        <p:txBody>
          <a:bodyPr wrap="square" lIns="0" tIns="0" rIns="0" bIns="0" rtlCol="0" anchor="t"/>
          <a:lstStyle/>
          <a:p>
            <a:pPr indent="0" marL="0">
              <a:buNone/>
            </a:pPr>
            <a:r>
              <a:rPr lang="en-US" sz="1600" dirty="0">
                <a:solidFill>
                  <a:schemeClr val="accent5"/>
                </a:solidFill>
              </a:rPr>
              <a:t>Match the technique to the goal, the data you have and the compute you can afford</a:t>
            </a:r>
            <a:endParaRPr lang="en-US" sz="1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2011680"/>
                <a:gridCol w="2377440"/>
                <a:gridCol w="2560320"/>
                <a:gridCol w="1645920"/>
                <a:gridCol w="2468880"/>
              </a:tblGrid>
              <a:tr h="548640">
                <a:tc>
                  <a:txBody>
                    <a:bodyPr/>
                    <a:lstStyle/>
                    <a:p>
                      <a:pPr indent="0" marL="0">
                        <a:buNone/>
                      </a:pPr>
                      <a:r>
                        <a:rPr lang="en-US" sz="1300" b="1" dirty="0">
                          <a:solidFill>
                            <a:schemeClr val="bg1"/>
                          </a:solidFill>
                        </a:rPr>
                        <a:t>Technique</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What changes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Data needed</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Compute</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Use it to...</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tx1"/>
                    </a:solidFill>
                  </a:tcPr>
                </a:tc>
              </a:tr>
              <a:tr h="548640">
                <a:tc>
                  <a:txBody>
                    <a:bodyPr/>
                    <a:lstStyle/>
                    <a:p>
                      <a:pPr indent="0" marL="0">
                        <a:buNone/>
                      </a:pPr>
                      <a:r>
                        <a:rPr lang="en-US" sz="1300" b="1" dirty="0">
                          <a:solidFill>
                            <a:schemeClr val="tx1"/>
                          </a:solidFill>
                        </a:rPr>
                        <a:t>LoRA / PEFT</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Small adapter weights (&lt;1% of params)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Hundreds to thousands of examples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1–8 GPUs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Teach format, tone, domain tasks cheaply</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r>
              <a:tr h="548640">
                <a:tc>
                  <a:txBody>
                    <a:bodyPr/>
                    <a:lstStyle/>
                    <a:p>
                      <a:pPr indent="0" marL="0">
                        <a:buNone/>
                      </a:pPr>
                      <a:r>
                        <a:rPr lang="en-US" sz="1300" b="1" dirty="0">
                          <a:solidFill>
                            <a:schemeClr val="tx1"/>
                          </a:solidFill>
                        </a:rPr>
                        <a:t>Full SFT</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All weights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Thousands+ high-quality examples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Multi-GPU / multi-node</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Deeper behavior change, new skills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r>
              <a:tr h="548640">
                <a:tc>
                  <a:txBody>
                    <a:bodyPr/>
                    <a:lstStyle/>
                    <a:p>
                      <a:pPr indent="0" marL="0">
                        <a:buNone/>
                      </a:pPr>
                      <a:r>
                        <a:rPr lang="en-US" sz="1300" b="1" dirty="0">
                          <a:solidFill>
                            <a:schemeClr val="tx1"/>
                          </a:solidFill>
                        </a:rPr>
                        <a:t>DPO</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All weights or adapters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Chosen vs rejected answer pairs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Like SFT</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Align with human or policy preferences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r>
              <a:tr h="548640">
                <a:tc>
                  <a:txBody>
                    <a:bodyPr/>
                    <a:lstStyle/>
                    <a:p>
                      <a:pPr indent="0" marL="0">
                        <a:buNone/>
                      </a:pPr>
                      <a:r>
                        <a:rPr lang="en-US" sz="1300" b="1" dirty="0">
                          <a:solidFill>
                            <a:schemeClr val="tx1"/>
                          </a:solidFill>
                        </a:rPr>
                        <a:t>RL (PPO, GRPO)</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All weights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Prompts + reward model or verifiable reward</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High</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Reasoning, tool use, measurable goals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r>
              <a:tr h="548640">
                <a:tc>
                  <a:txBody>
                    <a:bodyPr/>
                    <a:lstStyle/>
                    <a:p>
                      <a:pPr indent="0" marL="0">
                        <a:buNone/>
                      </a:pPr>
                      <a:r>
                        <a:rPr lang="en-US" sz="1300" b="1" dirty="0">
                          <a:solidFill>
                            <a:schemeClr val="tx1"/>
                          </a:solidFill>
                        </a:rPr>
                        <a:t>Knowledge distillation</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 smaller student model</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Teacher outputs on many prompts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Medium</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Cut cost and latency, keep quality</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r>
              <a:tr h="548640">
                <a:tc>
                  <a:txBody>
                    <a:bodyPr/>
                    <a:lstStyle/>
                    <a:p>
                      <a:pPr indent="0" marL="0">
                        <a:buNone/>
                      </a:pPr>
                      <a:r>
                        <a:rPr lang="en-US" sz="1300" b="1" dirty="0">
                          <a:solidFill>
                            <a:schemeClr val="tx1"/>
                          </a:solidFill>
                        </a:rPr>
                        <a:t>Pruning + distillation</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Fewer layers / smaller width</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General + domain data</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Medium–high</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Build compact models (e.g. Minitron)</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r>
              <a:tr h="548640">
                <a:tc>
                  <a:txBody>
                    <a:bodyPr/>
                    <a:lstStyle/>
                    <a:p>
                      <a:pPr indent="0" marL="0">
                        <a:buNone/>
                      </a:pPr>
                      <a:r>
                        <a:rPr lang="en-US" sz="1300" b="1" dirty="0">
                          <a:solidFill>
                            <a:schemeClr val="tx1"/>
                          </a:solidFill>
                        </a:rPr>
                        <a:t>Continued pre-training</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All weights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Billions of domain tokens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Very high</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New language or deep domain knowledge</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000" b="1" dirty="0">
                <a:solidFill>
                  <a:schemeClr val="tx1"/>
                </a:solidFill>
              </a:rPr>
              <a:t>Alignment and reasoning with NeMo RL</a:t>
            </a:r>
            <a:endParaRPr lang="en-US" sz="3000" dirty="0"/>
          </a:p>
        </p:txBody>
      </p:sp>
      <p:sp>
        <p:nvSpPr>
          <p:cNvPr id="3" name="Text 0"/>
          <p:cNvSpPr/>
          <p:nvPr>
            <p:ph idx="101" type="body" hasCustomPrompt="1"/>
          </p:nvPr>
        </p:nvSpPr>
        <p:spPr>
          <a:xfrm>
            <a:off x="548640" y="960120"/>
            <a:ext cx="11064240" cy="411480"/>
          </a:xfrm>
          <a:prstGeom prst="rect">
            <a:avLst/>
          </a:prstGeom>
          <a:noFill/>
          <a:ln/>
        </p:spPr>
        <p:txBody>
          <a:bodyPr wrap="square" lIns="0" tIns="0" rIns="0" bIns="0" rtlCol="0" anchor="t"/>
          <a:lstStyle/>
          <a:p>
            <a:pPr indent="0" marL="0">
              <a:buNone/>
            </a:pPr>
            <a:r>
              <a:rPr lang="en-US" sz="1600" dirty="0">
                <a:solidFill>
                  <a:schemeClr val="accent5"/>
                </a:solidFill>
              </a:rPr>
              <a:t>Post-training turns a capable model into a helpful, safe and reasoning one</a:t>
            </a:r>
            <a:endParaRPr lang="en-US" sz="1600" dirty="0"/>
          </a:p>
        </p:txBody>
      </p:sp>
      <p:sp>
        <p:nvSpPr>
          <p:cNvPr id="4" name="Text 2"/>
          <p:cNvSpPr/>
          <p:nvPr/>
        </p:nvSpPr>
        <p:spPr>
          <a:xfrm>
            <a:off x="548640" y="1645920"/>
            <a:ext cx="1965960" cy="1371600"/>
          </a:xfrm>
          <a:prstGeom prst="roundRect">
            <a:avLst>
              <a:gd name="adj" fmla="val 4000"/>
            </a:avLst>
          </a:prstGeom>
          <a:solidFill>
            <a:schemeClr val="tx2"/>
          </a:solidFill>
          <a:ln/>
        </p:spPr>
        <p:txBody>
          <a:bodyPr wrap="square" lIns="1016" tIns="1016" rIns="1016" bIns="1016" rtlCol="0" anchor="ctr"/>
          <a:lstStyle/>
          <a:p>
            <a:pPr algn="ctr" indent="0" marL="0">
              <a:buNone/>
            </a:pPr>
            <a:r>
              <a:rPr lang="en-US" sz="1500" b="1" dirty="0">
                <a:solidFill>
                  <a:schemeClr val="bg1"/>
                </a:solidFill>
              </a:rPr>
              <a:t>Base / pre-trained model</a:t>
            </a:r>
            <a:endParaRPr lang="en-US" sz="1500" dirty="0"/>
          </a:p>
          <a:p>
            <a:pPr algn="ctr" indent="0" marL="0">
              <a:buNone/>
            </a:pPr>
            <a:r>
              <a:rPr lang="en-US" sz="1200" dirty="0">
                <a:solidFill>
                  <a:schemeClr val="bg1"/>
                </a:solidFill>
              </a:rPr>
              <a:t>Knows language, not instructions</a:t>
            </a:r>
            <a:endParaRPr lang="en-US" sz="1500" dirty="0"/>
          </a:p>
        </p:txBody>
      </p:sp>
      <p:sp>
        <p:nvSpPr>
          <p:cNvPr id="5" name="Shape 3"/>
          <p:cNvSpPr/>
          <p:nvPr/>
        </p:nvSpPr>
        <p:spPr>
          <a:xfrm>
            <a:off x="2532888" y="2331720"/>
            <a:ext cx="265176" cy="914"/>
          </a:xfrm>
          <a:prstGeom prst="line">
            <a:avLst/>
          </a:prstGeom>
          <a:noFill/>
          <a:ln w="25400">
            <a:solidFill>
              <a:schemeClr val="accent2"/>
            </a:solidFill>
            <a:prstDash val="solid"/>
            <a:tailEnd type="triangle"/>
          </a:ln>
        </p:spPr>
      </p:sp>
      <p:sp>
        <p:nvSpPr>
          <p:cNvPr id="6" name="Text 4"/>
          <p:cNvSpPr/>
          <p:nvPr/>
        </p:nvSpPr>
        <p:spPr>
          <a:xfrm>
            <a:off x="2816352" y="1645920"/>
            <a:ext cx="1965960" cy="1371600"/>
          </a:xfrm>
          <a:prstGeom prst="roundRect">
            <a:avLst>
              <a:gd name="adj" fmla="val 4000"/>
            </a:avLst>
          </a:prstGeom>
          <a:solidFill>
            <a:schemeClr val="accent2"/>
          </a:solidFill>
          <a:ln/>
        </p:spPr>
        <p:txBody>
          <a:bodyPr wrap="square" lIns="1016" tIns="1016" rIns="1016" bIns="1016" rtlCol="0" anchor="ctr"/>
          <a:lstStyle/>
          <a:p>
            <a:pPr algn="ctr" indent="0" marL="0">
              <a:buNone/>
            </a:pPr>
            <a:r>
              <a:rPr lang="en-US" sz="1500" b="1" dirty="0">
                <a:solidFill>
                  <a:schemeClr val="bg1"/>
                </a:solidFill>
              </a:rPr>
              <a:t>SFT</a:t>
            </a:r>
            <a:endParaRPr lang="en-US" sz="1500" dirty="0"/>
          </a:p>
          <a:p>
            <a:pPr algn="ctr" indent="0" marL="0">
              <a:buNone/>
            </a:pPr>
            <a:r>
              <a:rPr lang="en-US" sz="1200" dirty="0">
                <a:solidFill>
                  <a:schemeClr val="bg1"/>
                </a:solidFill>
              </a:rPr>
              <a:t>Follows instructions from curated examples</a:t>
            </a:r>
            <a:endParaRPr lang="en-US" sz="1500" dirty="0"/>
          </a:p>
        </p:txBody>
      </p:sp>
      <p:sp>
        <p:nvSpPr>
          <p:cNvPr id="7" name="Shape 5"/>
          <p:cNvSpPr/>
          <p:nvPr/>
        </p:nvSpPr>
        <p:spPr>
          <a:xfrm>
            <a:off x="4800600" y="2331720"/>
            <a:ext cx="265176" cy="914"/>
          </a:xfrm>
          <a:prstGeom prst="line">
            <a:avLst/>
          </a:prstGeom>
          <a:noFill/>
          <a:ln w="25400">
            <a:solidFill>
              <a:schemeClr val="accent2"/>
            </a:solidFill>
            <a:prstDash val="solid"/>
            <a:tailEnd type="triangle"/>
          </a:ln>
        </p:spPr>
      </p:sp>
      <p:sp>
        <p:nvSpPr>
          <p:cNvPr id="8" name="Text 6"/>
          <p:cNvSpPr/>
          <p:nvPr/>
        </p:nvSpPr>
        <p:spPr>
          <a:xfrm>
            <a:off x="5084064" y="1645920"/>
            <a:ext cx="1965960" cy="1371600"/>
          </a:xfrm>
          <a:prstGeom prst="roundRect">
            <a:avLst>
              <a:gd name="adj" fmla="val 4000"/>
            </a:avLst>
          </a:prstGeom>
          <a:solidFill>
            <a:schemeClr val="accent1"/>
          </a:solidFill>
          <a:ln/>
        </p:spPr>
        <p:txBody>
          <a:bodyPr wrap="square" lIns="1016" tIns="1016" rIns="1016" bIns="1016" rtlCol="0" anchor="ctr"/>
          <a:lstStyle/>
          <a:p>
            <a:pPr algn="ctr" indent="0" marL="0">
              <a:buNone/>
            </a:pPr>
            <a:r>
              <a:rPr lang="en-US" sz="1500" b="1" dirty="0">
                <a:solidFill>
                  <a:schemeClr val="tx1"/>
                </a:solidFill>
              </a:rPr>
              <a:t>Preference optimization</a:t>
            </a:r>
            <a:endParaRPr lang="en-US" sz="1500" dirty="0"/>
          </a:p>
          <a:p>
            <a:pPr algn="ctr" indent="0" marL="0">
              <a:buNone/>
            </a:pPr>
            <a:r>
              <a:rPr lang="en-US" sz="1200" dirty="0">
                <a:solidFill>
                  <a:schemeClr val="tx1"/>
                </a:solidFill>
              </a:rPr>
              <a:t>DPO with chosen / rejected pairs</a:t>
            </a:r>
            <a:endParaRPr lang="en-US" sz="1500" dirty="0"/>
          </a:p>
        </p:txBody>
      </p:sp>
      <p:sp>
        <p:nvSpPr>
          <p:cNvPr id="9" name="Shape 7"/>
          <p:cNvSpPr/>
          <p:nvPr/>
        </p:nvSpPr>
        <p:spPr>
          <a:xfrm>
            <a:off x="7068312" y="2331720"/>
            <a:ext cx="265176" cy="914"/>
          </a:xfrm>
          <a:prstGeom prst="line">
            <a:avLst/>
          </a:prstGeom>
          <a:noFill/>
          <a:ln w="25400">
            <a:solidFill>
              <a:schemeClr val="accent2"/>
            </a:solidFill>
            <a:prstDash val="solid"/>
            <a:tailEnd type="triangle"/>
          </a:ln>
        </p:spPr>
      </p:sp>
      <p:sp>
        <p:nvSpPr>
          <p:cNvPr id="10" name="Text 8"/>
          <p:cNvSpPr/>
          <p:nvPr/>
        </p:nvSpPr>
        <p:spPr>
          <a:xfrm>
            <a:off x="7351776" y="1645920"/>
            <a:ext cx="1965960" cy="1371600"/>
          </a:xfrm>
          <a:prstGeom prst="roundRect">
            <a:avLst>
              <a:gd name="adj" fmla="val 4000"/>
            </a:avLst>
          </a:prstGeom>
          <a:solidFill>
            <a:schemeClr val="accent1"/>
          </a:solidFill>
          <a:ln/>
        </p:spPr>
        <p:txBody>
          <a:bodyPr wrap="square" lIns="1016" tIns="1016" rIns="1016" bIns="1016" rtlCol="0" anchor="ctr"/>
          <a:lstStyle/>
          <a:p>
            <a:pPr algn="ctr" indent="0" marL="0">
              <a:buNone/>
            </a:pPr>
            <a:r>
              <a:rPr lang="en-US" sz="1500" b="1" dirty="0">
                <a:solidFill>
                  <a:schemeClr val="tx1"/>
                </a:solidFill>
              </a:rPr>
              <a:t>Reinforcement learning</a:t>
            </a:r>
            <a:endParaRPr lang="en-US" sz="1500" dirty="0"/>
          </a:p>
          <a:p>
            <a:pPr algn="ctr" indent="0" marL="0">
              <a:buNone/>
            </a:pPr>
            <a:r>
              <a:rPr lang="en-US" sz="1200" dirty="0">
                <a:solidFill>
                  <a:schemeClr val="tx1"/>
                </a:solidFill>
              </a:rPr>
              <a:t>GRPO / PPO with reward models or verifiers</a:t>
            </a:r>
            <a:endParaRPr lang="en-US" sz="1500" dirty="0"/>
          </a:p>
        </p:txBody>
      </p:sp>
      <p:sp>
        <p:nvSpPr>
          <p:cNvPr id="11" name="Shape 9"/>
          <p:cNvSpPr/>
          <p:nvPr/>
        </p:nvSpPr>
        <p:spPr>
          <a:xfrm>
            <a:off x="9336024" y="2331720"/>
            <a:ext cx="265176" cy="914"/>
          </a:xfrm>
          <a:prstGeom prst="line">
            <a:avLst/>
          </a:prstGeom>
          <a:noFill/>
          <a:ln w="25400">
            <a:solidFill>
              <a:schemeClr val="accent2"/>
            </a:solidFill>
            <a:prstDash val="solid"/>
            <a:tailEnd type="triangle"/>
          </a:ln>
        </p:spPr>
      </p:sp>
      <p:sp>
        <p:nvSpPr>
          <p:cNvPr id="12" name="Text 10"/>
          <p:cNvSpPr/>
          <p:nvPr/>
        </p:nvSpPr>
        <p:spPr>
          <a:xfrm>
            <a:off x="9619488" y="1645920"/>
            <a:ext cx="1965960" cy="1371600"/>
          </a:xfrm>
          <a:prstGeom prst="roundRect">
            <a:avLst>
              <a:gd name="adj" fmla="val 4000"/>
            </a:avLst>
          </a:prstGeom>
          <a:solidFill>
            <a:schemeClr val="tx1"/>
          </a:solidFill>
          <a:ln/>
        </p:spPr>
        <p:txBody>
          <a:bodyPr wrap="square" lIns="1016" tIns="1016" rIns="1016" bIns="1016" rtlCol="0" anchor="ctr"/>
          <a:lstStyle/>
          <a:p>
            <a:pPr algn="ctr" indent="0" marL="0">
              <a:buNone/>
            </a:pPr>
            <a:r>
              <a:rPr lang="en-US" sz="1500" b="1" dirty="0">
                <a:solidFill>
                  <a:schemeClr val="accent1"/>
                </a:solidFill>
              </a:rPr>
              <a:t>Aligned model</a:t>
            </a:r>
            <a:endParaRPr lang="en-US" sz="1500" dirty="0"/>
          </a:p>
          <a:p>
            <a:pPr algn="ctr" indent="0" marL="0">
              <a:buNone/>
            </a:pPr>
            <a:r>
              <a:rPr lang="en-US" sz="1200" dirty="0">
                <a:solidFill>
                  <a:schemeClr val="accent1"/>
                </a:solidFill>
              </a:rPr>
              <a:t>Helpful, safe, reasons step by step</a:t>
            </a:r>
            <a:endParaRPr lang="en-US" sz="1500" dirty="0"/>
          </a:p>
        </p:txBody>
      </p:sp>
      <p:sp>
        <p:nvSpPr>
          <p:cNvPr id="13" name="card"/>
          <p:cNvSpPr/>
          <p:nvPr/>
        </p:nvSpPr>
        <p:spPr>
          <a:xfrm>
            <a:off x="548640" y="3291840"/>
            <a:ext cx="3566160" cy="2880360"/>
          </a:xfrm>
          <a:prstGeom prst="roundRect">
            <a:avLst>
              <a:gd name="adj" fmla="val 2540"/>
            </a:avLst>
          </a:prstGeom>
          <a:solidFill>
            <a:schemeClr val="bg2"/>
          </a:solidFill>
          <a:ln/>
        </p:spPr>
      </p:sp>
      <p:sp>
        <p:nvSpPr>
          <p:cNvPr id="14" name="Shape 12"/>
          <p:cNvSpPr/>
          <p:nvPr/>
        </p:nvSpPr>
        <p:spPr>
          <a:xfrm>
            <a:off x="749808" y="3493008"/>
            <a:ext cx="548640" cy="548640"/>
          </a:xfrm>
          <a:prstGeom prst="ellipse">
            <a:avLst/>
          </a:prstGeom>
          <a:solidFill>
            <a:schemeClr val="accent1"/>
          </a:solidFill>
          <a:ln/>
        </p:spPr>
      </p:sp>
      <p:pic>
        <p:nvPicPr>
          <p:cNvPr id="15" name="Image 0" descr="preencoded.png">    </p:cNvPr>
          <p:cNvPicPr>
            <a:picLocks noChangeAspect="1"/>
          </p:cNvPicPr>
          <p:nvPr/>
        </p:nvPicPr>
        <p:blipFill>
          <a:blip r:embed="rId1"/>
          <a:stretch>
            <a:fillRect/>
          </a:stretch>
        </p:blipFill>
        <p:spPr>
          <a:xfrm>
            <a:off x="870509" y="3613709"/>
            <a:ext cx="307238" cy="307238"/>
          </a:xfrm>
          <a:prstGeom prst="rect">
            <a:avLst/>
          </a:prstGeom>
        </p:spPr>
      </p:pic>
      <p:sp>
        <p:nvSpPr>
          <p:cNvPr id="16" name="Text 13"/>
          <p:cNvSpPr txBox="1"/>
          <p:nvPr/>
        </p:nvSpPr>
        <p:spPr>
          <a:xfrm>
            <a:off x="1417320" y="3493008"/>
            <a:ext cx="2514600" cy="548640"/>
          </a:xfrm>
          <a:prstGeom prst="rect">
            <a:avLst/>
          </a:prstGeom>
          <a:noFill/>
          <a:ln/>
        </p:spPr>
        <p:txBody>
          <a:bodyPr wrap="square" lIns="0" tIns="0" rIns="0" bIns="0" rtlCol="0" anchor="ctr"/>
          <a:lstStyle/>
          <a:p>
            <a:pPr indent="0" marL="0">
              <a:buNone/>
            </a:pPr>
            <a:r>
              <a:rPr lang="en-US" sz="1700" b="1" dirty="0">
                <a:solidFill>
                  <a:schemeClr val="tx1"/>
                </a:solidFill>
              </a:rPr>
              <a:t>NeMo RL</a:t>
            </a:r>
            <a:endParaRPr lang="en-US" sz="1700" dirty="0"/>
          </a:p>
        </p:txBody>
      </p:sp>
      <p:sp>
        <p:nvSpPr>
          <p:cNvPr id="17" name="Text 14"/>
          <p:cNvSpPr txBox="1"/>
          <p:nvPr/>
        </p:nvSpPr>
        <p:spPr>
          <a:xfrm>
            <a:off x="749808" y="4187952"/>
            <a:ext cx="3163824" cy="1847088"/>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2"/>
                </a:solidFill>
              </a:rPr>
              <a:t>Scalable library for SFT, DPO and GRPO</a:t>
            </a:r>
            <a:endParaRPr lang="en-US" sz="1400" dirty="0"/>
          </a:p>
          <a:p>
            <a:pPr marL="342900" indent="-342900">
              <a:spcAft>
                <a:spcPts val="500"/>
              </a:spcAft>
              <a:buSzPct val="100000"/>
              <a:buChar char="•"/>
            </a:pPr>
            <a:r>
              <a:rPr lang="en-US" sz="1400" dirty="0">
                <a:solidFill>
                  <a:schemeClr val="tx2"/>
                </a:solidFill>
              </a:rPr>
              <a:t>Ray-based orchestration; vLLM for fast generation</a:t>
            </a:r>
            <a:endParaRPr lang="en-US" sz="1400" dirty="0"/>
          </a:p>
          <a:p>
            <a:pPr marL="342900" indent="-342900">
              <a:spcAft>
                <a:spcPts val="500"/>
              </a:spcAft>
              <a:buSzPct val="100000"/>
              <a:buChar char="•"/>
            </a:pPr>
            <a:r>
              <a:rPr lang="en-US" sz="1400" dirty="0">
                <a:solidFill>
                  <a:schemeClr val="tx2"/>
                </a:solidFill>
              </a:rPr>
              <a:t>Successor to NeMo-Aligner</a:t>
            </a:r>
            <a:endParaRPr lang="en-US" sz="1400" dirty="0"/>
          </a:p>
        </p:txBody>
      </p:sp>
      <p:sp>
        <p:nvSpPr>
          <p:cNvPr id="18" name="card"/>
          <p:cNvSpPr/>
          <p:nvPr/>
        </p:nvSpPr>
        <p:spPr>
          <a:xfrm>
            <a:off x="4297680" y="3291840"/>
            <a:ext cx="3566160" cy="2880360"/>
          </a:xfrm>
          <a:prstGeom prst="roundRect">
            <a:avLst>
              <a:gd name="adj" fmla="val 2540"/>
            </a:avLst>
          </a:prstGeom>
          <a:solidFill>
            <a:schemeClr val="bg2"/>
          </a:solidFill>
          <a:ln/>
        </p:spPr>
      </p:sp>
      <p:sp>
        <p:nvSpPr>
          <p:cNvPr id="19" name="Shape 16"/>
          <p:cNvSpPr/>
          <p:nvPr/>
        </p:nvSpPr>
        <p:spPr>
          <a:xfrm>
            <a:off x="4498848" y="3493008"/>
            <a:ext cx="548640" cy="548640"/>
          </a:xfrm>
          <a:prstGeom prst="ellipse">
            <a:avLst/>
          </a:prstGeom>
          <a:solidFill>
            <a:schemeClr val="accent1"/>
          </a:solidFill>
          <a:ln/>
        </p:spPr>
      </p:sp>
      <p:pic>
        <p:nvPicPr>
          <p:cNvPr id="20" name="Image 1" descr="preencoded.png">    </p:cNvPr>
          <p:cNvPicPr>
            <a:picLocks noChangeAspect="1"/>
          </p:cNvPicPr>
          <p:nvPr/>
        </p:nvPicPr>
        <p:blipFill>
          <a:blip r:embed="rId2"/>
          <a:stretch>
            <a:fillRect/>
          </a:stretch>
        </p:blipFill>
        <p:spPr>
          <a:xfrm>
            <a:off x="4619549" y="3613709"/>
            <a:ext cx="307238" cy="307238"/>
          </a:xfrm>
          <a:prstGeom prst="rect">
            <a:avLst/>
          </a:prstGeom>
        </p:spPr>
      </p:pic>
      <p:sp>
        <p:nvSpPr>
          <p:cNvPr id="21" name="Text 17"/>
          <p:cNvSpPr txBox="1"/>
          <p:nvPr/>
        </p:nvSpPr>
        <p:spPr>
          <a:xfrm>
            <a:off x="5166360" y="3493008"/>
            <a:ext cx="2514600" cy="548640"/>
          </a:xfrm>
          <a:prstGeom prst="rect">
            <a:avLst/>
          </a:prstGeom>
          <a:noFill/>
          <a:ln/>
        </p:spPr>
        <p:txBody>
          <a:bodyPr wrap="square" lIns="0" tIns="0" rIns="0" bIns="0" rtlCol="0" anchor="ctr"/>
          <a:lstStyle/>
          <a:p>
            <a:pPr indent="0" marL="0">
              <a:buNone/>
            </a:pPr>
            <a:r>
              <a:rPr lang="en-US" sz="1700" b="1" dirty="0">
                <a:solidFill>
                  <a:schemeClr val="tx1"/>
                </a:solidFill>
              </a:rPr>
              <a:t>Reward signals</a:t>
            </a:r>
            <a:endParaRPr lang="en-US" sz="1700" dirty="0"/>
          </a:p>
        </p:txBody>
      </p:sp>
      <p:sp>
        <p:nvSpPr>
          <p:cNvPr id="22" name="Text 18"/>
          <p:cNvSpPr txBox="1"/>
          <p:nvPr/>
        </p:nvSpPr>
        <p:spPr>
          <a:xfrm>
            <a:off x="4498848" y="4187952"/>
            <a:ext cx="3163824" cy="1847088"/>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2"/>
                </a:solidFill>
              </a:rPr>
              <a:t>Reward models trained on human preferences</a:t>
            </a:r>
            <a:endParaRPr lang="en-US" sz="1400" dirty="0"/>
          </a:p>
          <a:p>
            <a:pPr marL="342900" indent="-342900">
              <a:spcAft>
                <a:spcPts val="500"/>
              </a:spcAft>
              <a:buSzPct val="100000"/>
              <a:buChar char="•"/>
            </a:pPr>
            <a:r>
              <a:rPr lang="en-US" sz="1400" dirty="0">
                <a:solidFill>
                  <a:schemeClr val="tx2"/>
                </a:solidFill>
              </a:rPr>
              <a:t>Verifiable rewards: math answers, unit tests, schemas</a:t>
            </a:r>
            <a:endParaRPr lang="en-US" sz="1400" dirty="0"/>
          </a:p>
          <a:p>
            <a:pPr marL="342900" indent="-342900">
              <a:spcAft>
                <a:spcPts val="500"/>
              </a:spcAft>
              <a:buSzPct val="100000"/>
              <a:buChar char="•"/>
            </a:pPr>
            <a:r>
              <a:rPr lang="en-US" sz="1400" dirty="0">
                <a:solidFill>
                  <a:schemeClr val="tx2"/>
                </a:solidFill>
              </a:rPr>
              <a:t>LLM-as-a-judge rubrics</a:t>
            </a:r>
            <a:endParaRPr lang="en-US" sz="1400" dirty="0"/>
          </a:p>
        </p:txBody>
      </p:sp>
      <p:sp>
        <p:nvSpPr>
          <p:cNvPr id="23" name="card"/>
          <p:cNvSpPr/>
          <p:nvPr/>
        </p:nvSpPr>
        <p:spPr>
          <a:xfrm>
            <a:off x="8046720" y="3291840"/>
            <a:ext cx="3566160" cy="2880360"/>
          </a:xfrm>
          <a:prstGeom prst="roundRect">
            <a:avLst>
              <a:gd name="adj" fmla="val 2540"/>
            </a:avLst>
          </a:prstGeom>
          <a:solidFill>
            <a:schemeClr val="bg2"/>
          </a:solidFill>
          <a:ln/>
        </p:spPr>
      </p:sp>
      <p:sp>
        <p:nvSpPr>
          <p:cNvPr id="24" name="Shape 20"/>
          <p:cNvSpPr/>
          <p:nvPr/>
        </p:nvSpPr>
        <p:spPr>
          <a:xfrm>
            <a:off x="8247888" y="3493008"/>
            <a:ext cx="548640" cy="548640"/>
          </a:xfrm>
          <a:prstGeom prst="ellipse">
            <a:avLst/>
          </a:prstGeom>
          <a:solidFill>
            <a:schemeClr val="accent1"/>
          </a:solidFill>
          <a:ln/>
        </p:spPr>
      </p:sp>
      <p:pic>
        <p:nvPicPr>
          <p:cNvPr id="25" name="Image 2" descr="preencoded.png">    </p:cNvPr>
          <p:cNvPicPr>
            <a:picLocks noChangeAspect="1"/>
          </p:cNvPicPr>
          <p:nvPr/>
        </p:nvPicPr>
        <p:blipFill>
          <a:blip r:embed="rId3"/>
          <a:stretch>
            <a:fillRect/>
          </a:stretch>
        </p:blipFill>
        <p:spPr>
          <a:xfrm>
            <a:off x="8368589" y="3613709"/>
            <a:ext cx="307238" cy="307238"/>
          </a:xfrm>
          <a:prstGeom prst="rect">
            <a:avLst/>
          </a:prstGeom>
        </p:spPr>
      </p:pic>
      <p:sp>
        <p:nvSpPr>
          <p:cNvPr id="26" name="Text 21"/>
          <p:cNvSpPr txBox="1"/>
          <p:nvPr/>
        </p:nvSpPr>
        <p:spPr>
          <a:xfrm>
            <a:off x="8915400" y="3493008"/>
            <a:ext cx="2514600" cy="548640"/>
          </a:xfrm>
          <a:prstGeom prst="rect">
            <a:avLst/>
          </a:prstGeom>
          <a:noFill/>
          <a:ln/>
        </p:spPr>
        <p:txBody>
          <a:bodyPr wrap="square" lIns="0" tIns="0" rIns="0" bIns="0" rtlCol="0" anchor="ctr"/>
          <a:lstStyle/>
          <a:p>
            <a:pPr indent="0" marL="0">
              <a:buNone/>
            </a:pPr>
            <a:r>
              <a:rPr lang="en-US" sz="1700" b="1" dirty="0">
                <a:solidFill>
                  <a:schemeClr val="tx1"/>
                </a:solidFill>
              </a:rPr>
              <a:t>Enterprise uses</a:t>
            </a:r>
            <a:endParaRPr lang="en-US" sz="1700" dirty="0"/>
          </a:p>
        </p:txBody>
      </p:sp>
      <p:sp>
        <p:nvSpPr>
          <p:cNvPr id="27" name="Text 22"/>
          <p:cNvSpPr txBox="1"/>
          <p:nvPr/>
        </p:nvSpPr>
        <p:spPr>
          <a:xfrm>
            <a:off x="8247888" y="4187952"/>
            <a:ext cx="3163824" cy="1847088"/>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2"/>
                </a:solidFill>
              </a:rPr>
              <a:t>Align tone and refusals with company policy</a:t>
            </a:r>
            <a:endParaRPr lang="en-US" sz="1400" dirty="0"/>
          </a:p>
          <a:p>
            <a:pPr marL="342900" indent="-342900">
              <a:spcAft>
                <a:spcPts val="500"/>
              </a:spcAft>
              <a:buSzPct val="100000"/>
              <a:buChar char="•"/>
            </a:pPr>
            <a:r>
              <a:rPr lang="en-US" sz="1400" dirty="0">
                <a:solidFill>
                  <a:schemeClr val="tx2"/>
                </a:solidFill>
              </a:rPr>
              <a:t>Improve tool calling for agents</a:t>
            </a:r>
            <a:endParaRPr lang="en-US" sz="1400" dirty="0"/>
          </a:p>
          <a:p>
            <a:pPr marL="342900" indent="-342900">
              <a:spcAft>
                <a:spcPts val="500"/>
              </a:spcAft>
              <a:buSzPct val="100000"/>
              <a:buChar char="•"/>
            </a:pPr>
            <a:r>
              <a:rPr lang="en-US" sz="1400" dirty="0">
                <a:solidFill>
                  <a:schemeClr val="tx2"/>
                </a:solidFill>
              </a:rPr>
              <a:t>Teach domain reasoning (e.g. claims, code)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000" b="1" dirty="0">
                <a:solidFill>
                  <a:schemeClr val="tx1"/>
                </a:solidFill>
              </a:rPr>
              <a:t>NeMo Customizer: fine-tuning as a service</a:t>
            </a:r>
            <a:endParaRPr lang="en-US" sz="3000" dirty="0"/>
          </a:p>
        </p:txBody>
      </p:sp>
      <p:sp>
        <p:nvSpPr>
          <p:cNvPr id="3" name="Text 0"/>
          <p:cNvSpPr/>
          <p:nvPr>
            <p:ph idx="101" type="body" hasCustomPrompt="1"/>
          </p:nvPr>
        </p:nvSpPr>
        <p:spPr>
          <a:xfrm>
            <a:off x="548640" y="960120"/>
            <a:ext cx="11064240" cy="411480"/>
          </a:xfrm>
          <a:prstGeom prst="rect">
            <a:avLst/>
          </a:prstGeom>
          <a:noFill/>
          <a:ln/>
        </p:spPr>
        <p:txBody>
          <a:bodyPr wrap="square" lIns="0" tIns="0" rIns="0" bIns="0" rtlCol="0" anchor="t"/>
          <a:lstStyle/>
          <a:p>
            <a:pPr indent="0" marL="0">
              <a:buNone/>
            </a:pPr>
            <a:r>
              <a:rPr lang="en-US" sz="1600" dirty="0">
                <a:solidFill>
                  <a:schemeClr val="accent5"/>
                </a:solidFill>
              </a:rPr>
              <a:t>Platform teams run it once; application teams fine-tune with an API call</a:t>
            </a:r>
            <a:endParaRPr lang="en-US" sz="1600" dirty="0"/>
          </a:p>
        </p:txBody>
      </p:sp>
      <p:sp>
        <p:nvSpPr>
          <p:cNvPr id="4" name="Text 2"/>
          <p:cNvSpPr txBox="1"/>
          <p:nvPr/>
        </p:nvSpPr>
        <p:spPr>
          <a:xfrm>
            <a:off x="548640" y="1645920"/>
            <a:ext cx="5303520" cy="4480560"/>
          </a:xfrm>
          <a:prstGeom prst="rect">
            <a:avLst/>
          </a:prstGeom>
          <a:noFill/>
          <a:ln/>
        </p:spPr>
        <p:txBody>
          <a:bodyPr wrap="square" lIns="0" tIns="0" rIns="0" bIns="0" rtlCol="0" anchor="t"/>
          <a:lstStyle/>
          <a:p>
            <a:pPr marL="342900" indent="-342900">
              <a:spcAft>
                <a:spcPts val="1000"/>
              </a:spcAft>
              <a:buSzPct val="100000"/>
              <a:buChar char="•"/>
            </a:pPr>
            <a:r>
              <a:rPr lang="en-US" sz="1500" b="1" dirty="0">
                <a:solidFill>
                  <a:schemeClr val="tx2"/>
                </a:solidFill>
              </a:rPr>
              <a:t>What: </a:t>
            </a:r>
            <a:pPr indent="0" marL="0">
              <a:spcAft>
                <a:spcPts val="1000"/>
              </a:spcAft>
              <a:buNone/>
            </a:pPr>
            <a:r>
              <a:rPr lang="en-US" sz="1500" dirty="0">
                <a:solidFill>
                  <a:schemeClr val="tx2"/>
                </a:solidFill>
              </a:rPr>
              <a:t>a microservice that runs LoRA and full SFT jobs (plus newer methods such as DPO) on Kubernetes GPUs</a:t>
            </a:r>
            <a:endParaRPr lang="en-US" sz="1500" dirty="0"/>
          </a:p>
          <a:p>
            <a:pPr marL="342900" indent="-342900">
              <a:spcAft>
                <a:spcPts val="1000"/>
              </a:spcAft>
              <a:buSzPct val="100000"/>
              <a:buChar char="•"/>
            </a:pPr>
            <a:r>
              <a:rPr lang="en-US" sz="1500" b="1" dirty="0">
                <a:solidFill>
                  <a:schemeClr val="tx2"/>
                </a:solidFill>
              </a:rPr>
              <a:t>Inputs: </a:t>
            </a:r>
            <a:pPr indent="0" marL="0">
              <a:spcAft>
                <a:spcPts val="1000"/>
              </a:spcAft>
              <a:buNone/>
            </a:pPr>
            <a:r>
              <a:rPr lang="en-US" sz="1500" dirty="0">
                <a:solidFill>
                  <a:schemeClr val="tx2"/>
                </a:solidFill>
              </a:rPr>
              <a:t>a base model config + a dataset in the NeMo Data Store</a:t>
            </a:r>
            <a:endParaRPr lang="en-US" sz="1500" dirty="0"/>
          </a:p>
          <a:p>
            <a:pPr marL="342900" indent="-342900">
              <a:spcAft>
                <a:spcPts val="1000"/>
              </a:spcAft>
              <a:buSzPct val="100000"/>
              <a:buChar char="•"/>
            </a:pPr>
            <a:r>
              <a:rPr lang="en-US" sz="1500" b="1" dirty="0">
                <a:solidFill>
                  <a:schemeClr val="tx2"/>
                </a:solidFill>
              </a:rPr>
              <a:t>Outputs: </a:t>
            </a:r>
            <a:pPr indent="0" marL="0">
              <a:spcAft>
                <a:spcPts val="1000"/>
              </a:spcAft>
              <a:buNone/>
            </a:pPr>
            <a:r>
              <a:rPr lang="en-US" sz="1500" dirty="0">
                <a:solidFill>
                  <a:schemeClr val="tx2"/>
                </a:solidFill>
              </a:rPr>
              <a:t>adapters or full checkpoints registered in the Entity Store, ready for NIM</a:t>
            </a:r>
            <a:endParaRPr lang="en-US" sz="1500" dirty="0"/>
          </a:p>
          <a:p>
            <a:pPr marL="342900" indent="-342900">
              <a:spcAft>
                <a:spcPts val="1000"/>
              </a:spcAft>
              <a:buSzPct val="100000"/>
              <a:buChar char="•"/>
            </a:pPr>
            <a:r>
              <a:rPr lang="en-US" sz="1500" b="1" dirty="0">
                <a:solidFill>
                  <a:schemeClr val="tx2"/>
                </a:solidFill>
              </a:rPr>
              <a:t>Handles: </a:t>
            </a:r>
            <a:pPr indent="0" marL="0">
              <a:spcAft>
                <a:spcPts val="1000"/>
              </a:spcAft>
              <a:buNone/>
            </a:pPr>
            <a:r>
              <a:rPr lang="en-US" sz="1500" dirty="0">
                <a:solidFill>
                  <a:schemeClr val="tx2"/>
                </a:solidFill>
              </a:rPr>
              <a:t>GPU scheduling, multi-GPU training, checkpointing, job status and metrics</a:t>
            </a:r>
            <a:endParaRPr lang="en-US" sz="1500" dirty="0"/>
          </a:p>
          <a:p>
            <a:pPr marL="342900" indent="-342900">
              <a:spcAft>
                <a:spcPts val="1000"/>
              </a:spcAft>
              <a:buSzPct val="100000"/>
              <a:buChar char="•"/>
            </a:pPr>
            <a:r>
              <a:rPr lang="en-US" sz="1500" b="1" dirty="0">
                <a:solidFill>
                  <a:schemeClr val="tx2"/>
                </a:solidFill>
              </a:rPr>
              <a:t>Why it matters: </a:t>
            </a:r>
            <a:pPr indent="0" marL="0">
              <a:spcAft>
                <a:spcPts val="1000"/>
              </a:spcAft>
              <a:buNone/>
            </a:pPr>
            <a:r>
              <a:rPr lang="en-US" sz="1500" dirty="0">
                <a:solidFill>
                  <a:schemeClr val="tx2"/>
                </a:solidFill>
              </a:rPr>
              <a:t>standard, auditable, repeatable fine-tuning without ML infrastructure code</a:t>
            </a:r>
            <a:endParaRPr lang="en-US" sz="1500" dirty="0"/>
          </a:p>
        </p:txBody>
      </p:sp>
      <p:sp>
        <p:nvSpPr>
          <p:cNvPr id="5" name="Shape 3"/>
          <p:cNvSpPr/>
          <p:nvPr/>
        </p:nvSpPr>
        <p:spPr>
          <a:xfrm>
            <a:off x="6126480" y="1600200"/>
            <a:ext cx="5486400" cy="4572000"/>
          </a:xfrm>
          <a:prstGeom prst="roundRect">
            <a:avLst>
              <a:gd name="adj" fmla="val 1600"/>
            </a:avLst>
          </a:prstGeom>
          <a:solidFill>
            <a:srgbClr val="1B231C"/>
          </a:solidFill>
          <a:ln/>
        </p:spPr>
      </p:sp>
      <p:sp>
        <p:nvSpPr>
          <p:cNvPr id="6" name="Text 4"/>
          <p:cNvSpPr txBox="1"/>
          <p:nvPr/>
        </p:nvSpPr>
        <p:spPr>
          <a:xfrm>
            <a:off x="6355080" y="1737360"/>
            <a:ext cx="5029200" cy="320040"/>
          </a:xfrm>
          <a:prstGeom prst="rect">
            <a:avLst/>
          </a:prstGeom>
          <a:noFill/>
          <a:ln/>
        </p:spPr>
        <p:txBody>
          <a:bodyPr wrap="square" lIns="0" tIns="0" rIns="0" bIns="0" rtlCol="0" anchor="t"/>
          <a:lstStyle/>
          <a:p>
            <a:pPr indent="0" marL="0">
              <a:buNone/>
            </a:pPr>
            <a:r>
              <a:rPr lang="en-US" sz="1300" b="1" dirty="0">
                <a:solidFill>
                  <a:schemeClr val="accent1"/>
                </a:solidFill>
              </a:rPr>
              <a:t>Create a LoRA job (illustrative)</a:t>
            </a:r>
            <a:endParaRPr lang="en-US" sz="1300" dirty="0"/>
          </a:p>
        </p:txBody>
      </p:sp>
      <p:sp>
        <p:nvSpPr>
          <p:cNvPr id="7" name="Text 5"/>
          <p:cNvSpPr txBox="1"/>
          <p:nvPr/>
        </p:nvSpPr>
        <p:spPr>
          <a:xfrm>
            <a:off x="6355080" y="2103120"/>
            <a:ext cx="5029200" cy="3931920"/>
          </a:xfrm>
          <a:prstGeom prst="rect">
            <a:avLst/>
          </a:prstGeom>
          <a:noFill/>
          <a:ln/>
        </p:spPr>
        <p:txBody>
          <a:bodyPr wrap="square" lIns="0" tIns="0" rIns="0" bIns="0" rtlCol="0" anchor="t"/>
          <a:lstStyle/>
          <a:p>
            <a:pPr indent="0" marL="0">
              <a:spcAft>
                <a:spcPts val="100"/>
              </a:spcAft>
              <a:buNone/>
            </a:pPr>
            <a:r>
              <a:rPr lang="en-US" sz="1200" dirty="0">
                <a:solidFill>
                  <a:srgbClr val="EAF2E6"/>
                </a:solidFill>
                <a:latin typeface="Courier New" pitchFamily="34" charset="0"/>
                <a:ea typeface="Courier New" pitchFamily="34" charset="-122"/>
                <a:cs typeface="Courier New" pitchFamily="34" charset="-120"/>
              </a:rPr>
              <a:t>POST /v1/customization/jobs</a:t>
            </a:r>
            <a:endParaRPr lang="en-US" sz="1200" dirty="0"/>
          </a:p>
          <a:p>
            <a:pPr indent="0" marL="0">
              <a:spcAft>
                <a:spcPts val="100"/>
              </a:spcAft>
              <a:buNone/>
            </a:pPr>
            <a:r>
              <a:rPr lang="en-US" sz="1200" dirty="0">
                <a:solidFill>
                  <a:srgbClr val="EAF2E6"/>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AF2E6"/>
                </a:solidFill>
                <a:latin typeface="Courier New" pitchFamily="34" charset="0"/>
                <a:ea typeface="Courier New" pitchFamily="34" charset="-122"/>
                <a:cs typeface="Courier New" pitchFamily="34" charset="-120"/>
              </a:rPr>
              <a:t>  "config": "meta/llama-3.1-8b-instruct",</a:t>
            </a:r>
            <a:endParaRPr lang="en-US" sz="1200" dirty="0"/>
          </a:p>
          <a:p>
            <a:pPr indent="0" marL="0">
              <a:spcAft>
                <a:spcPts val="100"/>
              </a:spcAft>
              <a:buNone/>
            </a:pPr>
            <a:r>
              <a:rPr lang="en-US" sz="1200" dirty="0">
                <a:solidFill>
                  <a:srgbClr val="EAF2E6"/>
                </a:solidFill>
                <a:latin typeface="Courier New" pitchFamily="34" charset="0"/>
                <a:ea typeface="Courier New" pitchFamily="34" charset="-122"/>
                <a:cs typeface="Courier New" pitchFamily="34" charset="-120"/>
              </a:rPr>
              <a:t>  "dataset": {</a:t>
            </a:r>
            <a:endParaRPr lang="en-US" sz="1200" dirty="0"/>
          </a:p>
          <a:p>
            <a:pPr indent="0" marL="0">
              <a:spcAft>
                <a:spcPts val="100"/>
              </a:spcAft>
              <a:buNone/>
            </a:pPr>
            <a:r>
              <a:rPr lang="en-US" sz="1200" dirty="0">
                <a:solidFill>
                  <a:srgbClr val="EAF2E6"/>
                </a:solidFill>
                <a:latin typeface="Courier New" pitchFamily="34" charset="0"/>
                <a:ea typeface="Courier New" pitchFamily="34" charset="-122"/>
                <a:cs typeface="Courier New" pitchFamily="34" charset="-120"/>
              </a:rPr>
              <a:t>    "namespace": "support",</a:t>
            </a:r>
            <a:endParaRPr lang="en-US" sz="1200" dirty="0"/>
          </a:p>
          <a:p>
            <a:pPr indent="0" marL="0">
              <a:spcAft>
                <a:spcPts val="100"/>
              </a:spcAft>
              <a:buNone/>
            </a:pPr>
            <a:r>
              <a:rPr lang="en-US" sz="1200" dirty="0">
                <a:solidFill>
                  <a:srgbClr val="EAF2E6"/>
                </a:solidFill>
                <a:latin typeface="Courier New" pitchFamily="34" charset="0"/>
                <a:ea typeface="Courier New" pitchFamily="34" charset="-122"/>
                <a:cs typeface="Courier New" pitchFamily="34" charset="-120"/>
              </a:rPr>
              <a:t>    "name": "tickets-2025-q4"</a:t>
            </a:r>
            <a:endParaRPr lang="en-US" sz="1200" dirty="0"/>
          </a:p>
          <a:p>
            <a:pPr indent="0" marL="0">
              <a:spcAft>
                <a:spcPts val="100"/>
              </a:spcAft>
              <a:buNone/>
            </a:pPr>
            <a:r>
              <a:rPr lang="en-US" sz="1200" dirty="0">
                <a:solidFill>
                  <a:srgbClr val="EAF2E6"/>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AF2E6"/>
                </a:solidFill>
                <a:latin typeface="Courier New" pitchFamily="34" charset="0"/>
                <a:ea typeface="Courier New" pitchFamily="34" charset="-122"/>
                <a:cs typeface="Courier New" pitchFamily="34" charset="-120"/>
              </a:rPr>
              <a:t>  "hyperparameters": {</a:t>
            </a:r>
            <a:endParaRPr lang="en-US" sz="1200" dirty="0"/>
          </a:p>
          <a:p>
            <a:pPr indent="0" marL="0">
              <a:spcAft>
                <a:spcPts val="100"/>
              </a:spcAft>
              <a:buNone/>
            </a:pPr>
            <a:r>
              <a:rPr lang="en-US" sz="1200" dirty="0">
                <a:solidFill>
                  <a:srgbClr val="EAF2E6"/>
                </a:solidFill>
                <a:latin typeface="Courier New" pitchFamily="34" charset="0"/>
                <a:ea typeface="Courier New" pitchFamily="34" charset="-122"/>
                <a:cs typeface="Courier New" pitchFamily="34" charset="-120"/>
              </a:rPr>
              <a:t>    "training_type": "sft",</a:t>
            </a:r>
            <a:endParaRPr lang="en-US" sz="1200" dirty="0"/>
          </a:p>
          <a:p>
            <a:pPr indent="0" marL="0">
              <a:spcAft>
                <a:spcPts val="100"/>
              </a:spcAft>
              <a:buNone/>
            </a:pPr>
            <a:r>
              <a:rPr lang="en-US" sz="1200" dirty="0">
                <a:solidFill>
                  <a:srgbClr val="EAF2E6"/>
                </a:solidFill>
                <a:latin typeface="Courier New" pitchFamily="34" charset="0"/>
                <a:ea typeface="Courier New" pitchFamily="34" charset="-122"/>
                <a:cs typeface="Courier New" pitchFamily="34" charset="-120"/>
              </a:rPr>
              <a:t>    "finetuning_type": "lora",</a:t>
            </a:r>
            <a:endParaRPr lang="en-US" sz="1200" dirty="0"/>
          </a:p>
          <a:p>
            <a:pPr indent="0" marL="0">
              <a:spcAft>
                <a:spcPts val="100"/>
              </a:spcAft>
              <a:buNone/>
            </a:pPr>
            <a:r>
              <a:rPr lang="en-US" sz="1200" dirty="0">
                <a:solidFill>
                  <a:srgbClr val="EAF2E6"/>
                </a:solidFill>
                <a:latin typeface="Courier New" pitchFamily="34" charset="0"/>
                <a:ea typeface="Courier New" pitchFamily="34" charset="-122"/>
                <a:cs typeface="Courier New" pitchFamily="34" charset="-120"/>
              </a:rPr>
              <a:t>    "epochs": 3,</a:t>
            </a:r>
            <a:endParaRPr lang="en-US" sz="1200" dirty="0"/>
          </a:p>
          <a:p>
            <a:pPr indent="0" marL="0">
              <a:spcAft>
                <a:spcPts val="100"/>
              </a:spcAft>
              <a:buNone/>
            </a:pPr>
            <a:r>
              <a:rPr lang="en-US" sz="1200" dirty="0">
                <a:solidFill>
                  <a:srgbClr val="EAF2E6"/>
                </a:solidFill>
                <a:latin typeface="Courier New" pitchFamily="34" charset="0"/>
                <a:ea typeface="Courier New" pitchFamily="34" charset="-122"/>
                <a:cs typeface="Courier New" pitchFamily="34" charset="-120"/>
              </a:rPr>
              <a:t>    "batch_size": 16,</a:t>
            </a:r>
            <a:endParaRPr lang="en-US" sz="1200" dirty="0"/>
          </a:p>
          <a:p>
            <a:pPr indent="0" marL="0">
              <a:spcAft>
                <a:spcPts val="100"/>
              </a:spcAft>
              <a:buNone/>
            </a:pPr>
            <a:r>
              <a:rPr lang="en-US" sz="1200" dirty="0">
                <a:solidFill>
                  <a:srgbClr val="EAF2E6"/>
                </a:solidFill>
                <a:latin typeface="Courier New" pitchFamily="34" charset="0"/>
                <a:ea typeface="Courier New" pitchFamily="34" charset="-122"/>
                <a:cs typeface="Courier New" pitchFamily="34" charset="-120"/>
              </a:rPr>
              <a:t>    "learning_rate": 0.0001,</a:t>
            </a:r>
            <a:endParaRPr lang="en-US" sz="1200" dirty="0"/>
          </a:p>
          <a:p>
            <a:pPr indent="0" marL="0">
              <a:spcAft>
                <a:spcPts val="100"/>
              </a:spcAft>
              <a:buNone/>
            </a:pPr>
            <a:r>
              <a:rPr lang="en-US" sz="1200" dirty="0">
                <a:solidFill>
                  <a:srgbClr val="EAF2E6"/>
                </a:solidFill>
                <a:latin typeface="Courier New" pitchFamily="34" charset="0"/>
                <a:ea typeface="Courier New" pitchFamily="34" charset="-122"/>
                <a:cs typeface="Courier New" pitchFamily="34" charset="-120"/>
              </a:rPr>
              <a:t>    "lora": { "adapter_dim": 16 }</a:t>
            </a:r>
            <a:endParaRPr lang="en-US" sz="1200" dirty="0"/>
          </a:p>
          <a:p>
            <a:pPr indent="0" marL="0">
              <a:spcAft>
                <a:spcPts val="100"/>
              </a:spcAft>
              <a:buNone/>
            </a:pPr>
            <a:r>
              <a:rPr lang="en-US" sz="1200" dirty="0">
                <a:solidFill>
                  <a:srgbClr val="EAF2E6"/>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AF2E6"/>
                </a:solidFill>
                <a:latin typeface="Courier New" pitchFamily="34" charset="0"/>
                <a:ea typeface="Courier New" pitchFamily="34" charset="-122"/>
                <a:cs typeface="Courier New" pitchFamily="34" charset="-120"/>
              </a:rPr>
              <a:t>  "output_model": "support/llama-8b-tickets"</a:t>
            </a:r>
            <a:endParaRPr lang="en-US" sz="1200" dirty="0"/>
          </a:p>
          <a:p>
            <a:pPr indent="0" marL="0">
              <a:spcAft>
                <a:spcPts val="100"/>
              </a:spcAft>
              <a:buNone/>
            </a:pPr>
            <a:r>
              <a:rPr lang="en-US" sz="1200" dirty="0">
                <a:solidFill>
                  <a:srgbClr val="EAF2E6"/>
                </a:solidFill>
                <a:latin typeface="Courier New" pitchFamily="34" charset="0"/>
                <a:ea typeface="Courier New" pitchFamily="34" charset="-122"/>
                <a:cs typeface="Courier New" pitchFamily="34" charset="-120"/>
              </a:rPr>
              <a:t>}</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000" b="1" dirty="0">
                <a:solidFill>
                  <a:schemeClr val="tx1"/>
                </a:solidFill>
              </a:rPr>
              <a:t>NeMo Evaluator: measure before you ship</a:t>
            </a:r>
            <a:endParaRPr lang="en-US" sz="3000" dirty="0"/>
          </a:p>
        </p:txBody>
      </p:sp>
      <p:sp>
        <p:nvSpPr>
          <p:cNvPr id="3" name="Text 0"/>
          <p:cNvSpPr/>
          <p:nvPr>
            <p:ph idx="101" type="body" hasCustomPrompt="1"/>
          </p:nvPr>
        </p:nvSpPr>
        <p:spPr>
          <a:xfrm>
            <a:off x="548640" y="960120"/>
            <a:ext cx="11064240" cy="411480"/>
          </a:xfrm>
          <a:prstGeom prst="rect">
            <a:avLst/>
          </a:prstGeom>
          <a:noFill/>
          <a:ln/>
        </p:spPr>
        <p:txBody>
          <a:bodyPr wrap="square" lIns="0" tIns="0" rIns="0" bIns="0" rtlCol="0" anchor="t"/>
          <a:lstStyle/>
          <a:p>
            <a:pPr indent="0" marL="0">
              <a:buNone/>
            </a:pPr>
            <a:r>
              <a:rPr lang="en-US" sz="1600" dirty="0">
                <a:solidFill>
                  <a:schemeClr val="accent5"/>
                </a:solidFill>
              </a:rPr>
              <a:t>Repeatable evaluation turns "it seems better" into evidence</a:t>
            </a:r>
            <a:endParaRPr lang="en-US" sz="1600" dirty="0"/>
          </a:p>
        </p:txBody>
      </p:sp>
      <p:sp>
        <p:nvSpPr>
          <p:cNvPr id="4" name="card"/>
          <p:cNvSpPr/>
          <p:nvPr/>
        </p:nvSpPr>
        <p:spPr>
          <a:xfrm>
            <a:off x="548640" y="1600200"/>
            <a:ext cx="3566160" cy="2194560"/>
          </a:xfrm>
          <a:prstGeom prst="roundRect">
            <a:avLst>
              <a:gd name="adj" fmla="val 3333"/>
            </a:avLst>
          </a:prstGeom>
          <a:solidFill>
            <a:schemeClr val="bg2"/>
          </a:solidFill>
          <a:ln/>
        </p:spPr>
      </p:sp>
      <p:sp>
        <p:nvSpPr>
          <p:cNvPr id="5" name="Shape 3"/>
          <p:cNvSpPr/>
          <p:nvPr/>
        </p:nvSpPr>
        <p:spPr>
          <a:xfrm>
            <a:off x="749808" y="1801368"/>
            <a:ext cx="548640" cy="54864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870509" y="1922069"/>
            <a:ext cx="307238" cy="307238"/>
          </a:xfrm>
          <a:prstGeom prst="rect">
            <a:avLst/>
          </a:prstGeom>
        </p:spPr>
      </p:pic>
      <p:sp>
        <p:nvSpPr>
          <p:cNvPr id="7" name="Text 4"/>
          <p:cNvSpPr txBox="1"/>
          <p:nvPr/>
        </p:nvSpPr>
        <p:spPr>
          <a:xfrm>
            <a:off x="1417320" y="1801368"/>
            <a:ext cx="2514600" cy="548640"/>
          </a:xfrm>
          <a:prstGeom prst="rect">
            <a:avLst/>
          </a:prstGeom>
          <a:noFill/>
          <a:ln/>
        </p:spPr>
        <p:txBody>
          <a:bodyPr wrap="square" lIns="0" tIns="0" rIns="0" bIns="0" rtlCol="0" anchor="ctr"/>
          <a:lstStyle/>
          <a:p>
            <a:pPr indent="0" marL="0">
              <a:buNone/>
            </a:pPr>
            <a:r>
              <a:rPr lang="en-US" sz="1700" b="1" dirty="0">
                <a:solidFill>
                  <a:schemeClr val="tx1"/>
                </a:solidFill>
              </a:rPr>
              <a:t>Academic benchmarks</a:t>
            </a:r>
            <a:endParaRPr lang="en-US" sz="1700" dirty="0"/>
          </a:p>
        </p:txBody>
      </p:sp>
      <p:sp>
        <p:nvSpPr>
          <p:cNvPr id="8" name="Text 5"/>
          <p:cNvSpPr txBox="1"/>
          <p:nvPr/>
        </p:nvSpPr>
        <p:spPr>
          <a:xfrm>
            <a:off x="749808" y="2496312"/>
            <a:ext cx="3163824" cy="1161288"/>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2"/>
                </a:solidFill>
              </a:rPr>
              <a:t>MMLU, GSM8K, HumanEval, IFEval and more</a:t>
            </a:r>
            <a:endParaRPr lang="en-US" sz="1400" dirty="0"/>
          </a:p>
          <a:p>
            <a:pPr marL="342900" indent="-342900">
              <a:spcAft>
                <a:spcPts val="500"/>
              </a:spcAft>
              <a:buSzPct val="100000"/>
              <a:buChar char="•"/>
            </a:pPr>
            <a:r>
              <a:rPr lang="en-US" sz="1400" dirty="0">
                <a:solidFill>
                  <a:schemeClr val="tx2"/>
                </a:solidFill>
              </a:rPr>
              <a:t>Check general skills haven't regressed</a:t>
            </a:r>
            <a:endParaRPr lang="en-US" sz="1400" dirty="0"/>
          </a:p>
        </p:txBody>
      </p:sp>
      <p:sp>
        <p:nvSpPr>
          <p:cNvPr id="9" name="card"/>
          <p:cNvSpPr/>
          <p:nvPr/>
        </p:nvSpPr>
        <p:spPr>
          <a:xfrm>
            <a:off x="4297680" y="1600200"/>
            <a:ext cx="3566160" cy="2194560"/>
          </a:xfrm>
          <a:prstGeom prst="roundRect">
            <a:avLst>
              <a:gd name="adj" fmla="val 3333"/>
            </a:avLst>
          </a:prstGeom>
          <a:solidFill>
            <a:schemeClr val="bg2"/>
          </a:solidFill>
          <a:ln/>
        </p:spPr>
      </p:sp>
      <p:sp>
        <p:nvSpPr>
          <p:cNvPr id="10" name="Shape 7"/>
          <p:cNvSpPr/>
          <p:nvPr/>
        </p:nvSpPr>
        <p:spPr>
          <a:xfrm>
            <a:off x="4498848" y="1801368"/>
            <a:ext cx="548640" cy="548640"/>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4619549" y="1922069"/>
            <a:ext cx="307238" cy="307238"/>
          </a:xfrm>
          <a:prstGeom prst="rect">
            <a:avLst/>
          </a:prstGeom>
        </p:spPr>
      </p:pic>
      <p:sp>
        <p:nvSpPr>
          <p:cNvPr id="12" name="Text 8"/>
          <p:cNvSpPr txBox="1"/>
          <p:nvPr/>
        </p:nvSpPr>
        <p:spPr>
          <a:xfrm>
            <a:off x="5166360" y="1801368"/>
            <a:ext cx="2514600" cy="548640"/>
          </a:xfrm>
          <a:prstGeom prst="rect">
            <a:avLst/>
          </a:prstGeom>
          <a:noFill/>
          <a:ln/>
        </p:spPr>
        <p:txBody>
          <a:bodyPr wrap="square" lIns="0" tIns="0" rIns="0" bIns="0" rtlCol="0" anchor="ctr"/>
          <a:lstStyle/>
          <a:p>
            <a:pPr indent="0" marL="0">
              <a:buNone/>
            </a:pPr>
            <a:r>
              <a:rPr lang="en-US" sz="1700" b="1" dirty="0">
                <a:solidFill>
                  <a:schemeClr val="tx1"/>
                </a:solidFill>
              </a:rPr>
              <a:t>Custom datasets</a:t>
            </a:r>
            <a:endParaRPr lang="en-US" sz="1700" dirty="0"/>
          </a:p>
        </p:txBody>
      </p:sp>
      <p:sp>
        <p:nvSpPr>
          <p:cNvPr id="13" name="Text 9"/>
          <p:cNvSpPr txBox="1"/>
          <p:nvPr/>
        </p:nvSpPr>
        <p:spPr>
          <a:xfrm>
            <a:off x="4498848" y="2496312"/>
            <a:ext cx="3163824" cy="1161288"/>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2"/>
                </a:solidFill>
              </a:rPr>
              <a:t>Your own question / answer test sets</a:t>
            </a:r>
            <a:endParaRPr lang="en-US" sz="1400" dirty="0"/>
          </a:p>
          <a:p>
            <a:pPr marL="342900" indent="-342900">
              <a:spcAft>
                <a:spcPts val="500"/>
              </a:spcAft>
              <a:buSzPct val="100000"/>
              <a:buChar char="•"/>
            </a:pPr>
            <a:r>
              <a:rPr lang="en-US" sz="1400" dirty="0">
                <a:solidFill>
                  <a:schemeClr val="tx2"/>
                </a:solidFill>
              </a:rPr>
              <a:t>Metrics: accuracy, F1, BLEU, ROUGE, exact match</a:t>
            </a:r>
            <a:endParaRPr lang="en-US" sz="1400" dirty="0"/>
          </a:p>
        </p:txBody>
      </p:sp>
      <p:sp>
        <p:nvSpPr>
          <p:cNvPr id="14" name="card"/>
          <p:cNvSpPr/>
          <p:nvPr/>
        </p:nvSpPr>
        <p:spPr>
          <a:xfrm>
            <a:off x="8046720" y="1600200"/>
            <a:ext cx="3566160" cy="2194560"/>
          </a:xfrm>
          <a:prstGeom prst="roundRect">
            <a:avLst>
              <a:gd name="adj" fmla="val 3333"/>
            </a:avLst>
          </a:prstGeom>
          <a:solidFill>
            <a:schemeClr val="bg2"/>
          </a:solidFill>
          <a:ln/>
        </p:spPr>
      </p:sp>
      <p:sp>
        <p:nvSpPr>
          <p:cNvPr id="15" name="Shape 11"/>
          <p:cNvSpPr/>
          <p:nvPr/>
        </p:nvSpPr>
        <p:spPr>
          <a:xfrm>
            <a:off x="8247888" y="1801368"/>
            <a:ext cx="548640" cy="548640"/>
          </a:xfrm>
          <a:prstGeom prst="ellipse">
            <a:avLst/>
          </a:prstGeom>
          <a:solidFill>
            <a:schemeClr val="accent1"/>
          </a:solidFill>
          <a:ln/>
        </p:spPr>
      </p:sp>
      <p:pic>
        <p:nvPicPr>
          <p:cNvPr id="16" name="Image 2" descr="preencoded.png">    </p:cNvPr>
          <p:cNvPicPr>
            <a:picLocks noChangeAspect="1"/>
          </p:cNvPicPr>
          <p:nvPr/>
        </p:nvPicPr>
        <p:blipFill>
          <a:blip r:embed="rId3"/>
          <a:stretch>
            <a:fillRect/>
          </a:stretch>
        </p:blipFill>
        <p:spPr>
          <a:xfrm>
            <a:off x="8368589" y="1922069"/>
            <a:ext cx="307238" cy="307238"/>
          </a:xfrm>
          <a:prstGeom prst="rect">
            <a:avLst/>
          </a:prstGeom>
        </p:spPr>
      </p:pic>
      <p:sp>
        <p:nvSpPr>
          <p:cNvPr id="17" name="Text 12"/>
          <p:cNvSpPr txBox="1"/>
          <p:nvPr/>
        </p:nvSpPr>
        <p:spPr>
          <a:xfrm>
            <a:off x="8915400" y="1801368"/>
            <a:ext cx="2514600" cy="548640"/>
          </a:xfrm>
          <a:prstGeom prst="rect">
            <a:avLst/>
          </a:prstGeom>
          <a:noFill/>
          <a:ln/>
        </p:spPr>
        <p:txBody>
          <a:bodyPr wrap="square" lIns="0" tIns="0" rIns="0" bIns="0" rtlCol="0" anchor="ctr"/>
          <a:lstStyle/>
          <a:p>
            <a:pPr indent="0" marL="0">
              <a:buNone/>
            </a:pPr>
            <a:r>
              <a:rPr lang="en-US" sz="1700" b="1" dirty="0">
                <a:solidFill>
                  <a:schemeClr val="tx1"/>
                </a:solidFill>
              </a:rPr>
              <a:t>LLM-as-a-judge</a:t>
            </a:r>
            <a:endParaRPr lang="en-US" sz="1700" dirty="0"/>
          </a:p>
        </p:txBody>
      </p:sp>
      <p:sp>
        <p:nvSpPr>
          <p:cNvPr id="18" name="Text 13"/>
          <p:cNvSpPr txBox="1"/>
          <p:nvPr/>
        </p:nvSpPr>
        <p:spPr>
          <a:xfrm>
            <a:off x="8247888" y="2496312"/>
            <a:ext cx="3163824" cy="1161288"/>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2"/>
                </a:solidFill>
              </a:rPr>
              <a:t>A strong model scores answers against a rubric</a:t>
            </a:r>
            <a:endParaRPr lang="en-US" sz="1400" dirty="0"/>
          </a:p>
          <a:p>
            <a:pPr marL="342900" indent="-342900">
              <a:spcAft>
                <a:spcPts val="500"/>
              </a:spcAft>
              <a:buSzPct val="100000"/>
              <a:buChar char="•"/>
            </a:pPr>
            <a:r>
              <a:rPr lang="en-US" sz="1400" dirty="0">
                <a:solidFill>
                  <a:schemeClr val="tx2"/>
                </a:solidFill>
              </a:rPr>
              <a:t>Scales human-like review of open answers</a:t>
            </a:r>
            <a:endParaRPr lang="en-US" sz="1400" dirty="0"/>
          </a:p>
        </p:txBody>
      </p:sp>
      <p:sp>
        <p:nvSpPr>
          <p:cNvPr id="19" name="card"/>
          <p:cNvSpPr/>
          <p:nvPr/>
        </p:nvSpPr>
        <p:spPr>
          <a:xfrm>
            <a:off x="548640" y="3931920"/>
            <a:ext cx="3566160" cy="2194560"/>
          </a:xfrm>
          <a:prstGeom prst="roundRect">
            <a:avLst>
              <a:gd name="adj" fmla="val 3333"/>
            </a:avLst>
          </a:prstGeom>
          <a:solidFill>
            <a:schemeClr val="bg2"/>
          </a:solidFill>
          <a:ln/>
        </p:spPr>
      </p:sp>
      <p:sp>
        <p:nvSpPr>
          <p:cNvPr id="20" name="Shape 15"/>
          <p:cNvSpPr/>
          <p:nvPr/>
        </p:nvSpPr>
        <p:spPr>
          <a:xfrm>
            <a:off x="749808" y="4133088"/>
            <a:ext cx="548640" cy="548640"/>
          </a:xfrm>
          <a:prstGeom prst="ellipse">
            <a:avLst/>
          </a:prstGeom>
          <a:solidFill>
            <a:schemeClr val="accent1"/>
          </a:solidFill>
          <a:ln/>
        </p:spPr>
      </p:sp>
      <p:pic>
        <p:nvPicPr>
          <p:cNvPr id="21" name="Image 3" descr="preencoded.png">    </p:cNvPr>
          <p:cNvPicPr>
            <a:picLocks noChangeAspect="1"/>
          </p:cNvPicPr>
          <p:nvPr/>
        </p:nvPicPr>
        <p:blipFill>
          <a:blip r:embed="rId4"/>
          <a:stretch>
            <a:fillRect/>
          </a:stretch>
        </p:blipFill>
        <p:spPr>
          <a:xfrm>
            <a:off x="870509" y="4253789"/>
            <a:ext cx="307238" cy="307238"/>
          </a:xfrm>
          <a:prstGeom prst="rect">
            <a:avLst/>
          </a:prstGeom>
        </p:spPr>
      </p:pic>
      <p:sp>
        <p:nvSpPr>
          <p:cNvPr id="22" name="Text 16"/>
          <p:cNvSpPr txBox="1"/>
          <p:nvPr/>
        </p:nvSpPr>
        <p:spPr>
          <a:xfrm>
            <a:off x="1417320" y="4133088"/>
            <a:ext cx="2514600" cy="548640"/>
          </a:xfrm>
          <a:prstGeom prst="rect">
            <a:avLst/>
          </a:prstGeom>
          <a:noFill/>
          <a:ln/>
        </p:spPr>
        <p:txBody>
          <a:bodyPr wrap="square" lIns="0" tIns="0" rIns="0" bIns="0" rtlCol="0" anchor="ctr"/>
          <a:lstStyle/>
          <a:p>
            <a:pPr indent="0" marL="0">
              <a:buNone/>
            </a:pPr>
            <a:r>
              <a:rPr lang="en-US" sz="1700" b="1" dirty="0">
                <a:solidFill>
                  <a:schemeClr val="tx1"/>
                </a:solidFill>
              </a:rPr>
              <a:t>RAG and retrieval</a:t>
            </a:r>
            <a:endParaRPr lang="en-US" sz="1700" dirty="0"/>
          </a:p>
        </p:txBody>
      </p:sp>
      <p:sp>
        <p:nvSpPr>
          <p:cNvPr id="23" name="Text 17"/>
          <p:cNvSpPr txBox="1"/>
          <p:nvPr/>
        </p:nvSpPr>
        <p:spPr>
          <a:xfrm>
            <a:off x="749808" y="4828032"/>
            <a:ext cx="3163824" cy="1161288"/>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2"/>
                </a:solidFill>
              </a:rPr>
              <a:t>Retrieval recall / NDCG for embedders</a:t>
            </a:r>
            <a:endParaRPr lang="en-US" sz="1400" dirty="0"/>
          </a:p>
          <a:p>
            <a:pPr marL="342900" indent="-342900">
              <a:spcAft>
                <a:spcPts val="500"/>
              </a:spcAft>
              <a:buSzPct val="100000"/>
              <a:buChar char="•"/>
            </a:pPr>
            <a:r>
              <a:rPr lang="en-US" sz="1400" dirty="0">
                <a:solidFill>
                  <a:schemeClr val="tx2"/>
                </a:solidFill>
              </a:rPr>
              <a:t>Faithfulness and relevance of answers (RAGAS-style)</a:t>
            </a:r>
            <a:endParaRPr lang="en-US" sz="1400" dirty="0"/>
          </a:p>
        </p:txBody>
      </p:sp>
      <p:sp>
        <p:nvSpPr>
          <p:cNvPr id="24" name="card"/>
          <p:cNvSpPr/>
          <p:nvPr/>
        </p:nvSpPr>
        <p:spPr>
          <a:xfrm>
            <a:off x="4297680" y="3931920"/>
            <a:ext cx="3566160" cy="2194560"/>
          </a:xfrm>
          <a:prstGeom prst="roundRect">
            <a:avLst>
              <a:gd name="adj" fmla="val 3333"/>
            </a:avLst>
          </a:prstGeom>
          <a:solidFill>
            <a:schemeClr val="bg2"/>
          </a:solidFill>
          <a:ln/>
        </p:spPr>
      </p:sp>
      <p:sp>
        <p:nvSpPr>
          <p:cNvPr id="25" name="Shape 19"/>
          <p:cNvSpPr/>
          <p:nvPr/>
        </p:nvSpPr>
        <p:spPr>
          <a:xfrm>
            <a:off x="4498848" y="4133088"/>
            <a:ext cx="548640" cy="548640"/>
          </a:xfrm>
          <a:prstGeom prst="ellipse">
            <a:avLst/>
          </a:prstGeom>
          <a:solidFill>
            <a:schemeClr val="accent1"/>
          </a:solidFill>
          <a:ln/>
        </p:spPr>
      </p:sp>
      <p:pic>
        <p:nvPicPr>
          <p:cNvPr id="26" name="Image 4" descr="preencoded.png">    </p:cNvPr>
          <p:cNvPicPr>
            <a:picLocks noChangeAspect="1"/>
          </p:cNvPicPr>
          <p:nvPr/>
        </p:nvPicPr>
        <p:blipFill>
          <a:blip r:embed="rId5"/>
          <a:stretch>
            <a:fillRect/>
          </a:stretch>
        </p:blipFill>
        <p:spPr>
          <a:xfrm>
            <a:off x="4619549" y="4253789"/>
            <a:ext cx="307238" cy="307238"/>
          </a:xfrm>
          <a:prstGeom prst="rect">
            <a:avLst/>
          </a:prstGeom>
        </p:spPr>
      </p:pic>
      <p:sp>
        <p:nvSpPr>
          <p:cNvPr id="27" name="Text 20"/>
          <p:cNvSpPr txBox="1"/>
          <p:nvPr/>
        </p:nvSpPr>
        <p:spPr>
          <a:xfrm>
            <a:off x="5166360" y="4133088"/>
            <a:ext cx="2514600" cy="548640"/>
          </a:xfrm>
          <a:prstGeom prst="rect">
            <a:avLst/>
          </a:prstGeom>
          <a:noFill/>
          <a:ln/>
        </p:spPr>
        <p:txBody>
          <a:bodyPr wrap="square" lIns="0" tIns="0" rIns="0" bIns="0" rtlCol="0" anchor="ctr"/>
          <a:lstStyle/>
          <a:p>
            <a:pPr indent="0" marL="0">
              <a:buNone/>
            </a:pPr>
            <a:r>
              <a:rPr lang="en-US" sz="1700" b="1" dirty="0">
                <a:solidFill>
                  <a:schemeClr val="tx1"/>
                </a:solidFill>
              </a:rPr>
              <a:t>Agents and tools</a:t>
            </a:r>
            <a:endParaRPr lang="en-US" sz="1700" dirty="0"/>
          </a:p>
        </p:txBody>
      </p:sp>
      <p:sp>
        <p:nvSpPr>
          <p:cNvPr id="28" name="Text 21"/>
          <p:cNvSpPr txBox="1"/>
          <p:nvPr/>
        </p:nvSpPr>
        <p:spPr>
          <a:xfrm>
            <a:off x="4498848" y="4828032"/>
            <a:ext cx="3163824" cy="1161288"/>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2"/>
                </a:solidFill>
              </a:rPr>
              <a:t>Tool-calling accuracy</a:t>
            </a:r>
            <a:endParaRPr lang="en-US" sz="1400" dirty="0"/>
          </a:p>
          <a:p>
            <a:pPr marL="342900" indent="-342900">
              <a:spcAft>
                <a:spcPts val="500"/>
              </a:spcAft>
              <a:buSzPct val="100000"/>
              <a:buChar char="•"/>
            </a:pPr>
            <a:r>
              <a:rPr lang="en-US" sz="1400" dirty="0">
                <a:solidFill>
                  <a:schemeClr val="tx2"/>
                </a:solidFill>
              </a:rPr>
              <a:t>Multi-step task success</a:t>
            </a:r>
            <a:endParaRPr lang="en-US" sz="1400" dirty="0"/>
          </a:p>
        </p:txBody>
      </p:sp>
      <p:sp>
        <p:nvSpPr>
          <p:cNvPr id="29" name="card"/>
          <p:cNvSpPr/>
          <p:nvPr/>
        </p:nvSpPr>
        <p:spPr>
          <a:xfrm>
            <a:off x="8046720" y="3931920"/>
            <a:ext cx="3566160" cy="2194560"/>
          </a:xfrm>
          <a:prstGeom prst="roundRect">
            <a:avLst>
              <a:gd name="adj" fmla="val 3333"/>
            </a:avLst>
          </a:prstGeom>
          <a:solidFill>
            <a:schemeClr val="bg2"/>
          </a:solidFill>
          <a:ln/>
        </p:spPr>
      </p:sp>
      <p:sp>
        <p:nvSpPr>
          <p:cNvPr id="30" name="Shape 23"/>
          <p:cNvSpPr/>
          <p:nvPr/>
        </p:nvSpPr>
        <p:spPr>
          <a:xfrm>
            <a:off x="8247888" y="4133088"/>
            <a:ext cx="548640" cy="548640"/>
          </a:xfrm>
          <a:prstGeom prst="ellipse">
            <a:avLst/>
          </a:prstGeom>
          <a:solidFill>
            <a:schemeClr val="accent1"/>
          </a:solidFill>
          <a:ln/>
        </p:spPr>
      </p:sp>
      <p:pic>
        <p:nvPicPr>
          <p:cNvPr id="31" name="Image 5" descr="preencoded.png">    </p:cNvPr>
          <p:cNvPicPr>
            <a:picLocks noChangeAspect="1"/>
          </p:cNvPicPr>
          <p:nvPr/>
        </p:nvPicPr>
        <p:blipFill>
          <a:blip r:embed="rId6"/>
          <a:stretch>
            <a:fillRect/>
          </a:stretch>
        </p:blipFill>
        <p:spPr>
          <a:xfrm>
            <a:off x="8368589" y="4253789"/>
            <a:ext cx="307238" cy="307238"/>
          </a:xfrm>
          <a:prstGeom prst="rect">
            <a:avLst/>
          </a:prstGeom>
        </p:spPr>
      </p:pic>
      <p:sp>
        <p:nvSpPr>
          <p:cNvPr id="32" name="Text 24"/>
          <p:cNvSpPr txBox="1"/>
          <p:nvPr/>
        </p:nvSpPr>
        <p:spPr>
          <a:xfrm>
            <a:off x="8915400" y="4133088"/>
            <a:ext cx="2514600" cy="548640"/>
          </a:xfrm>
          <a:prstGeom prst="rect">
            <a:avLst/>
          </a:prstGeom>
          <a:noFill/>
          <a:ln/>
        </p:spPr>
        <p:txBody>
          <a:bodyPr wrap="square" lIns="0" tIns="0" rIns="0" bIns="0" rtlCol="0" anchor="ctr"/>
          <a:lstStyle/>
          <a:p>
            <a:pPr indent="0" marL="0">
              <a:buNone/>
            </a:pPr>
            <a:r>
              <a:rPr lang="en-US" sz="1700" b="1" dirty="0">
                <a:solidFill>
                  <a:schemeClr val="tx1"/>
                </a:solidFill>
              </a:rPr>
              <a:t>Safety</a:t>
            </a:r>
            <a:endParaRPr lang="en-US" sz="1700" dirty="0"/>
          </a:p>
        </p:txBody>
      </p:sp>
      <p:sp>
        <p:nvSpPr>
          <p:cNvPr id="33" name="Text 25"/>
          <p:cNvSpPr txBox="1"/>
          <p:nvPr/>
        </p:nvSpPr>
        <p:spPr>
          <a:xfrm>
            <a:off x="8247888" y="4828032"/>
            <a:ext cx="3163824" cy="1161288"/>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2"/>
                </a:solidFill>
              </a:rPr>
              <a:t>Toxicity and jailbreak resistance</a:t>
            </a:r>
            <a:endParaRPr lang="en-US" sz="1400" dirty="0"/>
          </a:p>
          <a:p>
            <a:pPr marL="342900" indent="-342900">
              <a:spcAft>
                <a:spcPts val="500"/>
              </a:spcAft>
              <a:buSzPct val="100000"/>
              <a:buChar char="•"/>
            </a:pPr>
            <a:r>
              <a:rPr lang="en-US" sz="1400" dirty="0">
                <a:solidFill>
                  <a:schemeClr val="tx2"/>
                </a:solidFill>
              </a:rPr>
              <a:t>Compare models with and without guardrails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000" b="1" dirty="0">
                <a:solidFill>
                  <a:schemeClr val="tx1"/>
                </a:solidFill>
              </a:rPr>
              <a:t>NeMo Guardrails: programmable safety</a:t>
            </a:r>
            <a:endParaRPr lang="en-US" sz="3000" dirty="0"/>
          </a:p>
        </p:txBody>
      </p:sp>
      <p:sp>
        <p:nvSpPr>
          <p:cNvPr id="3" name="Text 0"/>
          <p:cNvSpPr/>
          <p:nvPr>
            <p:ph idx="101" type="body" hasCustomPrompt="1"/>
          </p:nvPr>
        </p:nvSpPr>
        <p:spPr>
          <a:xfrm>
            <a:off x="548640" y="960120"/>
            <a:ext cx="11064240" cy="411480"/>
          </a:xfrm>
          <a:prstGeom prst="rect">
            <a:avLst/>
          </a:prstGeom>
          <a:noFill/>
          <a:ln/>
        </p:spPr>
        <p:txBody>
          <a:bodyPr wrap="square" lIns="0" tIns="0" rIns="0" bIns="0" rtlCol="0" anchor="t"/>
          <a:lstStyle/>
          <a:p>
            <a:pPr indent="0" marL="0">
              <a:buNone/>
            </a:pPr>
            <a:r>
              <a:rPr lang="en-US" sz="1600" dirty="0">
                <a:solidFill>
                  <a:schemeClr val="accent5"/>
                </a:solidFill>
              </a:rPr>
              <a:t>Rails sit between users, the LLM and tools, and enforce policy on every turn</a:t>
            </a:r>
            <a:endParaRPr lang="en-US" sz="1600" dirty="0"/>
          </a:p>
        </p:txBody>
      </p:sp>
      <p:sp>
        <p:nvSpPr>
          <p:cNvPr id="4" name="Text 2"/>
          <p:cNvSpPr/>
          <p:nvPr/>
        </p:nvSpPr>
        <p:spPr>
          <a:xfrm>
            <a:off x="548640" y="1645920"/>
            <a:ext cx="914400" cy="777240"/>
          </a:xfrm>
          <a:prstGeom prst="roundRect">
            <a:avLst>
              <a:gd name="adj" fmla="val 5882"/>
            </a:avLst>
          </a:prstGeom>
          <a:solidFill>
            <a:schemeClr val="bg2"/>
          </a:solidFill>
          <a:ln/>
        </p:spPr>
        <p:txBody>
          <a:bodyPr wrap="square" lIns="381" tIns="381" rIns="381" bIns="381" rtlCol="0" anchor="ctr"/>
          <a:lstStyle/>
          <a:p>
            <a:pPr algn="ctr" indent="0" marL="0">
              <a:buNone/>
            </a:pPr>
            <a:r>
              <a:rPr lang="en-US" sz="1100" b="1" dirty="0">
                <a:solidFill>
                  <a:schemeClr val="tx1"/>
                </a:solidFill>
              </a:rPr>
              <a:t>User</a:t>
            </a:r>
            <a:endParaRPr lang="en-US" sz="1100" dirty="0"/>
          </a:p>
        </p:txBody>
      </p:sp>
      <p:sp>
        <p:nvSpPr>
          <p:cNvPr id="5" name="Shape 3"/>
          <p:cNvSpPr/>
          <p:nvPr/>
        </p:nvSpPr>
        <p:spPr>
          <a:xfrm>
            <a:off x="1463040" y="2029968"/>
            <a:ext cx="100584" cy="914"/>
          </a:xfrm>
          <a:prstGeom prst="line">
            <a:avLst/>
          </a:prstGeom>
          <a:noFill/>
          <a:ln w="19050">
            <a:solidFill>
              <a:schemeClr val="accent2"/>
            </a:solidFill>
            <a:prstDash val="solid"/>
            <a:tailEnd type="triangle"/>
          </a:ln>
        </p:spPr>
      </p:sp>
      <p:sp>
        <p:nvSpPr>
          <p:cNvPr id="6" name="Text 4"/>
          <p:cNvSpPr/>
          <p:nvPr/>
        </p:nvSpPr>
        <p:spPr>
          <a:xfrm>
            <a:off x="1572768" y="1645920"/>
            <a:ext cx="914400" cy="777240"/>
          </a:xfrm>
          <a:prstGeom prst="roundRect">
            <a:avLst>
              <a:gd name="adj" fmla="val 5882"/>
            </a:avLst>
          </a:prstGeom>
          <a:solidFill>
            <a:schemeClr val="accent1"/>
          </a:solidFill>
          <a:ln/>
        </p:spPr>
        <p:txBody>
          <a:bodyPr wrap="square" lIns="381" tIns="381" rIns="381" bIns="381" rtlCol="0" anchor="ctr"/>
          <a:lstStyle/>
          <a:p>
            <a:pPr algn="ctr" indent="0" marL="0">
              <a:buNone/>
            </a:pPr>
            <a:r>
              <a:rPr lang="en-US" sz="1100" b="1" dirty="0">
                <a:solidFill>
                  <a:schemeClr val="tx1"/>
                </a:solidFill>
              </a:rPr>
              <a:t>Input rails</a:t>
            </a:r>
            <a:endParaRPr lang="en-US" sz="1100" dirty="0"/>
          </a:p>
        </p:txBody>
      </p:sp>
      <p:sp>
        <p:nvSpPr>
          <p:cNvPr id="7" name="Shape 5"/>
          <p:cNvSpPr/>
          <p:nvPr/>
        </p:nvSpPr>
        <p:spPr>
          <a:xfrm>
            <a:off x="2487168" y="2029968"/>
            <a:ext cx="100584" cy="914"/>
          </a:xfrm>
          <a:prstGeom prst="line">
            <a:avLst/>
          </a:prstGeom>
          <a:noFill/>
          <a:ln w="19050">
            <a:solidFill>
              <a:schemeClr val="accent2"/>
            </a:solidFill>
            <a:prstDash val="solid"/>
            <a:tailEnd type="triangle"/>
          </a:ln>
        </p:spPr>
      </p:sp>
      <p:sp>
        <p:nvSpPr>
          <p:cNvPr id="8" name="Text 6"/>
          <p:cNvSpPr/>
          <p:nvPr/>
        </p:nvSpPr>
        <p:spPr>
          <a:xfrm>
            <a:off x="2596896" y="1645920"/>
            <a:ext cx="914400" cy="777240"/>
          </a:xfrm>
          <a:prstGeom prst="roundRect">
            <a:avLst>
              <a:gd name="adj" fmla="val 5882"/>
            </a:avLst>
          </a:prstGeom>
          <a:solidFill>
            <a:schemeClr val="accent1"/>
          </a:solidFill>
          <a:ln/>
        </p:spPr>
        <p:txBody>
          <a:bodyPr wrap="square" lIns="381" tIns="381" rIns="381" bIns="381" rtlCol="0" anchor="ctr"/>
          <a:lstStyle/>
          <a:p>
            <a:pPr algn="ctr" indent="0" marL="0">
              <a:buNone/>
            </a:pPr>
            <a:r>
              <a:rPr lang="en-US" sz="1100" b="1" dirty="0">
                <a:solidFill>
                  <a:schemeClr val="tx1"/>
                </a:solidFill>
              </a:rPr>
              <a:t>Dialog / retrieval rails</a:t>
            </a:r>
            <a:endParaRPr lang="en-US" sz="1100" dirty="0"/>
          </a:p>
        </p:txBody>
      </p:sp>
      <p:sp>
        <p:nvSpPr>
          <p:cNvPr id="9" name="Shape 7"/>
          <p:cNvSpPr/>
          <p:nvPr/>
        </p:nvSpPr>
        <p:spPr>
          <a:xfrm>
            <a:off x="3511296" y="2029968"/>
            <a:ext cx="100584" cy="914"/>
          </a:xfrm>
          <a:prstGeom prst="line">
            <a:avLst/>
          </a:prstGeom>
          <a:noFill/>
          <a:ln w="19050">
            <a:solidFill>
              <a:schemeClr val="accent2"/>
            </a:solidFill>
            <a:prstDash val="solid"/>
            <a:tailEnd type="triangle"/>
          </a:ln>
        </p:spPr>
      </p:sp>
      <p:sp>
        <p:nvSpPr>
          <p:cNvPr id="10" name="Text 8"/>
          <p:cNvSpPr/>
          <p:nvPr/>
        </p:nvSpPr>
        <p:spPr>
          <a:xfrm>
            <a:off x="3621024" y="1645920"/>
            <a:ext cx="914400" cy="777240"/>
          </a:xfrm>
          <a:prstGeom prst="roundRect">
            <a:avLst>
              <a:gd name="adj" fmla="val 5882"/>
            </a:avLst>
          </a:prstGeom>
          <a:solidFill>
            <a:schemeClr val="tx1"/>
          </a:solidFill>
          <a:ln/>
        </p:spPr>
        <p:txBody>
          <a:bodyPr wrap="square" lIns="381" tIns="381" rIns="381" bIns="381" rtlCol="0" anchor="ctr"/>
          <a:lstStyle/>
          <a:p>
            <a:pPr algn="ctr" indent="0" marL="0">
              <a:buNone/>
            </a:pPr>
            <a:r>
              <a:rPr lang="en-US" sz="1100" b="1" dirty="0">
                <a:solidFill>
                  <a:schemeClr val="bg1"/>
                </a:solidFill>
              </a:rPr>
              <a:t>LLM + tools</a:t>
            </a:r>
            <a:endParaRPr lang="en-US" sz="1100" dirty="0"/>
          </a:p>
        </p:txBody>
      </p:sp>
      <p:sp>
        <p:nvSpPr>
          <p:cNvPr id="11" name="Shape 9"/>
          <p:cNvSpPr/>
          <p:nvPr/>
        </p:nvSpPr>
        <p:spPr>
          <a:xfrm>
            <a:off x="4535424" y="2029968"/>
            <a:ext cx="100584" cy="914"/>
          </a:xfrm>
          <a:prstGeom prst="line">
            <a:avLst/>
          </a:prstGeom>
          <a:noFill/>
          <a:ln w="19050">
            <a:solidFill>
              <a:schemeClr val="accent2"/>
            </a:solidFill>
            <a:prstDash val="solid"/>
            <a:tailEnd type="triangle"/>
          </a:ln>
        </p:spPr>
      </p:sp>
      <p:sp>
        <p:nvSpPr>
          <p:cNvPr id="12" name="Text 10"/>
          <p:cNvSpPr/>
          <p:nvPr/>
        </p:nvSpPr>
        <p:spPr>
          <a:xfrm>
            <a:off x="4645152" y="1645920"/>
            <a:ext cx="914400" cy="777240"/>
          </a:xfrm>
          <a:prstGeom prst="roundRect">
            <a:avLst>
              <a:gd name="adj" fmla="val 5882"/>
            </a:avLst>
          </a:prstGeom>
          <a:solidFill>
            <a:schemeClr val="accent1"/>
          </a:solidFill>
          <a:ln/>
        </p:spPr>
        <p:txBody>
          <a:bodyPr wrap="square" lIns="381" tIns="381" rIns="381" bIns="381" rtlCol="0" anchor="ctr"/>
          <a:lstStyle/>
          <a:p>
            <a:pPr algn="ctr" indent="0" marL="0">
              <a:buNone/>
            </a:pPr>
            <a:r>
              <a:rPr lang="en-US" sz="1100" b="1" dirty="0">
                <a:solidFill>
                  <a:schemeClr val="tx1"/>
                </a:solidFill>
              </a:rPr>
              <a:t>Output rails</a:t>
            </a:r>
            <a:endParaRPr lang="en-US" sz="1100" dirty="0"/>
          </a:p>
        </p:txBody>
      </p:sp>
      <p:sp>
        <p:nvSpPr>
          <p:cNvPr id="13" name="Shape 11"/>
          <p:cNvSpPr/>
          <p:nvPr/>
        </p:nvSpPr>
        <p:spPr>
          <a:xfrm>
            <a:off x="5559552" y="2029968"/>
            <a:ext cx="100584" cy="914"/>
          </a:xfrm>
          <a:prstGeom prst="line">
            <a:avLst/>
          </a:prstGeom>
          <a:noFill/>
          <a:ln w="19050">
            <a:solidFill>
              <a:schemeClr val="accent2"/>
            </a:solidFill>
            <a:prstDash val="solid"/>
            <a:tailEnd type="triangle"/>
          </a:ln>
        </p:spPr>
      </p:sp>
      <p:sp>
        <p:nvSpPr>
          <p:cNvPr id="14" name="Text 12"/>
          <p:cNvSpPr/>
          <p:nvPr/>
        </p:nvSpPr>
        <p:spPr>
          <a:xfrm>
            <a:off x="5669280" y="1645920"/>
            <a:ext cx="914400" cy="777240"/>
          </a:xfrm>
          <a:prstGeom prst="roundRect">
            <a:avLst>
              <a:gd name="adj" fmla="val 5882"/>
            </a:avLst>
          </a:prstGeom>
          <a:solidFill>
            <a:schemeClr val="bg2"/>
          </a:solidFill>
          <a:ln/>
        </p:spPr>
        <p:txBody>
          <a:bodyPr wrap="square" lIns="381" tIns="381" rIns="381" bIns="381" rtlCol="0" anchor="ctr"/>
          <a:lstStyle/>
          <a:p>
            <a:pPr algn="ctr" indent="0" marL="0">
              <a:buNone/>
            </a:pPr>
            <a:r>
              <a:rPr lang="en-US" sz="1100" b="1" dirty="0">
                <a:solidFill>
                  <a:schemeClr val="tx1"/>
                </a:solidFill>
              </a:rPr>
              <a:t>Response</a:t>
            </a:r>
            <a:endParaRPr lang="en-US" sz="1100" dirty="0"/>
          </a:p>
        </p:txBody>
      </p:sp>
      <p:sp>
        <p:nvSpPr>
          <p:cNvPr id="15" name="Text 13"/>
          <p:cNvSpPr txBox="1"/>
          <p:nvPr/>
        </p:nvSpPr>
        <p:spPr>
          <a:xfrm>
            <a:off x="548640" y="2743200"/>
            <a:ext cx="6035040" cy="3429000"/>
          </a:xfrm>
          <a:prstGeom prst="rect">
            <a:avLst/>
          </a:prstGeom>
          <a:noFill/>
          <a:ln/>
        </p:spPr>
        <p:txBody>
          <a:bodyPr wrap="square" lIns="0" tIns="0" rIns="0" bIns="0" rtlCol="0" anchor="t"/>
          <a:lstStyle/>
          <a:p>
            <a:pPr marL="342900" indent="-342900">
              <a:spcAft>
                <a:spcPts val="1200"/>
              </a:spcAft>
              <a:buSzPct val="100000"/>
              <a:buChar char="•"/>
            </a:pPr>
            <a:r>
              <a:rPr lang="en-US" sz="1500" b="1" dirty="0">
                <a:solidFill>
                  <a:schemeClr val="tx2"/>
                </a:solidFill>
              </a:rPr>
              <a:t>Input rails: </a:t>
            </a:r>
            <a:pPr indent="0" marL="0">
              <a:spcAft>
                <a:spcPts val="1200"/>
              </a:spcAft>
              <a:buNone/>
            </a:pPr>
            <a:r>
              <a:rPr lang="en-US" sz="1500" dirty="0">
                <a:solidFill>
                  <a:schemeClr val="tx2"/>
                </a:solidFill>
              </a:rPr>
              <a:t>jailbreak and prompt-injection detection, PII masking, topic control</a:t>
            </a:r>
            <a:endParaRPr lang="en-US" sz="1500" dirty="0"/>
          </a:p>
          <a:p>
            <a:pPr marL="342900" indent="-342900">
              <a:spcAft>
                <a:spcPts val="1200"/>
              </a:spcAft>
              <a:buSzPct val="100000"/>
              <a:buChar char="•"/>
            </a:pPr>
            <a:r>
              <a:rPr lang="en-US" sz="1500" b="1" dirty="0">
                <a:solidFill>
                  <a:schemeClr val="tx2"/>
                </a:solidFill>
              </a:rPr>
              <a:t>Dialog rails: </a:t>
            </a:r>
            <a:pPr indent="0" marL="0">
              <a:spcAft>
                <a:spcPts val="1200"/>
              </a:spcAft>
              <a:buNone/>
            </a:pPr>
            <a:r>
              <a:rPr lang="en-US" sz="1500" dirty="0">
                <a:solidFill>
                  <a:schemeClr val="tx2"/>
                </a:solidFill>
              </a:rPr>
              <a:t>steer conversations with flows written in Colang</a:t>
            </a:r>
            <a:endParaRPr lang="en-US" sz="1500" dirty="0"/>
          </a:p>
          <a:p>
            <a:pPr marL="342900" indent="-342900">
              <a:spcAft>
                <a:spcPts val="1200"/>
              </a:spcAft>
              <a:buSzPct val="100000"/>
              <a:buChar char="•"/>
            </a:pPr>
            <a:r>
              <a:rPr lang="en-US" sz="1500" b="1" dirty="0">
                <a:solidFill>
                  <a:schemeClr val="tx2"/>
                </a:solidFill>
              </a:rPr>
              <a:t>Retrieval rails: </a:t>
            </a:r>
            <a:pPr indent="0" marL="0">
              <a:spcAft>
                <a:spcPts val="1200"/>
              </a:spcAft>
              <a:buNone/>
            </a:pPr>
            <a:r>
              <a:rPr lang="en-US" sz="1500" dirty="0">
                <a:solidFill>
                  <a:schemeClr val="tx2"/>
                </a:solidFill>
              </a:rPr>
              <a:t>filter or check retrieved chunks in RAG</a:t>
            </a:r>
            <a:endParaRPr lang="en-US" sz="1500" dirty="0"/>
          </a:p>
          <a:p>
            <a:pPr marL="342900" indent="-342900">
              <a:spcAft>
                <a:spcPts val="1200"/>
              </a:spcAft>
              <a:buSzPct val="100000"/>
              <a:buChar char="•"/>
            </a:pPr>
            <a:r>
              <a:rPr lang="en-US" sz="1500" b="1" dirty="0">
                <a:solidFill>
                  <a:schemeClr val="tx2"/>
                </a:solidFill>
              </a:rPr>
              <a:t>Output rails: </a:t>
            </a:r>
            <a:pPr indent="0" marL="0">
              <a:spcAft>
                <a:spcPts val="1200"/>
              </a:spcAft>
              <a:buNone/>
            </a:pPr>
            <a:r>
              <a:rPr lang="en-US" sz="1500" dirty="0">
                <a:solidFill>
                  <a:schemeClr val="tx2"/>
                </a:solidFill>
              </a:rPr>
              <a:t>content safety, fact-checking against sources, sensitive-data filtering</a:t>
            </a:r>
            <a:endParaRPr lang="en-US" sz="1500" dirty="0"/>
          </a:p>
          <a:p>
            <a:pPr marL="342900" indent="-342900">
              <a:spcAft>
                <a:spcPts val="1200"/>
              </a:spcAft>
              <a:buSzPct val="100000"/>
              <a:buChar char="•"/>
            </a:pPr>
            <a:r>
              <a:rPr lang="en-US" sz="1500" b="1" dirty="0">
                <a:solidFill>
                  <a:schemeClr val="tx2"/>
                </a:solidFill>
              </a:rPr>
              <a:t>Safety models: </a:t>
            </a:r>
            <a:pPr indent="0" marL="0">
              <a:spcAft>
                <a:spcPts val="1200"/>
              </a:spcAft>
              <a:buNone/>
            </a:pPr>
            <a:r>
              <a:rPr lang="en-US" sz="1500" dirty="0">
                <a:solidFill>
                  <a:schemeClr val="tx2"/>
                </a:solidFill>
              </a:rPr>
              <a:t>Nemotron content safety, topic control and jailbreak detection NIMs</a:t>
            </a:r>
            <a:endParaRPr lang="en-US" sz="1500" dirty="0"/>
          </a:p>
        </p:txBody>
      </p:sp>
      <p:sp>
        <p:nvSpPr>
          <p:cNvPr id="16" name="Shape 14"/>
          <p:cNvSpPr/>
          <p:nvPr/>
        </p:nvSpPr>
        <p:spPr>
          <a:xfrm>
            <a:off x="6858000" y="1600200"/>
            <a:ext cx="4754880" cy="4572000"/>
          </a:xfrm>
          <a:prstGeom prst="roundRect">
            <a:avLst>
              <a:gd name="adj" fmla="val 1600"/>
            </a:avLst>
          </a:prstGeom>
          <a:solidFill>
            <a:srgbClr val="1B231C"/>
          </a:solidFill>
          <a:ln/>
        </p:spPr>
      </p:sp>
      <p:sp>
        <p:nvSpPr>
          <p:cNvPr id="17" name="Text 15"/>
          <p:cNvSpPr txBox="1"/>
          <p:nvPr/>
        </p:nvSpPr>
        <p:spPr>
          <a:xfrm>
            <a:off x="7086600" y="1737360"/>
            <a:ext cx="4297680" cy="320040"/>
          </a:xfrm>
          <a:prstGeom prst="rect">
            <a:avLst/>
          </a:prstGeom>
          <a:noFill/>
          <a:ln/>
        </p:spPr>
        <p:txBody>
          <a:bodyPr wrap="square" lIns="0" tIns="0" rIns="0" bIns="0" rtlCol="0" anchor="t"/>
          <a:lstStyle/>
          <a:p>
            <a:pPr indent="0" marL="0">
              <a:buNone/>
            </a:pPr>
            <a:r>
              <a:rPr lang="en-US" sz="1300" b="1" dirty="0">
                <a:solidFill>
                  <a:schemeClr val="accent1"/>
                </a:solidFill>
              </a:rPr>
              <a:t>config.yml (illustrative)</a:t>
            </a:r>
            <a:endParaRPr lang="en-US" sz="1300" dirty="0"/>
          </a:p>
        </p:txBody>
      </p:sp>
      <p:sp>
        <p:nvSpPr>
          <p:cNvPr id="18" name="Text 16"/>
          <p:cNvSpPr txBox="1"/>
          <p:nvPr/>
        </p:nvSpPr>
        <p:spPr>
          <a:xfrm>
            <a:off x="7086600" y="2103120"/>
            <a:ext cx="4297680" cy="3931920"/>
          </a:xfrm>
          <a:prstGeom prst="rect">
            <a:avLst/>
          </a:prstGeom>
          <a:noFill/>
          <a:ln/>
        </p:spPr>
        <p:txBody>
          <a:bodyPr wrap="square" lIns="0" tIns="0" rIns="0" bIns="0" rtlCol="0" anchor="t"/>
          <a:lstStyle/>
          <a:p>
            <a:pPr indent="0" marL="0">
              <a:spcAft>
                <a:spcPts val="100"/>
              </a:spcAft>
              <a:buNone/>
            </a:pPr>
            <a:r>
              <a:rPr lang="en-US" sz="1100" dirty="0">
                <a:solidFill>
                  <a:srgbClr val="EAF2E6"/>
                </a:solidFill>
                <a:latin typeface="Courier New" pitchFamily="34" charset="0"/>
                <a:ea typeface="Courier New" pitchFamily="34" charset="-122"/>
                <a:cs typeface="Courier New" pitchFamily="34" charset="-120"/>
              </a:rPr>
              <a:t>models:</a:t>
            </a:r>
            <a:endParaRPr lang="en-US" sz="1100" dirty="0"/>
          </a:p>
          <a:p>
            <a:pPr indent="0" marL="0">
              <a:spcAft>
                <a:spcPts val="100"/>
              </a:spcAft>
              <a:buNone/>
            </a:pPr>
            <a:r>
              <a:rPr lang="en-US" sz="1100" dirty="0">
                <a:solidFill>
                  <a:srgbClr val="EAF2E6"/>
                </a:solidFill>
                <a:latin typeface="Courier New" pitchFamily="34" charset="0"/>
                <a:ea typeface="Courier New" pitchFamily="34" charset="-122"/>
                <a:cs typeface="Courier New" pitchFamily="34" charset="-120"/>
              </a:rPr>
              <a:t>  - type: main</a:t>
            </a:r>
            <a:endParaRPr lang="en-US" sz="1100" dirty="0"/>
          </a:p>
          <a:p>
            <a:pPr indent="0" marL="0">
              <a:spcAft>
                <a:spcPts val="100"/>
              </a:spcAft>
              <a:buNone/>
            </a:pPr>
            <a:r>
              <a:rPr lang="en-US" sz="1100" dirty="0">
                <a:solidFill>
                  <a:srgbClr val="EAF2E6"/>
                </a:solidFill>
                <a:latin typeface="Courier New" pitchFamily="34" charset="0"/>
                <a:ea typeface="Courier New" pitchFamily="34" charset="-122"/>
                <a:cs typeface="Courier New" pitchFamily="34" charset="-120"/>
              </a:rPr>
              <a:t>    engine: nim</a:t>
            </a:r>
            <a:endParaRPr lang="en-US" sz="1100" dirty="0"/>
          </a:p>
          <a:p>
            <a:pPr indent="0" marL="0">
              <a:spcAft>
                <a:spcPts val="100"/>
              </a:spcAft>
              <a:buNone/>
            </a:pPr>
            <a:r>
              <a:rPr lang="en-US" sz="1100" dirty="0">
                <a:solidFill>
                  <a:srgbClr val="EAF2E6"/>
                </a:solidFill>
                <a:latin typeface="Courier New" pitchFamily="34" charset="0"/>
                <a:ea typeface="Courier New" pitchFamily="34" charset="-122"/>
                <a:cs typeface="Courier New" pitchFamily="34" charset="-120"/>
              </a:rPr>
              <a:t>    model: meta/llama-3.1-8b-instruct</a:t>
            </a:r>
            <a:endParaRPr lang="en-US" sz="1100" dirty="0"/>
          </a:p>
          <a:p>
            <a:pPr indent="0" marL="0">
              <a:spcAft>
                <a:spcPts val="100"/>
              </a:spcAft>
              <a:buNone/>
            </a:pPr>
            <a:r>
              <a:rPr lang="en-US" sz="1100" dirty="0">
                <a:solidFill>
                  <a:srgbClr val="EAF2E6"/>
                </a:solidFill>
                <a:latin typeface="Courier New" pitchFamily="34" charset="0"/>
                <a:ea typeface="Courier New" pitchFamily="34" charset="-122"/>
                <a:cs typeface="Courier New" pitchFamily="34" charset="-120"/>
              </a:rPr>
              <a:t>  - type: content_safety</a:t>
            </a:r>
            <a:endParaRPr lang="en-US" sz="1100" dirty="0"/>
          </a:p>
          <a:p>
            <a:pPr indent="0" marL="0">
              <a:spcAft>
                <a:spcPts val="100"/>
              </a:spcAft>
              <a:buNone/>
            </a:pPr>
            <a:r>
              <a:rPr lang="en-US" sz="1100" dirty="0">
                <a:solidFill>
                  <a:srgbClr val="EAF2E6"/>
                </a:solidFill>
                <a:latin typeface="Courier New" pitchFamily="34" charset="0"/>
                <a:ea typeface="Courier New" pitchFamily="34" charset="-122"/>
                <a:cs typeface="Courier New" pitchFamily="34" charset="-120"/>
              </a:rPr>
              <a:t>    engine: nim</a:t>
            </a:r>
            <a:endParaRPr lang="en-US" sz="1100" dirty="0"/>
          </a:p>
          <a:p>
            <a:pPr indent="0" marL="0">
              <a:spcAft>
                <a:spcPts val="100"/>
              </a:spcAft>
              <a:buNone/>
            </a:pPr>
            <a:r>
              <a:rPr lang="en-US" sz="1100" dirty="0">
                <a:solidFill>
                  <a:srgbClr val="EAF2E6"/>
                </a:solidFill>
                <a:latin typeface="Courier New" pitchFamily="34" charset="0"/>
                <a:ea typeface="Courier New" pitchFamily="34" charset="-122"/>
                <a:cs typeface="Courier New" pitchFamily="34" charset="-120"/>
              </a:rPr>
              <a:t>    model: nvidia/llama-3.1-nemoguard-</a:t>
            </a:r>
            <a:endParaRPr lang="en-US" sz="1100" dirty="0"/>
          </a:p>
          <a:p>
            <a:pPr indent="0" marL="0">
              <a:spcAft>
                <a:spcPts val="100"/>
              </a:spcAft>
              <a:buNone/>
            </a:pPr>
            <a:r>
              <a:rPr lang="en-US" sz="1100" dirty="0">
                <a:solidFill>
                  <a:srgbClr val="EAF2E6"/>
                </a:solidFill>
                <a:latin typeface="Courier New" pitchFamily="34" charset="0"/>
                <a:ea typeface="Courier New" pitchFamily="34" charset="-122"/>
                <a:cs typeface="Courier New" pitchFamily="34" charset="-120"/>
              </a:rPr>
              <a:t>           8b-content-safety</a:t>
            </a:r>
            <a:endParaRPr lang="en-US" sz="1100" dirty="0"/>
          </a:p>
          <a:p>
            <a:pPr indent="0" marL="0">
              <a:spcAft>
                <a:spcPts val="100"/>
              </a:spcAft>
              <a:buNone/>
            </a:pPr>
            <a:r>
              <a:rPr lang="en-US" sz="1100" dirty="0">
                <a:solidFill>
                  <a:srgbClr val="EAF2E6"/>
                </a:solidFill>
                <a:latin typeface="Courier New" pitchFamily="34" charset="0"/>
                <a:ea typeface="Courier New" pitchFamily="34" charset="-122"/>
                <a:cs typeface="Courier New" pitchFamily="34" charset="-120"/>
              </a:rPr>
              <a:t>rails:</a:t>
            </a:r>
            <a:endParaRPr lang="en-US" sz="1100" dirty="0"/>
          </a:p>
          <a:p>
            <a:pPr indent="0" marL="0">
              <a:spcAft>
                <a:spcPts val="100"/>
              </a:spcAft>
              <a:buNone/>
            </a:pPr>
            <a:r>
              <a:rPr lang="en-US" sz="1100" dirty="0">
                <a:solidFill>
                  <a:srgbClr val="EAF2E6"/>
                </a:solidFill>
                <a:latin typeface="Courier New" pitchFamily="34" charset="0"/>
                <a:ea typeface="Courier New" pitchFamily="34" charset="-122"/>
                <a:cs typeface="Courier New" pitchFamily="34" charset="-120"/>
              </a:rPr>
              <a:t>  input:</a:t>
            </a:r>
            <a:endParaRPr lang="en-US" sz="1100" dirty="0"/>
          </a:p>
          <a:p>
            <a:pPr indent="0" marL="0">
              <a:spcAft>
                <a:spcPts val="100"/>
              </a:spcAft>
              <a:buNone/>
            </a:pPr>
            <a:r>
              <a:rPr lang="en-US" sz="1100" dirty="0">
                <a:solidFill>
                  <a:srgbClr val="EAF2E6"/>
                </a:solidFill>
                <a:latin typeface="Courier New" pitchFamily="34" charset="0"/>
                <a:ea typeface="Courier New" pitchFamily="34" charset="-122"/>
                <a:cs typeface="Courier New" pitchFamily="34" charset="-120"/>
              </a:rPr>
              <a:t>    flows:</a:t>
            </a:r>
            <a:endParaRPr lang="en-US" sz="1100" dirty="0"/>
          </a:p>
          <a:p>
            <a:pPr indent="0" marL="0">
              <a:spcAft>
                <a:spcPts val="100"/>
              </a:spcAft>
              <a:buNone/>
            </a:pPr>
            <a:r>
              <a:rPr lang="en-US" sz="1100" dirty="0">
                <a:solidFill>
                  <a:srgbClr val="EAF2E6"/>
                </a:solidFill>
                <a:latin typeface="Courier New" pitchFamily="34" charset="0"/>
                <a:ea typeface="Courier New" pitchFamily="34" charset="-122"/>
                <a:cs typeface="Courier New" pitchFamily="34" charset="-120"/>
              </a:rPr>
              <a:t>      - content safety check input</a:t>
            </a:r>
            <a:endParaRPr lang="en-US" sz="1100" dirty="0"/>
          </a:p>
          <a:p>
            <a:pPr indent="0" marL="0">
              <a:spcAft>
                <a:spcPts val="100"/>
              </a:spcAft>
              <a:buNone/>
            </a:pPr>
            <a:r>
              <a:rPr lang="en-US" sz="1100" dirty="0">
                <a:solidFill>
                  <a:srgbClr val="EAF2E6"/>
                </a:solidFill>
                <a:latin typeface="Courier New" pitchFamily="34" charset="0"/>
                <a:ea typeface="Courier New" pitchFamily="34" charset="-122"/>
                <a:cs typeface="Courier New" pitchFamily="34" charset="-120"/>
              </a:rPr>
              <a:t>        $model=content_safety</a:t>
            </a:r>
            <a:endParaRPr lang="en-US" sz="1100" dirty="0"/>
          </a:p>
          <a:p>
            <a:pPr indent="0" marL="0">
              <a:spcAft>
                <a:spcPts val="100"/>
              </a:spcAft>
              <a:buNone/>
            </a:pPr>
            <a:r>
              <a:rPr lang="en-US" sz="1100" dirty="0">
                <a:solidFill>
                  <a:srgbClr val="EAF2E6"/>
                </a:solidFill>
                <a:latin typeface="Courier New" pitchFamily="34" charset="0"/>
                <a:ea typeface="Courier New" pitchFamily="34" charset="-122"/>
                <a:cs typeface="Courier New" pitchFamily="34" charset="-120"/>
              </a:rPr>
              <a:t>      - jailbreak detection model</a:t>
            </a:r>
            <a:endParaRPr lang="en-US" sz="1100" dirty="0"/>
          </a:p>
          <a:p>
            <a:pPr indent="0" marL="0">
              <a:spcAft>
                <a:spcPts val="100"/>
              </a:spcAft>
              <a:buNone/>
            </a:pPr>
            <a:r>
              <a:rPr lang="en-US" sz="1100" dirty="0">
                <a:solidFill>
                  <a:srgbClr val="EAF2E6"/>
                </a:solidFill>
                <a:latin typeface="Courier New" pitchFamily="34" charset="0"/>
                <a:ea typeface="Courier New" pitchFamily="34" charset="-122"/>
                <a:cs typeface="Courier New" pitchFamily="34" charset="-120"/>
              </a:rPr>
              <a:t>  output:</a:t>
            </a:r>
            <a:endParaRPr lang="en-US" sz="1100" dirty="0"/>
          </a:p>
          <a:p>
            <a:pPr indent="0" marL="0">
              <a:spcAft>
                <a:spcPts val="100"/>
              </a:spcAft>
              <a:buNone/>
            </a:pPr>
            <a:r>
              <a:rPr lang="en-US" sz="1100" dirty="0">
                <a:solidFill>
                  <a:srgbClr val="EAF2E6"/>
                </a:solidFill>
                <a:latin typeface="Courier New" pitchFamily="34" charset="0"/>
                <a:ea typeface="Courier New" pitchFamily="34" charset="-122"/>
                <a:cs typeface="Courier New" pitchFamily="34" charset="-120"/>
              </a:rPr>
              <a:t>    flows:</a:t>
            </a:r>
            <a:endParaRPr lang="en-US" sz="1100" dirty="0"/>
          </a:p>
          <a:p>
            <a:pPr indent="0" marL="0">
              <a:spcAft>
                <a:spcPts val="100"/>
              </a:spcAft>
              <a:buNone/>
            </a:pPr>
            <a:r>
              <a:rPr lang="en-US" sz="1100" dirty="0">
                <a:solidFill>
                  <a:srgbClr val="EAF2E6"/>
                </a:solidFill>
                <a:latin typeface="Courier New" pitchFamily="34" charset="0"/>
                <a:ea typeface="Courier New" pitchFamily="34" charset="-122"/>
                <a:cs typeface="Courier New" pitchFamily="34" charset="-120"/>
              </a:rPr>
              <a:t>      - content safety check output</a:t>
            </a:r>
            <a:endParaRPr lang="en-US" sz="1100" dirty="0"/>
          </a:p>
          <a:p>
            <a:pPr indent="0" marL="0">
              <a:spcAft>
                <a:spcPts val="100"/>
              </a:spcAft>
              <a:buNone/>
            </a:pPr>
            <a:r>
              <a:rPr lang="en-US" sz="1100" dirty="0">
                <a:solidFill>
                  <a:srgbClr val="EAF2E6"/>
                </a:solidFill>
                <a:latin typeface="Courier New" pitchFamily="34" charset="0"/>
                <a:ea typeface="Courier New" pitchFamily="34" charset="-122"/>
                <a:cs typeface="Courier New" pitchFamily="34" charset="-120"/>
              </a:rPr>
              <a:t>        $model=content_safety</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000" b="1" dirty="0">
                <a:solidFill>
                  <a:schemeClr val="tx1"/>
                </a:solidFill>
              </a:rPr>
              <a:t>NeMo Retriever: enterprise-grade RAG</a:t>
            </a:r>
            <a:endParaRPr lang="en-US" sz="3000" dirty="0"/>
          </a:p>
        </p:txBody>
      </p:sp>
      <p:sp>
        <p:nvSpPr>
          <p:cNvPr id="3" name="Text 0"/>
          <p:cNvSpPr/>
          <p:nvPr>
            <p:ph idx="101" type="body" hasCustomPrompt="1"/>
          </p:nvPr>
        </p:nvSpPr>
        <p:spPr>
          <a:xfrm>
            <a:off x="548640" y="960120"/>
            <a:ext cx="11064240" cy="411480"/>
          </a:xfrm>
          <a:prstGeom prst="rect">
            <a:avLst/>
          </a:prstGeom>
          <a:noFill/>
          <a:ln/>
        </p:spPr>
        <p:txBody>
          <a:bodyPr wrap="square" lIns="0" tIns="0" rIns="0" bIns="0" rtlCol="0" anchor="t"/>
          <a:lstStyle/>
          <a:p>
            <a:pPr indent="0" marL="0">
              <a:buNone/>
            </a:pPr>
            <a:r>
              <a:rPr lang="en-US" sz="1600" dirty="0">
                <a:solidFill>
                  <a:schemeClr val="accent5"/>
                </a:solidFill>
              </a:rPr>
              <a:t>Extraction, embedding and reranking NIMs that ground answers in your own data</a:t>
            </a:r>
            <a:endParaRPr lang="en-US" sz="1600" dirty="0"/>
          </a:p>
        </p:txBody>
      </p:sp>
      <p:sp>
        <p:nvSpPr>
          <p:cNvPr id="4" name="Text 2"/>
          <p:cNvSpPr/>
          <p:nvPr/>
        </p:nvSpPr>
        <p:spPr>
          <a:xfrm>
            <a:off x="548640" y="1645920"/>
            <a:ext cx="1691640" cy="1463040"/>
          </a:xfrm>
          <a:prstGeom prst="roundRect">
            <a:avLst>
              <a:gd name="adj" fmla="val 3750"/>
            </a:avLst>
          </a:prstGeom>
          <a:solidFill>
            <a:schemeClr val="bg2"/>
          </a:solidFill>
          <a:ln/>
        </p:spPr>
        <p:txBody>
          <a:bodyPr wrap="square" lIns="1016" tIns="1016" rIns="1016" bIns="1016" rtlCol="0" anchor="ctr"/>
          <a:lstStyle/>
          <a:p>
            <a:pPr algn="ctr" indent="0" marL="0">
              <a:buNone/>
            </a:pPr>
            <a:r>
              <a:rPr lang="en-US" sz="1400" b="1" dirty="0">
                <a:solidFill>
                  <a:schemeClr val="tx1"/>
                </a:solidFill>
              </a:rPr>
              <a:t>Enterprise documents</a:t>
            </a:r>
            <a:endParaRPr lang="en-US" sz="1400" dirty="0"/>
          </a:p>
          <a:p>
            <a:pPr algn="ctr" indent="0" marL="0">
              <a:buNone/>
            </a:pPr>
            <a:r>
              <a:rPr lang="en-US" sz="1100" dirty="0">
                <a:solidFill>
                  <a:schemeClr val="tx1"/>
                </a:solidFill>
              </a:rPr>
              <a:t>PDFs, slides, tables, charts, images</a:t>
            </a:r>
            <a:endParaRPr lang="en-US" sz="1400" dirty="0"/>
          </a:p>
        </p:txBody>
      </p:sp>
      <p:sp>
        <p:nvSpPr>
          <p:cNvPr id="5" name="Shape 3"/>
          <p:cNvSpPr/>
          <p:nvPr/>
        </p:nvSpPr>
        <p:spPr>
          <a:xfrm>
            <a:off x="2249424" y="2377440"/>
            <a:ext cx="164592" cy="914"/>
          </a:xfrm>
          <a:prstGeom prst="line">
            <a:avLst/>
          </a:prstGeom>
          <a:noFill/>
          <a:ln w="25400">
            <a:solidFill>
              <a:schemeClr val="accent2"/>
            </a:solidFill>
            <a:prstDash val="solid"/>
            <a:tailEnd type="triangle"/>
          </a:ln>
        </p:spPr>
      </p:sp>
      <p:sp>
        <p:nvSpPr>
          <p:cNvPr id="6" name="Text 4"/>
          <p:cNvSpPr/>
          <p:nvPr/>
        </p:nvSpPr>
        <p:spPr>
          <a:xfrm>
            <a:off x="2423160" y="1645920"/>
            <a:ext cx="1691640" cy="1463040"/>
          </a:xfrm>
          <a:prstGeom prst="roundRect">
            <a:avLst>
              <a:gd name="adj" fmla="val 3750"/>
            </a:avLst>
          </a:prstGeom>
          <a:solidFill>
            <a:schemeClr val="accent1"/>
          </a:solidFill>
          <a:ln/>
        </p:spPr>
        <p:txBody>
          <a:bodyPr wrap="square" lIns="1016" tIns="1016" rIns="1016" bIns="1016" rtlCol="0" anchor="ctr"/>
          <a:lstStyle/>
          <a:p>
            <a:pPr algn="ctr" indent="0" marL="0">
              <a:buNone/>
            </a:pPr>
            <a:r>
              <a:rPr lang="en-US" sz="1400" b="1" dirty="0">
                <a:solidFill>
                  <a:schemeClr val="tx1"/>
                </a:solidFill>
              </a:rPr>
              <a:t>Extraction NIMs</a:t>
            </a:r>
            <a:endParaRPr lang="en-US" sz="1400" dirty="0"/>
          </a:p>
          <a:p>
            <a:pPr algn="ctr" indent="0" marL="0">
              <a:buNone/>
            </a:pPr>
            <a:r>
              <a:rPr lang="en-US" sz="1100" dirty="0">
                <a:solidFill>
                  <a:schemeClr val="tx1"/>
                </a:solidFill>
              </a:rPr>
              <a:t>Parse text, tables and charts; OCR</a:t>
            </a:r>
            <a:endParaRPr lang="en-US" sz="1400" dirty="0"/>
          </a:p>
        </p:txBody>
      </p:sp>
      <p:sp>
        <p:nvSpPr>
          <p:cNvPr id="7" name="Shape 5"/>
          <p:cNvSpPr/>
          <p:nvPr/>
        </p:nvSpPr>
        <p:spPr>
          <a:xfrm>
            <a:off x="4123944" y="2377440"/>
            <a:ext cx="164592" cy="914"/>
          </a:xfrm>
          <a:prstGeom prst="line">
            <a:avLst/>
          </a:prstGeom>
          <a:noFill/>
          <a:ln w="25400">
            <a:solidFill>
              <a:schemeClr val="accent2"/>
            </a:solidFill>
            <a:prstDash val="solid"/>
            <a:tailEnd type="triangle"/>
          </a:ln>
        </p:spPr>
      </p:sp>
      <p:sp>
        <p:nvSpPr>
          <p:cNvPr id="8" name="Text 6"/>
          <p:cNvSpPr/>
          <p:nvPr/>
        </p:nvSpPr>
        <p:spPr>
          <a:xfrm>
            <a:off x="4297680" y="1645920"/>
            <a:ext cx="1691640" cy="1463040"/>
          </a:xfrm>
          <a:prstGeom prst="roundRect">
            <a:avLst>
              <a:gd name="adj" fmla="val 3750"/>
            </a:avLst>
          </a:prstGeom>
          <a:solidFill>
            <a:schemeClr val="accent1"/>
          </a:solidFill>
          <a:ln/>
        </p:spPr>
        <p:txBody>
          <a:bodyPr wrap="square" lIns="1016" tIns="1016" rIns="1016" bIns="1016" rtlCol="0" anchor="ctr"/>
          <a:lstStyle/>
          <a:p>
            <a:pPr algn="ctr" indent="0" marL="0">
              <a:buNone/>
            </a:pPr>
            <a:r>
              <a:rPr lang="en-US" sz="1400" b="1" dirty="0">
                <a:solidFill>
                  <a:schemeClr val="tx1"/>
                </a:solidFill>
              </a:rPr>
              <a:t>Embedding NIM</a:t>
            </a:r>
            <a:endParaRPr lang="en-US" sz="1400" dirty="0"/>
          </a:p>
          <a:p>
            <a:pPr algn="ctr" indent="0" marL="0">
              <a:buNone/>
            </a:pPr>
            <a:r>
              <a:rPr lang="en-US" sz="1100" dirty="0">
                <a:solidFill>
                  <a:schemeClr val="tx1"/>
                </a:solidFill>
              </a:rPr>
              <a:t>Convert chunks to vectors</a:t>
            </a:r>
            <a:endParaRPr lang="en-US" sz="1400" dirty="0"/>
          </a:p>
        </p:txBody>
      </p:sp>
      <p:sp>
        <p:nvSpPr>
          <p:cNvPr id="9" name="Shape 7"/>
          <p:cNvSpPr/>
          <p:nvPr/>
        </p:nvSpPr>
        <p:spPr>
          <a:xfrm>
            <a:off x="5998464" y="2377440"/>
            <a:ext cx="164592" cy="914"/>
          </a:xfrm>
          <a:prstGeom prst="line">
            <a:avLst/>
          </a:prstGeom>
          <a:noFill/>
          <a:ln w="25400">
            <a:solidFill>
              <a:schemeClr val="accent2"/>
            </a:solidFill>
            <a:prstDash val="solid"/>
            <a:tailEnd type="triangle"/>
          </a:ln>
        </p:spPr>
      </p:sp>
      <p:sp>
        <p:nvSpPr>
          <p:cNvPr id="10" name="Text 8"/>
          <p:cNvSpPr/>
          <p:nvPr/>
        </p:nvSpPr>
        <p:spPr>
          <a:xfrm>
            <a:off x="6172200" y="1645920"/>
            <a:ext cx="1691640" cy="1463040"/>
          </a:xfrm>
          <a:prstGeom prst="roundRect">
            <a:avLst>
              <a:gd name="adj" fmla="val 3750"/>
            </a:avLst>
          </a:prstGeom>
          <a:solidFill>
            <a:schemeClr val="bg2"/>
          </a:solidFill>
          <a:ln/>
        </p:spPr>
        <p:txBody>
          <a:bodyPr wrap="square" lIns="1016" tIns="1016" rIns="1016" bIns="1016" rtlCol="0" anchor="ctr"/>
          <a:lstStyle/>
          <a:p>
            <a:pPr algn="ctr" indent="0" marL="0">
              <a:buNone/>
            </a:pPr>
            <a:r>
              <a:rPr lang="en-US" sz="1400" b="1" dirty="0">
                <a:solidFill>
                  <a:schemeClr val="tx1"/>
                </a:solidFill>
              </a:rPr>
              <a:t>Vector database</a:t>
            </a:r>
            <a:endParaRPr lang="en-US" sz="1400" dirty="0"/>
          </a:p>
          <a:p>
            <a:pPr algn="ctr" indent="0" marL="0">
              <a:buNone/>
            </a:pPr>
            <a:r>
              <a:rPr lang="en-US" sz="1100" dirty="0">
                <a:solidFill>
                  <a:schemeClr val="tx1"/>
                </a:solidFill>
              </a:rPr>
              <a:t>cuVS-accelerated search (Milvus, Elasticsearch...)</a:t>
            </a:r>
            <a:endParaRPr lang="en-US" sz="1400" dirty="0"/>
          </a:p>
        </p:txBody>
      </p:sp>
      <p:sp>
        <p:nvSpPr>
          <p:cNvPr id="11" name="Shape 9"/>
          <p:cNvSpPr/>
          <p:nvPr/>
        </p:nvSpPr>
        <p:spPr>
          <a:xfrm>
            <a:off x="7872984" y="2377440"/>
            <a:ext cx="164592" cy="914"/>
          </a:xfrm>
          <a:prstGeom prst="line">
            <a:avLst/>
          </a:prstGeom>
          <a:noFill/>
          <a:ln w="25400">
            <a:solidFill>
              <a:schemeClr val="accent2"/>
            </a:solidFill>
            <a:prstDash val="solid"/>
            <a:tailEnd type="triangle"/>
          </a:ln>
        </p:spPr>
      </p:sp>
      <p:sp>
        <p:nvSpPr>
          <p:cNvPr id="12" name="Text 10"/>
          <p:cNvSpPr/>
          <p:nvPr/>
        </p:nvSpPr>
        <p:spPr>
          <a:xfrm>
            <a:off x="8046720" y="1645920"/>
            <a:ext cx="1691640" cy="1463040"/>
          </a:xfrm>
          <a:prstGeom prst="roundRect">
            <a:avLst>
              <a:gd name="adj" fmla="val 3750"/>
            </a:avLst>
          </a:prstGeom>
          <a:solidFill>
            <a:schemeClr val="accent1"/>
          </a:solidFill>
          <a:ln/>
        </p:spPr>
        <p:txBody>
          <a:bodyPr wrap="square" lIns="1016" tIns="1016" rIns="1016" bIns="1016" rtlCol="0" anchor="ctr"/>
          <a:lstStyle/>
          <a:p>
            <a:pPr algn="ctr" indent="0" marL="0">
              <a:buNone/>
            </a:pPr>
            <a:r>
              <a:rPr lang="en-US" sz="1400" b="1" dirty="0">
                <a:solidFill>
                  <a:schemeClr val="tx1"/>
                </a:solidFill>
              </a:rPr>
              <a:t>Reranking NIM</a:t>
            </a:r>
            <a:endParaRPr lang="en-US" sz="1400" dirty="0"/>
          </a:p>
          <a:p>
            <a:pPr algn="ctr" indent="0" marL="0">
              <a:buNone/>
            </a:pPr>
            <a:r>
              <a:rPr lang="en-US" sz="1100" dirty="0">
                <a:solidFill>
                  <a:schemeClr val="tx1"/>
                </a:solidFill>
              </a:rPr>
              <a:t>Reorder top results for relevance</a:t>
            </a:r>
            <a:endParaRPr lang="en-US" sz="1400" dirty="0"/>
          </a:p>
        </p:txBody>
      </p:sp>
      <p:sp>
        <p:nvSpPr>
          <p:cNvPr id="13" name="Shape 11"/>
          <p:cNvSpPr/>
          <p:nvPr/>
        </p:nvSpPr>
        <p:spPr>
          <a:xfrm>
            <a:off x="9747504" y="2377440"/>
            <a:ext cx="164592" cy="914"/>
          </a:xfrm>
          <a:prstGeom prst="line">
            <a:avLst/>
          </a:prstGeom>
          <a:noFill/>
          <a:ln w="25400">
            <a:solidFill>
              <a:schemeClr val="accent2"/>
            </a:solidFill>
            <a:prstDash val="solid"/>
            <a:tailEnd type="triangle"/>
          </a:ln>
        </p:spPr>
      </p:sp>
      <p:sp>
        <p:nvSpPr>
          <p:cNvPr id="14" name="Text 12"/>
          <p:cNvSpPr/>
          <p:nvPr/>
        </p:nvSpPr>
        <p:spPr>
          <a:xfrm>
            <a:off x="9921240" y="1645920"/>
            <a:ext cx="1691640" cy="1463040"/>
          </a:xfrm>
          <a:prstGeom prst="roundRect">
            <a:avLst>
              <a:gd name="adj" fmla="val 3750"/>
            </a:avLst>
          </a:prstGeom>
          <a:solidFill>
            <a:schemeClr val="tx1"/>
          </a:solidFill>
          <a:ln/>
        </p:spPr>
        <p:txBody>
          <a:bodyPr wrap="square" lIns="1016" tIns="1016" rIns="1016" bIns="1016" rtlCol="0" anchor="ctr"/>
          <a:lstStyle/>
          <a:p>
            <a:pPr algn="ctr" indent="0" marL="0">
              <a:buNone/>
            </a:pPr>
            <a:r>
              <a:rPr lang="en-US" sz="1400" b="1" dirty="0">
                <a:solidFill>
                  <a:schemeClr val="bg1"/>
                </a:solidFill>
              </a:rPr>
              <a:t>LLM NIM + Guardrails</a:t>
            </a:r>
            <a:endParaRPr lang="en-US" sz="1400" dirty="0"/>
          </a:p>
          <a:p>
            <a:pPr algn="ctr" indent="0" marL="0">
              <a:buNone/>
            </a:pPr>
            <a:r>
              <a:rPr lang="en-US" sz="1100" dirty="0">
                <a:solidFill>
                  <a:schemeClr val="bg1"/>
                </a:solidFill>
              </a:rPr>
              <a:t>Answer with citations</a:t>
            </a:r>
            <a:endParaRPr lang="en-US" sz="1400" dirty="0"/>
          </a:p>
        </p:txBody>
      </p:sp>
      <p:sp>
        <p:nvSpPr>
          <p:cNvPr id="15" name="card"/>
          <p:cNvSpPr/>
          <p:nvPr/>
        </p:nvSpPr>
        <p:spPr>
          <a:xfrm>
            <a:off x="548640" y="3383280"/>
            <a:ext cx="3566160" cy="2788920"/>
          </a:xfrm>
          <a:prstGeom prst="roundRect">
            <a:avLst>
              <a:gd name="adj" fmla="val 2623"/>
            </a:avLst>
          </a:prstGeom>
          <a:solidFill>
            <a:schemeClr val="bg2"/>
          </a:solidFill>
          <a:ln/>
        </p:spPr>
      </p:sp>
      <p:sp>
        <p:nvSpPr>
          <p:cNvPr id="16" name="Shape 14"/>
          <p:cNvSpPr/>
          <p:nvPr/>
        </p:nvSpPr>
        <p:spPr>
          <a:xfrm>
            <a:off x="749808" y="3584448"/>
            <a:ext cx="548640" cy="548640"/>
          </a:xfrm>
          <a:prstGeom prst="ellipse">
            <a:avLst/>
          </a:prstGeom>
          <a:solidFill>
            <a:schemeClr val="accent1"/>
          </a:solidFill>
          <a:ln/>
        </p:spPr>
      </p:sp>
      <p:pic>
        <p:nvPicPr>
          <p:cNvPr id="17" name="Image 0" descr="preencoded.png">    </p:cNvPr>
          <p:cNvPicPr>
            <a:picLocks noChangeAspect="1"/>
          </p:cNvPicPr>
          <p:nvPr/>
        </p:nvPicPr>
        <p:blipFill>
          <a:blip r:embed="rId1"/>
          <a:stretch>
            <a:fillRect/>
          </a:stretch>
        </p:blipFill>
        <p:spPr>
          <a:xfrm>
            <a:off x="870509" y="3705149"/>
            <a:ext cx="307238" cy="307238"/>
          </a:xfrm>
          <a:prstGeom prst="rect">
            <a:avLst/>
          </a:prstGeom>
        </p:spPr>
      </p:pic>
      <p:sp>
        <p:nvSpPr>
          <p:cNvPr id="18" name="Text 15"/>
          <p:cNvSpPr txBox="1"/>
          <p:nvPr/>
        </p:nvSpPr>
        <p:spPr>
          <a:xfrm>
            <a:off x="1417320" y="3584448"/>
            <a:ext cx="2514600" cy="548640"/>
          </a:xfrm>
          <a:prstGeom prst="rect">
            <a:avLst/>
          </a:prstGeom>
          <a:noFill/>
          <a:ln/>
        </p:spPr>
        <p:txBody>
          <a:bodyPr wrap="square" lIns="0" tIns="0" rIns="0" bIns="0" rtlCol="0" anchor="ctr"/>
          <a:lstStyle/>
          <a:p>
            <a:pPr indent="0" marL="0">
              <a:buNone/>
            </a:pPr>
            <a:r>
              <a:rPr lang="en-US" sz="1700" b="1" dirty="0">
                <a:solidFill>
                  <a:schemeClr val="tx1"/>
                </a:solidFill>
              </a:rPr>
              <a:t>Why it matters</a:t>
            </a:r>
            <a:endParaRPr lang="en-US" sz="1700" dirty="0"/>
          </a:p>
        </p:txBody>
      </p:sp>
      <p:sp>
        <p:nvSpPr>
          <p:cNvPr id="19" name="Text 16"/>
          <p:cNvSpPr txBox="1"/>
          <p:nvPr/>
        </p:nvSpPr>
        <p:spPr>
          <a:xfrm>
            <a:off x="749808" y="4279392"/>
            <a:ext cx="3163824" cy="1755648"/>
          </a:xfrm>
          <a:prstGeom prst="rect">
            <a:avLst/>
          </a:prstGeom>
          <a:noFill/>
          <a:ln/>
        </p:spPr>
        <p:txBody>
          <a:bodyPr wrap="square" lIns="0" tIns="0" rIns="0" bIns="0" rtlCol="0" anchor="t"/>
          <a:lstStyle/>
          <a:p>
            <a:pPr indent="0" marL="0">
              <a:buNone/>
            </a:pPr>
            <a:r>
              <a:rPr lang="en-US" sz="1400" dirty="0">
                <a:solidFill>
                  <a:schemeClr val="tx2"/>
                </a:solidFill>
              </a:rPr>
              <a:t>Most enterprise knowledge lives in complex PDFs with tables and charts. Poor extraction or retrieval means wrong answers, however good the LLM.</a:t>
            </a:r>
            <a:endParaRPr lang="en-US" sz="1400" dirty="0"/>
          </a:p>
        </p:txBody>
      </p:sp>
      <p:sp>
        <p:nvSpPr>
          <p:cNvPr id="20" name="card"/>
          <p:cNvSpPr/>
          <p:nvPr/>
        </p:nvSpPr>
        <p:spPr>
          <a:xfrm>
            <a:off x="4297680" y="3383280"/>
            <a:ext cx="3566160" cy="2788920"/>
          </a:xfrm>
          <a:prstGeom prst="roundRect">
            <a:avLst>
              <a:gd name="adj" fmla="val 2623"/>
            </a:avLst>
          </a:prstGeom>
          <a:solidFill>
            <a:schemeClr val="bg2"/>
          </a:solidFill>
          <a:ln/>
        </p:spPr>
      </p:sp>
      <p:sp>
        <p:nvSpPr>
          <p:cNvPr id="21" name="Shape 18"/>
          <p:cNvSpPr/>
          <p:nvPr/>
        </p:nvSpPr>
        <p:spPr>
          <a:xfrm>
            <a:off x="4498848" y="3584448"/>
            <a:ext cx="548640" cy="548640"/>
          </a:xfrm>
          <a:prstGeom prst="ellipse">
            <a:avLst/>
          </a:prstGeom>
          <a:solidFill>
            <a:schemeClr val="accent1"/>
          </a:solidFill>
          <a:ln/>
        </p:spPr>
      </p:sp>
      <p:pic>
        <p:nvPicPr>
          <p:cNvPr id="22" name="Image 1" descr="preencoded.png">    </p:cNvPr>
          <p:cNvPicPr>
            <a:picLocks noChangeAspect="1"/>
          </p:cNvPicPr>
          <p:nvPr/>
        </p:nvPicPr>
        <p:blipFill>
          <a:blip r:embed="rId2"/>
          <a:stretch>
            <a:fillRect/>
          </a:stretch>
        </p:blipFill>
        <p:spPr>
          <a:xfrm>
            <a:off x="4619549" y="3705149"/>
            <a:ext cx="307238" cy="307238"/>
          </a:xfrm>
          <a:prstGeom prst="rect">
            <a:avLst/>
          </a:prstGeom>
        </p:spPr>
      </p:pic>
      <p:sp>
        <p:nvSpPr>
          <p:cNvPr id="23" name="Text 19"/>
          <p:cNvSpPr txBox="1"/>
          <p:nvPr/>
        </p:nvSpPr>
        <p:spPr>
          <a:xfrm>
            <a:off x="5166360" y="3584448"/>
            <a:ext cx="2514600" cy="548640"/>
          </a:xfrm>
          <a:prstGeom prst="rect">
            <a:avLst/>
          </a:prstGeom>
          <a:noFill/>
          <a:ln/>
        </p:spPr>
        <p:txBody>
          <a:bodyPr wrap="square" lIns="0" tIns="0" rIns="0" bIns="0" rtlCol="0" anchor="ctr"/>
          <a:lstStyle/>
          <a:p>
            <a:pPr indent="0" marL="0">
              <a:buNone/>
            </a:pPr>
            <a:r>
              <a:rPr lang="en-US" sz="1700" b="1" dirty="0">
                <a:solidFill>
                  <a:schemeClr val="tx1"/>
                </a:solidFill>
              </a:rPr>
              <a:t>Access control</a:t>
            </a:r>
            <a:endParaRPr lang="en-US" sz="1700" dirty="0"/>
          </a:p>
        </p:txBody>
      </p:sp>
      <p:sp>
        <p:nvSpPr>
          <p:cNvPr id="24" name="Text 20"/>
          <p:cNvSpPr txBox="1"/>
          <p:nvPr/>
        </p:nvSpPr>
        <p:spPr>
          <a:xfrm>
            <a:off x="4498848" y="4279392"/>
            <a:ext cx="3163824" cy="1755648"/>
          </a:xfrm>
          <a:prstGeom prst="rect">
            <a:avLst/>
          </a:prstGeom>
          <a:noFill/>
          <a:ln/>
        </p:spPr>
        <p:txBody>
          <a:bodyPr wrap="square" lIns="0" tIns="0" rIns="0" bIns="0" rtlCol="0" anchor="t"/>
          <a:lstStyle/>
          <a:p>
            <a:pPr indent="0" marL="0">
              <a:buNone/>
            </a:pPr>
            <a:r>
              <a:rPr lang="en-US" sz="1400" dirty="0">
                <a:solidFill>
                  <a:schemeClr val="tx2"/>
                </a:solidFill>
              </a:rPr>
              <a:t>Apply document permissions at retrieval time so users only get answers from content they are allowed to see.</a:t>
            </a:r>
            <a:endParaRPr lang="en-US" sz="1400" dirty="0"/>
          </a:p>
        </p:txBody>
      </p:sp>
      <p:sp>
        <p:nvSpPr>
          <p:cNvPr id="25" name="card"/>
          <p:cNvSpPr/>
          <p:nvPr/>
        </p:nvSpPr>
        <p:spPr>
          <a:xfrm>
            <a:off x="8046720" y="3383280"/>
            <a:ext cx="3566160" cy="2788920"/>
          </a:xfrm>
          <a:prstGeom prst="roundRect">
            <a:avLst>
              <a:gd name="adj" fmla="val 2623"/>
            </a:avLst>
          </a:prstGeom>
          <a:solidFill>
            <a:schemeClr val="bg2"/>
          </a:solidFill>
          <a:ln/>
        </p:spPr>
      </p:sp>
      <p:sp>
        <p:nvSpPr>
          <p:cNvPr id="26" name="Shape 22"/>
          <p:cNvSpPr/>
          <p:nvPr/>
        </p:nvSpPr>
        <p:spPr>
          <a:xfrm>
            <a:off x="8247888" y="3584448"/>
            <a:ext cx="548640" cy="548640"/>
          </a:xfrm>
          <a:prstGeom prst="ellipse">
            <a:avLst/>
          </a:prstGeom>
          <a:solidFill>
            <a:schemeClr val="accent1"/>
          </a:solidFill>
          <a:ln/>
        </p:spPr>
      </p:sp>
      <p:pic>
        <p:nvPicPr>
          <p:cNvPr id="27" name="Image 2" descr="preencoded.png">    </p:cNvPr>
          <p:cNvPicPr>
            <a:picLocks noChangeAspect="1"/>
          </p:cNvPicPr>
          <p:nvPr/>
        </p:nvPicPr>
        <p:blipFill>
          <a:blip r:embed="rId3"/>
          <a:stretch>
            <a:fillRect/>
          </a:stretch>
        </p:blipFill>
        <p:spPr>
          <a:xfrm>
            <a:off x="8368589" y="3705149"/>
            <a:ext cx="307238" cy="307238"/>
          </a:xfrm>
          <a:prstGeom prst="rect">
            <a:avLst/>
          </a:prstGeom>
        </p:spPr>
      </p:pic>
      <p:sp>
        <p:nvSpPr>
          <p:cNvPr id="28" name="Text 23"/>
          <p:cNvSpPr txBox="1"/>
          <p:nvPr/>
        </p:nvSpPr>
        <p:spPr>
          <a:xfrm>
            <a:off x="8915400" y="3584448"/>
            <a:ext cx="2514600" cy="548640"/>
          </a:xfrm>
          <a:prstGeom prst="rect">
            <a:avLst/>
          </a:prstGeom>
          <a:noFill/>
          <a:ln/>
        </p:spPr>
        <p:txBody>
          <a:bodyPr wrap="square" lIns="0" tIns="0" rIns="0" bIns="0" rtlCol="0" anchor="ctr"/>
          <a:lstStyle/>
          <a:p>
            <a:pPr indent="0" marL="0">
              <a:buNone/>
            </a:pPr>
            <a:r>
              <a:rPr lang="en-US" sz="1700" b="1" dirty="0">
                <a:solidFill>
                  <a:schemeClr val="tx1"/>
                </a:solidFill>
              </a:rPr>
              <a:t>Customize retrieval</a:t>
            </a:r>
            <a:endParaRPr lang="en-US" sz="1700" dirty="0"/>
          </a:p>
        </p:txBody>
      </p:sp>
      <p:sp>
        <p:nvSpPr>
          <p:cNvPr id="29" name="Text 24"/>
          <p:cNvSpPr txBox="1"/>
          <p:nvPr/>
        </p:nvSpPr>
        <p:spPr>
          <a:xfrm>
            <a:off x="8247888" y="4279392"/>
            <a:ext cx="3163824" cy="1755648"/>
          </a:xfrm>
          <a:prstGeom prst="rect">
            <a:avLst/>
          </a:prstGeom>
          <a:noFill/>
          <a:ln/>
        </p:spPr>
        <p:txBody>
          <a:bodyPr wrap="square" lIns="0" tIns="0" rIns="0" bIns="0" rtlCol="0" anchor="t"/>
          <a:lstStyle/>
          <a:p>
            <a:pPr indent="0" marL="0">
              <a:buNone/>
            </a:pPr>
            <a:r>
              <a:rPr lang="en-US" sz="1400" dirty="0">
                <a:solidFill>
                  <a:schemeClr val="tx2"/>
                </a:solidFill>
              </a:rPr>
              <a:t>Fine-tune embedding models on domain data with NeMo, and evaluate recall with NeMo Evaluator.</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000" b="1" dirty="0">
                <a:solidFill>
                  <a:schemeClr val="tx1"/>
                </a:solidFill>
              </a:rPr>
              <a:t>NeMo Agent Toolkit: building and observing agents</a:t>
            </a:r>
            <a:endParaRPr lang="en-US" sz="3000" dirty="0"/>
          </a:p>
        </p:txBody>
      </p:sp>
      <p:sp>
        <p:nvSpPr>
          <p:cNvPr id="3" name="Text 0"/>
          <p:cNvSpPr/>
          <p:nvPr>
            <p:ph idx="101" type="body" hasCustomPrompt="1"/>
          </p:nvPr>
        </p:nvSpPr>
        <p:spPr>
          <a:xfrm>
            <a:off x="548640" y="960120"/>
            <a:ext cx="11064240" cy="411480"/>
          </a:xfrm>
          <a:prstGeom prst="rect">
            <a:avLst/>
          </a:prstGeom>
          <a:noFill/>
          <a:ln/>
        </p:spPr>
        <p:txBody>
          <a:bodyPr wrap="square" lIns="0" tIns="0" rIns="0" bIns="0" rtlCol="0" anchor="t"/>
          <a:lstStyle/>
          <a:p>
            <a:pPr indent="0" marL="0">
              <a:buNone/>
            </a:pPr>
            <a:r>
              <a:rPr lang="en-US" sz="1600" dirty="0">
                <a:solidFill>
                  <a:schemeClr val="accent5"/>
                </a:solidFill>
              </a:rPr>
              <a:t>Framework-agnostic tooling to connect, profile, evaluate and optimize multi-agent systems</a:t>
            </a:r>
            <a:endParaRPr lang="en-US" sz="1600" dirty="0"/>
          </a:p>
        </p:txBody>
      </p:sp>
      <p:sp>
        <p:nvSpPr>
          <p:cNvPr id="4" name="card"/>
          <p:cNvSpPr/>
          <p:nvPr/>
        </p:nvSpPr>
        <p:spPr>
          <a:xfrm>
            <a:off x="548640" y="1600200"/>
            <a:ext cx="5440680" cy="2194560"/>
          </a:xfrm>
          <a:prstGeom prst="roundRect">
            <a:avLst>
              <a:gd name="adj" fmla="val 3333"/>
            </a:avLst>
          </a:prstGeom>
          <a:solidFill>
            <a:schemeClr val="bg2"/>
          </a:solidFill>
          <a:ln/>
        </p:spPr>
      </p:sp>
      <p:sp>
        <p:nvSpPr>
          <p:cNvPr id="5" name="Shape 3"/>
          <p:cNvSpPr/>
          <p:nvPr/>
        </p:nvSpPr>
        <p:spPr>
          <a:xfrm>
            <a:off x="749808" y="1801368"/>
            <a:ext cx="548640" cy="54864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870509" y="1922069"/>
            <a:ext cx="307238" cy="307238"/>
          </a:xfrm>
          <a:prstGeom prst="rect">
            <a:avLst/>
          </a:prstGeom>
        </p:spPr>
      </p:pic>
      <p:sp>
        <p:nvSpPr>
          <p:cNvPr id="7" name="Text 4"/>
          <p:cNvSpPr txBox="1"/>
          <p:nvPr/>
        </p:nvSpPr>
        <p:spPr>
          <a:xfrm>
            <a:off x="1417320" y="1801368"/>
            <a:ext cx="4389120" cy="548640"/>
          </a:xfrm>
          <a:prstGeom prst="rect">
            <a:avLst/>
          </a:prstGeom>
          <a:noFill/>
          <a:ln/>
        </p:spPr>
        <p:txBody>
          <a:bodyPr wrap="square" lIns="0" tIns="0" rIns="0" bIns="0" rtlCol="0" anchor="ctr"/>
          <a:lstStyle/>
          <a:p>
            <a:pPr indent="0" marL="0">
              <a:buNone/>
            </a:pPr>
            <a:r>
              <a:rPr lang="en-US" sz="1700" b="1" dirty="0">
                <a:solidFill>
                  <a:schemeClr val="tx1"/>
                </a:solidFill>
              </a:rPr>
              <a:t>Works with your framework</a:t>
            </a:r>
            <a:endParaRPr lang="en-US" sz="1700" dirty="0"/>
          </a:p>
        </p:txBody>
      </p:sp>
      <p:sp>
        <p:nvSpPr>
          <p:cNvPr id="8" name="Text 5"/>
          <p:cNvSpPr txBox="1"/>
          <p:nvPr/>
        </p:nvSpPr>
        <p:spPr>
          <a:xfrm>
            <a:off x="749808" y="2496312"/>
            <a:ext cx="5038344" cy="1161288"/>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2"/>
                </a:solidFill>
              </a:rPr>
              <a:t>LangChain / LangGraph, LlamaIndex, CrewAI, Semantic Kernel and custom code</a:t>
            </a:r>
            <a:endParaRPr lang="en-US" sz="1400" dirty="0"/>
          </a:p>
          <a:p>
            <a:pPr marL="342900" indent="-342900">
              <a:spcAft>
                <a:spcPts val="500"/>
              </a:spcAft>
              <a:buSzPct val="100000"/>
              <a:buChar char="•"/>
            </a:pPr>
            <a:r>
              <a:rPr lang="en-US" sz="1400" dirty="0">
                <a:solidFill>
                  <a:schemeClr val="tx2"/>
                </a:solidFill>
              </a:rPr>
              <a:t>Agents, tools and workflows described in YAML config</a:t>
            </a:r>
            <a:endParaRPr lang="en-US" sz="1400" dirty="0"/>
          </a:p>
        </p:txBody>
      </p:sp>
      <p:sp>
        <p:nvSpPr>
          <p:cNvPr id="9" name="card"/>
          <p:cNvSpPr/>
          <p:nvPr/>
        </p:nvSpPr>
        <p:spPr>
          <a:xfrm>
            <a:off x="6172200" y="1600200"/>
            <a:ext cx="5440680" cy="2194560"/>
          </a:xfrm>
          <a:prstGeom prst="roundRect">
            <a:avLst>
              <a:gd name="adj" fmla="val 3333"/>
            </a:avLst>
          </a:prstGeom>
          <a:solidFill>
            <a:schemeClr val="bg2"/>
          </a:solidFill>
          <a:ln/>
        </p:spPr>
      </p:sp>
      <p:sp>
        <p:nvSpPr>
          <p:cNvPr id="10" name="Shape 7"/>
          <p:cNvSpPr/>
          <p:nvPr/>
        </p:nvSpPr>
        <p:spPr>
          <a:xfrm>
            <a:off x="6373368" y="1801368"/>
            <a:ext cx="548640" cy="548640"/>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6494069" y="1922069"/>
            <a:ext cx="307238" cy="307238"/>
          </a:xfrm>
          <a:prstGeom prst="rect">
            <a:avLst/>
          </a:prstGeom>
        </p:spPr>
      </p:pic>
      <p:sp>
        <p:nvSpPr>
          <p:cNvPr id="12" name="Text 8"/>
          <p:cNvSpPr txBox="1"/>
          <p:nvPr/>
        </p:nvSpPr>
        <p:spPr>
          <a:xfrm>
            <a:off x="7040880" y="1801368"/>
            <a:ext cx="4389120" cy="548640"/>
          </a:xfrm>
          <a:prstGeom prst="rect">
            <a:avLst/>
          </a:prstGeom>
          <a:noFill/>
          <a:ln/>
        </p:spPr>
        <p:txBody>
          <a:bodyPr wrap="square" lIns="0" tIns="0" rIns="0" bIns="0" rtlCol="0" anchor="ctr"/>
          <a:lstStyle/>
          <a:p>
            <a:pPr indent="0" marL="0">
              <a:buNone/>
            </a:pPr>
            <a:r>
              <a:rPr lang="en-US" sz="1700" b="1" dirty="0">
                <a:solidFill>
                  <a:schemeClr val="tx1"/>
                </a:solidFill>
              </a:rPr>
              <a:t>Connect tools</a:t>
            </a:r>
            <a:endParaRPr lang="en-US" sz="1700" dirty="0"/>
          </a:p>
        </p:txBody>
      </p:sp>
      <p:sp>
        <p:nvSpPr>
          <p:cNvPr id="13" name="Text 9"/>
          <p:cNvSpPr txBox="1"/>
          <p:nvPr/>
        </p:nvSpPr>
        <p:spPr>
          <a:xfrm>
            <a:off x="6373368" y="2496312"/>
            <a:ext cx="5038344" cy="1161288"/>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2"/>
                </a:solidFill>
              </a:rPr>
              <a:t>Model Context Protocol (MCP) client and server support</a:t>
            </a:r>
            <a:endParaRPr lang="en-US" sz="1400" dirty="0"/>
          </a:p>
          <a:p>
            <a:pPr marL="342900" indent="-342900">
              <a:spcAft>
                <a:spcPts val="500"/>
              </a:spcAft>
              <a:buSzPct val="100000"/>
              <a:buChar char="•"/>
            </a:pPr>
            <a:r>
              <a:rPr lang="en-US" sz="1400" dirty="0">
                <a:solidFill>
                  <a:schemeClr val="tx2"/>
                </a:solidFill>
              </a:rPr>
              <a:t>Reusable tools and agents shared across teams</a:t>
            </a:r>
            <a:endParaRPr lang="en-US" sz="1400" dirty="0"/>
          </a:p>
        </p:txBody>
      </p:sp>
      <p:sp>
        <p:nvSpPr>
          <p:cNvPr id="14" name="card"/>
          <p:cNvSpPr/>
          <p:nvPr/>
        </p:nvSpPr>
        <p:spPr>
          <a:xfrm>
            <a:off x="548640" y="3931920"/>
            <a:ext cx="5440680" cy="2194560"/>
          </a:xfrm>
          <a:prstGeom prst="roundRect">
            <a:avLst>
              <a:gd name="adj" fmla="val 3333"/>
            </a:avLst>
          </a:prstGeom>
          <a:solidFill>
            <a:schemeClr val="bg2"/>
          </a:solidFill>
          <a:ln/>
        </p:spPr>
      </p:sp>
      <p:sp>
        <p:nvSpPr>
          <p:cNvPr id="15" name="Shape 11"/>
          <p:cNvSpPr/>
          <p:nvPr/>
        </p:nvSpPr>
        <p:spPr>
          <a:xfrm>
            <a:off x="749808" y="4133088"/>
            <a:ext cx="548640" cy="548640"/>
          </a:xfrm>
          <a:prstGeom prst="ellipse">
            <a:avLst/>
          </a:prstGeom>
          <a:solidFill>
            <a:schemeClr val="accent1"/>
          </a:solidFill>
          <a:ln/>
        </p:spPr>
      </p:sp>
      <p:pic>
        <p:nvPicPr>
          <p:cNvPr id="16" name="Image 2" descr="preencoded.png">    </p:cNvPr>
          <p:cNvPicPr>
            <a:picLocks noChangeAspect="1"/>
          </p:cNvPicPr>
          <p:nvPr/>
        </p:nvPicPr>
        <p:blipFill>
          <a:blip r:embed="rId3"/>
          <a:stretch>
            <a:fillRect/>
          </a:stretch>
        </p:blipFill>
        <p:spPr>
          <a:xfrm>
            <a:off x="870509" y="4253789"/>
            <a:ext cx="307238" cy="307238"/>
          </a:xfrm>
          <a:prstGeom prst="rect">
            <a:avLst/>
          </a:prstGeom>
        </p:spPr>
      </p:pic>
      <p:sp>
        <p:nvSpPr>
          <p:cNvPr id="17" name="Text 12"/>
          <p:cNvSpPr txBox="1"/>
          <p:nvPr/>
        </p:nvSpPr>
        <p:spPr>
          <a:xfrm>
            <a:off x="1417320" y="4133088"/>
            <a:ext cx="4389120" cy="548640"/>
          </a:xfrm>
          <a:prstGeom prst="rect">
            <a:avLst/>
          </a:prstGeom>
          <a:noFill/>
          <a:ln/>
        </p:spPr>
        <p:txBody>
          <a:bodyPr wrap="square" lIns="0" tIns="0" rIns="0" bIns="0" rtlCol="0" anchor="ctr"/>
          <a:lstStyle/>
          <a:p>
            <a:pPr indent="0" marL="0">
              <a:buNone/>
            </a:pPr>
            <a:r>
              <a:rPr lang="en-US" sz="1700" b="1" dirty="0">
                <a:solidFill>
                  <a:schemeClr val="tx1"/>
                </a:solidFill>
              </a:rPr>
              <a:t>Profile and observe</a:t>
            </a:r>
            <a:endParaRPr lang="en-US" sz="1700" dirty="0"/>
          </a:p>
        </p:txBody>
      </p:sp>
      <p:sp>
        <p:nvSpPr>
          <p:cNvPr id="18" name="Text 13"/>
          <p:cNvSpPr txBox="1"/>
          <p:nvPr/>
        </p:nvSpPr>
        <p:spPr>
          <a:xfrm>
            <a:off x="749808" y="4828032"/>
            <a:ext cx="5038344" cy="1161288"/>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2"/>
                </a:solidFill>
              </a:rPr>
              <a:t>Trace every LLM and tool call: tokens, latency, cost</a:t>
            </a:r>
            <a:endParaRPr lang="en-US" sz="1400" dirty="0"/>
          </a:p>
          <a:p>
            <a:pPr marL="342900" indent="-342900">
              <a:spcAft>
                <a:spcPts val="500"/>
              </a:spcAft>
              <a:buSzPct val="100000"/>
              <a:buChar char="•"/>
            </a:pPr>
            <a:r>
              <a:rPr lang="en-US" sz="1400" dirty="0">
                <a:solidFill>
                  <a:schemeClr val="tx2"/>
                </a:solidFill>
              </a:rPr>
              <a:t>Export to OpenTelemetry tools (Phoenix, Langfuse, W&amp;B...)</a:t>
            </a:r>
            <a:endParaRPr lang="en-US" sz="1400" dirty="0"/>
          </a:p>
        </p:txBody>
      </p:sp>
      <p:sp>
        <p:nvSpPr>
          <p:cNvPr id="19" name="card"/>
          <p:cNvSpPr/>
          <p:nvPr/>
        </p:nvSpPr>
        <p:spPr>
          <a:xfrm>
            <a:off x="6172200" y="3931920"/>
            <a:ext cx="5440680" cy="2194560"/>
          </a:xfrm>
          <a:prstGeom prst="roundRect">
            <a:avLst>
              <a:gd name="adj" fmla="val 3333"/>
            </a:avLst>
          </a:prstGeom>
          <a:solidFill>
            <a:schemeClr val="bg2"/>
          </a:solidFill>
          <a:ln/>
        </p:spPr>
      </p:sp>
      <p:sp>
        <p:nvSpPr>
          <p:cNvPr id="20" name="Shape 15"/>
          <p:cNvSpPr/>
          <p:nvPr/>
        </p:nvSpPr>
        <p:spPr>
          <a:xfrm>
            <a:off x="6373368" y="4133088"/>
            <a:ext cx="548640" cy="548640"/>
          </a:xfrm>
          <a:prstGeom prst="ellipse">
            <a:avLst/>
          </a:prstGeom>
          <a:solidFill>
            <a:schemeClr val="accent1"/>
          </a:solidFill>
          <a:ln/>
        </p:spPr>
      </p:sp>
      <p:pic>
        <p:nvPicPr>
          <p:cNvPr id="21" name="Image 3" descr="preencoded.png">    </p:cNvPr>
          <p:cNvPicPr>
            <a:picLocks noChangeAspect="1"/>
          </p:cNvPicPr>
          <p:nvPr/>
        </p:nvPicPr>
        <p:blipFill>
          <a:blip r:embed="rId4"/>
          <a:stretch>
            <a:fillRect/>
          </a:stretch>
        </p:blipFill>
        <p:spPr>
          <a:xfrm>
            <a:off x="6494069" y="4253789"/>
            <a:ext cx="307238" cy="307238"/>
          </a:xfrm>
          <a:prstGeom prst="rect">
            <a:avLst/>
          </a:prstGeom>
        </p:spPr>
      </p:pic>
      <p:sp>
        <p:nvSpPr>
          <p:cNvPr id="22" name="Text 16"/>
          <p:cNvSpPr txBox="1"/>
          <p:nvPr/>
        </p:nvSpPr>
        <p:spPr>
          <a:xfrm>
            <a:off x="7040880" y="4133088"/>
            <a:ext cx="4389120" cy="548640"/>
          </a:xfrm>
          <a:prstGeom prst="rect">
            <a:avLst/>
          </a:prstGeom>
          <a:noFill/>
          <a:ln/>
        </p:spPr>
        <p:txBody>
          <a:bodyPr wrap="square" lIns="0" tIns="0" rIns="0" bIns="0" rtlCol="0" anchor="ctr"/>
          <a:lstStyle/>
          <a:p>
            <a:pPr indent="0" marL="0">
              <a:buNone/>
            </a:pPr>
            <a:r>
              <a:rPr lang="en-US" sz="1700" b="1" dirty="0">
                <a:solidFill>
                  <a:schemeClr val="tx1"/>
                </a:solidFill>
              </a:rPr>
              <a:t>Evaluate and improve</a:t>
            </a:r>
            <a:endParaRPr lang="en-US" sz="1700" dirty="0"/>
          </a:p>
        </p:txBody>
      </p:sp>
      <p:sp>
        <p:nvSpPr>
          <p:cNvPr id="23" name="Text 17"/>
          <p:cNvSpPr txBox="1"/>
          <p:nvPr/>
        </p:nvSpPr>
        <p:spPr>
          <a:xfrm>
            <a:off x="6373368" y="4828032"/>
            <a:ext cx="5038344" cy="1161288"/>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2"/>
                </a:solidFill>
              </a:rPr>
              <a:t>Built-in workflow evaluation and RAG metrics</a:t>
            </a:r>
            <a:endParaRPr lang="en-US" sz="1400" dirty="0"/>
          </a:p>
          <a:p>
            <a:pPr marL="342900" indent="-342900">
              <a:spcAft>
                <a:spcPts val="500"/>
              </a:spcAft>
              <a:buSzPct val="100000"/>
              <a:buChar char="•"/>
            </a:pPr>
            <a:r>
              <a:rPr lang="en-US" sz="1400" dirty="0">
                <a:solidFill>
                  <a:schemeClr val="tx2"/>
                </a:solidFill>
              </a:rPr>
              <a:t>Feeds the data flywheel with real traces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000" b="1" dirty="0">
                <a:solidFill>
                  <a:schemeClr val="tx1"/>
                </a:solidFill>
              </a:rPr>
              <a:t>Deploying customized models with NVIDIA NIM</a:t>
            </a:r>
            <a:endParaRPr lang="en-US" sz="3000" dirty="0"/>
          </a:p>
        </p:txBody>
      </p:sp>
      <p:sp>
        <p:nvSpPr>
          <p:cNvPr id="3" name="Text 0"/>
          <p:cNvSpPr/>
          <p:nvPr>
            <p:ph idx="101" type="body" hasCustomPrompt="1"/>
          </p:nvPr>
        </p:nvSpPr>
        <p:spPr>
          <a:xfrm>
            <a:off x="548640" y="960120"/>
            <a:ext cx="11064240" cy="411480"/>
          </a:xfrm>
          <a:prstGeom prst="rect">
            <a:avLst/>
          </a:prstGeom>
          <a:noFill/>
          <a:ln/>
        </p:spPr>
        <p:txBody>
          <a:bodyPr wrap="square" lIns="0" tIns="0" rIns="0" bIns="0" rtlCol="0" anchor="t"/>
          <a:lstStyle/>
          <a:p>
            <a:pPr indent="0" marL="0">
              <a:buNone/>
            </a:pPr>
            <a:r>
              <a:rPr lang="en-US" sz="1600" dirty="0">
                <a:solidFill>
                  <a:schemeClr val="accent5"/>
                </a:solidFill>
              </a:rPr>
              <a:t>NeMo builds the model; NIM serves it in production</a:t>
            </a:r>
            <a:endParaRPr lang="en-US" sz="1600" dirty="0"/>
          </a:p>
        </p:txBody>
      </p:sp>
      <p:sp>
        <p:nvSpPr>
          <p:cNvPr id="4" name="Text 2"/>
          <p:cNvSpPr/>
          <p:nvPr/>
        </p:nvSpPr>
        <p:spPr>
          <a:xfrm>
            <a:off x="548640" y="1645920"/>
            <a:ext cx="2560320" cy="1005840"/>
          </a:xfrm>
          <a:prstGeom prst="roundRect">
            <a:avLst>
              <a:gd name="adj" fmla="val 4545"/>
            </a:avLst>
          </a:prstGeom>
          <a:solidFill>
            <a:schemeClr val="bg2"/>
          </a:solidFill>
          <a:ln/>
        </p:spPr>
        <p:txBody>
          <a:bodyPr wrap="square" lIns="381" tIns="381" rIns="381" bIns="381" rtlCol="0" anchor="ctr"/>
          <a:lstStyle/>
          <a:p>
            <a:pPr algn="ctr" indent="0" marL="0">
              <a:buNone/>
            </a:pPr>
            <a:r>
              <a:rPr lang="en-US" sz="1400" b="1" dirty="0">
                <a:solidFill>
                  <a:schemeClr val="tx1"/>
                </a:solidFill>
              </a:rPr>
              <a:t>NeMo checkpoint or LoRA adapter</a:t>
            </a:r>
            <a:endParaRPr lang="en-US" sz="1400" dirty="0"/>
          </a:p>
        </p:txBody>
      </p:sp>
      <p:sp>
        <p:nvSpPr>
          <p:cNvPr id="5" name="Shape 3"/>
          <p:cNvSpPr/>
          <p:nvPr/>
        </p:nvSpPr>
        <p:spPr>
          <a:xfrm>
            <a:off x="3127248" y="2148840"/>
            <a:ext cx="237744" cy="914"/>
          </a:xfrm>
          <a:prstGeom prst="line">
            <a:avLst/>
          </a:prstGeom>
          <a:noFill/>
          <a:ln w="25400">
            <a:solidFill>
              <a:schemeClr val="accent2"/>
            </a:solidFill>
            <a:prstDash val="solid"/>
            <a:tailEnd type="triangle"/>
          </a:ln>
        </p:spPr>
      </p:sp>
      <p:sp>
        <p:nvSpPr>
          <p:cNvPr id="6" name="Text 4"/>
          <p:cNvSpPr/>
          <p:nvPr/>
        </p:nvSpPr>
        <p:spPr>
          <a:xfrm>
            <a:off x="3383280" y="1645920"/>
            <a:ext cx="2560320" cy="1005840"/>
          </a:xfrm>
          <a:prstGeom prst="roundRect">
            <a:avLst>
              <a:gd name="adj" fmla="val 4545"/>
            </a:avLst>
          </a:prstGeom>
          <a:solidFill>
            <a:schemeClr val="accent1"/>
          </a:solidFill>
          <a:ln/>
        </p:spPr>
        <p:txBody>
          <a:bodyPr wrap="square" lIns="381" tIns="381" rIns="381" bIns="381" rtlCol="0" anchor="ctr"/>
          <a:lstStyle/>
          <a:p>
            <a:pPr algn="ctr" indent="0" marL="0">
              <a:buNone/>
            </a:pPr>
            <a:r>
              <a:rPr lang="en-US" sz="1400" b="1" dirty="0">
                <a:solidFill>
                  <a:schemeClr val="tx1"/>
                </a:solidFill>
              </a:rPr>
              <a:t>Optimized engine: TensorRT-LLM, vLLM or SGLang</a:t>
            </a:r>
            <a:endParaRPr lang="en-US" sz="1400" dirty="0"/>
          </a:p>
        </p:txBody>
      </p:sp>
      <p:sp>
        <p:nvSpPr>
          <p:cNvPr id="7" name="Shape 5"/>
          <p:cNvSpPr/>
          <p:nvPr/>
        </p:nvSpPr>
        <p:spPr>
          <a:xfrm>
            <a:off x="5961888" y="2148840"/>
            <a:ext cx="237744" cy="914"/>
          </a:xfrm>
          <a:prstGeom prst="line">
            <a:avLst/>
          </a:prstGeom>
          <a:noFill/>
          <a:ln w="25400">
            <a:solidFill>
              <a:schemeClr val="accent2"/>
            </a:solidFill>
            <a:prstDash val="solid"/>
            <a:tailEnd type="triangle"/>
          </a:ln>
        </p:spPr>
      </p:sp>
      <p:sp>
        <p:nvSpPr>
          <p:cNvPr id="8" name="Text 6"/>
          <p:cNvSpPr/>
          <p:nvPr/>
        </p:nvSpPr>
        <p:spPr>
          <a:xfrm>
            <a:off x="6217920" y="1645920"/>
            <a:ext cx="2560320" cy="1005840"/>
          </a:xfrm>
          <a:prstGeom prst="roundRect">
            <a:avLst>
              <a:gd name="adj" fmla="val 4545"/>
            </a:avLst>
          </a:prstGeom>
          <a:solidFill>
            <a:schemeClr val="tx1"/>
          </a:solidFill>
          <a:ln/>
        </p:spPr>
        <p:txBody>
          <a:bodyPr wrap="square" lIns="381" tIns="381" rIns="381" bIns="381" rtlCol="0" anchor="ctr"/>
          <a:lstStyle/>
          <a:p>
            <a:pPr algn="ctr" indent="0" marL="0">
              <a:buNone/>
            </a:pPr>
            <a:r>
              <a:rPr lang="en-US" sz="1400" b="1" dirty="0">
                <a:solidFill>
                  <a:schemeClr val="bg1"/>
                </a:solidFill>
              </a:rPr>
              <a:t>NIM container: OpenAI-compatible API</a:t>
            </a:r>
            <a:endParaRPr lang="en-US" sz="1400" dirty="0"/>
          </a:p>
        </p:txBody>
      </p:sp>
      <p:sp>
        <p:nvSpPr>
          <p:cNvPr id="9" name="Shape 7"/>
          <p:cNvSpPr/>
          <p:nvPr/>
        </p:nvSpPr>
        <p:spPr>
          <a:xfrm>
            <a:off x="8796528" y="2148840"/>
            <a:ext cx="237744" cy="914"/>
          </a:xfrm>
          <a:prstGeom prst="line">
            <a:avLst/>
          </a:prstGeom>
          <a:noFill/>
          <a:ln w="25400">
            <a:solidFill>
              <a:schemeClr val="accent2"/>
            </a:solidFill>
            <a:prstDash val="solid"/>
            <a:tailEnd type="triangle"/>
          </a:ln>
        </p:spPr>
      </p:sp>
      <p:sp>
        <p:nvSpPr>
          <p:cNvPr id="10" name="Text 8"/>
          <p:cNvSpPr/>
          <p:nvPr/>
        </p:nvSpPr>
        <p:spPr>
          <a:xfrm>
            <a:off x="9052560" y="1645920"/>
            <a:ext cx="2560320" cy="1005840"/>
          </a:xfrm>
          <a:prstGeom prst="roundRect">
            <a:avLst>
              <a:gd name="adj" fmla="val 4545"/>
            </a:avLst>
          </a:prstGeom>
          <a:solidFill>
            <a:schemeClr val="bg2"/>
          </a:solidFill>
          <a:ln/>
        </p:spPr>
        <p:txBody>
          <a:bodyPr wrap="square" lIns="381" tIns="381" rIns="381" bIns="381" rtlCol="0" anchor="ctr"/>
          <a:lstStyle/>
          <a:p>
            <a:pPr algn="ctr" indent="0" marL="0">
              <a:buNone/>
            </a:pPr>
            <a:r>
              <a:rPr lang="en-US" sz="1400" b="1" dirty="0">
                <a:solidFill>
                  <a:schemeClr val="tx1"/>
                </a:solidFill>
              </a:rPr>
              <a:t>Kubernetes: autoscale, monitor, secure</a:t>
            </a:r>
            <a:endParaRPr lang="en-US" sz="1400" dirty="0"/>
          </a:p>
        </p:txBody>
      </p:sp>
      <p:sp>
        <p:nvSpPr>
          <p:cNvPr id="11" name="card"/>
          <p:cNvSpPr/>
          <p:nvPr/>
        </p:nvSpPr>
        <p:spPr>
          <a:xfrm>
            <a:off x="548640" y="2880360"/>
            <a:ext cx="5440680" cy="1554480"/>
          </a:xfrm>
          <a:prstGeom prst="roundRect">
            <a:avLst>
              <a:gd name="adj" fmla="val 4706"/>
            </a:avLst>
          </a:prstGeom>
          <a:solidFill>
            <a:schemeClr val="bg2"/>
          </a:solidFill>
          <a:ln/>
        </p:spPr>
      </p:sp>
      <p:sp>
        <p:nvSpPr>
          <p:cNvPr id="12" name="Shape 10"/>
          <p:cNvSpPr/>
          <p:nvPr/>
        </p:nvSpPr>
        <p:spPr>
          <a:xfrm>
            <a:off x="749808" y="3081528"/>
            <a:ext cx="548640" cy="548640"/>
          </a:xfrm>
          <a:prstGeom prst="ellipse">
            <a:avLst/>
          </a:prstGeom>
          <a:solidFill>
            <a:schemeClr val="accent1"/>
          </a:solidFill>
          <a:ln/>
        </p:spPr>
      </p:sp>
      <p:pic>
        <p:nvPicPr>
          <p:cNvPr id="13" name="Image 0" descr="preencoded.png">    </p:cNvPr>
          <p:cNvPicPr>
            <a:picLocks noChangeAspect="1"/>
          </p:cNvPicPr>
          <p:nvPr/>
        </p:nvPicPr>
        <p:blipFill>
          <a:blip r:embed="rId1"/>
          <a:stretch>
            <a:fillRect/>
          </a:stretch>
        </p:blipFill>
        <p:spPr>
          <a:xfrm>
            <a:off x="870509" y="3202229"/>
            <a:ext cx="307238" cy="307238"/>
          </a:xfrm>
          <a:prstGeom prst="rect">
            <a:avLst/>
          </a:prstGeom>
        </p:spPr>
      </p:pic>
      <p:sp>
        <p:nvSpPr>
          <p:cNvPr id="14" name="Text 11"/>
          <p:cNvSpPr txBox="1"/>
          <p:nvPr/>
        </p:nvSpPr>
        <p:spPr>
          <a:xfrm>
            <a:off x="1417320" y="3081528"/>
            <a:ext cx="4389120" cy="548640"/>
          </a:xfrm>
          <a:prstGeom prst="rect">
            <a:avLst/>
          </a:prstGeom>
          <a:noFill/>
          <a:ln/>
        </p:spPr>
        <p:txBody>
          <a:bodyPr wrap="square" lIns="0" tIns="0" rIns="0" bIns="0" rtlCol="0" anchor="ctr"/>
          <a:lstStyle/>
          <a:p>
            <a:pPr indent="0" marL="0">
              <a:buNone/>
            </a:pPr>
            <a:r>
              <a:rPr lang="en-US" sz="1600" b="1" dirty="0">
                <a:solidFill>
                  <a:schemeClr val="tx1"/>
                </a:solidFill>
              </a:rPr>
              <a:t>Optimized out of the box</a:t>
            </a:r>
            <a:endParaRPr lang="en-US" sz="1600" dirty="0"/>
          </a:p>
        </p:txBody>
      </p:sp>
      <p:sp>
        <p:nvSpPr>
          <p:cNvPr id="15" name="Text 12"/>
          <p:cNvSpPr txBox="1"/>
          <p:nvPr/>
        </p:nvSpPr>
        <p:spPr>
          <a:xfrm>
            <a:off x="749808" y="3776472"/>
            <a:ext cx="5038344" cy="521208"/>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2"/>
                </a:solidFill>
              </a:rPr>
              <a:t>Picks the best engine and profile for the GPU</a:t>
            </a:r>
            <a:endParaRPr lang="en-US" sz="1300" dirty="0"/>
          </a:p>
          <a:p>
            <a:pPr marL="342900" indent="-342900">
              <a:spcAft>
                <a:spcPts val="500"/>
              </a:spcAft>
              <a:buSzPct val="100000"/>
              <a:buChar char="•"/>
            </a:pPr>
            <a:r>
              <a:rPr lang="en-US" sz="1300" dirty="0">
                <a:solidFill>
                  <a:schemeClr val="tx2"/>
                </a:solidFill>
              </a:rPr>
              <a:t>Continuous batching, paged KV cache, FP8</a:t>
            </a:r>
            <a:endParaRPr lang="en-US" sz="1300" dirty="0"/>
          </a:p>
        </p:txBody>
      </p:sp>
      <p:sp>
        <p:nvSpPr>
          <p:cNvPr id="16" name="card"/>
          <p:cNvSpPr/>
          <p:nvPr/>
        </p:nvSpPr>
        <p:spPr>
          <a:xfrm>
            <a:off x="6172200" y="2880360"/>
            <a:ext cx="5440680" cy="1554480"/>
          </a:xfrm>
          <a:prstGeom prst="roundRect">
            <a:avLst>
              <a:gd name="adj" fmla="val 4706"/>
            </a:avLst>
          </a:prstGeom>
          <a:solidFill>
            <a:schemeClr val="bg2"/>
          </a:solidFill>
          <a:ln/>
        </p:spPr>
      </p:sp>
      <p:sp>
        <p:nvSpPr>
          <p:cNvPr id="17" name="Shape 14"/>
          <p:cNvSpPr/>
          <p:nvPr/>
        </p:nvSpPr>
        <p:spPr>
          <a:xfrm>
            <a:off x="6373368" y="3081528"/>
            <a:ext cx="548640" cy="548640"/>
          </a:xfrm>
          <a:prstGeom prst="ellipse">
            <a:avLst/>
          </a:prstGeom>
          <a:solidFill>
            <a:schemeClr val="accent1"/>
          </a:solidFill>
          <a:ln/>
        </p:spPr>
      </p:sp>
      <p:pic>
        <p:nvPicPr>
          <p:cNvPr id="18" name="Image 1" descr="preencoded.png">    </p:cNvPr>
          <p:cNvPicPr>
            <a:picLocks noChangeAspect="1"/>
          </p:cNvPicPr>
          <p:nvPr/>
        </p:nvPicPr>
        <p:blipFill>
          <a:blip r:embed="rId2"/>
          <a:stretch>
            <a:fillRect/>
          </a:stretch>
        </p:blipFill>
        <p:spPr>
          <a:xfrm>
            <a:off x="6494069" y="3202229"/>
            <a:ext cx="307238" cy="307238"/>
          </a:xfrm>
          <a:prstGeom prst="rect">
            <a:avLst/>
          </a:prstGeom>
        </p:spPr>
      </p:pic>
      <p:sp>
        <p:nvSpPr>
          <p:cNvPr id="19" name="Text 15"/>
          <p:cNvSpPr txBox="1"/>
          <p:nvPr/>
        </p:nvSpPr>
        <p:spPr>
          <a:xfrm>
            <a:off x="7040880" y="3081528"/>
            <a:ext cx="4389120" cy="548640"/>
          </a:xfrm>
          <a:prstGeom prst="rect">
            <a:avLst/>
          </a:prstGeom>
          <a:noFill/>
          <a:ln/>
        </p:spPr>
        <p:txBody>
          <a:bodyPr wrap="square" lIns="0" tIns="0" rIns="0" bIns="0" rtlCol="0" anchor="ctr"/>
          <a:lstStyle/>
          <a:p>
            <a:pPr indent="0" marL="0">
              <a:buNone/>
            </a:pPr>
            <a:r>
              <a:rPr lang="en-US" sz="1600" b="1" dirty="0">
                <a:solidFill>
                  <a:schemeClr val="tx1"/>
                </a:solidFill>
              </a:rPr>
              <a:t>Multi-LoRA serving</a:t>
            </a:r>
            <a:endParaRPr lang="en-US" sz="1600" dirty="0"/>
          </a:p>
        </p:txBody>
      </p:sp>
      <p:sp>
        <p:nvSpPr>
          <p:cNvPr id="20" name="Text 16"/>
          <p:cNvSpPr txBox="1"/>
          <p:nvPr/>
        </p:nvSpPr>
        <p:spPr>
          <a:xfrm>
            <a:off x="6373368" y="3776472"/>
            <a:ext cx="5038344" cy="521208"/>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2"/>
                </a:solidFill>
              </a:rPr>
              <a:t>One base model, many adapters loaded on demand</a:t>
            </a:r>
            <a:endParaRPr lang="en-US" sz="1300" dirty="0"/>
          </a:p>
          <a:p>
            <a:pPr marL="342900" indent="-342900">
              <a:spcAft>
                <a:spcPts val="500"/>
              </a:spcAft>
              <a:buSzPct val="100000"/>
              <a:buChar char="•"/>
            </a:pPr>
            <a:r>
              <a:rPr lang="en-US" sz="1300" dirty="0">
                <a:solidFill>
                  <a:schemeClr val="tx2"/>
                </a:solidFill>
              </a:rPr>
              <a:t>Each team or customer gets its own tuned behavior</a:t>
            </a:r>
            <a:endParaRPr lang="en-US" sz="1300" dirty="0"/>
          </a:p>
        </p:txBody>
      </p:sp>
      <p:sp>
        <p:nvSpPr>
          <p:cNvPr id="21" name="card"/>
          <p:cNvSpPr/>
          <p:nvPr/>
        </p:nvSpPr>
        <p:spPr>
          <a:xfrm>
            <a:off x="548640" y="4572000"/>
            <a:ext cx="5440680" cy="1554480"/>
          </a:xfrm>
          <a:prstGeom prst="roundRect">
            <a:avLst>
              <a:gd name="adj" fmla="val 4706"/>
            </a:avLst>
          </a:prstGeom>
          <a:solidFill>
            <a:schemeClr val="bg2"/>
          </a:solidFill>
          <a:ln/>
        </p:spPr>
      </p:sp>
      <p:sp>
        <p:nvSpPr>
          <p:cNvPr id="22" name="Shape 18"/>
          <p:cNvSpPr/>
          <p:nvPr/>
        </p:nvSpPr>
        <p:spPr>
          <a:xfrm>
            <a:off x="749808" y="4773168"/>
            <a:ext cx="548640" cy="548640"/>
          </a:xfrm>
          <a:prstGeom prst="ellipse">
            <a:avLst/>
          </a:prstGeom>
          <a:solidFill>
            <a:schemeClr val="accent1"/>
          </a:solidFill>
          <a:ln/>
        </p:spPr>
      </p:sp>
      <p:pic>
        <p:nvPicPr>
          <p:cNvPr id="23" name="Image 2" descr="preencoded.png">    </p:cNvPr>
          <p:cNvPicPr>
            <a:picLocks noChangeAspect="1"/>
          </p:cNvPicPr>
          <p:nvPr/>
        </p:nvPicPr>
        <p:blipFill>
          <a:blip r:embed="rId3"/>
          <a:stretch>
            <a:fillRect/>
          </a:stretch>
        </p:blipFill>
        <p:spPr>
          <a:xfrm>
            <a:off x="870509" y="4893869"/>
            <a:ext cx="307238" cy="307238"/>
          </a:xfrm>
          <a:prstGeom prst="rect">
            <a:avLst/>
          </a:prstGeom>
        </p:spPr>
      </p:pic>
      <p:sp>
        <p:nvSpPr>
          <p:cNvPr id="24" name="Text 19"/>
          <p:cNvSpPr txBox="1"/>
          <p:nvPr/>
        </p:nvSpPr>
        <p:spPr>
          <a:xfrm>
            <a:off x="1417320" y="4773168"/>
            <a:ext cx="4389120" cy="548640"/>
          </a:xfrm>
          <a:prstGeom prst="rect">
            <a:avLst/>
          </a:prstGeom>
          <a:noFill/>
          <a:ln/>
        </p:spPr>
        <p:txBody>
          <a:bodyPr wrap="square" lIns="0" tIns="0" rIns="0" bIns="0" rtlCol="0" anchor="ctr"/>
          <a:lstStyle/>
          <a:p>
            <a:pPr indent="0" marL="0">
              <a:buNone/>
            </a:pPr>
            <a:r>
              <a:rPr lang="en-US" sz="1600" b="1" dirty="0">
                <a:solidFill>
                  <a:schemeClr val="tx1"/>
                </a:solidFill>
              </a:rPr>
              <a:t>Standard APIs</a:t>
            </a:r>
            <a:endParaRPr lang="en-US" sz="1600" dirty="0"/>
          </a:p>
        </p:txBody>
      </p:sp>
      <p:sp>
        <p:nvSpPr>
          <p:cNvPr id="25" name="Text 20"/>
          <p:cNvSpPr txBox="1"/>
          <p:nvPr/>
        </p:nvSpPr>
        <p:spPr>
          <a:xfrm>
            <a:off x="749808" y="5468112"/>
            <a:ext cx="5038344" cy="521208"/>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2"/>
                </a:solidFill>
              </a:rPr>
              <a:t>OpenAI-compatible chat and completions endpoints</a:t>
            </a:r>
            <a:endParaRPr lang="en-US" sz="1300" dirty="0"/>
          </a:p>
          <a:p>
            <a:pPr marL="342900" indent="-342900">
              <a:spcAft>
                <a:spcPts val="500"/>
              </a:spcAft>
              <a:buSzPct val="100000"/>
              <a:buChar char="•"/>
            </a:pPr>
            <a:r>
              <a:rPr lang="en-US" sz="1300" dirty="0">
                <a:solidFill>
                  <a:schemeClr val="tx2"/>
                </a:solidFill>
              </a:rPr>
              <a:t>Drop-in for LangChain, LlamaIndex and apps</a:t>
            </a:r>
            <a:endParaRPr lang="en-US" sz="1300" dirty="0"/>
          </a:p>
        </p:txBody>
      </p:sp>
      <p:sp>
        <p:nvSpPr>
          <p:cNvPr id="26" name="card"/>
          <p:cNvSpPr/>
          <p:nvPr/>
        </p:nvSpPr>
        <p:spPr>
          <a:xfrm>
            <a:off x="6172200" y="4572000"/>
            <a:ext cx="5440680" cy="1554480"/>
          </a:xfrm>
          <a:prstGeom prst="roundRect">
            <a:avLst>
              <a:gd name="adj" fmla="val 4706"/>
            </a:avLst>
          </a:prstGeom>
          <a:solidFill>
            <a:schemeClr val="bg2"/>
          </a:solidFill>
          <a:ln/>
        </p:spPr>
      </p:sp>
      <p:sp>
        <p:nvSpPr>
          <p:cNvPr id="27" name="Shape 22"/>
          <p:cNvSpPr/>
          <p:nvPr/>
        </p:nvSpPr>
        <p:spPr>
          <a:xfrm>
            <a:off x="6373368" y="4773168"/>
            <a:ext cx="548640" cy="548640"/>
          </a:xfrm>
          <a:prstGeom prst="ellipse">
            <a:avLst/>
          </a:prstGeom>
          <a:solidFill>
            <a:schemeClr val="accent1"/>
          </a:solidFill>
          <a:ln/>
        </p:spPr>
      </p:sp>
      <p:pic>
        <p:nvPicPr>
          <p:cNvPr id="28" name="Image 3" descr="preencoded.png">    </p:cNvPr>
          <p:cNvPicPr>
            <a:picLocks noChangeAspect="1"/>
          </p:cNvPicPr>
          <p:nvPr/>
        </p:nvPicPr>
        <p:blipFill>
          <a:blip r:embed="rId4"/>
          <a:stretch>
            <a:fillRect/>
          </a:stretch>
        </p:blipFill>
        <p:spPr>
          <a:xfrm>
            <a:off x="6494069" y="4893869"/>
            <a:ext cx="307238" cy="307238"/>
          </a:xfrm>
          <a:prstGeom prst="rect">
            <a:avLst/>
          </a:prstGeom>
        </p:spPr>
      </p:pic>
      <p:sp>
        <p:nvSpPr>
          <p:cNvPr id="29" name="Text 23"/>
          <p:cNvSpPr txBox="1"/>
          <p:nvPr/>
        </p:nvSpPr>
        <p:spPr>
          <a:xfrm>
            <a:off x="7040880" y="4773168"/>
            <a:ext cx="4389120" cy="548640"/>
          </a:xfrm>
          <a:prstGeom prst="rect">
            <a:avLst/>
          </a:prstGeom>
          <a:noFill/>
          <a:ln/>
        </p:spPr>
        <p:txBody>
          <a:bodyPr wrap="square" lIns="0" tIns="0" rIns="0" bIns="0" rtlCol="0" anchor="ctr"/>
          <a:lstStyle/>
          <a:p>
            <a:pPr indent="0" marL="0">
              <a:buNone/>
            </a:pPr>
            <a:r>
              <a:rPr lang="en-US" sz="1600" b="1" dirty="0">
                <a:solidFill>
                  <a:schemeClr val="tx1"/>
                </a:solidFill>
              </a:rPr>
              <a:t>Enterprise operations</a:t>
            </a:r>
            <a:endParaRPr lang="en-US" sz="1600" dirty="0"/>
          </a:p>
        </p:txBody>
      </p:sp>
      <p:sp>
        <p:nvSpPr>
          <p:cNvPr id="30" name="Text 24"/>
          <p:cNvSpPr txBox="1"/>
          <p:nvPr/>
        </p:nvSpPr>
        <p:spPr>
          <a:xfrm>
            <a:off x="6373368" y="5468112"/>
            <a:ext cx="5038344" cy="521208"/>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2"/>
                </a:solidFill>
              </a:rPr>
              <a:t>Runs on-prem, in the cloud or air-gapped</a:t>
            </a:r>
            <a:endParaRPr lang="en-US" sz="1300" dirty="0"/>
          </a:p>
          <a:p>
            <a:pPr marL="342900" indent="-342900">
              <a:spcAft>
                <a:spcPts val="500"/>
              </a:spcAft>
              <a:buSzPct val="100000"/>
              <a:buChar char="•"/>
            </a:pPr>
            <a:r>
              <a:rPr lang="en-US" sz="1300" dirty="0">
                <a:solidFill>
                  <a:schemeClr val="tx2"/>
                </a:solidFill>
              </a:rPr>
              <a:t>Health, metrics (Prometheus) and NIM Operator for K8s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000" b="1" dirty="0">
                <a:solidFill>
                  <a:schemeClr val="tx1"/>
                </a:solidFill>
              </a:rPr>
              <a:t>Nemotron: NVIDIA's open models built with NeMo</a:t>
            </a:r>
            <a:endParaRPr lang="en-US" sz="3000" dirty="0"/>
          </a:p>
        </p:txBody>
      </p:sp>
      <p:sp>
        <p:nvSpPr>
          <p:cNvPr id="3" name="Text 0"/>
          <p:cNvSpPr/>
          <p:nvPr>
            <p:ph idx="101" type="body" hasCustomPrompt="1"/>
          </p:nvPr>
        </p:nvSpPr>
        <p:spPr>
          <a:xfrm>
            <a:off x="548640" y="960120"/>
            <a:ext cx="11064240" cy="411480"/>
          </a:xfrm>
          <a:prstGeom prst="rect">
            <a:avLst/>
          </a:prstGeom>
          <a:noFill/>
          <a:ln/>
        </p:spPr>
        <p:txBody>
          <a:bodyPr wrap="square" lIns="0" tIns="0" rIns="0" bIns="0" rtlCol="0" anchor="t"/>
          <a:lstStyle/>
          <a:p>
            <a:pPr indent="0" marL="0">
              <a:buNone/>
            </a:pPr>
            <a:r>
              <a:rPr lang="en-US" sz="1600" dirty="0">
                <a:solidFill>
                  <a:schemeClr val="accent5"/>
                </a:solidFill>
              </a:rPr>
              <a:t>Open weights, open data and open recipes, a common base for enterprise customization</a:t>
            </a:r>
            <a:endParaRPr lang="en-US" sz="1600" dirty="0"/>
          </a:p>
        </p:txBody>
      </p:sp>
      <p:sp>
        <p:nvSpPr>
          <p:cNvPr id="4" name="Shape 2"/>
          <p:cNvSpPr/>
          <p:nvPr/>
        </p:nvSpPr>
        <p:spPr>
          <a:xfrm>
            <a:off x="548640" y="1600200"/>
            <a:ext cx="3566160" cy="2331720"/>
          </a:xfrm>
          <a:prstGeom prst="roundRect">
            <a:avLst>
              <a:gd name="adj" fmla="val 3137"/>
            </a:avLst>
          </a:prstGeom>
          <a:solidFill>
            <a:schemeClr val="bg2"/>
          </a:solidFill>
          <a:ln/>
        </p:spPr>
      </p:sp>
      <p:sp>
        <p:nvSpPr>
          <p:cNvPr id="5" name="Text 3"/>
          <p:cNvSpPr txBox="1"/>
          <p:nvPr/>
        </p:nvSpPr>
        <p:spPr>
          <a:xfrm>
            <a:off x="777240" y="1737360"/>
            <a:ext cx="3108960" cy="457200"/>
          </a:xfrm>
          <a:prstGeom prst="rect">
            <a:avLst/>
          </a:prstGeom>
          <a:noFill/>
          <a:ln/>
        </p:spPr>
        <p:txBody>
          <a:bodyPr wrap="square" lIns="0" tIns="0" rIns="0" bIns="0" rtlCol="0" anchor="t"/>
          <a:lstStyle/>
          <a:p>
            <a:pPr indent="0" marL="0">
              <a:buNone/>
            </a:pPr>
            <a:r>
              <a:rPr lang="en-US" sz="2200" b="1" dirty="0">
                <a:solidFill>
                  <a:schemeClr val="accent2"/>
                </a:solidFill>
                <a:latin typeface="Arial" pitchFamily="34" charset="0"/>
                <a:ea typeface="Arial" pitchFamily="34" charset="-122"/>
                <a:cs typeface="Arial" pitchFamily="34" charset="-120"/>
              </a:rPr>
              <a:t>Nemotron Nano</a:t>
            </a:r>
            <a:endParaRPr lang="en-US" sz="2200" dirty="0"/>
          </a:p>
        </p:txBody>
      </p:sp>
      <p:sp>
        <p:nvSpPr>
          <p:cNvPr id="6" name="Text 4"/>
          <p:cNvSpPr txBox="1"/>
          <p:nvPr/>
        </p:nvSpPr>
        <p:spPr>
          <a:xfrm>
            <a:off x="777240" y="2286000"/>
            <a:ext cx="3154680" cy="868680"/>
          </a:xfrm>
          <a:prstGeom prst="rect">
            <a:avLst/>
          </a:prstGeom>
          <a:noFill/>
          <a:ln/>
        </p:spPr>
        <p:txBody>
          <a:bodyPr wrap="square" lIns="0" tIns="0" rIns="0" bIns="0" rtlCol="0" anchor="t"/>
          <a:lstStyle/>
          <a:p>
            <a:pPr indent="0" marL="0">
              <a:buNone/>
            </a:pPr>
            <a:r>
              <a:rPr lang="en-US" sz="1400" dirty="0">
                <a:solidFill>
                  <a:schemeClr val="tx1"/>
                </a:solidFill>
              </a:rPr>
              <a:t>Small, efficient models for edge, PCs and high-volume tasks</a:t>
            </a:r>
            <a:endParaRPr lang="en-US" sz="1400" dirty="0"/>
          </a:p>
        </p:txBody>
      </p:sp>
      <p:sp>
        <p:nvSpPr>
          <p:cNvPr id="7" name="Text 5"/>
          <p:cNvSpPr txBox="1"/>
          <p:nvPr/>
        </p:nvSpPr>
        <p:spPr>
          <a:xfrm>
            <a:off x="777240" y="3200400"/>
            <a:ext cx="3154680" cy="640080"/>
          </a:xfrm>
          <a:prstGeom prst="rect">
            <a:avLst/>
          </a:prstGeom>
          <a:noFill/>
          <a:ln/>
        </p:spPr>
        <p:txBody>
          <a:bodyPr wrap="square" lIns="0" tIns="0" rIns="0" bIns="0" rtlCol="0" anchor="t"/>
          <a:lstStyle/>
          <a:p>
            <a:pPr indent="0" marL="0">
              <a:buNone/>
            </a:pPr>
            <a:r>
              <a:rPr lang="en-US" sz="1300" b="1" dirty="0">
                <a:solidFill>
                  <a:schemeClr val="tx2"/>
                </a:solidFill>
              </a:rPr>
              <a:t>Use: </a:t>
            </a:r>
            <a:pPr indent="0" marL="0">
              <a:buNone/>
            </a:pPr>
            <a:r>
              <a:rPr lang="en-US" sz="1300" dirty="0">
                <a:solidFill>
                  <a:schemeClr val="tx2"/>
                </a:solidFill>
              </a:rPr>
              <a:t>Low cost, fast agents and routing</a:t>
            </a:r>
            <a:endParaRPr lang="en-US" sz="1300" dirty="0"/>
          </a:p>
        </p:txBody>
      </p:sp>
      <p:sp>
        <p:nvSpPr>
          <p:cNvPr id="8" name="Shape 6"/>
          <p:cNvSpPr/>
          <p:nvPr/>
        </p:nvSpPr>
        <p:spPr>
          <a:xfrm>
            <a:off x="4297680" y="1600200"/>
            <a:ext cx="3566160" cy="2331720"/>
          </a:xfrm>
          <a:prstGeom prst="roundRect">
            <a:avLst>
              <a:gd name="adj" fmla="val 3137"/>
            </a:avLst>
          </a:prstGeom>
          <a:solidFill>
            <a:schemeClr val="tx1"/>
          </a:solidFill>
          <a:ln/>
        </p:spPr>
      </p:sp>
      <p:sp>
        <p:nvSpPr>
          <p:cNvPr id="9" name="Text 7"/>
          <p:cNvSpPr txBox="1"/>
          <p:nvPr/>
        </p:nvSpPr>
        <p:spPr>
          <a:xfrm>
            <a:off x="4526280" y="1737360"/>
            <a:ext cx="3108960" cy="457200"/>
          </a:xfrm>
          <a:prstGeom prst="rect">
            <a:avLst/>
          </a:prstGeom>
          <a:noFill/>
          <a:ln/>
        </p:spPr>
        <p:txBody>
          <a:bodyPr wrap="square" lIns="0" tIns="0" rIns="0" bIns="0" rtlCol="0" anchor="t"/>
          <a:lstStyle/>
          <a:p>
            <a:pPr indent="0" marL="0">
              <a:buNone/>
            </a:pPr>
            <a:r>
              <a:rPr lang="en-US" sz="2200" b="1" dirty="0">
                <a:solidFill>
                  <a:schemeClr val="accent1"/>
                </a:solidFill>
                <a:latin typeface="Arial" pitchFamily="34" charset="0"/>
                <a:ea typeface="Arial" pitchFamily="34" charset="-122"/>
                <a:cs typeface="Arial" pitchFamily="34" charset="-120"/>
              </a:rPr>
              <a:t>Nemotron Super</a:t>
            </a:r>
            <a:endParaRPr lang="en-US" sz="2200" dirty="0"/>
          </a:p>
        </p:txBody>
      </p:sp>
      <p:sp>
        <p:nvSpPr>
          <p:cNvPr id="10" name="Text 8"/>
          <p:cNvSpPr txBox="1"/>
          <p:nvPr/>
        </p:nvSpPr>
        <p:spPr>
          <a:xfrm>
            <a:off x="4526280" y="2286000"/>
            <a:ext cx="3154680" cy="868680"/>
          </a:xfrm>
          <a:prstGeom prst="rect">
            <a:avLst/>
          </a:prstGeom>
          <a:noFill/>
          <a:ln/>
        </p:spPr>
        <p:txBody>
          <a:bodyPr wrap="square" lIns="0" tIns="0" rIns="0" bIns="0" rtlCol="0" anchor="t"/>
          <a:lstStyle/>
          <a:p>
            <a:pPr indent="0" marL="0">
              <a:buNone/>
            </a:pPr>
            <a:r>
              <a:rPr lang="en-US" sz="1400" dirty="0">
                <a:solidFill>
                  <a:schemeClr val="bg1"/>
                </a:solidFill>
              </a:rPr>
              <a:t>Mid-size, best accuracy per GPU for a single data center GPU</a:t>
            </a:r>
            <a:endParaRPr lang="en-US" sz="1400" dirty="0"/>
          </a:p>
        </p:txBody>
      </p:sp>
      <p:sp>
        <p:nvSpPr>
          <p:cNvPr id="11" name="Text 9"/>
          <p:cNvSpPr txBox="1"/>
          <p:nvPr/>
        </p:nvSpPr>
        <p:spPr>
          <a:xfrm>
            <a:off x="4526280" y="3200400"/>
            <a:ext cx="3154680" cy="640080"/>
          </a:xfrm>
          <a:prstGeom prst="rect">
            <a:avLst/>
          </a:prstGeom>
          <a:noFill/>
          <a:ln/>
        </p:spPr>
        <p:txBody>
          <a:bodyPr wrap="square" lIns="0" tIns="0" rIns="0" bIns="0" rtlCol="0" anchor="t"/>
          <a:lstStyle/>
          <a:p>
            <a:pPr indent="0" marL="0">
              <a:buNone/>
            </a:pPr>
            <a:r>
              <a:rPr lang="en-US" sz="1300" b="1" dirty="0">
                <a:solidFill>
                  <a:srgbClr val="C9D3CC"/>
                </a:solidFill>
              </a:rPr>
              <a:t>Use: </a:t>
            </a:r>
            <a:pPr indent="0" marL="0">
              <a:buNone/>
            </a:pPr>
            <a:r>
              <a:rPr lang="en-US" sz="1300" dirty="0">
                <a:solidFill>
                  <a:srgbClr val="C9D3CC"/>
                </a:solidFill>
              </a:rPr>
              <a:t>Enterprise agents, RAG, tool calling</a:t>
            </a:r>
            <a:endParaRPr lang="en-US" sz="1300" dirty="0"/>
          </a:p>
        </p:txBody>
      </p:sp>
      <p:sp>
        <p:nvSpPr>
          <p:cNvPr id="12" name="Shape 10"/>
          <p:cNvSpPr/>
          <p:nvPr/>
        </p:nvSpPr>
        <p:spPr>
          <a:xfrm>
            <a:off x="8046720" y="1600200"/>
            <a:ext cx="3566160" cy="2331720"/>
          </a:xfrm>
          <a:prstGeom prst="roundRect">
            <a:avLst>
              <a:gd name="adj" fmla="val 3137"/>
            </a:avLst>
          </a:prstGeom>
          <a:solidFill>
            <a:schemeClr val="bg2"/>
          </a:solidFill>
          <a:ln/>
        </p:spPr>
      </p:sp>
      <p:sp>
        <p:nvSpPr>
          <p:cNvPr id="13" name="Text 11"/>
          <p:cNvSpPr txBox="1"/>
          <p:nvPr/>
        </p:nvSpPr>
        <p:spPr>
          <a:xfrm>
            <a:off x="8275320" y="1737360"/>
            <a:ext cx="3108960" cy="457200"/>
          </a:xfrm>
          <a:prstGeom prst="rect">
            <a:avLst/>
          </a:prstGeom>
          <a:noFill/>
          <a:ln/>
        </p:spPr>
        <p:txBody>
          <a:bodyPr wrap="square" lIns="0" tIns="0" rIns="0" bIns="0" rtlCol="0" anchor="t"/>
          <a:lstStyle/>
          <a:p>
            <a:pPr indent="0" marL="0">
              <a:buNone/>
            </a:pPr>
            <a:r>
              <a:rPr lang="en-US" sz="2200" b="1" dirty="0">
                <a:solidFill>
                  <a:schemeClr val="accent2"/>
                </a:solidFill>
                <a:latin typeface="Arial" pitchFamily="34" charset="0"/>
                <a:ea typeface="Arial" pitchFamily="34" charset="-122"/>
                <a:cs typeface="Arial" pitchFamily="34" charset="-120"/>
              </a:rPr>
              <a:t>Nemotron Ultra</a:t>
            </a:r>
            <a:endParaRPr lang="en-US" sz="2200" dirty="0"/>
          </a:p>
        </p:txBody>
      </p:sp>
      <p:sp>
        <p:nvSpPr>
          <p:cNvPr id="14" name="Text 12"/>
          <p:cNvSpPr txBox="1"/>
          <p:nvPr/>
        </p:nvSpPr>
        <p:spPr>
          <a:xfrm>
            <a:off x="8275320" y="2286000"/>
            <a:ext cx="3154680" cy="868680"/>
          </a:xfrm>
          <a:prstGeom prst="rect">
            <a:avLst/>
          </a:prstGeom>
          <a:noFill/>
          <a:ln/>
        </p:spPr>
        <p:txBody>
          <a:bodyPr wrap="square" lIns="0" tIns="0" rIns="0" bIns="0" rtlCol="0" anchor="t"/>
          <a:lstStyle/>
          <a:p>
            <a:pPr indent="0" marL="0">
              <a:buNone/>
            </a:pPr>
            <a:r>
              <a:rPr lang="en-US" sz="1400" dirty="0">
                <a:solidFill>
                  <a:schemeClr val="tx1"/>
                </a:solidFill>
              </a:rPr>
              <a:t>Largest, highest accuracy for complex reasoning</a:t>
            </a:r>
            <a:endParaRPr lang="en-US" sz="1400" dirty="0"/>
          </a:p>
        </p:txBody>
      </p:sp>
      <p:sp>
        <p:nvSpPr>
          <p:cNvPr id="15" name="Text 13"/>
          <p:cNvSpPr txBox="1"/>
          <p:nvPr/>
        </p:nvSpPr>
        <p:spPr>
          <a:xfrm>
            <a:off x="8275320" y="3200400"/>
            <a:ext cx="3154680" cy="640080"/>
          </a:xfrm>
          <a:prstGeom prst="rect">
            <a:avLst/>
          </a:prstGeom>
          <a:noFill/>
          <a:ln/>
        </p:spPr>
        <p:txBody>
          <a:bodyPr wrap="square" lIns="0" tIns="0" rIns="0" bIns="0" rtlCol="0" anchor="t"/>
          <a:lstStyle/>
          <a:p>
            <a:pPr indent="0" marL="0">
              <a:buNone/>
            </a:pPr>
            <a:r>
              <a:rPr lang="en-US" sz="1300" b="1" dirty="0">
                <a:solidFill>
                  <a:schemeClr val="tx2"/>
                </a:solidFill>
              </a:rPr>
              <a:t>Use: </a:t>
            </a:r>
            <a:pPr indent="0" marL="0">
              <a:buNone/>
            </a:pPr>
            <a:r>
              <a:rPr lang="en-US" sz="1300" dirty="0">
                <a:solidFill>
                  <a:schemeClr val="tx2"/>
                </a:solidFill>
              </a:rPr>
              <a:t>Hard reasoning, teacher for distillation</a:t>
            </a:r>
            <a:endParaRPr lang="en-US" sz="1300" dirty="0"/>
          </a:p>
        </p:txBody>
      </p:sp>
      <p:sp>
        <p:nvSpPr>
          <p:cNvPr id="16" name="card"/>
          <p:cNvSpPr/>
          <p:nvPr/>
        </p:nvSpPr>
        <p:spPr>
          <a:xfrm>
            <a:off x="548640" y="4114800"/>
            <a:ext cx="3566160" cy="2057400"/>
          </a:xfrm>
          <a:prstGeom prst="roundRect">
            <a:avLst>
              <a:gd name="adj" fmla="val 3556"/>
            </a:avLst>
          </a:prstGeom>
          <a:solidFill>
            <a:schemeClr val="bg2"/>
          </a:solidFill>
          <a:ln/>
        </p:spPr>
      </p:sp>
      <p:sp>
        <p:nvSpPr>
          <p:cNvPr id="17" name="Shape 15"/>
          <p:cNvSpPr/>
          <p:nvPr/>
        </p:nvSpPr>
        <p:spPr>
          <a:xfrm>
            <a:off x="749808" y="4315968"/>
            <a:ext cx="548640" cy="548640"/>
          </a:xfrm>
          <a:prstGeom prst="ellipse">
            <a:avLst/>
          </a:prstGeom>
          <a:solidFill>
            <a:schemeClr val="accent1"/>
          </a:solidFill>
          <a:ln/>
        </p:spPr>
      </p:sp>
      <p:pic>
        <p:nvPicPr>
          <p:cNvPr id="18" name="Image 0" descr="preencoded.png">    </p:cNvPr>
          <p:cNvPicPr>
            <a:picLocks noChangeAspect="1"/>
          </p:cNvPicPr>
          <p:nvPr/>
        </p:nvPicPr>
        <p:blipFill>
          <a:blip r:embed="rId1"/>
          <a:stretch>
            <a:fillRect/>
          </a:stretch>
        </p:blipFill>
        <p:spPr>
          <a:xfrm>
            <a:off x="870509" y="4436669"/>
            <a:ext cx="307238" cy="307238"/>
          </a:xfrm>
          <a:prstGeom prst="rect">
            <a:avLst/>
          </a:prstGeom>
        </p:spPr>
      </p:pic>
      <p:sp>
        <p:nvSpPr>
          <p:cNvPr id="19" name="Text 16"/>
          <p:cNvSpPr txBox="1"/>
          <p:nvPr/>
        </p:nvSpPr>
        <p:spPr>
          <a:xfrm>
            <a:off x="1417320" y="4315968"/>
            <a:ext cx="2514600" cy="548640"/>
          </a:xfrm>
          <a:prstGeom prst="rect">
            <a:avLst/>
          </a:prstGeom>
          <a:noFill/>
          <a:ln/>
        </p:spPr>
        <p:txBody>
          <a:bodyPr wrap="square" lIns="0" tIns="0" rIns="0" bIns="0" rtlCol="0" anchor="ctr"/>
          <a:lstStyle/>
          <a:p>
            <a:pPr indent="0" marL="0">
              <a:buNone/>
            </a:pPr>
            <a:r>
              <a:rPr lang="en-US" sz="1600" b="1" dirty="0">
                <a:solidFill>
                  <a:schemeClr val="tx1"/>
                </a:solidFill>
              </a:rPr>
              <a:t>Reasoning on / off</a:t>
            </a:r>
            <a:endParaRPr lang="en-US" sz="1600" dirty="0"/>
          </a:p>
        </p:txBody>
      </p:sp>
      <p:sp>
        <p:nvSpPr>
          <p:cNvPr id="20" name="Text 17"/>
          <p:cNvSpPr txBox="1"/>
          <p:nvPr/>
        </p:nvSpPr>
        <p:spPr>
          <a:xfrm>
            <a:off x="749808" y="5010912"/>
            <a:ext cx="3163824" cy="1024128"/>
          </a:xfrm>
          <a:prstGeom prst="rect">
            <a:avLst/>
          </a:prstGeom>
          <a:noFill/>
          <a:ln/>
        </p:spPr>
        <p:txBody>
          <a:bodyPr wrap="square" lIns="0" tIns="0" rIns="0" bIns="0" rtlCol="0" anchor="t"/>
          <a:lstStyle/>
          <a:p>
            <a:pPr indent="0" marL="0">
              <a:buNone/>
            </a:pPr>
            <a:r>
              <a:rPr lang="en-US" sz="1300" dirty="0">
                <a:solidFill>
                  <a:schemeClr val="tx2"/>
                </a:solidFill>
              </a:rPr>
              <a:t>Many Nemotron models can switch step-by-step reasoning on or off by system prompt, trading accuracy for speed and cost.</a:t>
            </a:r>
            <a:endParaRPr lang="en-US" sz="1300" dirty="0"/>
          </a:p>
        </p:txBody>
      </p:sp>
      <p:sp>
        <p:nvSpPr>
          <p:cNvPr id="21" name="card"/>
          <p:cNvSpPr/>
          <p:nvPr/>
        </p:nvSpPr>
        <p:spPr>
          <a:xfrm>
            <a:off x="4297680" y="4114800"/>
            <a:ext cx="3566160" cy="2057400"/>
          </a:xfrm>
          <a:prstGeom prst="roundRect">
            <a:avLst>
              <a:gd name="adj" fmla="val 3556"/>
            </a:avLst>
          </a:prstGeom>
          <a:solidFill>
            <a:schemeClr val="bg2"/>
          </a:solidFill>
          <a:ln/>
        </p:spPr>
      </p:sp>
      <p:sp>
        <p:nvSpPr>
          <p:cNvPr id="22" name="Shape 19"/>
          <p:cNvSpPr/>
          <p:nvPr/>
        </p:nvSpPr>
        <p:spPr>
          <a:xfrm>
            <a:off x="4498848" y="4315968"/>
            <a:ext cx="548640" cy="548640"/>
          </a:xfrm>
          <a:prstGeom prst="ellipse">
            <a:avLst/>
          </a:prstGeom>
          <a:solidFill>
            <a:schemeClr val="accent1"/>
          </a:solidFill>
          <a:ln/>
        </p:spPr>
      </p:sp>
      <p:pic>
        <p:nvPicPr>
          <p:cNvPr id="23" name="Image 1" descr="preencoded.png">    </p:cNvPr>
          <p:cNvPicPr>
            <a:picLocks noChangeAspect="1"/>
          </p:cNvPicPr>
          <p:nvPr/>
        </p:nvPicPr>
        <p:blipFill>
          <a:blip r:embed="rId2"/>
          <a:stretch>
            <a:fillRect/>
          </a:stretch>
        </p:blipFill>
        <p:spPr>
          <a:xfrm>
            <a:off x="4619549" y="4436669"/>
            <a:ext cx="307238" cy="307238"/>
          </a:xfrm>
          <a:prstGeom prst="rect">
            <a:avLst/>
          </a:prstGeom>
        </p:spPr>
      </p:pic>
      <p:sp>
        <p:nvSpPr>
          <p:cNvPr id="24" name="Text 20"/>
          <p:cNvSpPr txBox="1"/>
          <p:nvPr/>
        </p:nvSpPr>
        <p:spPr>
          <a:xfrm>
            <a:off x="5166360" y="4315968"/>
            <a:ext cx="2514600" cy="548640"/>
          </a:xfrm>
          <a:prstGeom prst="rect">
            <a:avLst/>
          </a:prstGeom>
          <a:noFill/>
          <a:ln/>
        </p:spPr>
        <p:txBody>
          <a:bodyPr wrap="square" lIns="0" tIns="0" rIns="0" bIns="0" rtlCol="0" anchor="ctr"/>
          <a:lstStyle/>
          <a:p>
            <a:pPr indent="0" marL="0">
              <a:buNone/>
            </a:pPr>
            <a:r>
              <a:rPr lang="en-US" sz="1600" b="1" dirty="0">
                <a:solidFill>
                  <a:schemeClr val="tx1"/>
                </a:solidFill>
              </a:rPr>
              <a:t>Open datasets</a:t>
            </a:r>
            <a:endParaRPr lang="en-US" sz="1600" dirty="0"/>
          </a:p>
        </p:txBody>
      </p:sp>
      <p:sp>
        <p:nvSpPr>
          <p:cNvPr id="25" name="Text 21"/>
          <p:cNvSpPr txBox="1"/>
          <p:nvPr/>
        </p:nvSpPr>
        <p:spPr>
          <a:xfrm>
            <a:off x="4498848" y="5010912"/>
            <a:ext cx="3163824" cy="1024128"/>
          </a:xfrm>
          <a:prstGeom prst="rect">
            <a:avLst/>
          </a:prstGeom>
          <a:noFill/>
          <a:ln/>
        </p:spPr>
        <p:txBody>
          <a:bodyPr wrap="square" lIns="0" tIns="0" rIns="0" bIns="0" rtlCol="0" anchor="t"/>
          <a:lstStyle/>
          <a:p>
            <a:pPr indent="0" marL="0">
              <a:buNone/>
            </a:pPr>
            <a:r>
              <a:rPr lang="en-US" sz="1300" dirty="0">
                <a:solidFill>
                  <a:schemeClr val="tx2"/>
                </a:solidFill>
              </a:rPr>
              <a:t>NVIDIA publishes much of the post-training data (e.g. Nemotron post-training datasets, HelpSteer) for transparency and reuse.</a:t>
            </a:r>
            <a:endParaRPr lang="en-US" sz="1300" dirty="0"/>
          </a:p>
        </p:txBody>
      </p:sp>
      <p:sp>
        <p:nvSpPr>
          <p:cNvPr id="26" name="card"/>
          <p:cNvSpPr/>
          <p:nvPr/>
        </p:nvSpPr>
        <p:spPr>
          <a:xfrm>
            <a:off x="8046720" y="4114800"/>
            <a:ext cx="3566160" cy="2057400"/>
          </a:xfrm>
          <a:prstGeom prst="roundRect">
            <a:avLst>
              <a:gd name="adj" fmla="val 3556"/>
            </a:avLst>
          </a:prstGeom>
          <a:solidFill>
            <a:schemeClr val="bg2"/>
          </a:solidFill>
          <a:ln/>
        </p:spPr>
      </p:sp>
      <p:sp>
        <p:nvSpPr>
          <p:cNvPr id="27" name="Shape 23"/>
          <p:cNvSpPr/>
          <p:nvPr/>
        </p:nvSpPr>
        <p:spPr>
          <a:xfrm>
            <a:off x="8247888" y="4315968"/>
            <a:ext cx="548640" cy="548640"/>
          </a:xfrm>
          <a:prstGeom prst="ellipse">
            <a:avLst/>
          </a:prstGeom>
          <a:solidFill>
            <a:schemeClr val="accent1"/>
          </a:solidFill>
          <a:ln/>
        </p:spPr>
      </p:sp>
      <p:pic>
        <p:nvPicPr>
          <p:cNvPr id="28" name="Image 2" descr="preencoded.png">    </p:cNvPr>
          <p:cNvPicPr>
            <a:picLocks noChangeAspect="1"/>
          </p:cNvPicPr>
          <p:nvPr/>
        </p:nvPicPr>
        <p:blipFill>
          <a:blip r:embed="rId3"/>
          <a:stretch>
            <a:fillRect/>
          </a:stretch>
        </p:blipFill>
        <p:spPr>
          <a:xfrm>
            <a:off x="8368589" y="4436669"/>
            <a:ext cx="307238" cy="307238"/>
          </a:xfrm>
          <a:prstGeom prst="rect">
            <a:avLst/>
          </a:prstGeom>
        </p:spPr>
      </p:pic>
      <p:sp>
        <p:nvSpPr>
          <p:cNvPr id="29" name="Text 24"/>
          <p:cNvSpPr txBox="1"/>
          <p:nvPr/>
        </p:nvSpPr>
        <p:spPr>
          <a:xfrm>
            <a:off x="8915400" y="4315968"/>
            <a:ext cx="2514600" cy="548640"/>
          </a:xfrm>
          <a:prstGeom prst="rect">
            <a:avLst/>
          </a:prstGeom>
          <a:noFill/>
          <a:ln/>
        </p:spPr>
        <p:txBody>
          <a:bodyPr wrap="square" lIns="0" tIns="0" rIns="0" bIns="0" rtlCol="0" anchor="ctr"/>
          <a:lstStyle/>
          <a:p>
            <a:pPr indent="0" marL="0">
              <a:buNone/>
            </a:pPr>
            <a:r>
              <a:rPr lang="en-US" sz="1600" b="1" dirty="0">
                <a:solidFill>
                  <a:schemeClr val="tx1"/>
                </a:solidFill>
              </a:rPr>
              <a:t>Licensing</a:t>
            </a:r>
            <a:endParaRPr lang="en-US" sz="1600" dirty="0"/>
          </a:p>
        </p:txBody>
      </p:sp>
      <p:sp>
        <p:nvSpPr>
          <p:cNvPr id="30" name="Text 25"/>
          <p:cNvSpPr txBox="1"/>
          <p:nvPr/>
        </p:nvSpPr>
        <p:spPr>
          <a:xfrm>
            <a:off x="8247888" y="5010912"/>
            <a:ext cx="3163824" cy="1024128"/>
          </a:xfrm>
          <a:prstGeom prst="rect">
            <a:avLst/>
          </a:prstGeom>
          <a:noFill/>
          <a:ln/>
        </p:spPr>
        <p:txBody>
          <a:bodyPr wrap="square" lIns="0" tIns="0" rIns="0" bIns="0" rtlCol="0" anchor="t"/>
          <a:lstStyle/>
          <a:p>
            <a:pPr indent="0" marL="0">
              <a:buNone/>
            </a:pPr>
            <a:r>
              <a:rPr lang="en-US" sz="1300" dirty="0">
                <a:solidFill>
                  <a:schemeClr val="tx2"/>
                </a:solidFill>
              </a:rPr>
              <a:t>Released under NVIDIA open model licences that allow commercial use and derivatives. Review the exact terms per model.</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640080" y="1463040"/>
            <a:ext cx="2743200" cy="1371600"/>
          </a:xfrm>
          <a:prstGeom prst="rect">
            <a:avLst/>
          </a:prstGeom>
          <a:noFill/>
          <a:ln/>
        </p:spPr>
        <p:txBody>
          <a:bodyPr wrap="square" lIns="0" tIns="0" rIns="0" bIns="0" rtlCol="0" anchor="t"/>
          <a:lstStyle/>
          <a:p>
            <a:pPr indent="0" marL="0">
              <a:buNone/>
            </a:pPr>
            <a:r>
              <a:rPr lang="en-US" sz="8800" b="1" dirty="0">
                <a:solidFill>
                  <a:schemeClr val="accent1"/>
                </a:solidFill>
              </a:rPr>
              <a:t>04</a:t>
            </a:r>
            <a:endParaRPr lang="en-US" sz="8800" dirty="0"/>
          </a:p>
        </p:txBody>
      </p:sp>
      <p:sp>
        <p:nvSpPr>
          <p:cNvPr id="3" name="Text 0"/>
          <p:cNvSpPr/>
          <p:nvPr>
            <p:ph idx="101" type="title" hasCustomPrompt="1"/>
          </p:nvPr>
        </p:nvSpPr>
        <p:spPr>
          <a:xfrm>
            <a:off x="640080" y="2743200"/>
            <a:ext cx="7498080" cy="1371600"/>
          </a:xfrm>
          <a:prstGeom prst="rect">
            <a:avLst/>
          </a:prstGeom>
          <a:noFill/>
          <a:ln/>
        </p:spPr>
        <p:txBody>
          <a:bodyPr wrap="square" lIns="0" tIns="0" rIns="0" bIns="0" rtlCol="0" anchor="t"/>
          <a:lstStyle/>
          <a:p>
            <a:pPr algn="l" indent="0" marL="0">
              <a:buNone/>
            </a:pPr>
            <a:r>
              <a:rPr lang="en-US" sz="3600" b="1" dirty="0">
                <a:solidFill>
                  <a:schemeClr val="bg1"/>
                </a:solidFill>
              </a:rPr>
              <a:t>NeMo in enterprise model development</a:t>
            </a:r>
            <a:endParaRPr lang="en-US" sz="3600" dirty="0"/>
          </a:p>
        </p:txBody>
      </p:sp>
      <p:sp>
        <p:nvSpPr>
          <p:cNvPr id="4" name="Text 0"/>
          <p:cNvSpPr/>
          <p:nvPr>
            <p:ph idx="102" type="body" hasCustomPrompt="1"/>
          </p:nvPr>
        </p:nvSpPr>
        <p:spPr>
          <a:xfrm>
            <a:off x="640080" y="4297680"/>
            <a:ext cx="6949440" cy="1280160"/>
          </a:xfrm>
          <a:prstGeom prst="rect">
            <a:avLst/>
          </a:prstGeom>
          <a:noFill/>
          <a:ln/>
        </p:spPr>
        <p:txBody>
          <a:bodyPr wrap="square" lIns="0" tIns="0" rIns="0" bIns="0" rtlCol="0" anchor="t"/>
          <a:lstStyle/>
          <a:p>
            <a:pPr indent="0" marL="0">
              <a:buNone/>
            </a:pPr>
            <a:r>
              <a:rPr lang="en-US" sz="1800" dirty="0">
                <a:solidFill>
                  <a:srgbClr val="C9D3CC"/>
                </a:solidFill>
              </a:rPr>
              <a:t>Architecture, the data flywheel, people, governance and an adoption roadmap</a:t>
            </a:r>
            <a:endParaRPr lang="en-US" sz="1800" dirty="0"/>
          </a:p>
        </p:txBody>
      </p:sp>
      <p:sp>
        <p:nvSpPr>
          <p:cNvPr id="5" name="Shape 3"/>
          <p:cNvSpPr/>
          <p:nvPr/>
        </p:nvSpPr>
        <p:spPr>
          <a:xfrm>
            <a:off x="8503920" y="1188720"/>
            <a:ext cx="396240" cy="400304"/>
          </a:xfrm>
          <a:prstGeom prst="roundRect">
            <a:avLst>
              <a:gd name="adj" fmla="val 9231"/>
            </a:avLst>
          </a:prstGeom>
          <a:solidFill>
            <a:schemeClr val="accent1"/>
          </a:solidFill>
          <a:ln/>
        </p:spPr>
      </p:sp>
      <p:sp>
        <p:nvSpPr>
          <p:cNvPr id="6" name="Shape 4"/>
          <p:cNvSpPr/>
          <p:nvPr/>
        </p:nvSpPr>
        <p:spPr>
          <a:xfrm>
            <a:off x="9009888" y="1188720"/>
            <a:ext cx="396240" cy="400304"/>
          </a:xfrm>
          <a:prstGeom prst="roundRect">
            <a:avLst>
              <a:gd name="adj" fmla="val 9231"/>
            </a:avLst>
          </a:prstGeom>
          <a:solidFill>
            <a:schemeClr val="accent1">
              <a:alpha val="20000"/>
            </a:schemeClr>
          </a:solidFill>
          <a:ln/>
        </p:spPr>
      </p:sp>
      <p:sp>
        <p:nvSpPr>
          <p:cNvPr id="7" name="Shape 5"/>
          <p:cNvSpPr/>
          <p:nvPr/>
        </p:nvSpPr>
        <p:spPr>
          <a:xfrm>
            <a:off x="9515856" y="1188720"/>
            <a:ext cx="396240" cy="400304"/>
          </a:xfrm>
          <a:prstGeom prst="roundRect">
            <a:avLst>
              <a:gd name="adj" fmla="val 9231"/>
            </a:avLst>
          </a:prstGeom>
          <a:solidFill>
            <a:schemeClr val="accent1">
              <a:alpha val="45000"/>
            </a:schemeClr>
          </a:solidFill>
          <a:ln/>
        </p:spPr>
      </p:sp>
      <p:sp>
        <p:nvSpPr>
          <p:cNvPr id="8" name="Shape 6"/>
          <p:cNvSpPr/>
          <p:nvPr/>
        </p:nvSpPr>
        <p:spPr>
          <a:xfrm>
            <a:off x="10021824" y="1188720"/>
            <a:ext cx="396240" cy="400304"/>
          </a:xfrm>
          <a:prstGeom prst="roundRect">
            <a:avLst>
              <a:gd name="adj" fmla="val 9231"/>
            </a:avLst>
          </a:prstGeom>
          <a:solidFill>
            <a:schemeClr val="accent1">
              <a:alpha val="75000"/>
            </a:schemeClr>
          </a:solidFill>
          <a:ln/>
        </p:spPr>
      </p:sp>
      <p:sp>
        <p:nvSpPr>
          <p:cNvPr id="9" name="Shape 7"/>
          <p:cNvSpPr/>
          <p:nvPr/>
        </p:nvSpPr>
        <p:spPr>
          <a:xfrm>
            <a:off x="10527792" y="1188720"/>
            <a:ext cx="396240" cy="400304"/>
          </a:xfrm>
          <a:prstGeom prst="roundRect">
            <a:avLst>
              <a:gd name="adj" fmla="val 9231"/>
            </a:avLst>
          </a:prstGeom>
          <a:solidFill>
            <a:schemeClr val="accent1"/>
          </a:solidFill>
          <a:ln/>
        </p:spPr>
      </p:sp>
      <p:sp>
        <p:nvSpPr>
          <p:cNvPr id="10" name="Shape 8"/>
          <p:cNvSpPr/>
          <p:nvPr/>
        </p:nvSpPr>
        <p:spPr>
          <a:xfrm>
            <a:off x="11033760" y="1188720"/>
            <a:ext cx="396240" cy="400304"/>
          </a:xfrm>
          <a:prstGeom prst="roundRect">
            <a:avLst>
              <a:gd name="adj" fmla="val 9231"/>
            </a:avLst>
          </a:prstGeom>
          <a:solidFill>
            <a:schemeClr val="accent1">
              <a:alpha val="20000"/>
            </a:schemeClr>
          </a:solidFill>
          <a:ln/>
        </p:spPr>
      </p:sp>
      <p:sp>
        <p:nvSpPr>
          <p:cNvPr id="11" name="Shape 9"/>
          <p:cNvSpPr/>
          <p:nvPr/>
        </p:nvSpPr>
        <p:spPr>
          <a:xfrm>
            <a:off x="8503920" y="1698752"/>
            <a:ext cx="396240" cy="400304"/>
          </a:xfrm>
          <a:prstGeom prst="roundRect">
            <a:avLst>
              <a:gd name="adj" fmla="val 9231"/>
            </a:avLst>
          </a:prstGeom>
          <a:solidFill>
            <a:schemeClr val="accent1">
              <a:alpha val="20000"/>
            </a:schemeClr>
          </a:solidFill>
          <a:ln/>
        </p:spPr>
      </p:sp>
      <p:sp>
        <p:nvSpPr>
          <p:cNvPr id="12" name="Shape 10"/>
          <p:cNvSpPr/>
          <p:nvPr/>
        </p:nvSpPr>
        <p:spPr>
          <a:xfrm>
            <a:off x="9009888" y="1698752"/>
            <a:ext cx="396240" cy="400304"/>
          </a:xfrm>
          <a:prstGeom prst="roundRect">
            <a:avLst>
              <a:gd name="adj" fmla="val 9231"/>
            </a:avLst>
          </a:prstGeom>
          <a:solidFill>
            <a:schemeClr val="accent1">
              <a:alpha val="20000"/>
            </a:schemeClr>
          </a:solidFill>
          <a:ln/>
        </p:spPr>
      </p:sp>
      <p:sp>
        <p:nvSpPr>
          <p:cNvPr id="13" name="Shape 11"/>
          <p:cNvSpPr/>
          <p:nvPr/>
        </p:nvSpPr>
        <p:spPr>
          <a:xfrm>
            <a:off x="9515856" y="1698752"/>
            <a:ext cx="396240" cy="400304"/>
          </a:xfrm>
          <a:prstGeom prst="roundRect">
            <a:avLst>
              <a:gd name="adj" fmla="val 9231"/>
            </a:avLst>
          </a:prstGeom>
          <a:solidFill>
            <a:schemeClr val="accent1">
              <a:alpha val="20000"/>
            </a:schemeClr>
          </a:solidFill>
          <a:ln/>
        </p:spPr>
      </p:sp>
      <p:sp>
        <p:nvSpPr>
          <p:cNvPr id="14" name="Shape 12"/>
          <p:cNvSpPr/>
          <p:nvPr/>
        </p:nvSpPr>
        <p:spPr>
          <a:xfrm>
            <a:off x="10021824" y="1698752"/>
            <a:ext cx="396240" cy="400304"/>
          </a:xfrm>
          <a:prstGeom prst="roundRect">
            <a:avLst>
              <a:gd name="adj" fmla="val 9231"/>
            </a:avLst>
          </a:prstGeom>
          <a:solidFill>
            <a:schemeClr val="accent1">
              <a:alpha val="20000"/>
            </a:schemeClr>
          </a:solidFill>
          <a:ln/>
        </p:spPr>
      </p:sp>
      <p:sp>
        <p:nvSpPr>
          <p:cNvPr id="15" name="Shape 13"/>
          <p:cNvSpPr/>
          <p:nvPr/>
        </p:nvSpPr>
        <p:spPr>
          <a:xfrm>
            <a:off x="10527792" y="1698752"/>
            <a:ext cx="396240" cy="400304"/>
          </a:xfrm>
          <a:prstGeom prst="roundRect">
            <a:avLst>
              <a:gd name="adj" fmla="val 9231"/>
            </a:avLst>
          </a:prstGeom>
          <a:solidFill>
            <a:schemeClr val="accent1">
              <a:alpha val="20000"/>
            </a:schemeClr>
          </a:solidFill>
          <a:ln/>
        </p:spPr>
      </p:sp>
      <p:sp>
        <p:nvSpPr>
          <p:cNvPr id="16" name="Shape 14"/>
          <p:cNvSpPr/>
          <p:nvPr/>
        </p:nvSpPr>
        <p:spPr>
          <a:xfrm>
            <a:off x="11033760" y="1698752"/>
            <a:ext cx="396240" cy="400304"/>
          </a:xfrm>
          <a:prstGeom prst="roundRect">
            <a:avLst>
              <a:gd name="adj" fmla="val 9231"/>
            </a:avLst>
          </a:prstGeom>
          <a:solidFill>
            <a:schemeClr val="accent1">
              <a:alpha val="20000"/>
            </a:schemeClr>
          </a:solidFill>
          <a:ln/>
        </p:spPr>
      </p:sp>
      <p:sp>
        <p:nvSpPr>
          <p:cNvPr id="17" name="Shape 15"/>
          <p:cNvSpPr/>
          <p:nvPr/>
        </p:nvSpPr>
        <p:spPr>
          <a:xfrm>
            <a:off x="8503920" y="2208784"/>
            <a:ext cx="396240" cy="400304"/>
          </a:xfrm>
          <a:prstGeom prst="roundRect">
            <a:avLst>
              <a:gd name="adj" fmla="val 9231"/>
            </a:avLst>
          </a:prstGeom>
          <a:solidFill>
            <a:schemeClr val="accent1">
              <a:alpha val="45000"/>
            </a:schemeClr>
          </a:solidFill>
          <a:ln/>
        </p:spPr>
      </p:sp>
      <p:sp>
        <p:nvSpPr>
          <p:cNvPr id="18" name="Shape 16"/>
          <p:cNvSpPr/>
          <p:nvPr/>
        </p:nvSpPr>
        <p:spPr>
          <a:xfrm>
            <a:off x="9009888" y="2208784"/>
            <a:ext cx="396240" cy="400304"/>
          </a:xfrm>
          <a:prstGeom prst="roundRect">
            <a:avLst>
              <a:gd name="adj" fmla="val 9231"/>
            </a:avLst>
          </a:prstGeom>
          <a:solidFill>
            <a:schemeClr val="accent1">
              <a:alpha val="20000"/>
            </a:schemeClr>
          </a:solidFill>
          <a:ln/>
        </p:spPr>
      </p:sp>
      <p:sp>
        <p:nvSpPr>
          <p:cNvPr id="19" name="Shape 17"/>
          <p:cNvSpPr/>
          <p:nvPr/>
        </p:nvSpPr>
        <p:spPr>
          <a:xfrm>
            <a:off x="9515856" y="2208784"/>
            <a:ext cx="396240" cy="400304"/>
          </a:xfrm>
          <a:prstGeom prst="roundRect">
            <a:avLst>
              <a:gd name="adj" fmla="val 9231"/>
            </a:avLst>
          </a:prstGeom>
          <a:solidFill>
            <a:schemeClr val="accent1"/>
          </a:solidFill>
          <a:ln/>
        </p:spPr>
      </p:sp>
      <p:sp>
        <p:nvSpPr>
          <p:cNvPr id="20" name="Shape 18"/>
          <p:cNvSpPr/>
          <p:nvPr/>
        </p:nvSpPr>
        <p:spPr>
          <a:xfrm>
            <a:off x="10021824" y="2208784"/>
            <a:ext cx="396240" cy="400304"/>
          </a:xfrm>
          <a:prstGeom prst="roundRect">
            <a:avLst>
              <a:gd name="adj" fmla="val 9231"/>
            </a:avLst>
          </a:prstGeom>
          <a:solidFill>
            <a:schemeClr val="accent1">
              <a:alpha val="75000"/>
            </a:schemeClr>
          </a:solidFill>
          <a:ln/>
        </p:spPr>
      </p:sp>
      <p:sp>
        <p:nvSpPr>
          <p:cNvPr id="21" name="Shape 19"/>
          <p:cNvSpPr/>
          <p:nvPr/>
        </p:nvSpPr>
        <p:spPr>
          <a:xfrm>
            <a:off x="10527792" y="2208784"/>
            <a:ext cx="396240" cy="400304"/>
          </a:xfrm>
          <a:prstGeom prst="roundRect">
            <a:avLst>
              <a:gd name="adj" fmla="val 9231"/>
            </a:avLst>
          </a:prstGeom>
          <a:solidFill>
            <a:schemeClr val="accent1">
              <a:alpha val="45000"/>
            </a:schemeClr>
          </a:solidFill>
          <a:ln/>
        </p:spPr>
      </p:sp>
      <p:sp>
        <p:nvSpPr>
          <p:cNvPr id="22" name="Shape 20"/>
          <p:cNvSpPr/>
          <p:nvPr/>
        </p:nvSpPr>
        <p:spPr>
          <a:xfrm>
            <a:off x="11033760" y="2208784"/>
            <a:ext cx="396240" cy="400304"/>
          </a:xfrm>
          <a:prstGeom prst="roundRect">
            <a:avLst>
              <a:gd name="adj" fmla="val 9231"/>
            </a:avLst>
          </a:prstGeom>
          <a:solidFill>
            <a:schemeClr val="accent1">
              <a:alpha val="20000"/>
            </a:schemeClr>
          </a:solidFill>
          <a:ln/>
        </p:spPr>
      </p:sp>
      <p:sp>
        <p:nvSpPr>
          <p:cNvPr id="23" name="Shape 21"/>
          <p:cNvSpPr/>
          <p:nvPr/>
        </p:nvSpPr>
        <p:spPr>
          <a:xfrm>
            <a:off x="8503920" y="2718816"/>
            <a:ext cx="396240" cy="400304"/>
          </a:xfrm>
          <a:prstGeom prst="roundRect">
            <a:avLst>
              <a:gd name="adj" fmla="val 9231"/>
            </a:avLst>
          </a:prstGeom>
          <a:solidFill>
            <a:schemeClr val="accent1">
              <a:alpha val="75000"/>
            </a:schemeClr>
          </a:solidFill>
          <a:ln/>
        </p:spPr>
      </p:sp>
      <p:sp>
        <p:nvSpPr>
          <p:cNvPr id="24" name="Shape 22"/>
          <p:cNvSpPr/>
          <p:nvPr/>
        </p:nvSpPr>
        <p:spPr>
          <a:xfrm>
            <a:off x="9009888" y="2718816"/>
            <a:ext cx="396240" cy="400304"/>
          </a:xfrm>
          <a:prstGeom prst="roundRect">
            <a:avLst>
              <a:gd name="adj" fmla="val 9231"/>
            </a:avLst>
          </a:prstGeom>
          <a:solidFill>
            <a:schemeClr val="accent1">
              <a:alpha val="20000"/>
            </a:schemeClr>
          </a:solidFill>
          <a:ln/>
        </p:spPr>
      </p:sp>
      <p:sp>
        <p:nvSpPr>
          <p:cNvPr id="25" name="Shape 23"/>
          <p:cNvSpPr/>
          <p:nvPr/>
        </p:nvSpPr>
        <p:spPr>
          <a:xfrm>
            <a:off x="9515856" y="2718816"/>
            <a:ext cx="396240" cy="400304"/>
          </a:xfrm>
          <a:prstGeom prst="roundRect">
            <a:avLst>
              <a:gd name="adj" fmla="val 9231"/>
            </a:avLst>
          </a:prstGeom>
          <a:solidFill>
            <a:schemeClr val="accent1">
              <a:alpha val="75000"/>
            </a:schemeClr>
          </a:solidFill>
          <a:ln/>
        </p:spPr>
      </p:sp>
      <p:sp>
        <p:nvSpPr>
          <p:cNvPr id="26" name="Shape 24"/>
          <p:cNvSpPr/>
          <p:nvPr/>
        </p:nvSpPr>
        <p:spPr>
          <a:xfrm>
            <a:off x="10021824" y="2718816"/>
            <a:ext cx="396240" cy="400304"/>
          </a:xfrm>
          <a:prstGeom prst="roundRect">
            <a:avLst>
              <a:gd name="adj" fmla="val 9231"/>
            </a:avLst>
          </a:prstGeom>
          <a:solidFill>
            <a:schemeClr val="accent1">
              <a:alpha val="20000"/>
            </a:schemeClr>
          </a:solidFill>
          <a:ln/>
        </p:spPr>
      </p:sp>
      <p:sp>
        <p:nvSpPr>
          <p:cNvPr id="27" name="Shape 25"/>
          <p:cNvSpPr/>
          <p:nvPr/>
        </p:nvSpPr>
        <p:spPr>
          <a:xfrm>
            <a:off x="10527792" y="2718816"/>
            <a:ext cx="396240" cy="400304"/>
          </a:xfrm>
          <a:prstGeom prst="roundRect">
            <a:avLst>
              <a:gd name="adj" fmla="val 9231"/>
            </a:avLst>
          </a:prstGeom>
          <a:solidFill>
            <a:schemeClr val="accent1">
              <a:alpha val="75000"/>
            </a:schemeClr>
          </a:solidFill>
          <a:ln/>
        </p:spPr>
      </p:sp>
      <p:sp>
        <p:nvSpPr>
          <p:cNvPr id="28" name="Shape 26"/>
          <p:cNvSpPr/>
          <p:nvPr/>
        </p:nvSpPr>
        <p:spPr>
          <a:xfrm>
            <a:off x="11033760" y="2718816"/>
            <a:ext cx="396240" cy="400304"/>
          </a:xfrm>
          <a:prstGeom prst="roundRect">
            <a:avLst>
              <a:gd name="adj" fmla="val 9231"/>
            </a:avLst>
          </a:prstGeom>
          <a:solidFill>
            <a:schemeClr val="accent1">
              <a:alpha val="20000"/>
            </a:schemeClr>
          </a:solidFill>
          <a:ln/>
        </p:spPr>
      </p:sp>
      <p:sp>
        <p:nvSpPr>
          <p:cNvPr id="29" name="Shape 27"/>
          <p:cNvSpPr/>
          <p:nvPr/>
        </p:nvSpPr>
        <p:spPr>
          <a:xfrm>
            <a:off x="8503920" y="3228848"/>
            <a:ext cx="396240" cy="400304"/>
          </a:xfrm>
          <a:prstGeom prst="roundRect">
            <a:avLst>
              <a:gd name="adj" fmla="val 9231"/>
            </a:avLst>
          </a:prstGeom>
          <a:solidFill>
            <a:schemeClr val="accent1"/>
          </a:solidFill>
          <a:ln/>
        </p:spPr>
      </p:sp>
      <p:sp>
        <p:nvSpPr>
          <p:cNvPr id="30" name="Shape 28"/>
          <p:cNvSpPr/>
          <p:nvPr/>
        </p:nvSpPr>
        <p:spPr>
          <a:xfrm>
            <a:off x="9009888" y="3228848"/>
            <a:ext cx="396240" cy="400304"/>
          </a:xfrm>
          <a:prstGeom prst="roundRect">
            <a:avLst>
              <a:gd name="adj" fmla="val 9231"/>
            </a:avLst>
          </a:prstGeom>
          <a:solidFill>
            <a:schemeClr val="accent1">
              <a:alpha val="20000"/>
            </a:schemeClr>
          </a:solidFill>
          <a:ln/>
        </p:spPr>
      </p:sp>
      <p:sp>
        <p:nvSpPr>
          <p:cNvPr id="31" name="Shape 29"/>
          <p:cNvSpPr/>
          <p:nvPr/>
        </p:nvSpPr>
        <p:spPr>
          <a:xfrm>
            <a:off x="9515856" y="3228848"/>
            <a:ext cx="396240" cy="400304"/>
          </a:xfrm>
          <a:prstGeom prst="roundRect">
            <a:avLst>
              <a:gd name="adj" fmla="val 9231"/>
            </a:avLst>
          </a:prstGeom>
          <a:solidFill>
            <a:schemeClr val="accent1">
              <a:alpha val="45000"/>
            </a:schemeClr>
          </a:solidFill>
          <a:ln/>
        </p:spPr>
      </p:sp>
      <p:sp>
        <p:nvSpPr>
          <p:cNvPr id="32" name="Shape 30"/>
          <p:cNvSpPr/>
          <p:nvPr/>
        </p:nvSpPr>
        <p:spPr>
          <a:xfrm>
            <a:off x="10021824" y="3228848"/>
            <a:ext cx="396240" cy="400304"/>
          </a:xfrm>
          <a:prstGeom prst="roundRect">
            <a:avLst>
              <a:gd name="adj" fmla="val 9231"/>
            </a:avLst>
          </a:prstGeom>
          <a:solidFill>
            <a:schemeClr val="accent1">
              <a:alpha val="75000"/>
            </a:schemeClr>
          </a:solidFill>
          <a:ln/>
        </p:spPr>
      </p:sp>
      <p:sp>
        <p:nvSpPr>
          <p:cNvPr id="33" name="Shape 31"/>
          <p:cNvSpPr/>
          <p:nvPr/>
        </p:nvSpPr>
        <p:spPr>
          <a:xfrm>
            <a:off x="10527792" y="3228848"/>
            <a:ext cx="396240" cy="400304"/>
          </a:xfrm>
          <a:prstGeom prst="roundRect">
            <a:avLst>
              <a:gd name="adj" fmla="val 9231"/>
            </a:avLst>
          </a:prstGeom>
          <a:solidFill>
            <a:schemeClr val="accent1"/>
          </a:solidFill>
          <a:ln/>
        </p:spPr>
      </p:sp>
      <p:sp>
        <p:nvSpPr>
          <p:cNvPr id="34" name="Shape 32"/>
          <p:cNvSpPr/>
          <p:nvPr/>
        </p:nvSpPr>
        <p:spPr>
          <a:xfrm>
            <a:off x="11033760" y="3228848"/>
            <a:ext cx="396240" cy="400304"/>
          </a:xfrm>
          <a:prstGeom prst="roundRect">
            <a:avLst>
              <a:gd name="adj" fmla="val 9231"/>
            </a:avLst>
          </a:prstGeom>
          <a:solidFill>
            <a:schemeClr val="accent1">
              <a:alpha val="20000"/>
            </a:schemeClr>
          </a:solidFill>
          <a:ln/>
        </p:spPr>
      </p:sp>
      <p:sp>
        <p:nvSpPr>
          <p:cNvPr id="35" name="Shape 33"/>
          <p:cNvSpPr/>
          <p:nvPr/>
        </p:nvSpPr>
        <p:spPr>
          <a:xfrm>
            <a:off x="8503920" y="3738880"/>
            <a:ext cx="396240" cy="400304"/>
          </a:xfrm>
          <a:prstGeom prst="roundRect">
            <a:avLst>
              <a:gd name="adj" fmla="val 9231"/>
            </a:avLst>
          </a:prstGeom>
          <a:solidFill>
            <a:schemeClr val="accent1">
              <a:alpha val="20000"/>
            </a:schemeClr>
          </a:solidFill>
          <a:ln/>
        </p:spPr>
      </p:sp>
      <p:sp>
        <p:nvSpPr>
          <p:cNvPr id="36" name="Shape 34"/>
          <p:cNvSpPr/>
          <p:nvPr/>
        </p:nvSpPr>
        <p:spPr>
          <a:xfrm>
            <a:off x="9009888" y="3738880"/>
            <a:ext cx="396240" cy="400304"/>
          </a:xfrm>
          <a:prstGeom prst="roundRect">
            <a:avLst>
              <a:gd name="adj" fmla="val 9231"/>
            </a:avLst>
          </a:prstGeom>
          <a:solidFill>
            <a:schemeClr val="accent1">
              <a:alpha val="20000"/>
            </a:schemeClr>
          </a:solidFill>
          <a:ln/>
        </p:spPr>
      </p:sp>
      <p:sp>
        <p:nvSpPr>
          <p:cNvPr id="37" name="Shape 35"/>
          <p:cNvSpPr/>
          <p:nvPr/>
        </p:nvSpPr>
        <p:spPr>
          <a:xfrm>
            <a:off x="9515856" y="3738880"/>
            <a:ext cx="396240" cy="400304"/>
          </a:xfrm>
          <a:prstGeom prst="roundRect">
            <a:avLst>
              <a:gd name="adj" fmla="val 9231"/>
            </a:avLst>
          </a:prstGeom>
          <a:solidFill>
            <a:schemeClr val="accent1">
              <a:alpha val="20000"/>
            </a:schemeClr>
          </a:solidFill>
          <a:ln/>
        </p:spPr>
      </p:sp>
      <p:sp>
        <p:nvSpPr>
          <p:cNvPr id="38" name="Shape 36"/>
          <p:cNvSpPr/>
          <p:nvPr/>
        </p:nvSpPr>
        <p:spPr>
          <a:xfrm>
            <a:off x="10021824" y="3738880"/>
            <a:ext cx="396240" cy="400304"/>
          </a:xfrm>
          <a:prstGeom prst="roundRect">
            <a:avLst>
              <a:gd name="adj" fmla="val 9231"/>
            </a:avLst>
          </a:prstGeom>
          <a:solidFill>
            <a:schemeClr val="accent1">
              <a:alpha val="20000"/>
            </a:schemeClr>
          </a:solidFill>
          <a:ln/>
        </p:spPr>
      </p:sp>
      <p:sp>
        <p:nvSpPr>
          <p:cNvPr id="39" name="Shape 37"/>
          <p:cNvSpPr/>
          <p:nvPr/>
        </p:nvSpPr>
        <p:spPr>
          <a:xfrm>
            <a:off x="10527792" y="3738880"/>
            <a:ext cx="396240" cy="400304"/>
          </a:xfrm>
          <a:prstGeom prst="roundRect">
            <a:avLst>
              <a:gd name="adj" fmla="val 9231"/>
            </a:avLst>
          </a:prstGeom>
          <a:solidFill>
            <a:schemeClr val="accent1">
              <a:alpha val="20000"/>
            </a:schemeClr>
          </a:solidFill>
          <a:ln/>
        </p:spPr>
      </p:sp>
      <p:sp>
        <p:nvSpPr>
          <p:cNvPr id="40" name="Shape 38"/>
          <p:cNvSpPr/>
          <p:nvPr/>
        </p:nvSpPr>
        <p:spPr>
          <a:xfrm>
            <a:off x="11033760" y="3738880"/>
            <a:ext cx="396240" cy="400304"/>
          </a:xfrm>
          <a:prstGeom prst="roundRect">
            <a:avLst>
              <a:gd name="adj" fmla="val 9231"/>
            </a:avLst>
          </a:prstGeom>
          <a:solidFill>
            <a:schemeClr val="accent1">
              <a:alpha val="20000"/>
            </a:schemeClr>
          </a:solidFill>
          <a:ln/>
        </p:spPr>
      </p:sp>
      <p:sp>
        <p:nvSpPr>
          <p:cNvPr id="41" name="Shape 39"/>
          <p:cNvSpPr/>
          <p:nvPr/>
        </p:nvSpPr>
        <p:spPr>
          <a:xfrm>
            <a:off x="8503920" y="4248912"/>
            <a:ext cx="396240" cy="400304"/>
          </a:xfrm>
          <a:prstGeom prst="roundRect">
            <a:avLst>
              <a:gd name="adj" fmla="val 9231"/>
            </a:avLst>
          </a:prstGeom>
          <a:solidFill>
            <a:schemeClr val="accent1">
              <a:alpha val="45000"/>
            </a:schemeClr>
          </a:solidFill>
          <a:ln/>
        </p:spPr>
      </p:sp>
      <p:sp>
        <p:nvSpPr>
          <p:cNvPr id="42" name="Shape 40"/>
          <p:cNvSpPr/>
          <p:nvPr/>
        </p:nvSpPr>
        <p:spPr>
          <a:xfrm>
            <a:off x="9009888" y="4248912"/>
            <a:ext cx="396240" cy="400304"/>
          </a:xfrm>
          <a:prstGeom prst="roundRect">
            <a:avLst>
              <a:gd name="adj" fmla="val 9231"/>
            </a:avLst>
          </a:prstGeom>
          <a:solidFill>
            <a:schemeClr val="accent1">
              <a:alpha val="20000"/>
            </a:schemeClr>
          </a:solidFill>
          <a:ln/>
        </p:spPr>
      </p:sp>
      <p:sp>
        <p:nvSpPr>
          <p:cNvPr id="43" name="Shape 41"/>
          <p:cNvSpPr/>
          <p:nvPr/>
        </p:nvSpPr>
        <p:spPr>
          <a:xfrm>
            <a:off x="9515856" y="4248912"/>
            <a:ext cx="396240" cy="400304"/>
          </a:xfrm>
          <a:prstGeom prst="roundRect">
            <a:avLst>
              <a:gd name="adj" fmla="val 9231"/>
            </a:avLst>
          </a:prstGeom>
          <a:solidFill>
            <a:schemeClr val="accent1"/>
          </a:solidFill>
          <a:ln/>
        </p:spPr>
      </p:sp>
      <p:sp>
        <p:nvSpPr>
          <p:cNvPr id="44" name="Shape 42"/>
          <p:cNvSpPr/>
          <p:nvPr/>
        </p:nvSpPr>
        <p:spPr>
          <a:xfrm>
            <a:off x="10021824" y="4248912"/>
            <a:ext cx="396240" cy="400304"/>
          </a:xfrm>
          <a:prstGeom prst="roundRect">
            <a:avLst>
              <a:gd name="adj" fmla="val 9231"/>
            </a:avLst>
          </a:prstGeom>
          <a:solidFill>
            <a:schemeClr val="accent1">
              <a:alpha val="75000"/>
            </a:schemeClr>
          </a:solidFill>
          <a:ln/>
        </p:spPr>
      </p:sp>
      <p:sp>
        <p:nvSpPr>
          <p:cNvPr id="45" name="Shape 43"/>
          <p:cNvSpPr/>
          <p:nvPr/>
        </p:nvSpPr>
        <p:spPr>
          <a:xfrm>
            <a:off x="10527792" y="4248912"/>
            <a:ext cx="396240" cy="400304"/>
          </a:xfrm>
          <a:prstGeom prst="roundRect">
            <a:avLst>
              <a:gd name="adj" fmla="val 9231"/>
            </a:avLst>
          </a:prstGeom>
          <a:solidFill>
            <a:schemeClr val="accent1">
              <a:alpha val="45000"/>
            </a:schemeClr>
          </a:solidFill>
          <a:ln/>
        </p:spPr>
      </p:sp>
      <p:sp>
        <p:nvSpPr>
          <p:cNvPr id="46" name="Shape 44"/>
          <p:cNvSpPr/>
          <p:nvPr/>
        </p:nvSpPr>
        <p:spPr>
          <a:xfrm>
            <a:off x="11033760" y="4248912"/>
            <a:ext cx="396240" cy="400304"/>
          </a:xfrm>
          <a:prstGeom prst="roundRect">
            <a:avLst>
              <a:gd name="adj" fmla="val 9231"/>
            </a:avLst>
          </a:prstGeom>
          <a:solidFill>
            <a:schemeClr val="accent1">
              <a:alpha val="20000"/>
            </a:schemeClr>
          </a:solidFill>
          <a:ln/>
        </p:spPr>
      </p:sp>
      <p:sp>
        <p:nvSpPr>
          <p:cNvPr id="47" name="Shape 45"/>
          <p:cNvSpPr/>
          <p:nvPr/>
        </p:nvSpPr>
        <p:spPr>
          <a:xfrm>
            <a:off x="8503920" y="4758944"/>
            <a:ext cx="396240" cy="400304"/>
          </a:xfrm>
          <a:prstGeom prst="roundRect">
            <a:avLst>
              <a:gd name="adj" fmla="val 9231"/>
            </a:avLst>
          </a:prstGeom>
          <a:solidFill>
            <a:schemeClr val="accent1">
              <a:alpha val="75000"/>
            </a:schemeClr>
          </a:solidFill>
          <a:ln/>
        </p:spPr>
      </p:sp>
      <p:sp>
        <p:nvSpPr>
          <p:cNvPr id="48" name="Shape 46"/>
          <p:cNvSpPr/>
          <p:nvPr/>
        </p:nvSpPr>
        <p:spPr>
          <a:xfrm>
            <a:off x="9009888" y="4758944"/>
            <a:ext cx="396240" cy="400304"/>
          </a:xfrm>
          <a:prstGeom prst="roundRect">
            <a:avLst>
              <a:gd name="adj" fmla="val 9231"/>
            </a:avLst>
          </a:prstGeom>
          <a:solidFill>
            <a:schemeClr val="accent1">
              <a:alpha val="20000"/>
            </a:schemeClr>
          </a:solidFill>
          <a:ln/>
        </p:spPr>
      </p:sp>
      <p:sp>
        <p:nvSpPr>
          <p:cNvPr id="49" name="Shape 47"/>
          <p:cNvSpPr/>
          <p:nvPr/>
        </p:nvSpPr>
        <p:spPr>
          <a:xfrm>
            <a:off x="9515856" y="4758944"/>
            <a:ext cx="396240" cy="400304"/>
          </a:xfrm>
          <a:prstGeom prst="roundRect">
            <a:avLst>
              <a:gd name="adj" fmla="val 9231"/>
            </a:avLst>
          </a:prstGeom>
          <a:solidFill>
            <a:schemeClr val="accent1">
              <a:alpha val="75000"/>
            </a:schemeClr>
          </a:solidFill>
          <a:ln/>
        </p:spPr>
      </p:sp>
      <p:sp>
        <p:nvSpPr>
          <p:cNvPr id="50" name="Shape 48"/>
          <p:cNvSpPr/>
          <p:nvPr/>
        </p:nvSpPr>
        <p:spPr>
          <a:xfrm>
            <a:off x="10021824" y="4758944"/>
            <a:ext cx="396240" cy="400304"/>
          </a:xfrm>
          <a:prstGeom prst="roundRect">
            <a:avLst>
              <a:gd name="adj" fmla="val 9231"/>
            </a:avLst>
          </a:prstGeom>
          <a:solidFill>
            <a:schemeClr val="accent1">
              <a:alpha val="20000"/>
            </a:schemeClr>
          </a:solidFill>
          <a:ln/>
        </p:spPr>
      </p:sp>
      <p:sp>
        <p:nvSpPr>
          <p:cNvPr id="51" name="Shape 49"/>
          <p:cNvSpPr/>
          <p:nvPr/>
        </p:nvSpPr>
        <p:spPr>
          <a:xfrm>
            <a:off x="10527792" y="4758944"/>
            <a:ext cx="396240" cy="400304"/>
          </a:xfrm>
          <a:prstGeom prst="roundRect">
            <a:avLst>
              <a:gd name="adj" fmla="val 9231"/>
            </a:avLst>
          </a:prstGeom>
          <a:solidFill>
            <a:schemeClr val="accent1">
              <a:alpha val="75000"/>
            </a:schemeClr>
          </a:solidFill>
          <a:ln/>
        </p:spPr>
      </p:sp>
      <p:sp>
        <p:nvSpPr>
          <p:cNvPr id="52" name="Shape 50"/>
          <p:cNvSpPr/>
          <p:nvPr/>
        </p:nvSpPr>
        <p:spPr>
          <a:xfrm>
            <a:off x="11033760" y="4758944"/>
            <a:ext cx="396240" cy="400304"/>
          </a:xfrm>
          <a:prstGeom prst="roundRect">
            <a:avLst>
              <a:gd name="adj" fmla="val 9231"/>
            </a:avLst>
          </a:prstGeom>
          <a:solidFill>
            <a:schemeClr val="accent1">
              <a:alpha val="20000"/>
            </a:schemeClr>
          </a:solidFill>
          <a:ln/>
        </p:spPr>
      </p:sp>
      <p:sp>
        <p:nvSpPr>
          <p:cNvPr id="53" name="Shape 51"/>
          <p:cNvSpPr/>
          <p:nvPr/>
        </p:nvSpPr>
        <p:spPr>
          <a:xfrm>
            <a:off x="8503920" y="5268976"/>
            <a:ext cx="396240" cy="400304"/>
          </a:xfrm>
          <a:prstGeom prst="roundRect">
            <a:avLst>
              <a:gd name="adj" fmla="val 9231"/>
            </a:avLst>
          </a:prstGeom>
          <a:solidFill>
            <a:schemeClr val="accent1"/>
          </a:solidFill>
          <a:ln/>
        </p:spPr>
      </p:sp>
      <p:sp>
        <p:nvSpPr>
          <p:cNvPr id="54" name="Shape 52"/>
          <p:cNvSpPr/>
          <p:nvPr/>
        </p:nvSpPr>
        <p:spPr>
          <a:xfrm>
            <a:off x="9009888" y="5268976"/>
            <a:ext cx="396240" cy="400304"/>
          </a:xfrm>
          <a:prstGeom prst="roundRect">
            <a:avLst>
              <a:gd name="adj" fmla="val 9231"/>
            </a:avLst>
          </a:prstGeom>
          <a:solidFill>
            <a:schemeClr val="accent1">
              <a:alpha val="20000"/>
            </a:schemeClr>
          </a:solidFill>
          <a:ln/>
        </p:spPr>
      </p:sp>
      <p:sp>
        <p:nvSpPr>
          <p:cNvPr id="55" name="Shape 53"/>
          <p:cNvSpPr/>
          <p:nvPr/>
        </p:nvSpPr>
        <p:spPr>
          <a:xfrm>
            <a:off x="9515856" y="5268976"/>
            <a:ext cx="396240" cy="400304"/>
          </a:xfrm>
          <a:prstGeom prst="roundRect">
            <a:avLst>
              <a:gd name="adj" fmla="val 9231"/>
            </a:avLst>
          </a:prstGeom>
          <a:solidFill>
            <a:schemeClr val="accent1">
              <a:alpha val="45000"/>
            </a:schemeClr>
          </a:solidFill>
          <a:ln/>
        </p:spPr>
      </p:sp>
      <p:sp>
        <p:nvSpPr>
          <p:cNvPr id="56" name="Shape 54"/>
          <p:cNvSpPr/>
          <p:nvPr/>
        </p:nvSpPr>
        <p:spPr>
          <a:xfrm>
            <a:off x="10021824" y="5268976"/>
            <a:ext cx="396240" cy="400304"/>
          </a:xfrm>
          <a:prstGeom prst="roundRect">
            <a:avLst>
              <a:gd name="adj" fmla="val 9231"/>
            </a:avLst>
          </a:prstGeom>
          <a:solidFill>
            <a:schemeClr val="accent1">
              <a:alpha val="75000"/>
            </a:schemeClr>
          </a:solidFill>
          <a:ln/>
        </p:spPr>
      </p:sp>
      <p:sp>
        <p:nvSpPr>
          <p:cNvPr id="57" name="Shape 55"/>
          <p:cNvSpPr/>
          <p:nvPr/>
        </p:nvSpPr>
        <p:spPr>
          <a:xfrm>
            <a:off x="10527792" y="5268976"/>
            <a:ext cx="396240" cy="400304"/>
          </a:xfrm>
          <a:prstGeom prst="roundRect">
            <a:avLst>
              <a:gd name="adj" fmla="val 9231"/>
            </a:avLst>
          </a:prstGeom>
          <a:solidFill>
            <a:schemeClr val="accent1"/>
          </a:solidFill>
          <a:ln/>
        </p:spPr>
      </p:sp>
      <p:sp>
        <p:nvSpPr>
          <p:cNvPr id="58" name="Shape 56"/>
          <p:cNvSpPr/>
          <p:nvPr/>
        </p:nvSpPr>
        <p:spPr>
          <a:xfrm>
            <a:off x="11033760" y="5268976"/>
            <a:ext cx="396240" cy="400304"/>
          </a:xfrm>
          <a:prstGeom prst="roundRect">
            <a:avLst>
              <a:gd name="adj" fmla="val 9231"/>
            </a:avLst>
          </a:prstGeom>
          <a:solidFill>
            <a:schemeClr val="accent1">
              <a:alpha val="20000"/>
            </a:schemeClr>
          </a:solidFill>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000" b="1" dirty="0">
                <a:solidFill>
                  <a:schemeClr val="tx1"/>
                </a:solidFill>
              </a:rPr>
              <a:t>Reference architecture: NeMo platform on Kubernetes</a:t>
            </a:r>
            <a:endParaRPr lang="en-US" sz="3000" dirty="0"/>
          </a:p>
        </p:txBody>
      </p:sp>
      <p:sp>
        <p:nvSpPr>
          <p:cNvPr id="3" name="Text 0"/>
          <p:cNvSpPr/>
          <p:nvPr>
            <p:ph idx="101" type="body" hasCustomPrompt="1"/>
          </p:nvPr>
        </p:nvSpPr>
        <p:spPr>
          <a:xfrm>
            <a:off x="548640" y="960120"/>
            <a:ext cx="11064240" cy="411480"/>
          </a:xfrm>
          <a:prstGeom prst="rect">
            <a:avLst/>
          </a:prstGeom>
          <a:noFill/>
          <a:ln/>
        </p:spPr>
        <p:txBody>
          <a:bodyPr wrap="square" lIns="0" tIns="0" rIns="0" bIns="0" rtlCol="0" anchor="t"/>
          <a:lstStyle/>
          <a:p>
            <a:pPr indent="0" marL="0">
              <a:buNone/>
            </a:pPr>
            <a:r>
              <a:rPr lang="en-US" sz="1600" dirty="0">
                <a:solidFill>
                  <a:schemeClr val="accent5"/>
                </a:solidFill>
              </a:rPr>
              <a:t>A shared GPU platform serving many application teams</a:t>
            </a:r>
            <a:endParaRPr lang="en-US" sz="1600" dirty="0"/>
          </a:p>
        </p:txBody>
      </p:sp>
      <p:sp>
        <p:nvSpPr>
          <p:cNvPr id="4" name="Shape 2"/>
          <p:cNvSpPr/>
          <p:nvPr/>
        </p:nvSpPr>
        <p:spPr>
          <a:xfrm>
            <a:off x="548640" y="1572768"/>
            <a:ext cx="11064240" cy="685800"/>
          </a:xfrm>
          <a:prstGeom prst="roundRect">
            <a:avLst>
              <a:gd name="adj" fmla="val 8000"/>
            </a:avLst>
          </a:prstGeom>
          <a:solidFill>
            <a:schemeClr val="bg2"/>
          </a:solidFill>
          <a:ln/>
        </p:spPr>
      </p:sp>
      <p:sp>
        <p:nvSpPr>
          <p:cNvPr id="5" name="Text 3"/>
          <p:cNvSpPr txBox="1"/>
          <p:nvPr/>
        </p:nvSpPr>
        <p:spPr>
          <a:xfrm>
            <a:off x="731520" y="1572768"/>
            <a:ext cx="1463040" cy="685800"/>
          </a:xfrm>
          <a:prstGeom prst="rect">
            <a:avLst/>
          </a:prstGeom>
          <a:noFill/>
          <a:ln/>
        </p:spPr>
        <p:txBody>
          <a:bodyPr wrap="square" lIns="0" tIns="0" rIns="0" bIns="0" rtlCol="0" anchor="ctr"/>
          <a:lstStyle/>
          <a:p>
            <a:pPr indent="0" marL="0">
              <a:buNone/>
            </a:pPr>
            <a:r>
              <a:rPr lang="en-US" sz="1300" b="1" dirty="0">
                <a:solidFill>
                  <a:schemeClr val="accent2"/>
                </a:solidFill>
              </a:rPr>
              <a:t>Consumers</a:t>
            </a:r>
            <a:endParaRPr lang="en-US" sz="1300" dirty="0"/>
          </a:p>
        </p:txBody>
      </p:sp>
      <p:sp>
        <p:nvSpPr>
          <p:cNvPr id="6" name="Text 4"/>
          <p:cNvSpPr/>
          <p:nvPr/>
        </p:nvSpPr>
        <p:spPr>
          <a:xfrm>
            <a:off x="2194560" y="1691640"/>
            <a:ext cx="1737360" cy="457200"/>
          </a:xfrm>
          <a:prstGeom prst="roundRect">
            <a:avLst>
              <a:gd name="adj" fmla="val 10000"/>
            </a:avLst>
          </a:prstGeom>
          <a:solidFill>
            <a:schemeClr val="bg1"/>
          </a:solidFill>
          <a:ln w="12700">
            <a:solidFill>
              <a:srgbClr val="CBD8C9"/>
            </a:solidFill>
          </a:ln>
        </p:spPr>
        <p:txBody>
          <a:bodyPr wrap="square" lIns="381" tIns="381" rIns="381" bIns="381" rtlCol="0" anchor="ctr"/>
          <a:lstStyle/>
          <a:p>
            <a:pPr algn="ctr" indent="0" marL="0">
              <a:buNone/>
            </a:pPr>
            <a:r>
              <a:rPr lang="en-US" sz="1200" b="1" dirty="0">
                <a:solidFill>
                  <a:schemeClr val="tx1"/>
                </a:solidFill>
              </a:rPr>
              <a:t>Chat and copilots</a:t>
            </a:r>
            <a:endParaRPr lang="en-US" sz="1200" dirty="0"/>
          </a:p>
        </p:txBody>
      </p:sp>
      <p:sp>
        <p:nvSpPr>
          <p:cNvPr id="7" name="Text 5"/>
          <p:cNvSpPr/>
          <p:nvPr/>
        </p:nvSpPr>
        <p:spPr>
          <a:xfrm>
            <a:off x="4069080" y="1691640"/>
            <a:ext cx="1737360" cy="457200"/>
          </a:xfrm>
          <a:prstGeom prst="roundRect">
            <a:avLst>
              <a:gd name="adj" fmla="val 10000"/>
            </a:avLst>
          </a:prstGeom>
          <a:solidFill>
            <a:schemeClr val="bg1"/>
          </a:solidFill>
          <a:ln w="12700">
            <a:solidFill>
              <a:srgbClr val="CBD8C9"/>
            </a:solidFill>
          </a:ln>
        </p:spPr>
        <p:txBody>
          <a:bodyPr wrap="square" lIns="381" tIns="381" rIns="381" bIns="381" rtlCol="0" anchor="ctr"/>
          <a:lstStyle/>
          <a:p>
            <a:pPr algn="ctr" indent="0" marL="0">
              <a:buNone/>
            </a:pPr>
            <a:r>
              <a:rPr lang="en-US" sz="1200" b="1" dirty="0">
                <a:solidFill>
                  <a:schemeClr val="tx1"/>
                </a:solidFill>
              </a:rPr>
              <a:t>RAG apps</a:t>
            </a:r>
            <a:endParaRPr lang="en-US" sz="1200" dirty="0"/>
          </a:p>
        </p:txBody>
      </p:sp>
      <p:sp>
        <p:nvSpPr>
          <p:cNvPr id="8" name="Text 6"/>
          <p:cNvSpPr/>
          <p:nvPr/>
        </p:nvSpPr>
        <p:spPr>
          <a:xfrm>
            <a:off x="5943600" y="1691640"/>
            <a:ext cx="1737360" cy="457200"/>
          </a:xfrm>
          <a:prstGeom prst="roundRect">
            <a:avLst>
              <a:gd name="adj" fmla="val 10000"/>
            </a:avLst>
          </a:prstGeom>
          <a:solidFill>
            <a:schemeClr val="bg1"/>
          </a:solidFill>
          <a:ln w="12700">
            <a:solidFill>
              <a:srgbClr val="CBD8C9"/>
            </a:solidFill>
          </a:ln>
        </p:spPr>
        <p:txBody>
          <a:bodyPr wrap="square" lIns="381" tIns="381" rIns="381" bIns="381" rtlCol="0" anchor="ctr"/>
          <a:lstStyle/>
          <a:p>
            <a:pPr algn="ctr" indent="0" marL="0">
              <a:buNone/>
            </a:pPr>
            <a:r>
              <a:rPr lang="en-US" sz="1200" b="1" dirty="0">
                <a:solidFill>
                  <a:schemeClr val="tx1"/>
                </a:solidFill>
              </a:rPr>
              <a:t>AI agents</a:t>
            </a:r>
            <a:endParaRPr lang="en-US" sz="1200" dirty="0"/>
          </a:p>
        </p:txBody>
      </p:sp>
      <p:sp>
        <p:nvSpPr>
          <p:cNvPr id="9" name="Text 7"/>
          <p:cNvSpPr/>
          <p:nvPr/>
        </p:nvSpPr>
        <p:spPr>
          <a:xfrm>
            <a:off x="7818120" y="1691640"/>
            <a:ext cx="1737360" cy="457200"/>
          </a:xfrm>
          <a:prstGeom prst="roundRect">
            <a:avLst>
              <a:gd name="adj" fmla="val 10000"/>
            </a:avLst>
          </a:prstGeom>
          <a:solidFill>
            <a:schemeClr val="bg1"/>
          </a:solidFill>
          <a:ln w="12700">
            <a:solidFill>
              <a:srgbClr val="CBD8C9"/>
            </a:solidFill>
          </a:ln>
        </p:spPr>
        <p:txBody>
          <a:bodyPr wrap="square" lIns="381" tIns="381" rIns="381" bIns="381" rtlCol="0" anchor="ctr"/>
          <a:lstStyle/>
          <a:p>
            <a:pPr algn="ctr" indent="0" marL="0">
              <a:buNone/>
            </a:pPr>
            <a:r>
              <a:rPr lang="en-US" sz="1200" b="1" dirty="0">
                <a:solidFill>
                  <a:schemeClr val="tx1"/>
                </a:solidFill>
              </a:rPr>
              <a:t>CI/CD pipelines</a:t>
            </a:r>
            <a:endParaRPr lang="en-US" sz="1200" dirty="0"/>
          </a:p>
        </p:txBody>
      </p:sp>
      <p:sp>
        <p:nvSpPr>
          <p:cNvPr id="10" name="Text 8"/>
          <p:cNvSpPr/>
          <p:nvPr/>
        </p:nvSpPr>
        <p:spPr>
          <a:xfrm>
            <a:off x="9692640" y="1691640"/>
            <a:ext cx="1737360" cy="457200"/>
          </a:xfrm>
          <a:prstGeom prst="roundRect">
            <a:avLst>
              <a:gd name="adj" fmla="val 10000"/>
            </a:avLst>
          </a:prstGeom>
          <a:solidFill>
            <a:schemeClr val="bg1"/>
          </a:solidFill>
          <a:ln w="12700">
            <a:solidFill>
              <a:srgbClr val="CBD8C9"/>
            </a:solidFill>
          </a:ln>
        </p:spPr>
        <p:txBody>
          <a:bodyPr wrap="square" lIns="381" tIns="381" rIns="381" bIns="381" rtlCol="0" anchor="ctr"/>
          <a:lstStyle/>
          <a:p>
            <a:pPr algn="ctr" indent="0" marL="0">
              <a:buNone/>
            </a:pPr>
            <a:r>
              <a:rPr lang="en-US" sz="1200" b="1" dirty="0">
                <a:solidFill>
                  <a:schemeClr val="tx1"/>
                </a:solidFill>
              </a:rPr>
              <a:t>Data scientists</a:t>
            </a:r>
            <a:endParaRPr lang="en-US" sz="1200" dirty="0"/>
          </a:p>
        </p:txBody>
      </p:sp>
      <p:sp>
        <p:nvSpPr>
          <p:cNvPr id="11" name="Text 9"/>
          <p:cNvSpPr/>
          <p:nvPr/>
        </p:nvSpPr>
        <p:spPr>
          <a:xfrm>
            <a:off x="548640" y="2395728"/>
            <a:ext cx="11064240" cy="411480"/>
          </a:xfrm>
          <a:prstGeom prst="roundRect">
            <a:avLst>
              <a:gd name="adj" fmla="val 11111"/>
            </a:avLst>
          </a:prstGeom>
          <a:solidFill>
            <a:schemeClr val="tx2"/>
          </a:solidFill>
          <a:ln/>
        </p:spPr>
        <p:txBody>
          <a:bodyPr wrap="square" lIns="381" tIns="381" rIns="381" bIns="381" rtlCol="0" anchor="ctr"/>
          <a:lstStyle/>
          <a:p>
            <a:pPr algn="ctr" indent="0" marL="0">
              <a:buNone/>
            </a:pPr>
            <a:r>
              <a:rPr lang="en-US" sz="1300" b="1" dirty="0">
                <a:solidFill>
                  <a:schemeClr val="bg1"/>
                </a:solidFill>
              </a:rPr>
              <a:t>API gateway  ·  identity (SSO / RBAC)  ·  audit logging</a:t>
            </a:r>
            <a:endParaRPr lang="en-US" sz="1300" dirty="0"/>
          </a:p>
        </p:txBody>
      </p:sp>
      <p:sp>
        <p:nvSpPr>
          <p:cNvPr id="12" name="Shape 10"/>
          <p:cNvSpPr/>
          <p:nvPr/>
        </p:nvSpPr>
        <p:spPr>
          <a:xfrm>
            <a:off x="548640" y="2944368"/>
            <a:ext cx="6766560" cy="2514600"/>
          </a:xfrm>
          <a:prstGeom prst="roundRect">
            <a:avLst>
              <a:gd name="adj" fmla="val 2182"/>
            </a:avLst>
          </a:prstGeom>
          <a:solidFill>
            <a:schemeClr val="tx1"/>
          </a:solidFill>
          <a:ln/>
        </p:spPr>
      </p:sp>
      <p:sp>
        <p:nvSpPr>
          <p:cNvPr id="13" name="Text 11"/>
          <p:cNvSpPr txBox="1"/>
          <p:nvPr/>
        </p:nvSpPr>
        <p:spPr>
          <a:xfrm>
            <a:off x="731520" y="3017520"/>
            <a:ext cx="6400800" cy="320040"/>
          </a:xfrm>
          <a:prstGeom prst="rect">
            <a:avLst/>
          </a:prstGeom>
          <a:noFill/>
          <a:ln/>
        </p:spPr>
        <p:txBody>
          <a:bodyPr wrap="square" lIns="0" tIns="0" rIns="0" bIns="0" rtlCol="0" anchor="t"/>
          <a:lstStyle/>
          <a:p>
            <a:pPr indent="0" marL="0">
              <a:buNone/>
            </a:pPr>
            <a:r>
              <a:rPr lang="en-US" sz="1300" b="1" dirty="0">
                <a:solidFill>
                  <a:schemeClr val="accent1"/>
                </a:solidFill>
              </a:rPr>
              <a:t>NeMo microservices (model development)</a:t>
            </a:r>
            <a:endParaRPr lang="en-US" sz="1300" dirty="0"/>
          </a:p>
        </p:txBody>
      </p:sp>
      <p:sp>
        <p:nvSpPr>
          <p:cNvPr id="14" name="Text 12"/>
          <p:cNvSpPr/>
          <p:nvPr/>
        </p:nvSpPr>
        <p:spPr>
          <a:xfrm>
            <a:off x="731520" y="3429000"/>
            <a:ext cx="1508760" cy="777240"/>
          </a:xfrm>
          <a:prstGeom prst="roundRect">
            <a:avLst>
              <a:gd name="adj" fmla="val 5882"/>
            </a:avLst>
          </a:prstGeom>
          <a:solidFill>
            <a:schemeClr val="accent1"/>
          </a:solidFill>
          <a:ln/>
        </p:spPr>
        <p:txBody>
          <a:bodyPr wrap="square" lIns="381" tIns="381" rIns="381" bIns="381" rtlCol="0" anchor="ctr"/>
          <a:lstStyle/>
          <a:p>
            <a:pPr algn="ctr" indent="0" marL="0">
              <a:buNone/>
            </a:pPr>
            <a:r>
              <a:rPr lang="en-US" sz="1200" b="1" dirty="0">
                <a:solidFill>
                  <a:schemeClr val="tx1"/>
                </a:solidFill>
              </a:rPr>
              <a:t>Customizer</a:t>
            </a:r>
            <a:endParaRPr lang="en-US" sz="1200" dirty="0"/>
          </a:p>
        </p:txBody>
      </p:sp>
      <p:sp>
        <p:nvSpPr>
          <p:cNvPr id="15" name="Text 13"/>
          <p:cNvSpPr/>
          <p:nvPr/>
        </p:nvSpPr>
        <p:spPr>
          <a:xfrm>
            <a:off x="2377440" y="3429000"/>
            <a:ext cx="1508760" cy="777240"/>
          </a:xfrm>
          <a:prstGeom prst="roundRect">
            <a:avLst>
              <a:gd name="adj" fmla="val 5882"/>
            </a:avLst>
          </a:prstGeom>
          <a:solidFill>
            <a:schemeClr val="accent1"/>
          </a:solidFill>
          <a:ln/>
        </p:spPr>
        <p:txBody>
          <a:bodyPr wrap="square" lIns="381" tIns="381" rIns="381" bIns="381" rtlCol="0" anchor="ctr"/>
          <a:lstStyle/>
          <a:p>
            <a:pPr algn="ctr" indent="0" marL="0">
              <a:buNone/>
            </a:pPr>
            <a:r>
              <a:rPr lang="en-US" sz="1200" b="1" dirty="0">
                <a:solidFill>
                  <a:schemeClr val="tx1"/>
                </a:solidFill>
              </a:rPr>
              <a:t>Evaluator</a:t>
            </a:r>
            <a:endParaRPr lang="en-US" sz="1200" dirty="0"/>
          </a:p>
        </p:txBody>
      </p:sp>
      <p:sp>
        <p:nvSpPr>
          <p:cNvPr id="16" name="Text 14"/>
          <p:cNvSpPr/>
          <p:nvPr/>
        </p:nvSpPr>
        <p:spPr>
          <a:xfrm>
            <a:off x="4023360" y="3429000"/>
            <a:ext cx="1508760" cy="777240"/>
          </a:xfrm>
          <a:prstGeom prst="roundRect">
            <a:avLst>
              <a:gd name="adj" fmla="val 5882"/>
            </a:avLst>
          </a:prstGeom>
          <a:solidFill>
            <a:schemeClr val="accent1"/>
          </a:solidFill>
          <a:ln/>
        </p:spPr>
        <p:txBody>
          <a:bodyPr wrap="square" lIns="381" tIns="381" rIns="381" bIns="381" rtlCol="0" anchor="ctr"/>
          <a:lstStyle/>
          <a:p>
            <a:pPr algn="ctr" indent="0" marL="0">
              <a:buNone/>
            </a:pPr>
            <a:r>
              <a:rPr lang="en-US" sz="1200" b="1" dirty="0">
                <a:solidFill>
                  <a:schemeClr val="tx1"/>
                </a:solidFill>
              </a:rPr>
              <a:t>Guardrails</a:t>
            </a:r>
            <a:endParaRPr lang="en-US" sz="1200" dirty="0"/>
          </a:p>
        </p:txBody>
      </p:sp>
      <p:sp>
        <p:nvSpPr>
          <p:cNvPr id="17" name="Text 15"/>
          <p:cNvSpPr/>
          <p:nvPr/>
        </p:nvSpPr>
        <p:spPr>
          <a:xfrm>
            <a:off x="5669280" y="3429000"/>
            <a:ext cx="1508760" cy="777240"/>
          </a:xfrm>
          <a:prstGeom prst="roundRect">
            <a:avLst>
              <a:gd name="adj" fmla="val 5882"/>
            </a:avLst>
          </a:prstGeom>
          <a:solidFill>
            <a:schemeClr val="accent1"/>
          </a:solidFill>
          <a:ln/>
        </p:spPr>
        <p:txBody>
          <a:bodyPr wrap="square" lIns="381" tIns="381" rIns="381" bIns="381" rtlCol="0" anchor="ctr"/>
          <a:lstStyle/>
          <a:p>
            <a:pPr algn="ctr" indent="0" marL="0">
              <a:buNone/>
            </a:pPr>
            <a:r>
              <a:rPr lang="en-US" sz="1200" b="1" dirty="0">
                <a:solidFill>
                  <a:schemeClr val="tx1"/>
                </a:solidFill>
              </a:rPr>
              <a:t>Data Designer</a:t>
            </a:r>
            <a:endParaRPr lang="en-US" sz="1200" dirty="0"/>
          </a:p>
        </p:txBody>
      </p:sp>
      <p:sp>
        <p:nvSpPr>
          <p:cNvPr id="18" name="Text 16"/>
          <p:cNvSpPr/>
          <p:nvPr/>
        </p:nvSpPr>
        <p:spPr>
          <a:xfrm>
            <a:off x="731520" y="4389120"/>
            <a:ext cx="1508760" cy="777240"/>
          </a:xfrm>
          <a:prstGeom prst="roundRect">
            <a:avLst>
              <a:gd name="adj" fmla="val 5882"/>
            </a:avLst>
          </a:prstGeom>
          <a:solidFill>
            <a:schemeClr val="accent1"/>
          </a:solidFill>
          <a:ln/>
        </p:spPr>
        <p:txBody>
          <a:bodyPr wrap="square" lIns="381" tIns="381" rIns="381" bIns="381" rtlCol="0" anchor="ctr"/>
          <a:lstStyle/>
          <a:p>
            <a:pPr algn="ctr" indent="0" marL="0">
              <a:buNone/>
            </a:pPr>
            <a:r>
              <a:rPr lang="en-US" sz="1200" b="1" dirty="0">
                <a:solidFill>
                  <a:schemeClr val="tx1"/>
                </a:solidFill>
              </a:rPr>
              <a:t>Auditor</a:t>
            </a:r>
            <a:endParaRPr lang="en-US" sz="1200" dirty="0"/>
          </a:p>
        </p:txBody>
      </p:sp>
      <p:sp>
        <p:nvSpPr>
          <p:cNvPr id="19" name="Text 17"/>
          <p:cNvSpPr/>
          <p:nvPr/>
        </p:nvSpPr>
        <p:spPr>
          <a:xfrm>
            <a:off x="2377440" y="4389120"/>
            <a:ext cx="1508760" cy="777240"/>
          </a:xfrm>
          <a:prstGeom prst="roundRect">
            <a:avLst>
              <a:gd name="adj" fmla="val 5882"/>
            </a:avLst>
          </a:prstGeom>
          <a:solidFill>
            <a:schemeClr val="tx2"/>
          </a:solidFill>
          <a:ln/>
        </p:spPr>
        <p:txBody>
          <a:bodyPr wrap="square" lIns="381" tIns="381" rIns="381" bIns="381" rtlCol="0" anchor="ctr"/>
          <a:lstStyle/>
          <a:p>
            <a:pPr algn="ctr" indent="0" marL="0">
              <a:buNone/>
            </a:pPr>
            <a:r>
              <a:rPr lang="en-US" sz="1200" b="1" dirty="0">
                <a:solidFill>
                  <a:schemeClr val="bg1"/>
                </a:solidFill>
              </a:rPr>
              <a:t>Data Store</a:t>
            </a:r>
            <a:endParaRPr lang="en-US" sz="1200" dirty="0"/>
          </a:p>
        </p:txBody>
      </p:sp>
      <p:sp>
        <p:nvSpPr>
          <p:cNvPr id="20" name="Text 18"/>
          <p:cNvSpPr/>
          <p:nvPr/>
        </p:nvSpPr>
        <p:spPr>
          <a:xfrm>
            <a:off x="4023360" y="4389120"/>
            <a:ext cx="1508760" cy="777240"/>
          </a:xfrm>
          <a:prstGeom prst="roundRect">
            <a:avLst>
              <a:gd name="adj" fmla="val 5882"/>
            </a:avLst>
          </a:prstGeom>
          <a:solidFill>
            <a:schemeClr val="tx2"/>
          </a:solidFill>
          <a:ln/>
        </p:spPr>
        <p:txBody>
          <a:bodyPr wrap="square" lIns="381" tIns="381" rIns="381" bIns="381" rtlCol="0" anchor="ctr"/>
          <a:lstStyle/>
          <a:p>
            <a:pPr algn="ctr" indent="0" marL="0">
              <a:buNone/>
            </a:pPr>
            <a:r>
              <a:rPr lang="en-US" sz="1200" b="1" dirty="0">
                <a:solidFill>
                  <a:schemeClr val="bg1"/>
                </a:solidFill>
              </a:rPr>
              <a:t>Entity Store</a:t>
            </a:r>
            <a:endParaRPr lang="en-US" sz="1200" dirty="0"/>
          </a:p>
        </p:txBody>
      </p:sp>
      <p:sp>
        <p:nvSpPr>
          <p:cNvPr id="21" name="Text 19"/>
          <p:cNvSpPr/>
          <p:nvPr/>
        </p:nvSpPr>
        <p:spPr>
          <a:xfrm>
            <a:off x="5669280" y="4389120"/>
            <a:ext cx="1508760" cy="777240"/>
          </a:xfrm>
          <a:prstGeom prst="roundRect">
            <a:avLst>
              <a:gd name="adj" fmla="val 5882"/>
            </a:avLst>
          </a:prstGeom>
          <a:solidFill>
            <a:schemeClr val="tx2"/>
          </a:solidFill>
          <a:ln/>
        </p:spPr>
        <p:txBody>
          <a:bodyPr wrap="square" lIns="381" tIns="381" rIns="381" bIns="381" rtlCol="0" anchor="ctr"/>
          <a:lstStyle/>
          <a:p>
            <a:pPr algn="ctr" indent="0" marL="0">
              <a:buNone/>
            </a:pPr>
            <a:r>
              <a:rPr lang="en-US" sz="1200" b="1" dirty="0">
                <a:solidFill>
                  <a:schemeClr val="bg1"/>
                </a:solidFill>
              </a:rPr>
              <a:t>Deployment mgmt</a:t>
            </a:r>
            <a:endParaRPr lang="en-US" sz="1200" dirty="0"/>
          </a:p>
        </p:txBody>
      </p:sp>
      <p:sp>
        <p:nvSpPr>
          <p:cNvPr id="22" name="Shape 20"/>
          <p:cNvSpPr/>
          <p:nvPr/>
        </p:nvSpPr>
        <p:spPr>
          <a:xfrm>
            <a:off x="7498080" y="2944368"/>
            <a:ext cx="4114800" cy="2514600"/>
          </a:xfrm>
          <a:prstGeom prst="roundRect">
            <a:avLst>
              <a:gd name="adj" fmla="val 2182"/>
            </a:avLst>
          </a:prstGeom>
          <a:solidFill>
            <a:schemeClr val="bg2"/>
          </a:solidFill>
          <a:ln/>
        </p:spPr>
      </p:sp>
      <p:sp>
        <p:nvSpPr>
          <p:cNvPr id="23" name="Text 21"/>
          <p:cNvSpPr txBox="1"/>
          <p:nvPr/>
        </p:nvSpPr>
        <p:spPr>
          <a:xfrm>
            <a:off x="7680960" y="3017520"/>
            <a:ext cx="3657600" cy="320040"/>
          </a:xfrm>
          <a:prstGeom prst="rect">
            <a:avLst/>
          </a:prstGeom>
          <a:noFill/>
          <a:ln/>
        </p:spPr>
        <p:txBody>
          <a:bodyPr wrap="square" lIns="0" tIns="0" rIns="0" bIns="0" rtlCol="0" anchor="t"/>
          <a:lstStyle/>
          <a:p>
            <a:pPr indent="0" marL="0">
              <a:buNone/>
            </a:pPr>
            <a:r>
              <a:rPr lang="en-US" sz="1300" b="1" dirty="0">
                <a:solidFill>
                  <a:schemeClr val="accent2"/>
                </a:solidFill>
              </a:rPr>
              <a:t>Inference (NIM)</a:t>
            </a:r>
            <a:endParaRPr lang="en-US" sz="1300" dirty="0"/>
          </a:p>
        </p:txBody>
      </p:sp>
      <p:sp>
        <p:nvSpPr>
          <p:cNvPr id="24" name="Text 22"/>
          <p:cNvSpPr/>
          <p:nvPr/>
        </p:nvSpPr>
        <p:spPr>
          <a:xfrm>
            <a:off x="7680960" y="3429000"/>
            <a:ext cx="1783080" cy="777240"/>
          </a:xfrm>
          <a:prstGeom prst="roundRect">
            <a:avLst>
              <a:gd name="adj" fmla="val 5882"/>
            </a:avLst>
          </a:prstGeom>
          <a:solidFill>
            <a:schemeClr val="accent1"/>
          </a:solidFill>
          <a:ln/>
        </p:spPr>
        <p:txBody>
          <a:bodyPr wrap="square" lIns="381" tIns="381" rIns="381" bIns="381" rtlCol="0" anchor="ctr"/>
          <a:lstStyle/>
          <a:p>
            <a:pPr algn="ctr" indent="0" marL="0">
              <a:buNone/>
            </a:pPr>
            <a:r>
              <a:rPr lang="en-US" sz="1200" b="1" dirty="0">
                <a:solidFill>
                  <a:schemeClr val="tx1"/>
                </a:solidFill>
              </a:rPr>
              <a:t>LLM NIM + LoRA adapters</a:t>
            </a:r>
            <a:endParaRPr lang="en-US" sz="1200" dirty="0"/>
          </a:p>
        </p:txBody>
      </p:sp>
      <p:sp>
        <p:nvSpPr>
          <p:cNvPr id="25" name="Text 23"/>
          <p:cNvSpPr/>
          <p:nvPr/>
        </p:nvSpPr>
        <p:spPr>
          <a:xfrm>
            <a:off x="9573768" y="3429000"/>
            <a:ext cx="1783080" cy="777240"/>
          </a:xfrm>
          <a:prstGeom prst="roundRect">
            <a:avLst>
              <a:gd name="adj" fmla="val 5882"/>
            </a:avLst>
          </a:prstGeom>
          <a:solidFill>
            <a:schemeClr val="accent1"/>
          </a:solidFill>
          <a:ln/>
        </p:spPr>
        <p:txBody>
          <a:bodyPr wrap="square" lIns="381" tIns="381" rIns="381" bIns="381" rtlCol="0" anchor="ctr"/>
          <a:lstStyle/>
          <a:p>
            <a:pPr algn="ctr" indent="0" marL="0">
              <a:buNone/>
            </a:pPr>
            <a:r>
              <a:rPr lang="en-US" sz="1200" b="1" dirty="0">
                <a:solidFill>
                  <a:schemeClr val="tx1"/>
                </a:solidFill>
              </a:rPr>
              <a:t>Retriever NIMs</a:t>
            </a:r>
            <a:endParaRPr lang="en-US" sz="1200" dirty="0"/>
          </a:p>
        </p:txBody>
      </p:sp>
      <p:sp>
        <p:nvSpPr>
          <p:cNvPr id="26" name="Text 24"/>
          <p:cNvSpPr/>
          <p:nvPr/>
        </p:nvSpPr>
        <p:spPr>
          <a:xfrm>
            <a:off x="7680960" y="4389120"/>
            <a:ext cx="1783080" cy="777240"/>
          </a:xfrm>
          <a:prstGeom prst="roundRect">
            <a:avLst>
              <a:gd name="adj" fmla="val 5882"/>
            </a:avLst>
          </a:prstGeom>
          <a:solidFill>
            <a:schemeClr val="accent1"/>
          </a:solidFill>
          <a:ln/>
        </p:spPr>
        <p:txBody>
          <a:bodyPr wrap="square" lIns="381" tIns="381" rIns="381" bIns="381" rtlCol="0" anchor="ctr"/>
          <a:lstStyle/>
          <a:p>
            <a:pPr algn="ctr" indent="0" marL="0">
              <a:buNone/>
            </a:pPr>
            <a:r>
              <a:rPr lang="en-US" sz="1200" b="1" dirty="0">
                <a:solidFill>
                  <a:schemeClr val="tx1"/>
                </a:solidFill>
              </a:rPr>
              <a:t>Safety NIMs</a:t>
            </a:r>
            <a:endParaRPr lang="en-US" sz="1200" dirty="0"/>
          </a:p>
        </p:txBody>
      </p:sp>
      <p:sp>
        <p:nvSpPr>
          <p:cNvPr id="27" name="Text 25"/>
          <p:cNvSpPr/>
          <p:nvPr/>
        </p:nvSpPr>
        <p:spPr>
          <a:xfrm>
            <a:off x="9573768" y="4389120"/>
            <a:ext cx="1783080" cy="777240"/>
          </a:xfrm>
          <a:prstGeom prst="roundRect">
            <a:avLst>
              <a:gd name="adj" fmla="val 5882"/>
            </a:avLst>
          </a:prstGeom>
          <a:solidFill>
            <a:schemeClr val="bg1"/>
          </a:solidFill>
          <a:ln w="12700">
            <a:solidFill>
              <a:srgbClr val="CBD8C9"/>
            </a:solidFill>
          </a:ln>
        </p:spPr>
        <p:txBody>
          <a:bodyPr wrap="square" lIns="381" tIns="381" rIns="381" bIns="381" rtlCol="0" anchor="ctr"/>
          <a:lstStyle/>
          <a:p>
            <a:pPr algn="ctr" indent="0" marL="0">
              <a:buNone/>
            </a:pPr>
            <a:r>
              <a:rPr lang="en-US" sz="1200" b="1" dirty="0">
                <a:solidFill>
                  <a:schemeClr val="tx1"/>
                </a:solidFill>
              </a:rPr>
              <a:t>Vector database</a:t>
            </a:r>
            <a:endParaRPr lang="en-US" sz="1200" dirty="0"/>
          </a:p>
        </p:txBody>
      </p:sp>
      <p:sp>
        <p:nvSpPr>
          <p:cNvPr id="28" name="Text 26"/>
          <p:cNvSpPr/>
          <p:nvPr/>
        </p:nvSpPr>
        <p:spPr>
          <a:xfrm>
            <a:off x="548640" y="5596128"/>
            <a:ext cx="11064240" cy="576072"/>
          </a:xfrm>
          <a:prstGeom prst="roundRect">
            <a:avLst>
              <a:gd name="adj" fmla="val 7937"/>
            </a:avLst>
          </a:prstGeom>
          <a:solidFill>
            <a:schemeClr val="accent2"/>
          </a:solidFill>
          <a:ln/>
        </p:spPr>
        <p:txBody>
          <a:bodyPr wrap="square" lIns="381" tIns="381" rIns="381" bIns="381" rtlCol="0" anchor="ctr"/>
          <a:lstStyle/>
          <a:p>
            <a:pPr algn="ctr" indent="0" marL="0">
              <a:buNone/>
            </a:pPr>
            <a:r>
              <a:rPr lang="en-US" sz="1300" b="1" dirty="0">
                <a:solidFill>
                  <a:schemeClr val="bg1"/>
                </a:solidFill>
              </a:rPr>
              <a:t>Kubernetes  +  GPU Operator / NIM Operator  ·  object storage + PostgreSQL  ·  NVIDIA GPUs (on-prem or cloud)  ·  observability</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000" b="1" dirty="0">
                <a:solidFill>
                  <a:schemeClr val="tx1"/>
                </a:solidFill>
              </a:rPr>
              <a:t>The data flywheel: models that keep improving</a:t>
            </a:r>
            <a:endParaRPr lang="en-US" sz="3000" dirty="0"/>
          </a:p>
        </p:txBody>
      </p:sp>
      <p:sp>
        <p:nvSpPr>
          <p:cNvPr id="3" name="Text 0"/>
          <p:cNvSpPr/>
          <p:nvPr>
            <p:ph idx="101" type="body" hasCustomPrompt="1"/>
          </p:nvPr>
        </p:nvSpPr>
        <p:spPr>
          <a:xfrm>
            <a:off x="548640" y="960120"/>
            <a:ext cx="11064240" cy="411480"/>
          </a:xfrm>
          <a:prstGeom prst="rect">
            <a:avLst/>
          </a:prstGeom>
          <a:noFill/>
          <a:ln/>
        </p:spPr>
        <p:txBody>
          <a:bodyPr wrap="square" lIns="0" tIns="0" rIns="0" bIns="0" rtlCol="0" anchor="t"/>
          <a:lstStyle/>
          <a:p>
            <a:pPr indent="0" marL="0">
              <a:buNone/>
            </a:pPr>
            <a:r>
              <a:rPr lang="en-US" sz="1600" dirty="0">
                <a:solidFill>
                  <a:schemeClr val="accent5"/>
                </a:solidFill>
              </a:rPr>
              <a:t>Production usage becomes the fuel for the next, better and cheaper model</a:t>
            </a:r>
            <a:endParaRPr lang="en-US" sz="1600" dirty="0"/>
          </a:p>
        </p:txBody>
      </p:sp>
      <p:sp>
        <p:nvSpPr>
          <p:cNvPr id="4" name="Text 2"/>
          <p:cNvSpPr/>
          <p:nvPr/>
        </p:nvSpPr>
        <p:spPr>
          <a:xfrm>
            <a:off x="2331720" y="1488186"/>
            <a:ext cx="1737360" cy="768096"/>
          </a:xfrm>
          <a:prstGeom prst="roundRect">
            <a:avLst>
              <a:gd name="adj" fmla="val 7143"/>
            </a:avLst>
          </a:prstGeom>
          <a:solidFill>
            <a:schemeClr val="accent1"/>
          </a:solidFill>
          <a:ln/>
        </p:spPr>
        <p:txBody>
          <a:bodyPr wrap="square" lIns="635" tIns="635" rIns="635" bIns="635" rtlCol="0" anchor="ctr"/>
          <a:lstStyle/>
          <a:p>
            <a:pPr algn="ctr" indent="0" marL="0">
              <a:buNone/>
            </a:pPr>
            <a:r>
              <a:rPr lang="en-US" sz="1400" b="1" dirty="0">
                <a:solidFill>
                  <a:schemeClr val="tx1"/>
                </a:solidFill>
              </a:rPr>
              <a:t>Deploy</a:t>
            </a:r>
            <a:endParaRPr lang="en-US" sz="1400" dirty="0"/>
          </a:p>
          <a:p>
            <a:pPr algn="ctr" indent="0" marL="0">
              <a:buNone/>
            </a:pPr>
            <a:r>
              <a:rPr lang="en-US" sz="1000" dirty="0">
                <a:solidFill>
                  <a:schemeClr val="tx1"/>
                </a:solidFill>
              </a:rPr>
              <a:t>Model serves users via NIM</a:t>
            </a:r>
            <a:endParaRPr lang="en-US" sz="1400" dirty="0"/>
          </a:p>
        </p:txBody>
      </p:sp>
      <p:sp>
        <p:nvSpPr>
          <p:cNvPr id="5" name="Text 3"/>
          <p:cNvSpPr/>
          <p:nvPr/>
        </p:nvSpPr>
        <p:spPr>
          <a:xfrm>
            <a:off x="4360947" y="2472309"/>
            <a:ext cx="1737360" cy="768096"/>
          </a:xfrm>
          <a:prstGeom prst="roundRect">
            <a:avLst>
              <a:gd name="adj" fmla="val 7143"/>
            </a:avLst>
          </a:prstGeom>
          <a:solidFill>
            <a:schemeClr val="bg2"/>
          </a:solidFill>
          <a:ln/>
        </p:spPr>
        <p:txBody>
          <a:bodyPr wrap="square" lIns="635" tIns="635" rIns="635" bIns="635" rtlCol="0" anchor="ctr"/>
          <a:lstStyle/>
          <a:p>
            <a:pPr algn="ctr" indent="0" marL="0">
              <a:buNone/>
            </a:pPr>
            <a:r>
              <a:rPr lang="en-US" sz="1400" b="1" dirty="0">
                <a:solidFill>
                  <a:schemeClr val="tx1"/>
                </a:solidFill>
              </a:rPr>
              <a:t>Log</a:t>
            </a:r>
            <a:endParaRPr lang="en-US" sz="1400" dirty="0"/>
          </a:p>
          <a:p>
            <a:pPr algn="ctr" indent="0" marL="0">
              <a:buNone/>
            </a:pPr>
            <a:r>
              <a:rPr lang="en-US" sz="1000" dirty="0">
                <a:solidFill>
                  <a:schemeClr val="tx1"/>
                </a:solidFill>
              </a:rPr>
              <a:t>Prompts, responses, feedback, tool traces</a:t>
            </a:r>
            <a:endParaRPr lang="en-US" sz="1400" dirty="0"/>
          </a:p>
        </p:txBody>
      </p:sp>
      <p:sp>
        <p:nvSpPr>
          <p:cNvPr id="6" name="Text 4"/>
          <p:cNvSpPr/>
          <p:nvPr/>
        </p:nvSpPr>
        <p:spPr>
          <a:xfrm>
            <a:off x="4360947" y="4440555"/>
            <a:ext cx="1737360" cy="768096"/>
          </a:xfrm>
          <a:prstGeom prst="roundRect">
            <a:avLst>
              <a:gd name="adj" fmla="val 7143"/>
            </a:avLst>
          </a:prstGeom>
          <a:solidFill>
            <a:schemeClr val="accent1"/>
          </a:solidFill>
          <a:ln/>
        </p:spPr>
        <p:txBody>
          <a:bodyPr wrap="square" lIns="635" tIns="635" rIns="635" bIns="635" rtlCol="0" anchor="ctr"/>
          <a:lstStyle/>
          <a:p>
            <a:pPr algn="ctr" indent="0" marL="0">
              <a:buNone/>
            </a:pPr>
            <a:r>
              <a:rPr lang="en-US" sz="1400" b="1" dirty="0">
                <a:solidFill>
                  <a:schemeClr val="tx1"/>
                </a:solidFill>
              </a:rPr>
              <a:t>Curate</a:t>
            </a:r>
            <a:endParaRPr lang="en-US" sz="1400" dirty="0"/>
          </a:p>
          <a:p>
            <a:pPr algn="ctr" indent="0" marL="0">
              <a:buNone/>
            </a:pPr>
            <a:r>
              <a:rPr lang="en-US" sz="1000" dirty="0">
                <a:solidFill>
                  <a:schemeClr val="tx1"/>
                </a:solidFill>
              </a:rPr>
              <a:t>Filter, dedupe, remove PII, label (Curator)</a:t>
            </a:r>
            <a:endParaRPr lang="en-US" sz="1400" dirty="0"/>
          </a:p>
        </p:txBody>
      </p:sp>
      <p:sp>
        <p:nvSpPr>
          <p:cNvPr id="7" name="Text 5"/>
          <p:cNvSpPr/>
          <p:nvPr/>
        </p:nvSpPr>
        <p:spPr>
          <a:xfrm>
            <a:off x="2331720" y="5424678"/>
            <a:ext cx="1737360" cy="768096"/>
          </a:xfrm>
          <a:prstGeom prst="roundRect">
            <a:avLst>
              <a:gd name="adj" fmla="val 7143"/>
            </a:avLst>
          </a:prstGeom>
          <a:solidFill>
            <a:schemeClr val="bg2"/>
          </a:solidFill>
          <a:ln/>
        </p:spPr>
        <p:txBody>
          <a:bodyPr wrap="square" lIns="635" tIns="635" rIns="635" bIns="635" rtlCol="0" anchor="ctr"/>
          <a:lstStyle/>
          <a:p>
            <a:pPr algn="ctr" indent="0" marL="0">
              <a:buNone/>
            </a:pPr>
            <a:r>
              <a:rPr lang="en-US" sz="1400" b="1" dirty="0">
                <a:solidFill>
                  <a:schemeClr val="tx1"/>
                </a:solidFill>
              </a:rPr>
              <a:t>Customize</a:t>
            </a:r>
            <a:endParaRPr lang="en-US" sz="1400" dirty="0"/>
          </a:p>
          <a:p>
            <a:pPr algn="ctr" indent="0" marL="0">
              <a:buNone/>
            </a:pPr>
            <a:r>
              <a:rPr lang="en-US" sz="1000" dirty="0">
                <a:solidFill>
                  <a:schemeClr val="tx1"/>
                </a:solidFill>
              </a:rPr>
              <a:t>Fine-tune or distill candidates (Customizer)</a:t>
            </a:r>
            <a:endParaRPr lang="en-US" sz="1400" dirty="0"/>
          </a:p>
        </p:txBody>
      </p:sp>
      <p:sp>
        <p:nvSpPr>
          <p:cNvPr id="8" name="Text 6"/>
          <p:cNvSpPr/>
          <p:nvPr/>
        </p:nvSpPr>
        <p:spPr>
          <a:xfrm>
            <a:off x="302493" y="4440555"/>
            <a:ext cx="1737360" cy="768096"/>
          </a:xfrm>
          <a:prstGeom prst="roundRect">
            <a:avLst>
              <a:gd name="adj" fmla="val 7143"/>
            </a:avLst>
          </a:prstGeom>
          <a:solidFill>
            <a:schemeClr val="accent1"/>
          </a:solidFill>
          <a:ln/>
        </p:spPr>
        <p:txBody>
          <a:bodyPr wrap="square" lIns="635" tIns="635" rIns="635" bIns="635" rtlCol="0" anchor="ctr"/>
          <a:lstStyle/>
          <a:p>
            <a:pPr algn="ctr" indent="0" marL="0">
              <a:buNone/>
            </a:pPr>
            <a:r>
              <a:rPr lang="en-US" sz="1400" b="1" dirty="0">
                <a:solidFill>
                  <a:schemeClr val="tx1"/>
                </a:solidFill>
              </a:rPr>
              <a:t>Evaluate</a:t>
            </a:r>
            <a:endParaRPr lang="en-US" sz="1400" dirty="0"/>
          </a:p>
          <a:p>
            <a:pPr algn="ctr" indent="0" marL="0">
              <a:buNone/>
            </a:pPr>
            <a:r>
              <a:rPr lang="en-US" sz="1000" dirty="0">
                <a:solidFill>
                  <a:schemeClr val="tx1"/>
                </a:solidFill>
              </a:rPr>
              <a:t>Compare with production model (Evaluator)</a:t>
            </a:r>
            <a:endParaRPr lang="en-US" sz="1400" dirty="0"/>
          </a:p>
        </p:txBody>
      </p:sp>
      <p:sp>
        <p:nvSpPr>
          <p:cNvPr id="9" name="Text 7"/>
          <p:cNvSpPr/>
          <p:nvPr/>
        </p:nvSpPr>
        <p:spPr>
          <a:xfrm>
            <a:off x="302493" y="2472309"/>
            <a:ext cx="1737360" cy="768096"/>
          </a:xfrm>
          <a:prstGeom prst="roundRect">
            <a:avLst>
              <a:gd name="adj" fmla="val 7143"/>
            </a:avLst>
          </a:prstGeom>
          <a:solidFill>
            <a:schemeClr val="bg2"/>
          </a:solidFill>
          <a:ln/>
        </p:spPr>
        <p:txBody>
          <a:bodyPr wrap="square" lIns="635" tIns="635" rIns="635" bIns="635" rtlCol="0" anchor="ctr"/>
          <a:lstStyle/>
          <a:p>
            <a:pPr algn="ctr" indent="0" marL="0">
              <a:buNone/>
            </a:pPr>
            <a:r>
              <a:rPr lang="en-US" sz="1400" b="1" dirty="0">
                <a:solidFill>
                  <a:schemeClr val="tx1"/>
                </a:solidFill>
              </a:rPr>
              <a:t>Promote</a:t>
            </a:r>
            <a:endParaRPr lang="en-US" sz="1400" dirty="0"/>
          </a:p>
          <a:p>
            <a:pPr algn="ctr" indent="0" marL="0">
              <a:buNone/>
            </a:pPr>
            <a:r>
              <a:rPr lang="en-US" sz="1000" dirty="0">
                <a:solidFill>
                  <a:schemeClr val="tx1"/>
                </a:solidFill>
              </a:rPr>
              <a:t>Ship only if better on quality, cost, latency</a:t>
            </a:r>
            <a:endParaRPr lang="en-US" sz="1400" dirty="0"/>
          </a:p>
        </p:txBody>
      </p:sp>
      <p:sp>
        <p:nvSpPr>
          <p:cNvPr id="10" name="Shape 8"/>
          <p:cNvSpPr/>
          <p:nvPr/>
        </p:nvSpPr>
        <p:spPr>
          <a:xfrm>
            <a:off x="2423160" y="3063240"/>
            <a:ext cx="1554480" cy="1554480"/>
          </a:xfrm>
          <a:prstGeom prst="ellipse">
            <a:avLst/>
          </a:prstGeom>
          <a:solidFill>
            <a:schemeClr val="tx1"/>
          </a:solidFill>
          <a:ln/>
        </p:spPr>
      </p:sp>
      <p:pic>
        <p:nvPicPr>
          <p:cNvPr id="11" name="Image 0" descr="preencoded.png">    </p:cNvPr>
          <p:cNvPicPr>
            <a:picLocks noChangeAspect="1"/>
          </p:cNvPicPr>
          <p:nvPr/>
        </p:nvPicPr>
        <p:blipFill>
          <a:blip r:embed="rId1"/>
          <a:stretch>
            <a:fillRect/>
          </a:stretch>
        </p:blipFill>
        <p:spPr>
          <a:xfrm>
            <a:off x="2880360" y="3273552"/>
            <a:ext cx="640080" cy="640080"/>
          </a:xfrm>
          <a:prstGeom prst="rect">
            <a:avLst/>
          </a:prstGeom>
        </p:spPr>
      </p:pic>
      <p:sp>
        <p:nvSpPr>
          <p:cNvPr id="12" name="Text 9"/>
          <p:cNvSpPr txBox="1"/>
          <p:nvPr/>
        </p:nvSpPr>
        <p:spPr>
          <a:xfrm>
            <a:off x="2423160" y="3950208"/>
            <a:ext cx="1554480" cy="320040"/>
          </a:xfrm>
          <a:prstGeom prst="rect">
            <a:avLst/>
          </a:prstGeom>
          <a:noFill/>
          <a:ln/>
        </p:spPr>
        <p:txBody>
          <a:bodyPr wrap="square" lIns="0" tIns="0" rIns="0" bIns="0" rtlCol="0" anchor="t"/>
          <a:lstStyle/>
          <a:p>
            <a:pPr algn="ctr" indent="0" marL="0">
              <a:buNone/>
            </a:pPr>
            <a:r>
              <a:rPr lang="en-US" sz="1300" b="1" dirty="0">
                <a:solidFill>
                  <a:schemeClr val="bg1"/>
                </a:solidFill>
              </a:rPr>
              <a:t>Flywheel</a:t>
            </a:r>
            <a:endParaRPr lang="en-US" sz="1300" dirty="0"/>
          </a:p>
        </p:txBody>
      </p:sp>
      <p:sp>
        <p:nvSpPr>
          <p:cNvPr id="13" name="card"/>
          <p:cNvSpPr/>
          <p:nvPr/>
        </p:nvSpPr>
        <p:spPr>
          <a:xfrm>
            <a:off x="6675120" y="1600200"/>
            <a:ext cx="4937760" cy="2514600"/>
          </a:xfrm>
          <a:prstGeom prst="roundRect">
            <a:avLst>
              <a:gd name="adj" fmla="val 2909"/>
            </a:avLst>
          </a:prstGeom>
          <a:solidFill>
            <a:schemeClr val="bg2"/>
          </a:solidFill>
          <a:ln/>
        </p:spPr>
      </p:sp>
      <p:sp>
        <p:nvSpPr>
          <p:cNvPr id="14" name="Shape 11"/>
          <p:cNvSpPr/>
          <p:nvPr/>
        </p:nvSpPr>
        <p:spPr>
          <a:xfrm>
            <a:off x="6876288" y="1801368"/>
            <a:ext cx="548640" cy="548640"/>
          </a:xfrm>
          <a:prstGeom prst="ellipse">
            <a:avLst/>
          </a:prstGeom>
          <a:solidFill>
            <a:schemeClr val="accent1"/>
          </a:solidFill>
          <a:ln/>
        </p:spPr>
      </p:sp>
      <p:pic>
        <p:nvPicPr>
          <p:cNvPr id="15" name="Image 1" descr="preencoded.png">    </p:cNvPr>
          <p:cNvPicPr>
            <a:picLocks noChangeAspect="1"/>
          </p:cNvPicPr>
          <p:nvPr/>
        </p:nvPicPr>
        <p:blipFill>
          <a:blip r:embed="rId2"/>
          <a:stretch>
            <a:fillRect/>
          </a:stretch>
        </p:blipFill>
        <p:spPr>
          <a:xfrm>
            <a:off x="6996989" y="1922069"/>
            <a:ext cx="307238" cy="307238"/>
          </a:xfrm>
          <a:prstGeom prst="rect">
            <a:avLst/>
          </a:prstGeom>
        </p:spPr>
      </p:pic>
      <p:sp>
        <p:nvSpPr>
          <p:cNvPr id="16" name="Text 12"/>
          <p:cNvSpPr txBox="1"/>
          <p:nvPr/>
        </p:nvSpPr>
        <p:spPr>
          <a:xfrm>
            <a:off x="7543800" y="1801368"/>
            <a:ext cx="3886200" cy="548640"/>
          </a:xfrm>
          <a:prstGeom prst="rect">
            <a:avLst/>
          </a:prstGeom>
          <a:noFill/>
          <a:ln/>
        </p:spPr>
        <p:txBody>
          <a:bodyPr wrap="square" lIns="0" tIns="0" rIns="0" bIns="0" rtlCol="0" anchor="ctr"/>
          <a:lstStyle/>
          <a:p>
            <a:pPr indent="0" marL="0">
              <a:buNone/>
            </a:pPr>
            <a:r>
              <a:rPr lang="en-US" sz="1600" b="1" dirty="0">
                <a:solidFill>
                  <a:schemeClr val="tx1"/>
                </a:solidFill>
              </a:rPr>
              <a:t>Example outcome</a:t>
            </a:r>
            <a:endParaRPr lang="en-US" sz="1600" dirty="0"/>
          </a:p>
        </p:txBody>
      </p:sp>
      <p:sp>
        <p:nvSpPr>
          <p:cNvPr id="17" name="Text 13"/>
          <p:cNvSpPr txBox="1"/>
          <p:nvPr/>
        </p:nvSpPr>
        <p:spPr>
          <a:xfrm>
            <a:off x="6876288" y="2496312"/>
            <a:ext cx="4535424" cy="1481328"/>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2"/>
                </a:solidFill>
              </a:rPr>
              <a:t>An agent starts on a large 70B model</a:t>
            </a:r>
            <a:endParaRPr lang="en-US" sz="1400" dirty="0"/>
          </a:p>
          <a:p>
            <a:pPr marL="342900" indent="-342900">
              <a:spcAft>
                <a:spcPts val="500"/>
              </a:spcAft>
              <a:buSzPct val="100000"/>
              <a:buChar char="•"/>
            </a:pPr>
            <a:r>
              <a:rPr lang="en-US" sz="1400" dirty="0">
                <a:solidFill>
                  <a:schemeClr val="tx2"/>
                </a:solidFill>
              </a:rPr>
              <a:t>Logged tool-calling traffic is curated into training data</a:t>
            </a:r>
            <a:endParaRPr lang="en-US" sz="1400" dirty="0"/>
          </a:p>
          <a:p>
            <a:pPr marL="342900" indent="-342900">
              <a:spcAft>
                <a:spcPts val="500"/>
              </a:spcAft>
              <a:buSzPct val="100000"/>
              <a:buChar char="•"/>
            </a:pPr>
            <a:r>
              <a:rPr lang="en-US" sz="1400" dirty="0">
                <a:solidFill>
                  <a:schemeClr val="tx2"/>
                </a:solidFill>
              </a:rPr>
              <a:t>A fine-tuned 8B model matches accuracy on that task</a:t>
            </a:r>
            <a:endParaRPr lang="en-US" sz="1400" dirty="0"/>
          </a:p>
          <a:p>
            <a:pPr marL="342900" indent="-342900">
              <a:spcAft>
                <a:spcPts val="500"/>
              </a:spcAft>
              <a:buSzPct val="100000"/>
              <a:buChar char="•"/>
            </a:pPr>
            <a:r>
              <a:rPr lang="en-US" sz="1400" dirty="0">
                <a:solidFill>
                  <a:schemeClr val="tx2"/>
                </a:solidFill>
              </a:rPr>
              <a:t>Inference cost and latency drop sharply</a:t>
            </a:r>
            <a:endParaRPr lang="en-US" sz="1400" dirty="0"/>
          </a:p>
        </p:txBody>
      </p:sp>
      <p:sp>
        <p:nvSpPr>
          <p:cNvPr id="18" name="card"/>
          <p:cNvSpPr/>
          <p:nvPr/>
        </p:nvSpPr>
        <p:spPr>
          <a:xfrm>
            <a:off x="6675120" y="4251960"/>
            <a:ext cx="4937760" cy="1920240"/>
          </a:xfrm>
          <a:prstGeom prst="roundRect">
            <a:avLst>
              <a:gd name="adj" fmla="val 3810"/>
            </a:avLst>
          </a:prstGeom>
          <a:solidFill>
            <a:schemeClr val="bg2"/>
          </a:solidFill>
          <a:ln/>
        </p:spPr>
      </p:sp>
      <p:sp>
        <p:nvSpPr>
          <p:cNvPr id="19" name="Shape 15"/>
          <p:cNvSpPr/>
          <p:nvPr/>
        </p:nvSpPr>
        <p:spPr>
          <a:xfrm>
            <a:off x="6876288" y="4453128"/>
            <a:ext cx="548640" cy="548640"/>
          </a:xfrm>
          <a:prstGeom prst="ellipse">
            <a:avLst/>
          </a:prstGeom>
          <a:solidFill>
            <a:schemeClr val="accent1"/>
          </a:solidFill>
          <a:ln/>
        </p:spPr>
      </p:sp>
      <p:pic>
        <p:nvPicPr>
          <p:cNvPr id="20" name="Image 2" descr="preencoded.png">    </p:cNvPr>
          <p:cNvPicPr>
            <a:picLocks noChangeAspect="1"/>
          </p:cNvPicPr>
          <p:nvPr/>
        </p:nvPicPr>
        <p:blipFill>
          <a:blip r:embed="rId3"/>
          <a:stretch>
            <a:fillRect/>
          </a:stretch>
        </p:blipFill>
        <p:spPr>
          <a:xfrm>
            <a:off x="6996989" y="4573829"/>
            <a:ext cx="307238" cy="307238"/>
          </a:xfrm>
          <a:prstGeom prst="rect">
            <a:avLst/>
          </a:prstGeom>
        </p:spPr>
      </p:pic>
      <p:sp>
        <p:nvSpPr>
          <p:cNvPr id="21" name="Text 16"/>
          <p:cNvSpPr txBox="1"/>
          <p:nvPr/>
        </p:nvSpPr>
        <p:spPr>
          <a:xfrm>
            <a:off x="7543800" y="4453128"/>
            <a:ext cx="3886200" cy="548640"/>
          </a:xfrm>
          <a:prstGeom prst="rect">
            <a:avLst/>
          </a:prstGeom>
          <a:noFill/>
          <a:ln/>
        </p:spPr>
        <p:txBody>
          <a:bodyPr wrap="square" lIns="0" tIns="0" rIns="0" bIns="0" rtlCol="0" anchor="ctr"/>
          <a:lstStyle/>
          <a:p>
            <a:pPr indent="0" marL="0">
              <a:buNone/>
            </a:pPr>
            <a:r>
              <a:rPr lang="en-US" sz="1600" b="1" dirty="0">
                <a:solidFill>
                  <a:schemeClr val="tx1"/>
                </a:solidFill>
              </a:rPr>
              <a:t>Prerequisites</a:t>
            </a:r>
            <a:endParaRPr lang="en-US" sz="1600" dirty="0"/>
          </a:p>
        </p:txBody>
      </p:sp>
      <p:sp>
        <p:nvSpPr>
          <p:cNvPr id="22" name="Text 17"/>
          <p:cNvSpPr txBox="1"/>
          <p:nvPr/>
        </p:nvSpPr>
        <p:spPr>
          <a:xfrm>
            <a:off x="6876288" y="5148072"/>
            <a:ext cx="4535424" cy="886968"/>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2"/>
                </a:solidFill>
              </a:rPr>
              <a:t>User consent and data-retention policy for logs</a:t>
            </a:r>
            <a:endParaRPr lang="en-US" sz="1400" dirty="0"/>
          </a:p>
          <a:p>
            <a:pPr marL="342900" indent="-342900">
              <a:spcAft>
                <a:spcPts val="500"/>
              </a:spcAft>
              <a:buSzPct val="100000"/>
              <a:buChar char="•"/>
            </a:pPr>
            <a:r>
              <a:rPr lang="en-US" sz="1400" dirty="0">
                <a:solidFill>
                  <a:schemeClr val="tx2"/>
                </a:solidFill>
              </a:rPr>
              <a:t>A trusted evaluation set and clear promotion criteria</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000" b="1" dirty="0">
                <a:solidFill>
                  <a:schemeClr val="tx1"/>
                </a:solidFill>
              </a:rPr>
              <a:t>Worked example: a customer-support assistant</a:t>
            </a:r>
            <a:endParaRPr lang="en-US" sz="3000" dirty="0"/>
          </a:p>
        </p:txBody>
      </p:sp>
      <p:sp>
        <p:nvSpPr>
          <p:cNvPr id="3" name="Text 0"/>
          <p:cNvSpPr/>
          <p:nvPr>
            <p:ph idx="101" type="body" hasCustomPrompt="1"/>
          </p:nvPr>
        </p:nvSpPr>
        <p:spPr>
          <a:xfrm>
            <a:off x="548640" y="960120"/>
            <a:ext cx="11064240" cy="411480"/>
          </a:xfrm>
          <a:prstGeom prst="rect">
            <a:avLst/>
          </a:prstGeom>
          <a:noFill/>
          <a:ln/>
        </p:spPr>
        <p:txBody>
          <a:bodyPr wrap="square" lIns="0" tIns="0" rIns="0" bIns="0" rtlCol="0" anchor="t"/>
          <a:lstStyle/>
          <a:p>
            <a:pPr indent="0" marL="0">
              <a:buNone/>
            </a:pPr>
            <a:r>
              <a:rPr lang="en-US" sz="1600" dirty="0">
                <a:solidFill>
                  <a:schemeClr val="accent5"/>
                </a:solidFill>
              </a:rPr>
              <a:t>How the NeMo components combine in one real project</a:t>
            </a:r>
            <a:endParaRPr lang="en-US" sz="1600" dirty="0"/>
          </a:p>
        </p:txBody>
      </p:sp>
      <p:sp>
        <p:nvSpPr>
          <p:cNvPr id="4" name="Shape 2"/>
          <p:cNvSpPr/>
          <p:nvPr/>
        </p:nvSpPr>
        <p:spPr>
          <a:xfrm>
            <a:off x="548640" y="1627632"/>
            <a:ext cx="475488" cy="475488"/>
          </a:xfrm>
          <a:prstGeom prst="ellipse">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653247" y="1732239"/>
            <a:ext cx="266273" cy="266273"/>
          </a:xfrm>
          <a:prstGeom prst="rect">
            <a:avLst/>
          </a:prstGeom>
        </p:spPr>
      </p:pic>
      <p:sp>
        <p:nvSpPr>
          <p:cNvPr id="6" name="Text 3"/>
          <p:cNvSpPr txBox="1"/>
          <p:nvPr/>
        </p:nvSpPr>
        <p:spPr>
          <a:xfrm>
            <a:off x="1188720" y="1572768"/>
            <a:ext cx="1463040" cy="585216"/>
          </a:xfrm>
          <a:prstGeom prst="rect">
            <a:avLst/>
          </a:prstGeom>
          <a:noFill/>
          <a:ln/>
        </p:spPr>
        <p:txBody>
          <a:bodyPr wrap="square" lIns="0" tIns="0" rIns="0" bIns="0" rtlCol="0" anchor="ctr"/>
          <a:lstStyle/>
          <a:p>
            <a:pPr indent="0" marL="0">
              <a:buNone/>
            </a:pPr>
            <a:r>
              <a:rPr lang="en-US" sz="1600" b="1" dirty="0">
                <a:solidFill>
                  <a:schemeClr val="tx1"/>
                </a:solidFill>
              </a:rPr>
              <a:t>Curate</a:t>
            </a:r>
            <a:endParaRPr lang="en-US" sz="1600" dirty="0"/>
          </a:p>
        </p:txBody>
      </p:sp>
      <p:sp>
        <p:nvSpPr>
          <p:cNvPr id="7" name="Text 4"/>
          <p:cNvSpPr txBox="1"/>
          <p:nvPr/>
        </p:nvSpPr>
        <p:spPr>
          <a:xfrm>
            <a:off x="2651760" y="1572768"/>
            <a:ext cx="5120640" cy="585216"/>
          </a:xfrm>
          <a:prstGeom prst="rect">
            <a:avLst/>
          </a:prstGeom>
          <a:noFill/>
          <a:ln/>
        </p:spPr>
        <p:txBody>
          <a:bodyPr wrap="square" lIns="0" tIns="0" rIns="0" bIns="0" rtlCol="0" anchor="ctr"/>
          <a:lstStyle/>
          <a:p>
            <a:pPr indent="0" marL="0">
              <a:buNone/>
            </a:pPr>
            <a:r>
              <a:rPr lang="en-US" sz="1400" dirty="0">
                <a:solidFill>
                  <a:schemeClr val="tx2"/>
                </a:solidFill>
              </a:rPr>
              <a:t>Curator removes PII and duplicates from 200K past support tickets</a:t>
            </a:r>
            <a:endParaRPr lang="en-US" sz="1400" dirty="0"/>
          </a:p>
        </p:txBody>
      </p:sp>
      <p:sp>
        <p:nvSpPr>
          <p:cNvPr id="8" name="Shape 5"/>
          <p:cNvSpPr/>
          <p:nvPr/>
        </p:nvSpPr>
        <p:spPr>
          <a:xfrm>
            <a:off x="548640" y="2286000"/>
            <a:ext cx="475488" cy="475488"/>
          </a:xfrm>
          <a:prstGeom prst="ellipse">
            <a:avLst/>
          </a:prstGeom>
          <a:solidFill>
            <a:schemeClr val="accent1"/>
          </a:solidFill>
          <a:ln/>
        </p:spPr>
      </p:sp>
      <p:pic>
        <p:nvPicPr>
          <p:cNvPr id="9" name="Image 1" descr="preencoded.png">    </p:cNvPr>
          <p:cNvPicPr>
            <a:picLocks noChangeAspect="1"/>
          </p:cNvPicPr>
          <p:nvPr/>
        </p:nvPicPr>
        <p:blipFill>
          <a:blip r:embed="rId2"/>
          <a:stretch>
            <a:fillRect/>
          </a:stretch>
        </p:blipFill>
        <p:spPr>
          <a:xfrm>
            <a:off x="653247" y="2390607"/>
            <a:ext cx="266273" cy="266273"/>
          </a:xfrm>
          <a:prstGeom prst="rect">
            <a:avLst/>
          </a:prstGeom>
        </p:spPr>
      </p:pic>
      <p:sp>
        <p:nvSpPr>
          <p:cNvPr id="10" name="Text 6"/>
          <p:cNvSpPr txBox="1"/>
          <p:nvPr/>
        </p:nvSpPr>
        <p:spPr>
          <a:xfrm>
            <a:off x="1188720" y="2231136"/>
            <a:ext cx="1463040" cy="585216"/>
          </a:xfrm>
          <a:prstGeom prst="rect">
            <a:avLst/>
          </a:prstGeom>
          <a:noFill/>
          <a:ln/>
        </p:spPr>
        <p:txBody>
          <a:bodyPr wrap="square" lIns="0" tIns="0" rIns="0" bIns="0" rtlCol="0" anchor="ctr"/>
          <a:lstStyle/>
          <a:p>
            <a:pPr indent="0" marL="0">
              <a:buNone/>
            </a:pPr>
            <a:r>
              <a:rPr lang="en-US" sz="1600" b="1" dirty="0">
                <a:solidFill>
                  <a:schemeClr val="tx1"/>
                </a:solidFill>
              </a:rPr>
              <a:t>Retrieve</a:t>
            </a:r>
            <a:endParaRPr lang="en-US" sz="1600" dirty="0"/>
          </a:p>
        </p:txBody>
      </p:sp>
      <p:sp>
        <p:nvSpPr>
          <p:cNvPr id="11" name="Text 7"/>
          <p:cNvSpPr txBox="1"/>
          <p:nvPr/>
        </p:nvSpPr>
        <p:spPr>
          <a:xfrm>
            <a:off x="2651760" y="2231136"/>
            <a:ext cx="5120640" cy="585216"/>
          </a:xfrm>
          <a:prstGeom prst="rect">
            <a:avLst/>
          </a:prstGeom>
          <a:noFill/>
          <a:ln/>
        </p:spPr>
        <p:txBody>
          <a:bodyPr wrap="square" lIns="0" tIns="0" rIns="0" bIns="0" rtlCol="0" anchor="ctr"/>
          <a:lstStyle/>
          <a:p>
            <a:pPr indent="0" marL="0">
              <a:buNone/>
            </a:pPr>
            <a:r>
              <a:rPr lang="en-US" sz="1400" dirty="0">
                <a:solidFill>
                  <a:schemeClr val="tx2"/>
                </a:solidFill>
              </a:rPr>
              <a:t>Retriever NIMs index product manuals and policies for RAG</a:t>
            </a:r>
            <a:endParaRPr lang="en-US" sz="1400" dirty="0"/>
          </a:p>
        </p:txBody>
      </p:sp>
      <p:sp>
        <p:nvSpPr>
          <p:cNvPr id="12" name="Shape 8"/>
          <p:cNvSpPr/>
          <p:nvPr/>
        </p:nvSpPr>
        <p:spPr>
          <a:xfrm>
            <a:off x="548640" y="2944368"/>
            <a:ext cx="475488" cy="475488"/>
          </a:xfrm>
          <a:prstGeom prst="ellipse">
            <a:avLst/>
          </a:prstGeom>
          <a:solidFill>
            <a:schemeClr val="accent1"/>
          </a:solidFill>
          <a:ln/>
        </p:spPr>
      </p:sp>
      <p:pic>
        <p:nvPicPr>
          <p:cNvPr id="13" name="Image 2" descr="preencoded.png">    </p:cNvPr>
          <p:cNvPicPr>
            <a:picLocks noChangeAspect="1"/>
          </p:cNvPicPr>
          <p:nvPr/>
        </p:nvPicPr>
        <p:blipFill>
          <a:blip r:embed="rId3"/>
          <a:stretch>
            <a:fillRect/>
          </a:stretch>
        </p:blipFill>
        <p:spPr>
          <a:xfrm>
            <a:off x="653247" y="3048975"/>
            <a:ext cx="266273" cy="266273"/>
          </a:xfrm>
          <a:prstGeom prst="rect">
            <a:avLst/>
          </a:prstGeom>
        </p:spPr>
      </p:pic>
      <p:sp>
        <p:nvSpPr>
          <p:cNvPr id="14" name="Text 9"/>
          <p:cNvSpPr txBox="1"/>
          <p:nvPr/>
        </p:nvSpPr>
        <p:spPr>
          <a:xfrm>
            <a:off x="1188720" y="2889504"/>
            <a:ext cx="1463040" cy="585216"/>
          </a:xfrm>
          <a:prstGeom prst="rect">
            <a:avLst/>
          </a:prstGeom>
          <a:noFill/>
          <a:ln/>
        </p:spPr>
        <p:txBody>
          <a:bodyPr wrap="square" lIns="0" tIns="0" rIns="0" bIns="0" rtlCol="0" anchor="ctr"/>
          <a:lstStyle/>
          <a:p>
            <a:pPr indent="0" marL="0">
              <a:buNone/>
            </a:pPr>
            <a:r>
              <a:rPr lang="en-US" sz="1600" b="1" dirty="0">
                <a:solidFill>
                  <a:schemeClr val="tx1"/>
                </a:solidFill>
              </a:rPr>
              <a:t>Customize</a:t>
            </a:r>
            <a:endParaRPr lang="en-US" sz="1600" dirty="0"/>
          </a:p>
        </p:txBody>
      </p:sp>
      <p:sp>
        <p:nvSpPr>
          <p:cNvPr id="15" name="Text 10"/>
          <p:cNvSpPr txBox="1"/>
          <p:nvPr/>
        </p:nvSpPr>
        <p:spPr>
          <a:xfrm>
            <a:off x="2651760" y="2889504"/>
            <a:ext cx="5120640" cy="585216"/>
          </a:xfrm>
          <a:prstGeom prst="rect">
            <a:avLst/>
          </a:prstGeom>
          <a:noFill/>
          <a:ln/>
        </p:spPr>
        <p:txBody>
          <a:bodyPr wrap="square" lIns="0" tIns="0" rIns="0" bIns="0" rtlCol="0" anchor="ctr"/>
          <a:lstStyle/>
          <a:p>
            <a:pPr indent="0" marL="0">
              <a:buNone/>
            </a:pPr>
            <a:r>
              <a:rPr lang="en-US" sz="1400" dirty="0">
                <a:solidFill>
                  <a:schemeClr val="tx2"/>
                </a:solidFill>
              </a:rPr>
              <a:t>Customizer LoRA-tunes an 8B model on 20K resolved tickets for tone and format</a:t>
            </a:r>
            <a:endParaRPr lang="en-US" sz="1400" dirty="0"/>
          </a:p>
        </p:txBody>
      </p:sp>
      <p:sp>
        <p:nvSpPr>
          <p:cNvPr id="16" name="Shape 11"/>
          <p:cNvSpPr/>
          <p:nvPr/>
        </p:nvSpPr>
        <p:spPr>
          <a:xfrm>
            <a:off x="548640" y="3602736"/>
            <a:ext cx="475488" cy="475488"/>
          </a:xfrm>
          <a:prstGeom prst="ellipse">
            <a:avLst/>
          </a:prstGeom>
          <a:solidFill>
            <a:schemeClr val="accent1"/>
          </a:solidFill>
          <a:ln/>
        </p:spPr>
      </p:sp>
      <p:pic>
        <p:nvPicPr>
          <p:cNvPr id="17" name="Image 3" descr="preencoded.png">    </p:cNvPr>
          <p:cNvPicPr>
            <a:picLocks noChangeAspect="1"/>
          </p:cNvPicPr>
          <p:nvPr/>
        </p:nvPicPr>
        <p:blipFill>
          <a:blip r:embed="rId4"/>
          <a:stretch>
            <a:fillRect/>
          </a:stretch>
        </p:blipFill>
        <p:spPr>
          <a:xfrm>
            <a:off x="653247" y="3707343"/>
            <a:ext cx="266273" cy="266273"/>
          </a:xfrm>
          <a:prstGeom prst="rect">
            <a:avLst/>
          </a:prstGeom>
        </p:spPr>
      </p:pic>
      <p:sp>
        <p:nvSpPr>
          <p:cNvPr id="18" name="Text 12"/>
          <p:cNvSpPr txBox="1"/>
          <p:nvPr/>
        </p:nvSpPr>
        <p:spPr>
          <a:xfrm>
            <a:off x="1188720" y="3547872"/>
            <a:ext cx="1463040" cy="585216"/>
          </a:xfrm>
          <a:prstGeom prst="rect">
            <a:avLst/>
          </a:prstGeom>
          <a:noFill/>
          <a:ln/>
        </p:spPr>
        <p:txBody>
          <a:bodyPr wrap="square" lIns="0" tIns="0" rIns="0" bIns="0" rtlCol="0" anchor="ctr"/>
          <a:lstStyle/>
          <a:p>
            <a:pPr indent="0" marL="0">
              <a:buNone/>
            </a:pPr>
            <a:r>
              <a:rPr lang="en-US" sz="1600" b="1" dirty="0">
                <a:solidFill>
                  <a:schemeClr val="tx1"/>
                </a:solidFill>
              </a:rPr>
              <a:t>Evaluate</a:t>
            </a:r>
            <a:endParaRPr lang="en-US" sz="1600" dirty="0"/>
          </a:p>
        </p:txBody>
      </p:sp>
      <p:sp>
        <p:nvSpPr>
          <p:cNvPr id="19" name="Text 13"/>
          <p:cNvSpPr txBox="1"/>
          <p:nvPr/>
        </p:nvSpPr>
        <p:spPr>
          <a:xfrm>
            <a:off x="2651760" y="3547872"/>
            <a:ext cx="5120640" cy="585216"/>
          </a:xfrm>
          <a:prstGeom prst="rect">
            <a:avLst/>
          </a:prstGeom>
          <a:noFill/>
          <a:ln/>
        </p:spPr>
        <p:txBody>
          <a:bodyPr wrap="square" lIns="0" tIns="0" rIns="0" bIns="0" rtlCol="0" anchor="ctr"/>
          <a:lstStyle/>
          <a:p>
            <a:pPr indent="0" marL="0">
              <a:buNone/>
            </a:pPr>
            <a:r>
              <a:rPr lang="en-US" sz="1400" dirty="0">
                <a:solidFill>
                  <a:schemeClr val="tx2"/>
                </a:solidFill>
              </a:rPr>
              <a:t>Evaluator: golden set of 500 questions, LLM-as-a-judge, MMLU regression check</a:t>
            </a:r>
            <a:endParaRPr lang="en-US" sz="1400" dirty="0"/>
          </a:p>
        </p:txBody>
      </p:sp>
      <p:sp>
        <p:nvSpPr>
          <p:cNvPr id="20" name="Shape 14"/>
          <p:cNvSpPr/>
          <p:nvPr/>
        </p:nvSpPr>
        <p:spPr>
          <a:xfrm>
            <a:off x="548640" y="4261104"/>
            <a:ext cx="475488" cy="475488"/>
          </a:xfrm>
          <a:prstGeom prst="ellipse">
            <a:avLst/>
          </a:prstGeom>
          <a:solidFill>
            <a:schemeClr val="accent1"/>
          </a:solidFill>
          <a:ln/>
        </p:spPr>
      </p:sp>
      <p:pic>
        <p:nvPicPr>
          <p:cNvPr id="21" name="Image 4" descr="preencoded.png">    </p:cNvPr>
          <p:cNvPicPr>
            <a:picLocks noChangeAspect="1"/>
          </p:cNvPicPr>
          <p:nvPr/>
        </p:nvPicPr>
        <p:blipFill>
          <a:blip r:embed="rId5"/>
          <a:stretch>
            <a:fillRect/>
          </a:stretch>
        </p:blipFill>
        <p:spPr>
          <a:xfrm>
            <a:off x="653247" y="4365711"/>
            <a:ext cx="266273" cy="266273"/>
          </a:xfrm>
          <a:prstGeom prst="rect">
            <a:avLst/>
          </a:prstGeom>
        </p:spPr>
      </p:pic>
      <p:sp>
        <p:nvSpPr>
          <p:cNvPr id="22" name="Text 15"/>
          <p:cNvSpPr txBox="1"/>
          <p:nvPr/>
        </p:nvSpPr>
        <p:spPr>
          <a:xfrm>
            <a:off x="1188720" y="4206240"/>
            <a:ext cx="1463040" cy="585216"/>
          </a:xfrm>
          <a:prstGeom prst="rect">
            <a:avLst/>
          </a:prstGeom>
          <a:noFill/>
          <a:ln/>
        </p:spPr>
        <p:txBody>
          <a:bodyPr wrap="square" lIns="0" tIns="0" rIns="0" bIns="0" rtlCol="0" anchor="ctr"/>
          <a:lstStyle/>
          <a:p>
            <a:pPr indent="0" marL="0">
              <a:buNone/>
            </a:pPr>
            <a:r>
              <a:rPr lang="en-US" sz="1600" b="1" dirty="0">
                <a:solidFill>
                  <a:schemeClr val="tx1"/>
                </a:solidFill>
              </a:rPr>
              <a:t>Safeguard</a:t>
            </a:r>
            <a:endParaRPr lang="en-US" sz="1600" dirty="0"/>
          </a:p>
        </p:txBody>
      </p:sp>
      <p:sp>
        <p:nvSpPr>
          <p:cNvPr id="23" name="Text 16"/>
          <p:cNvSpPr txBox="1"/>
          <p:nvPr/>
        </p:nvSpPr>
        <p:spPr>
          <a:xfrm>
            <a:off x="2651760" y="4206240"/>
            <a:ext cx="5120640" cy="585216"/>
          </a:xfrm>
          <a:prstGeom prst="rect">
            <a:avLst/>
          </a:prstGeom>
          <a:noFill/>
          <a:ln/>
        </p:spPr>
        <p:txBody>
          <a:bodyPr wrap="square" lIns="0" tIns="0" rIns="0" bIns="0" rtlCol="0" anchor="ctr"/>
          <a:lstStyle/>
          <a:p>
            <a:pPr indent="0" marL="0">
              <a:buNone/>
            </a:pPr>
            <a:r>
              <a:rPr lang="en-US" sz="1400" dirty="0">
                <a:solidFill>
                  <a:schemeClr val="tx2"/>
                </a:solidFill>
              </a:rPr>
              <a:t>Guardrails: topic control, PII masking, content safety, grounding check</a:t>
            </a:r>
            <a:endParaRPr lang="en-US" sz="1400" dirty="0"/>
          </a:p>
        </p:txBody>
      </p:sp>
      <p:sp>
        <p:nvSpPr>
          <p:cNvPr id="24" name="Shape 17"/>
          <p:cNvSpPr/>
          <p:nvPr/>
        </p:nvSpPr>
        <p:spPr>
          <a:xfrm>
            <a:off x="548640" y="4919472"/>
            <a:ext cx="475488" cy="475488"/>
          </a:xfrm>
          <a:prstGeom prst="ellipse">
            <a:avLst/>
          </a:prstGeom>
          <a:solidFill>
            <a:schemeClr val="accent1"/>
          </a:solidFill>
          <a:ln/>
        </p:spPr>
      </p:sp>
      <p:pic>
        <p:nvPicPr>
          <p:cNvPr id="25" name="Image 5" descr="preencoded.png">    </p:cNvPr>
          <p:cNvPicPr>
            <a:picLocks noChangeAspect="1"/>
          </p:cNvPicPr>
          <p:nvPr/>
        </p:nvPicPr>
        <p:blipFill>
          <a:blip r:embed="rId6"/>
          <a:stretch>
            <a:fillRect/>
          </a:stretch>
        </p:blipFill>
        <p:spPr>
          <a:xfrm>
            <a:off x="653247" y="5024079"/>
            <a:ext cx="266273" cy="266273"/>
          </a:xfrm>
          <a:prstGeom prst="rect">
            <a:avLst/>
          </a:prstGeom>
        </p:spPr>
      </p:pic>
      <p:sp>
        <p:nvSpPr>
          <p:cNvPr id="26" name="Text 18"/>
          <p:cNvSpPr txBox="1"/>
          <p:nvPr/>
        </p:nvSpPr>
        <p:spPr>
          <a:xfrm>
            <a:off x="1188720" y="4864608"/>
            <a:ext cx="1463040" cy="585216"/>
          </a:xfrm>
          <a:prstGeom prst="rect">
            <a:avLst/>
          </a:prstGeom>
          <a:noFill/>
          <a:ln/>
        </p:spPr>
        <p:txBody>
          <a:bodyPr wrap="square" lIns="0" tIns="0" rIns="0" bIns="0" rtlCol="0" anchor="ctr"/>
          <a:lstStyle/>
          <a:p>
            <a:pPr indent="0" marL="0">
              <a:buNone/>
            </a:pPr>
            <a:r>
              <a:rPr lang="en-US" sz="1600" b="1" dirty="0">
                <a:solidFill>
                  <a:schemeClr val="tx1"/>
                </a:solidFill>
              </a:rPr>
              <a:t>Deploy</a:t>
            </a:r>
            <a:endParaRPr lang="en-US" sz="1600" dirty="0"/>
          </a:p>
        </p:txBody>
      </p:sp>
      <p:sp>
        <p:nvSpPr>
          <p:cNvPr id="27" name="Text 19"/>
          <p:cNvSpPr txBox="1"/>
          <p:nvPr/>
        </p:nvSpPr>
        <p:spPr>
          <a:xfrm>
            <a:off x="2651760" y="4864608"/>
            <a:ext cx="5120640" cy="585216"/>
          </a:xfrm>
          <a:prstGeom prst="rect">
            <a:avLst/>
          </a:prstGeom>
          <a:noFill/>
          <a:ln/>
        </p:spPr>
        <p:txBody>
          <a:bodyPr wrap="square" lIns="0" tIns="0" rIns="0" bIns="0" rtlCol="0" anchor="ctr"/>
          <a:lstStyle/>
          <a:p>
            <a:pPr indent="0" marL="0">
              <a:buNone/>
            </a:pPr>
            <a:r>
              <a:rPr lang="en-US" sz="1400" dirty="0">
                <a:solidFill>
                  <a:schemeClr val="tx2"/>
                </a:solidFill>
              </a:rPr>
              <a:t>NIM serves base model + adapter; Agent Toolkit traces every conversation</a:t>
            </a:r>
            <a:endParaRPr lang="en-US" sz="1400" dirty="0"/>
          </a:p>
        </p:txBody>
      </p:sp>
      <p:sp>
        <p:nvSpPr>
          <p:cNvPr id="28" name="Shape 20"/>
          <p:cNvSpPr/>
          <p:nvPr/>
        </p:nvSpPr>
        <p:spPr>
          <a:xfrm>
            <a:off x="548640" y="5577840"/>
            <a:ext cx="475488" cy="475488"/>
          </a:xfrm>
          <a:prstGeom prst="ellipse">
            <a:avLst/>
          </a:prstGeom>
          <a:solidFill>
            <a:schemeClr val="accent1"/>
          </a:solidFill>
          <a:ln/>
        </p:spPr>
      </p:sp>
      <p:pic>
        <p:nvPicPr>
          <p:cNvPr id="29" name="Image 6" descr="preencoded.png">    </p:cNvPr>
          <p:cNvPicPr>
            <a:picLocks noChangeAspect="1"/>
          </p:cNvPicPr>
          <p:nvPr/>
        </p:nvPicPr>
        <p:blipFill>
          <a:blip r:embed="rId7"/>
          <a:stretch>
            <a:fillRect/>
          </a:stretch>
        </p:blipFill>
        <p:spPr>
          <a:xfrm>
            <a:off x="653247" y="5682447"/>
            <a:ext cx="266273" cy="266273"/>
          </a:xfrm>
          <a:prstGeom prst="rect">
            <a:avLst/>
          </a:prstGeom>
        </p:spPr>
      </p:pic>
      <p:sp>
        <p:nvSpPr>
          <p:cNvPr id="30" name="Text 21"/>
          <p:cNvSpPr txBox="1"/>
          <p:nvPr/>
        </p:nvSpPr>
        <p:spPr>
          <a:xfrm>
            <a:off x="1188720" y="5522976"/>
            <a:ext cx="1463040" cy="585216"/>
          </a:xfrm>
          <a:prstGeom prst="rect">
            <a:avLst/>
          </a:prstGeom>
          <a:noFill/>
          <a:ln/>
        </p:spPr>
        <p:txBody>
          <a:bodyPr wrap="square" lIns="0" tIns="0" rIns="0" bIns="0" rtlCol="0" anchor="ctr"/>
          <a:lstStyle/>
          <a:p>
            <a:pPr indent="0" marL="0">
              <a:buNone/>
            </a:pPr>
            <a:r>
              <a:rPr lang="en-US" sz="1600" b="1" dirty="0">
                <a:solidFill>
                  <a:schemeClr val="tx1"/>
                </a:solidFill>
              </a:rPr>
              <a:t>Improve</a:t>
            </a:r>
            <a:endParaRPr lang="en-US" sz="1600" dirty="0"/>
          </a:p>
        </p:txBody>
      </p:sp>
      <p:sp>
        <p:nvSpPr>
          <p:cNvPr id="31" name="Text 22"/>
          <p:cNvSpPr txBox="1"/>
          <p:nvPr/>
        </p:nvSpPr>
        <p:spPr>
          <a:xfrm>
            <a:off x="2651760" y="5522976"/>
            <a:ext cx="5120640" cy="585216"/>
          </a:xfrm>
          <a:prstGeom prst="rect">
            <a:avLst/>
          </a:prstGeom>
          <a:noFill/>
          <a:ln/>
        </p:spPr>
        <p:txBody>
          <a:bodyPr wrap="square" lIns="0" tIns="0" rIns="0" bIns="0" rtlCol="0" anchor="ctr"/>
          <a:lstStyle/>
          <a:p>
            <a:pPr indent="0" marL="0">
              <a:buNone/>
            </a:pPr>
            <a:r>
              <a:rPr lang="en-US" sz="1400" dirty="0">
                <a:solidFill>
                  <a:schemeClr val="tx2"/>
                </a:solidFill>
              </a:rPr>
              <a:t>Monthly flywheel: agent-corrected answers become new training data</a:t>
            </a:r>
            <a:endParaRPr lang="en-US" sz="1400" dirty="0"/>
          </a:p>
        </p:txBody>
      </p:sp>
      <p:sp>
        <p:nvSpPr>
          <p:cNvPr id="32" name="Shape 23"/>
          <p:cNvSpPr/>
          <p:nvPr/>
        </p:nvSpPr>
        <p:spPr>
          <a:xfrm>
            <a:off x="8092440" y="1572768"/>
            <a:ext cx="3520440" cy="4599432"/>
          </a:xfrm>
          <a:prstGeom prst="roundRect">
            <a:avLst>
              <a:gd name="adj" fmla="val 2078"/>
            </a:avLst>
          </a:prstGeom>
          <a:solidFill>
            <a:schemeClr val="tx1"/>
          </a:solidFill>
          <a:ln/>
        </p:spPr>
      </p:sp>
      <p:sp>
        <p:nvSpPr>
          <p:cNvPr id="33" name="Text 24"/>
          <p:cNvSpPr txBox="1"/>
          <p:nvPr/>
        </p:nvSpPr>
        <p:spPr>
          <a:xfrm>
            <a:off x="8321040" y="1737360"/>
            <a:ext cx="3108960" cy="365760"/>
          </a:xfrm>
          <a:prstGeom prst="rect">
            <a:avLst/>
          </a:prstGeom>
          <a:noFill/>
          <a:ln/>
        </p:spPr>
        <p:txBody>
          <a:bodyPr wrap="square" lIns="0" tIns="0" rIns="0" bIns="0" rtlCol="0" anchor="t"/>
          <a:lstStyle/>
          <a:p>
            <a:pPr indent="0" marL="0">
              <a:buNone/>
            </a:pPr>
            <a:r>
              <a:rPr lang="en-US" sz="1600" b="1" dirty="0">
                <a:solidFill>
                  <a:schemeClr val="accent1"/>
                </a:solidFill>
              </a:rPr>
              <a:t>Illustrative targets</a:t>
            </a:r>
            <a:endParaRPr lang="en-US" sz="1600" dirty="0"/>
          </a:p>
        </p:txBody>
      </p:sp>
      <p:sp>
        <p:nvSpPr>
          <p:cNvPr id="34" name="Text 25"/>
          <p:cNvSpPr txBox="1"/>
          <p:nvPr/>
        </p:nvSpPr>
        <p:spPr>
          <a:xfrm>
            <a:off x="8321040" y="2240280"/>
            <a:ext cx="3108960" cy="594360"/>
          </a:xfrm>
          <a:prstGeom prst="rect">
            <a:avLst/>
          </a:prstGeom>
          <a:noFill/>
          <a:ln/>
        </p:spPr>
        <p:txBody>
          <a:bodyPr wrap="square" lIns="0" tIns="0" rIns="0" bIns="0" rtlCol="0" anchor="t"/>
          <a:lstStyle/>
          <a:p>
            <a:pPr indent="0" marL="0">
              <a:buNone/>
            </a:pPr>
            <a:r>
              <a:rPr lang="en-US" sz="3000" b="1" dirty="0">
                <a:solidFill>
                  <a:schemeClr val="accent1"/>
                </a:solidFill>
                <a:latin typeface="Arial" pitchFamily="34" charset="0"/>
                <a:ea typeface="Arial" pitchFamily="34" charset="-122"/>
                <a:cs typeface="Arial" pitchFamily="34" charset="-120"/>
              </a:rPr>
              <a:t>≥ 90%</a:t>
            </a:r>
            <a:endParaRPr lang="en-US" sz="3000" dirty="0"/>
          </a:p>
        </p:txBody>
      </p:sp>
      <p:sp>
        <p:nvSpPr>
          <p:cNvPr id="35" name="Text 26"/>
          <p:cNvSpPr txBox="1"/>
          <p:nvPr/>
        </p:nvSpPr>
        <p:spPr>
          <a:xfrm>
            <a:off x="8321040" y="2862072"/>
            <a:ext cx="3108960" cy="502920"/>
          </a:xfrm>
          <a:prstGeom prst="rect">
            <a:avLst/>
          </a:prstGeom>
          <a:noFill/>
          <a:ln/>
        </p:spPr>
        <p:txBody>
          <a:bodyPr wrap="square" lIns="0" tIns="0" rIns="0" bIns="0" rtlCol="0" anchor="t"/>
          <a:lstStyle/>
          <a:p>
            <a:pPr indent="0" marL="0">
              <a:buNone/>
            </a:pPr>
            <a:r>
              <a:rPr lang="en-US" sz="1300" dirty="0">
                <a:solidFill>
                  <a:srgbClr val="C9D3CC"/>
                </a:solidFill>
              </a:rPr>
              <a:t>correct on golden set</a:t>
            </a:r>
            <a:endParaRPr lang="en-US" sz="1300" dirty="0"/>
          </a:p>
        </p:txBody>
      </p:sp>
      <p:sp>
        <p:nvSpPr>
          <p:cNvPr id="36" name="Text 27"/>
          <p:cNvSpPr txBox="1"/>
          <p:nvPr/>
        </p:nvSpPr>
        <p:spPr>
          <a:xfrm>
            <a:off x="8321040" y="3246120"/>
            <a:ext cx="3108960" cy="594360"/>
          </a:xfrm>
          <a:prstGeom prst="rect">
            <a:avLst/>
          </a:prstGeom>
          <a:noFill/>
          <a:ln/>
        </p:spPr>
        <p:txBody>
          <a:bodyPr wrap="square" lIns="0" tIns="0" rIns="0" bIns="0" rtlCol="0" anchor="t"/>
          <a:lstStyle/>
          <a:p>
            <a:pPr indent="0" marL="0">
              <a:buNone/>
            </a:pPr>
            <a:r>
              <a:rPr lang="en-US" sz="3000" b="1" dirty="0">
                <a:solidFill>
                  <a:schemeClr val="accent1"/>
                </a:solidFill>
                <a:latin typeface="Arial" pitchFamily="34" charset="0"/>
                <a:ea typeface="Arial" pitchFamily="34" charset="-122"/>
                <a:cs typeface="Arial" pitchFamily="34" charset="-120"/>
              </a:rPr>
              <a:t>&lt; 2 s</a:t>
            </a:r>
            <a:endParaRPr lang="en-US" sz="3000" dirty="0"/>
          </a:p>
        </p:txBody>
      </p:sp>
      <p:sp>
        <p:nvSpPr>
          <p:cNvPr id="37" name="Text 28"/>
          <p:cNvSpPr txBox="1"/>
          <p:nvPr/>
        </p:nvSpPr>
        <p:spPr>
          <a:xfrm>
            <a:off x="8321040" y="3867912"/>
            <a:ext cx="3108960" cy="502920"/>
          </a:xfrm>
          <a:prstGeom prst="rect">
            <a:avLst/>
          </a:prstGeom>
          <a:noFill/>
          <a:ln/>
        </p:spPr>
        <p:txBody>
          <a:bodyPr wrap="square" lIns="0" tIns="0" rIns="0" bIns="0" rtlCol="0" anchor="t"/>
          <a:lstStyle/>
          <a:p>
            <a:pPr indent="0" marL="0">
              <a:buNone/>
            </a:pPr>
            <a:r>
              <a:rPr lang="en-US" sz="1300" dirty="0">
                <a:solidFill>
                  <a:srgbClr val="C9D3CC"/>
                </a:solidFill>
              </a:rPr>
              <a:t>p95 response time</a:t>
            </a:r>
            <a:endParaRPr lang="en-US" sz="1300" dirty="0"/>
          </a:p>
        </p:txBody>
      </p:sp>
      <p:sp>
        <p:nvSpPr>
          <p:cNvPr id="38" name="Text 29"/>
          <p:cNvSpPr txBox="1"/>
          <p:nvPr/>
        </p:nvSpPr>
        <p:spPr>
          <a:xfrm>
            <a:off x="8321040" y="4251960"/>
            <a:ext cx="3108960" cy="594360"/>
          </a:xfrm>
          <a:prstGeom prst="rect">
            <a:avLst/>
          </a:prstGeom>
          <a:noFill/>
          <a:ln/>
        </p:spPr>
        <p:txBody>
          <a:bodyPr wrap="square" lIns="0" tIns="0" rIns="0" bIns="0" rtlCol="0" anchor="t"/>
          <a:lstStyle/>
          <a:p>
            <a:pPr indent="0" marL="0">
              <a:buNone/>
            </a:pPr>
            <a:r>
              <a:rPr lang="en-US" sz="3000" b="1" dirty="0">
                <a:solidFill>
                  <a:schemeClr val="accent1"/>
                </a:solidFill>
                <a:latin typeface="Arial" pitchFamily="34" charset="0"/>
                <a:ea typeface="Arial" pitchFamily="34" charset="-122"/>
                <a:cs typeface="Arial" pitchFamily="34" charset="-120"/>
              </a:rPr>
              <a:t>0</a:t>
            </a:r>
            <a:endParaRPr lang="en-US" sz="3000" dirty="0"/>
          </a:p>
        </p:txBody>
      </p:sp>
      <p:sp>
        <p:nvSpPr>
          <p:cNvPr id="39" name="Text 30"/>
          <p:cNvSpPr txBox="1"/>
          <p:nvPr/>
        </p:nvSpPr>
        <p:spPr>
          <a:xfrm>
            <a:off x="8321040" y="4873752"/>
            <a:ext cx="3108960" cy="502920"/>
          </a:xfrm>
          <a:prstGeom prst="rect">
            <a:avLst/>
          </a:prstGeom>
          <a:noFill/>
          <a:ln/>
        </p:spPr>
        <p:txBody>
          <a:bodyPr wrap="square" lIns="0" tIns="0" rIns="0" bIns="0" rtlCol="0" anchor="t"/>
          <a:lstStyle/>
          <a:p>
            <a:pPr indent="0" marL="0">
              <a:buNone/>
            </a:pPr>
            <a:r>
              <a:rPr lang="en-US" sz="1300" dirty="0">
                <a:solidFill>
                  <a:srgbClr val="C9D3CC"/>
                </a:solidFill>
              </a:rPr>
              <a:t>PII leaks in red-team tests</a:t>
            </a:r>
            <a:endParaRPr lang="en-US" sz="1300" dirty="0"/>
          </a:p>
        </p:txBody>
      </p:sp>
      <p:sp>
        <p:nvSpPr>
          <p:cNvPr id="40" name="Text 31"/>
          <p:cNvSpPr txBox="1"/>
          <p:nvPr/>
        </p:nvSpPr>
        <p:spPr>
          <a:xfrm>
            <a:off x="8321040" y="5440680"/>
            <a:ext cx="3108960" cy="548640"/>
          </a:xfrm>
          <a:prstGeom prst="rect">
            <a:avLst/>
          </a:prstGeom>
          <a:noFill/>
          <a:ln/>
        </p:spPr>
        <p:txBody>
          <a:bodyPr wrap="square" lIns="0" tIns="0" rIns="0" bIns="0" rtlCol="0" anchor="t"/>
          <a:lstStyle/>
          <a:p>
            <a:pPr indent="0" marL="0">
              <a:buNone/>
            </a:pPr>
            <a:r>
              <a:rPr lang="en-US" sz="1200" i="1" dirty="0">
                <a:solidFill>
                  <a:srgbClr val="C9D3CC"/>
                </a:solidFill>
              </a:rPr>
              <a:t>Set targets before you build, then let Evaluator decide.</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000" b="1" dirty="0">
                <a:solidFill>
                  <a:schemeClr val="tx1"/>
                </a:solidFill>
              </a:rPr>
              <a:t>Where NeMo fits among other options</a:t>
            </a:r>
            <a:endParaRPr lang="en-US" sz="3000" dirty="0"/>
          </a:p>
        </p:txBody>
      </p:sp>
      <p:sp>
        <p:nvSpPr>
          <p:cNvPr id="3" name="Text 0"/>
          <p:cNvSpPr/>
          <p:nvPr>
            <p:ph idx="101" type="body" hasCustomPrompt="1"/>
          </p:nvPr>
        </p:nvSpPr>
        <p:spPr>
          <a:xfrm>
            <a:off x="548640" y="960120"/>
            <a:ext cx="11064240" cy="411480"/>
          </a:xfrm>
          <a:prstGeom prst="rect">
            <a:avLst/>
          </a:prstGeom>
          <a:noFill/>
          <a:ln/>
        </p:spPr>
        <p:txBody>
          <a:bodyPr wrap="square" lIns="0" tIns="0" rIns="0" bIns="0" rtlCol="0" anchor="t"/>
          <a:lstStyle/>
          <a:p>
            <a:pPr indent="0" marL="0">
              <a:buNone/>
            </a:pPr>
            <a:r>
              <a:rPr lang="en-US" sz="1600" dirty="0">
                <a:solidFill>
                  <a:schemeClr val="accent5"/>
                </a:solidFill>
              </a:rPr>
              <a:t>NeMo is not the only way; choose based on scale, control and where you run</a:t>
            </a:r>
            <a:endParaRPr lang="en-US" sz="16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2194560"/>
                <a:gridCol w="2743200"/>
                <a:gridCol w="2743200"/>
                <a:gridCol w="3383280"/>
              </a:tblGrid>
              <a:tr h="621792">
                <a:tc>
                  <a:txBody>
                    <a:bodyPr/>
                    <a:lstStyle/>
                    <a:p>
                      <a:pPr indent="0" marL="0">
                        <a:buNone/>
                      </a:pPr>
                      <a:r>
                        <a:rPr lang="en-US" sz="1300" b="1" dirty="0">
                          <a:solidFill>
                            <a:schemeClr val="bg1"/>
                          </a:solidFill>
                        </a:rPr>
                        <a:t>Option</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Examples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Strengths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Consider NeMo when...</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tx1"/>
                    </a:solidFill>
                  </a:tcPr>
                </a:tc>
              </a:tr>
              <a:tr h="621792">
                <a:tc>
                  <a:txBody>
                    <a:bodyPr/>
                    <a:lstStyle/>
                    <a:p>
                      <a:pPr indent="0" marL="0">
                        <a:buNone/>
                      </a:pPr>
                      <a:r>
                        <a:rPr lang="en-US" sz="1300" b="1" dirty="0">
                          <a:solidFill>
                            <a:schemeClr val="tx1"/>
                          </a:solidFill>
                        </a:rPr>
                        <a:t>Managed cloud AI platforms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Amazon Bedrock, Azure AI Foundry, Google Vertex AI</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Fast start, fully managed, many models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Data must stay on-prem / sovereign, or you need deeper control</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r>
              <a:tr h="621792">
                <a:tc>
                  <a:txBody>
                    <a:bodyPr/>
                    <a:lstStyle/>
                    <a:p>
                      <a:pPr indent="0" marL="0">
                        <a:buNone/>
                      </a:pPr>
                      <a:r>
                        <a:rPr lang="en-US" sz="1300" b="1" dirty="0">
                          <a:solidFill>
                            <a:schemeClr val="tx1"/>
                          </a:solidFill>
                        </a:rPr>
                        <a:t>Open-source fine-tuning libraries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Hugging Face TRL / PEFT, Axolotl, Unsloth</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Simple, huge community, great for single-node</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Training must scale to many GPUs or needs FP8 efficiency</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r>
              <a:tr h="621792">
                <a:tc>
                  <a:txBody>
                    <a:bodyPr/>
                    <a:lstStyle/>
                    <a:p>
                      <a:pPr indent="0" marL="0">
                        <a:buNone/>
                      </a:pPr>
                      <a:r>
                        <a:rPr lang="en-US" sz="1300" b="1" dirty="0">
                          <a:solidFill>
                            <a:schemeClr val="tx1"/>
                          </a:solidFill>
                        </a:rPr>
                        <a:t>Distributed training frameworks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DeepSpeed, PyTorch FSDP / TorchTitan</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Flexible, framework-native</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You want tuned recipes plus curation, eval and guardrails in one stack</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r>
              <a:tr h="621792">
                <a:tc>
                  <a:txBody>
                    <a:bodyPr/>
                    <a:lstStyle/>
                    <a:p>
                      <a:pPr indent="0" marL="0">
                        <a:buNone/>
                      </a:pPr>
                      <a:r>
                        <a:rPr lang="en-US" sz="1300" b="1" dirty="0">
                          <a:solidFill>
                            <a:schemeClr val="tx1"/>
                          </a:solidFill>
                        </a:rPr>
                        <a:t>Inference servers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vLLM, SGLang, TGI</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Fast, open serving</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You want supported, prebuilt NIM containers and multi-LoRA ops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1"/>
                    </a:solidFill>
                  </a:tcPr>
                </a:tc>
              </a:tr>
              <a:tr h="621792">
                <a:tc>
                  <a:txBody>
                    <a:bodyPr/>
                    <a:lstStyle/>
                    <a:p>
                      <a:pPr indent="0" marL="0">
                        <a:buNone/>
                      </a:pPr>
                      <a:r>
                        <a:rPr lang="en-US" sz="1300" b="1" dirty="0">
                          <a:solidFill>
                            <a:schemeClr val="tx1"/>
                          </a:solidFill>
                        </a:rPr>
                        <a:t>Safety tools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Llama Guard, Guardrails AI</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Specific safety functions</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You need programmable dialog, retrieval and output rails together</a:t>
                      </a:r>
                      <a:endParaRPr lang="en-US" sz="1300" dirty="0"/>
                    </a:p>
                  </a:txBody>
                  <a:tcPr marL="76200" marR="76200" marT="38100" marB="38100" anchor="ctr">
                    <a:lnL w="9525" cap="flat" cmpd="sng" algn="ctr">
                      <a:solidFill>
                        <a:srgbClr val="D3DBD0"/>
                      </a:solidFill>
                      <a:prstDash val="solid"/>
                      <a:round/>
                      <a:headEnd type="none" w="med" len="med"/>
                      <a:tailEnd type="none" w="med" len="med"/>
                    </a:lnL>
                    <a:lnR w="9525" cap="flat" cmpd="sng" algn="ctr">
                      <a:solidFill>
                        <a:srgbClr val="D3DBD0"/>
                      </a:solidFill>
                      <a:prstDash val="solid"/>
                      <a:round/>
                      <a:headEnd type="none" w="med" len="med"/>
                      <a:tailEnd type="none" w="med" len="med"/>
                    </a:lnR>
                    <a:lnT w="9525" cap="flat" cmpd="sng" algn="ctr">
                      <a:solidFill>
                        <a:srgbClr val="D3DBD0"/>
                      </a:solidFill>
                      <a:prstDash val="solid"/>
                      <a:round/>
                      <a:headEnd type="none" w="med" len="med"/>
                      <a:tailEnd type="none" w="med" len="med"/>
                    </a:lnT>
                    <a:lnB w="9525" cap="flat" cmpd="sng" algn="ctr">
                      <a:solidFill>
                        <a:srgbClr val="D3DBD0"/>
                      </a:solidFill>
                      <a:prstDash val="solid"/>
                      <a:round/>
                      <a:headEnd type="none" w="med" len="med"/>
                      <a:tailEnd type="none" w="med" len="med"/>
                    </a:lnB>
                    <a:solidFill>
                      <a:schemeClr val="bg2"/>
                    </a:solidFill>
                  </a:tcPr>
                </a:tc>
              </a:tr>
            </a:tbl>
          </a:graphicData>
        </a:graphic>
      </p:graphicFrame>
      <p:sp>
        <p:nvSpPr>
          <p:cNvPr id="5" name="Shape 2"/>
          <p:cNvSpPr/>
          <p:nvPr/>
        </p:nvSpPr>
        <p:spPr>
          <a:xfrm>
            <a:off x="548640" y="5623560"/>
            <a:ext cx="11064240" cy="548640"/>
          </a:xfrm>
          <a:prstGeom prst="roundRect">
            <a:avLst>
              <a:gd name="adj" fmla="val 13333"/>
            </a:avLst>
          </a:prstGeom>
          <a:solidFill>
            <a:schemeClr val="tx1"/>
          </a:solidFill>
          <a:ln/>
        </p:spPr>
      </p:sp>
      <p:pic>
        <p:nvPicPr>
          <p:cNvPr id="6" name="Image 0" descr="preencoded.png">    </p:cNvPr>
          <p:cNvPicPr>
            <a:picLocks noChangeAspect="1"/>
          </p:cNvPicPr>
          <p:nvPr/>
        </p:nvPicPr>
        <p:blipFill>
          <a:blip r:embed="rId1"/>
          <a:stretch>
            <a:fillRect/>
          </a:stretch>
        </p:blipFill>
        <p:spPr>
          <a:xfrm>
            <a:off x="777240" y="5715000"/>
            <a:ext cx="365760" cy="365760"/>
          </a:xfrm>
          <a:prstGeom prst="rect">
            <a:avLst/>
          </a:prstGeom>
        </p:spPr>
      </p:pic>
      <p:sp>
        <p:nvSpPr>
          <p:cNvPr id="7" name="Text 3"/>
          <p:cNvSpPr txBox="1"/>
          <p:nvPr/>
        </p:nvSpPr>
        <p:spPr>
          <a:xfrm>
            <a:off x="1325880" y="5623560"/>
            <a:ext cx="10058400" cy="548640"/>
          </a:xfrm>
          <a:prstGeom prst="rect">
            <a:avLst/>
          </a:prstGeom>
          <a:noFill/>
          <a:ln/>
        </p:spPr>
        <p:txBody>
          <a:bodyPr wrap="square" lIns="0" tIns="0" rIns="0" bIns="0" rtlCol="0" anchor="ctr"/>
          <a:lstStyle/>
          <a:p>
            <a:pPr indent="0" marL="0">
              <a:buNone/>
            </a:pPr>
            <a:r>
              <a:rPr lang="en-US" sz="1400" dirty="0">
                <a:solidFill>
                  <a:schemeClr val="bg1"/>
                </a:solidFill>
              </a:rPr>
              <a:t>NeMo interoperates: Hugging Face checkpoints in and out, vLLM backends in NIM, LangChain with Guardrails. It is not all-or-nothing.</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000" b="1" dirty="0">
                <a:solidFill>
                  <a:schemeClr val="tx1"/>
                </a:solidFill>
              </a:rPr>
              <a:t>Who does what: roles and NeMo touchpoints</a:t>
            </a:r>
            <a:endParaRPr lang="en-US" sz="3000" dirty="0"/>
          </a:p>
        </p:txBody>
      </p:sp>
      <p:sp>
        <p:nvSpPr>
          <p:cNvPr id="3" name="Text 0"/>
          <p:cNvSpPr/>
          <p:nvPr>
            <p:ph idx="101" type="body" hasCustomPrompt="1"/>
          </p:nvPr>
        </p:nvSpPr>
        <p:spPr>
          <a:xfrm>
            <a:off x="548640" y="960120"/>
            <a:ext cx="11064240" cy="411480"/>
          </a:xfrm>
          <a:prstGeom prst="rect">
            <a:avLst/>
          </a:prstGeom>
          <a:noFill/>
          <a:ln/>
        </p:spPr>
        <p:txBody>
          <a:bodyPr wrap="square" lIns="0" tIns="0" rIns="0" bIns="0" rtlCol="0" anchor="t"/>
          <a:lstStyle/>
          <a:p>
            <a:pPr indent="0" marL="0">
              <a:buNone/>
            </a:pPr>
            <a:r>
              <a:rPr lang="en-US" sz="1600" dirty="0">
                <a:solidFill>
                  <a:schemeClr val="accent5"/>
                </a:solidFill>
              </a:rPr>
              <a:t>A model platform is a team sport</a:t>
            </a:r>
            <a:endParaRPr lang="en-US" sz="1600" dirty="0"/>
          </a:p>
        </p:txBody>
      </p:sp>
      <p:sp>
        <p:nvSpPr>
          <p:cNvPr id="4" name="Shape 2"/>
          <p:cNvSpPr/>
          <p:nvPr/>
        </p:nvSpPr>
        <p:spPr>
          <a:xfrm>
            <a:off x="548640" y="1600200"/>
            <a:ext cx="2103120" cy="4572000"/>
          </a:xfrm>
          <a:prstGeom prst="roundRect">
            <a:avLst>
              <a:gd name="adj" fmla="val 3478"/>
            </a:avLst>
          </a:prstGeom>
          <a:solidFill>
            <a:schemeClr val="bg2"/>
          </a:solidFill>
          <a:ln/>
        </p:spPr>
      </p:sp>
      <p:sp>
        <p:nvSpPr>
          <p:cNvPr id="5" name="Shape 3"/>
          <p:cNvSpPr/>
          <p:nvPr/>
        </p:nvSpPr>
        <p:spPr>
          <a:xfrm>
            <a:off x="731520" y="1783080"/>
            <a:ext cx="566928" cy="566928"/>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856244" y="1907804"/>
            <a:ext cx="317480" cy="317480"/>
          </a:xfrm>
          <a:prstGeom prst="rect">
            <a:avLst/>
          </a:prstGeom>
        </p:spPr>
      </p:pic>
      <p:sp>
        <p:nvSpPr>
          <p:cNvPr id="7" name="Text 4"/>
          <p:cNvSpPr txBox="1"/>
          <p:nvPr/>
        </p:nvSpPr>
        <p:spPr>
          <a:xfrm>
            <a:off x="731520" y="2514600"/>
            <a:ext cx="1783080" cy="777240"/>
          </a:xfrm>
          <a:prstGeom prst="rect">
            <a:avLst/>
          </a:prstGeom>
          <a:noFill/>
          <a:ln/>
        </p:spPr>
        <p:txBody>
          <a:bodyPr wrap="square" lIns="0" tIns="0" rIns="0" bIns="0" rtlCol="0" anchor="t"/>
          <a:lstStyle/>
          <a:p>
            <a:pPr indent="0" marL="0">
              <a:buNone/>
            </a:pPr>
            <a:r>
              <a:rPr lang="en-US" sz="1600" b="1" dirty="0">
                <a:solidFill>
                  <a:schemeClr val="tx1"/>
                </a:solidFill>
              </a:rPr>
              <a:t>Data engineers</a:t>
            </a:r>
            <a:endParaRPr lang="en-US" sz="1600" dirty="0"/>
          </a:p>
        </p:txBody>
      </p:sp>
      <p:sp>
        <p:nvSpPr>
          <p:cNvPr id="8" name="Text 5"/>
          <p:cNvSpPr txBox="1"/>
          <p:nvPr/>
        </p:nvSpPr>
        <p:spPr>
          <a:xfrm>
            <a:off x="731520" y="3383280"/>
            <a:ext cx="1828800" cy="2651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2"/>
                </a:solidFill>
              </a:rPr>
              <a:t>Curator pipelines</a:t>
            </a:r>
            <a:endParaRPr lang="en-US" sz="1400" dirty="0"/>
          </a:p>
          <a:p>
            <a:pPr marL="342900" indent="-342900">
              <a:spcAft>
                <a:spcPts val="800"/>
              </a:spcAft>
              <a:buSzPct val="100000"/>
              <a:buChar char="•"/>
            </a:pPr>
            <a:r>
              <a:rPr lang="en-US" sz="1400" dirty="0">
                <a:solidFill>
                  <a:schemeClr val="tx2"/>
                </a:solidFill>
              </a:rPr>
              <a:t>Data Store, PII redaction</a:t>
            </a:r>
            <a:endParaRPr lang="en-US" sz="1400" dirty="0"/>
          </a:p>
          <a:p>
            <a:pPr marL="342900" indent="-342900">
              <a:spcAft>
                <a:spcPts val="800"/>
              </a:spcAft>
              <a:buSzPct val="100000"/>
              <a:buChar char="•"/>
            </a:pPr>
            <a:r>
              <a:rPr lang="en-US" sz="1400" dirty="0">
                <a:solidFill>
                  <a:schemeClr val="tx2"/>
                </a:solidFill>
              </a:rPr>
              <a:t>Logging for the flywheel</a:t>
            </a:r>
            <a:endParaRPr lang="en-US" sz="1400" dirty="0"/>
          </a:p>
        </p:txBody>
      </p:sp>
      <p:sp>
        <p:nvSpPr>
          <p:cNvPr id="9" name="Shape 6"/>
          <p:cNvSpPr/>
          <p:nvPr/>
        </p:nvSpPr>
        <p:spPr>
          <a:xfrm>
            <a:off x="2788920" y="1600200"/>
            <a:ext cx="2103120" cy="4572000"/>
          </a:xfrm>
          <a:prstGeom prst="roundRect">
            <a:avLst>
              <a:gd name="adj" fmla="val 3478"/>
            </a:avLst>
          </a:prstGeom>
          <a:solidFill>
            <a:schemeClr val="bg2"/>
          </a:solidFill>
          <a:ln/>
        </p:spPr>
      </p:sp>
      <p:sp>
        <p:nvSpPr>
          <p:cNvPr id="10" name="Shape 7"/>
          <p:cNvSpPr/>
          <p:nvPr/>
        </p:nvSpPr>
        <p:spPr>
          <a:xfrm>
            <a:off x="2971800" y="1783080"/>
            <a:ext cx="566928" cy="566928"/>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3096524" y="1907804"/>
            <a:ext cx="317480" cy="317480"/>
          </a:xfrm>
          <a:prstGeom prst="rect">
            <a:avLst/>
          </a:prstGeom>
        </p:spPr>
      </p:pic>
      <p:sp>
        <p:nvSpPr>
          <p:cNvPr id="12" name="Text 8"/>
          <p:cNvSpPr txBox="1"/>
          <p:nvPr/>
        </p:nvSpPr>
        <p:spPr>
          <a:xfrm>
            <a:off x="2971800" y="2514600"/>
            <a:ext cx="1783080" cy="777240"/>
          </a:xfrm>
          <a:prstGeom prst="rect">
            <a:avLst/>
          </a:prstGeom>
          <a:noFill/>
          <a:ln/>
        </p:spPr>
        <p:txBody>
          <a:bodyPr wrap="square" lIns="0" tIns="0" rIns="0" bIns="0" rtlCol="0" anchor="t"/>
          <a:lstStyle/>
          <a:p>
            <a:pPr indent="0" marL="0">
              <a:buNone/>
            </a:pPr>
            <a:r>
              <a:rPr lang="en-US" sz="1600" b="1" dirty="0">
                <a:solidFill>
                  <a:schemeClr val="tx1"/>
                </a:solidFill>
              </a:rPr>
              <a:t>ML engineers / data scientists</a:t>
            </a:r>
            <a:endParaRPr lang="en-US" sz="1600" dirty="0"/>
          </a:p>
        </p:txBody>
      </p:sp>
      <p:sp>
        <p:nvSpPr>
          <p:cNvPr id="13" name="Text 9"/>
          <p:cNvSpPr txBox="1"/>
          <p:nvPr/>
        </p:nvSpPr>
        <p:spPr>
          <a:xfrm>
            <a:off x="2971800" y="3383280"/>
            <a:ext cx="1828800" cy="2651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2"/>
                </a:solidFill>
              </a:rPr>
              <a:t>Customizer jobs, Framework, RL</a:t>
            </a:r>
            <a:endParaRPr lang="en-US" sz="1400" dirty="0"/>
          </a:p>
          <a:p>
            <a:pPr marL="342900" indent="-342900">
              <a:spcAft>
                <a:spcPts val="800"/>
              </a:spcAft>
              <a:buSzPct val="100000"/>
              <a:buChar char="•"/>
            </a:pPr>
            <a:r>
              <a:rPr lang="en-US" sz="1400" dirty="0">
                <a:solidFill>
                  <a:schemeClr val="tx2"/>
                </a:solidFill>
              </a:rPr>
              <a:t>Evaluation design</a:t>
            </a:r>
            <a:endParaRPr lang="en-US" sz="1400" dirty="0"/>
          </a:p>
          <a:p>
            <a:pPr marL="342900" indent="-342900">
              <a:spcAft>
                <a:spcPts val="800"/>
              </a:spcAft>
              <a:buSzPct val="100000"/>
              <a:buChar char="•"/>
            </a:pPr>
            <a:r>
              <a:rPr lang="en-US" sz="1400" dirty="0">
                <a:solidFill>
                  <a:schemeClr val="tx2"/>
                </a:solidFill>
              </a:rPr>
              <a:t>Model selection</a:t>
            </a:r>
            <a:endParaRPr lang="en-US" sz="1400" dirty="0"/>
          </a:p>
        </p:txBody>
      </p:sp>
      <p:sp>
        <p:nvSpPr>
          <p:cNvPr id="14" name="Shape 10"/>
          <p:cNvSpPr/>
          <p:nvPr/>
        </p:nvSpPr>
        <p:spPr>
          <a:xfrm>
            <a:off x="5029200" y="1600200"/>
            <a:ext cx="2103120" cy="4572000"/>
          </a:xfrm>
          <a:prstGeom prst="roundRect">
            <a:avLst>
              <a:gd name="adj" fmla="val 3478"/>
            </a:avLst>
          </a:prstGeom>
          <a:solidFill>
            <a:schemeClr val="tx1"/>
          </a:solidFill>
          <a:ln/>
        </p:spPr>
      </p:sp>
      <p:sp>
        <p:nvSpPr>
          <p:cNvPr id="15" name="Shape 11"/>
          <p:cNvSpPr/>
          <p:nvPr/>
        </p:nvSpPr>
        <p:spPr>
          <a:xfrm>
            <a:off x="5212080" y="1783080"/>
            <a:ext cx="566928" cy="566928"/>
          </a:xfrm>
          <a:prstGeom prst="ellipse">
            <a:avLst/>
          </a:prstGeom>
          <a:solidFill>
            <a:schemeClr val="accent1"/>
          </a:solidFill>
          <a:ln/>
        </p:spPr>
      </p:sp>
      <p:pic>
        <p:nvPicPr>
          <p:cNvPr id="16" name="Image 2" descr="preencoded.png">    </p:cNvPr>
          <p:cNvPicPr>
            <a:picLocks noChangeAspect="1"/>
          </p:cNvPicPr>
          <p:nvPr/>
        </p:nvPicPr>
        <p:blipFill>
          <a:blip r:embed="rId3"/>
          <a:stretch>
            <a:fillRect/>
          </a:stretch>
        </p:blipFill>
        <p:spPr>
          <a:xfrm>
            <a:off x="5336804" y="1907804"/>
            <a:ext cx="317480" cy="317480"/>
          </a:xfrm>
          <a:prstGeom prst="rect">
            <a:avLst/>
          </a:prstGeom>
        </p:spPr>
      </p:pic>
      <p:sp>
        <p:nvSpPr>
          <p:cNvPr id="17" name="Text 12"/>
          <p:cNvSpPr txBox="1"/>
          <p:nvPr/>
        </p:nvSpPr>
        <p:spPr>
          <a:xfrm>
            <a:off x="5212080" y="2514600"/>
            <a:ext cx="1783080" cy="777240"/>
          </a:xfrm>
          <a:prstGeom prst="rect">
            <a:avLst/>
          </a:prstGeom>
          <a:noFill/>
          <a:ln/>
        </p:spPr>
        <p:txBody>
          <a:bodyPr wrap="square" lIns="0" tIns="0" rIns="0" bIns="0" rtlCol="0" anchor="t"/>
          <a:lstStyle/>
          <a:p>
            <a:pPr indent="0" marL="0">
              <a:buNone/>
            </a:pPr>
            <a:r>
              <a:rPr lang="en-US" sz="1600" b="1" dirty="0">
                <a:solidFill>
                  <a:schemeClr val="bg1"/>
                </a:solidFill>
              </a:rPr>
              <a:t>Platform / MLOps</a:t>
            </a:r>
            <a:endParaRPr lang="en-US" sz="1600" dirty="0"/>
          </a:p>
        </p:txBody>
      </p:sp>
      <p:sp>
        <p:nvSpPr>
          <p:cNvPr id="18" name="Text 13"/>
          <p:cNvSpPr txBox="1"/>
          <p:nvPr/>
        </p:nvSpPr>
        <p:spPr>
          <a:xfrm>
            <a:off x="5212080" y="3383280"/>
            <a:ext cx="1828800" cy="2651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C9D3CC"/>
                </a:solidFill>
              </a:rPr>
              <a:t>Install microservices + NIM</a:t>
            </a:r>
            <a:endParaRPr lang="en-US" sz="1400" dirty="0"/>
          </a:p>
          <a:p>
            <a:pPr marL="342900" indent="-342900">
              <a:spcAft>
                <a:spcPts val="800"/>
              </a:spcAft>
              <a:buSzPct val="100000"/>
              <a:buChar char="•"/>
            </a:pPr>
            <a:r>
              <a:rPr lang="en-US" sz="1400" dirty="0">
                <a:solidFill>
                  <a:srgbClr val="C9D3CC"/>
                </a:solidFill>
              </a:rPr>
              <a:t>GPU capacity, CI/CD for models</a:t>
            </a:r>
            <a:endParaRPr lang="en-US" sz="1400" dirty="0"/>
          </a:p>
          <a:p>
            <a:pPr marL="342900" indent="-342900">
              <a:spcAft>
                <a:spcPts val="800"/>
              </a:spcAft>
              <a:buSzPct val="100000"/>
              <a:buChar char="•"/>
            </a:pPr>
            <a:r>
              <a:rPr lang="en-US" sz="1400" dirty="0">
                <a:solidFill>
                  <a:srgbClr val="C9D3CC"/>
                </a:solidFill>
              </a:rPr>
              <a:t>Monitoring, upgrades</a:t>
            </a:r>
            <a:endParaRPr lang="en-US" sz="1400" dirty="0"/>
          </a:p>
        </p:txBody>
      </p:sp>
      <p:sp>
        <p:nvSpPr>
          <p:cNvPr id="19" name="Shape 14"/>
          <p:cNvSpPr/>
          <p:nvPr/>
        </p:nvSpPr>
        <p:spPr>
          <a:xfrm>
            <a:off x="7269480" y="1600200"/>
            <a:ext cx="2103120" cy="4572000"/>
          </a:xfrm>
          <a:prstGeom prst="roundRect">
            <a:avLst>
              <a:gd name="adj" fmla="val 3478"/>
            </a:avLst>
          </a:prstGeom>
          <a:solidFill>
            <a:schemeClr val="bg2"/>
          </a:solidFill>
          <a:ln/>
        </p:spPr>
      </p:sp>
      <p:sp>
        <p:nvSpPr>
          <p:cNvPr id="20" name="Shape 15"/>
          <p:cNvSpPr/>
          <p:nvPr/>
        </p:nvSpPr>
        <p:spPr>
          <a:xfrm>
            <a:off x="7452360" y="1783080"/>
            <a:ext cx="566928" cy="566928"/>
          </a:xfrm>
          <a:prstGeom prst="ellipse">
            <a:avLst/>
          </a:prstGeom>
          <a:solidFill>
            <a:schemeClr val="accent1"/>
          </a:solidFill>
          <a:ln/>
        </p:spPr>
      </p:sp>
      <p:pic>
        <p:nvPicPr>
          <p:cNvPr id="21" name="Image 3" descr="preencoded.png">    </p:cNvPr>
          <p:cNvPicPr>
            <a:picLocks noChangeAspect="1"/>
          </p:cNvPicPr>
          <p:nvPr/>
        </p:nvPicPr>
        <p:blipFill>
          <a:blip r:embed="rId4"/>
          <a:stretch>
            <a:fillRect/>
          </a:stretch>
        </p:blipFill>
        <p:spPr>
          <a:xfrm>
            <a:off x="7577084" y="1907804"/>
            <a:ext cx="317480" cy="317480"/>
          </a:xfrm>
          <a:prstGeom prst="rect">
            <a:avLst/>
          </a:prstGeom>
        </p:spPr>
      </p:pic>
      <p:sp>
        <p:nvSpPr>
          <p:cNvPr id="22" name="Text 16"/>
          <p:cNvSpPr txBox="1"/>
          <p:nvPr/>
        </p:nvSpPr>
        <p:spPr>
          <a:xfrm>
            <a:off x="7452360" y="2514600"/>
            <a:ext cx="1783080" cy="777240"/>
          </a:xfrm>
          <a:prstGeom prst="rect">
            <a:avLst/>
          </a:prstGeom>
          <a:noFill/>
          <a:ln/>
        </p:spPr>
        <p:txBody>
          <a:bodyPr wrap="square" lIns="0" tIns="0" rIns="0" bIns="0" rtlCol="0" anchor="t"/>
          <a:lstStyle/>
          <a:p>
            <a:pPr indent="0" marL="0">
              <a:buNone/>
            </a:pPr>
            <a:r>
              <a:rPr lang="en-US" sz="1600" b="1" dirty="0">
                <a:solidFill>
                  <a:schemeClr val="tx1"/>
                </a:solidFill>
              </a:rPr>
              <a:t>Application developers</a:t>
            </a:r>
            <a:endParaRPr lang="en-US" sz="1600" dirty="0"/>
          </a:p>
        </p:txBody>
      </p:sp>
      <p:sp>
        <p:nvSpPr>
          <p:cNvPr id="23" name="Text 17"/>
          <p:cNvSpPr txBox="1"/>
          <p:nvPr/>
        </p:nvSpPr>
        <p:spPr>
          <a:xfrm>
            <a:off x="7452360" y="3383280"/>
            <a:ext cx="1828800" cy="2651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2"/>
                </a:solidFill>
              </a:rPr>
              <a:t>Call NIM APIs</a:t>
            </a:r>
            <a:endParaRPr lang="en-US" sz="1400" dirty="0"/>
          </a:p>
          <a:p>
            <a:pPr marL="342900" indent="-342900">
              <a:spcAft>
                <a:spcPts val="800"/>
              </a:spcAft>
              <a:buSzPct val="100000"/>
              <a:buChar char="•"/>
            </a:pPr>
            <a:r>
              <a:rPr lang="en-US" sz="1400" dirty="0">
                <a:solidFill>
                  <a:schemeClr val="tx2"/>
                </a:solidFill>
              </a:rPr>
              <a:t>Build RAG and agents</a:t>
            </a:r>
            <a:endParaRPr lang="en-US" sz="1400" dirty="0"/>
          </a:p>
          <a:p>
            <a:pPr marL="342900" indent="-342900">
              <a:spcAft>
                <a:spcPts val="800"/>
              </a:spcAft>
              <a:buSzPct val="100000"/>
              <a:buChar char="•"/>
            </a:pPr>
            <a:r>
              <a:rPr lang="en-US" sz="1400" dirty="0">
                <a:solidFill>
                  <a:schemeClr val="tx2"/>
                </a:solidFill>
              </a:rPr>
              <a:t>Agent Toolkit tracing</a:t>
            </a:r>
            <a:endParaRPr lang="en-US" sz="1400" dirty="0"/>
          </a:p>
        </p:txBody>
      </p:sp>
      <p:sp>
        <p:nvSpPr>
          <p:cNvPr id="24" name="Shape 18"/>
          <p:cNvSpPr/>
          <p:nvPr/>
        </p:nvSpPr>
        <p:spPr>
          <a:xfrm>
            <a:off x="9509760" y="1600200"/>
            <a:ext cx="2103120" cy="4572000"/>
          </a:xfrm>
          <a:prstGeom prst="roundRect">
            <a:avLst>
              <a:gd name="adj" fmla="val 3478"/>
            </a:avLst>
          </a:prstGeom>
          <a:solidFill>
            <a:schemeClr val="bg2"/>
          </a:solidFill>
          <a:ln/>
        </p:spPr>
      </p:sp>
      <p:sp>
        <p:nvSpPr>
          <p:cNvPr id="25" name="Shape 19"/>
          <p:cNvSpPr/>
          <p:nvPr/>
        </p:nvSpPr>
        <p:spPr>
          <a:xfrm>
            <a:off x="9692640" y="1783080"/>
            <a:ext cx="566928" cy="566928"/>
          </a:xfrm>
          <a:prstGeom prst="ellipse">
            <a:avLst/>
          </a:prstGeom>
          <a:solidFill>
            <a:schemeClr val="accent1"/>
          </a:solidFill>
          <a:ln/>
        </p:spPr>
      </p:sp>
      <p:pic>
        <p:nvPicPr>
          <p:cNvPr id="26" name="Image 4" descr="preencoded.png">    </p:cNvPr>
          <p:cNvPicPr>
            <a:picLocks noChangeAspect="1"/>
          </p:cNvPicPr>
          <p:nvPr/>
        </p:nvPicPr>
        <p:blipFill>
          <a:blip r:embed="rId5"/>
          <a:stretch>
            <a:fillRect/>
          </a:stretch>
        </p:blipFill>
        <p:spPr>
          <a:xfrm>
            <a:off x="9817364" y="1907804"/>
            <a:ext cx="317480" cy="317480"/>
          </a:xfrm>
          <a:prstGeom prst="rect">
            <a:avLst/>
          </a:prstGeom>
        </p:spPr>
      </p:pic>
      <p:sp>
        <p:nvSpPr>
          <p:cNvPr id="27" name="Text 20"/>
          <p:cNvSpPr txBox="1"/>
          <p:nvPr/>
        </p:nvSpPr>
        <p:spPr>
          <a:xfrm>
            <a:off x="9692640" y="2514600"/>
            <a:ext cx="1783080" cy="777240"/>
          </a:xfrm>
          <a:prstGeom prst="rect">
            <a:avLst/>
          </a:prstGeom>
          <a:noFill/>
          <a:ln/>
        </p:spPr>
        <p:txBody>
          <a:bodyPr wrap="square" lIns="0" tIns="0" rIns="0" bIns="0" rtlCol="0" anchor="t"/>
          <a:lstStyle/>
          <a:p>
            <a:pPr indent="0" marL="0">
              <a:buNone/>
            </a:pPr>
            <a:r>
              <a:rPr lang="en-US" sz="1600" b="1" dirty="0">
                <a:solidFill>
                  <a:schemeClr val="tx1"/>
                </a:solidFill>
              </a:rPr>
              <a:t>Security, risk, compliance</a:t>
            </a:r>
            <a:endParaRPr lang="en-US" sz="1600" dirty="0"/>
          </a:p>
        </p:txBody>
      </p:sp>
      <p:sp>
        <p:nvSpPr>
          <p:cNvPr id="28" name="Text 21"/>
          <p:cNvSpPr txBox="1"/>
          <p:nvPr/>
        </p:nvSpPr>
        <p:spPr>
          <a:xfrm>
            <a:off x="9692640" y="3383280"/>
            <a:ext cx="1828800" cy="2651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2"/>
                </a:solidFill>
              </a:rPr>
              <a:t>Guardrails policies</a:t>
            </a:r>
            <a:endParaRPr lang="en-US" sz="1400" dirty="0"/>
          </a:p>
          <a:p>
            <a:pPr marL="342900" indent="-342900">
              <a:spcAft>
                <a:spcPts val="800"/>
              </a:spcAft>
              <a:buSzPct val="100000"/>
              <a:buChar char="•"/>
            </a:pPr>
            <a:r>
              <a:rPr lang="en-US" sz="1400" dirty="0">
                <a:solidFill>
                  <a:schemeClr val="tx2"/>
                </a:solidFill>
              </a:rPr>
              <a:t>Auditor / red-teaming</a:t>
            </a:r>
            <a:endParaRPr lang="en-US" sz="1400" dirty="0"/>
          </a:p>
          <a:p>
            <a:pPr marL="342900" indent="-342900">
              <a:spcAft>
                <a:spcPts val="800"/>
              </a:spcAft>
              <a:buSzPct val="100000"/>
              <a:buChar char="•"/>
            </a:pPr>
            <a:r>
              <a:rPr lang="en-US" sz="1400" dirty="0">
                <a:solidFill>
                  <a:schemeClr val="tx2"/>
                </a:solidFill>
              </a:rPr>
              <a:t>Licence and data review</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000" b="1" dirty="0">
                <a:solidFill>
                  <a:schemeClr val="tx1"/>
                </a:solidFill>
              </a:rPr>
              <a:t>Governance, security and licensing</a:t>
            </a:r>
            <a:endParaRPr lang="en-US" sz="3000" dirty="0"/>
          </a:p>
        </p:txBody>
      </p:sp>
      <p:sp>
        <p:nvSpPr>
          <p:cNvPr id="3" name="Text 0"/>
          <p:cNvSpPr/>
          <p:nvPr>
            <p:ph idx="101" type="body" hasCustomPrompt="1"/>
          </p:nvPr>
        </p:nvSpPr>
        <p:spPr>
          <a:xfrm>
            <a:off x="548640" y="960120"/>
            <a:ext cx="11064240" cy="411480"/>
          </a:xfrm>
          <a:prstGeom prst="rect">
            <a:avLst/>
          </a:prstGeom>
          <a:noFill/>
          <a:ln/>
        </p:spPr>
        <p:txBody>
          <a:bodyPr wrap="square" lIns="0" tIns="0" rIns="0" bIns="0" rtlCol="0" anchor="t"/>
          <a:lstStyle/>
          <a:p>
            <a:pPr indent="0" marL="0">
              <a:buNone/>
            </a:pPr>
            <a:r>
              <a:rPr lang="en-US" sz="1600" dirty="0">
                <a:solidFill>
                  <a:schemeClr val="accent5"/>
                </a:solidFill>
              </a:rPr>
              <a:t>What security, legal and compliance teams will ask, and how to answer</a:t>
            </a:r>
            <a:endParaRPr lang="en-US" sz="1600" dirty="0"/>
          </a:p>
        </p:txBody>
      </p:sp>
      <p:sp>
        <p:nvSpPr>
          <p:cNvPr id="4" name="card"/>
          <p:cNvSpPr/>
          <p:nvPr/>
        </p:nvSpPr>
        <p:spPr>
          <a:xfrm>
            <a:off x="548640" y="1600200"/>
            <a:ext cx="5440680" cy="2194560"/>
          </a:xfrm>
          <a:prstGeom prst="roundRect">
            <a:avLst>
              <a:gd name="adj" fmla="val 3333"/>
            </a:avLst>
          </a:prstGeom>
          <a:solidFill>
            <a:schemeClr val="bg2"/>
          </a:solidFill>
          <a:ln/>
        </p:spPr>
      </p:sp>
      <p:sp>
        <p:nvSpPr>
          <p:cNvPr id="5" name="Shape 3"/>
          <p:cNvSpPr/>
          <p:nvPr/>
        </p:nvSpPr>
        <p:spPr>
          <a:xfrm>
            <a:off x="749808" y="1801368"/>
            <a:ext cx="548640" cy="54864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870509" y="1922069"/>
            <a:ext cx="307238" cy="307238"/>
          </a:xfrm>
          <a:prstGeom prst="rect">
            <a:avLst/>
          </a:prstGeom>
        </p:spPr>
      </p:pic>
      <p:sp>
        <p:nvSpPr>
          <p:cNvPr id="7" name="Text 4"/>
          <p:cNvSpPr txBox="1"/>
          <p:nvPr/>
        </p:nvSpPr>
        <p:spPr>
          <a:xfrm>
            <a:off x="1417320" y="1801368"/>
            <a:ext cx="4389120" cy="548640"/>
          </a:xfrm>
          <a:prstGeom prst="rect">
            <a:avLst/>
          </a:prstGeom>
          <a:noFill/>
          <a:ln/>
        </p:spPr>
        <p:txBody>
          <a:bodyPr wrap="square" lIns="0" tIns="0" rIns="0" bIns="0" rtlCol="0" anchor="ctr"/>
          <a:lstStyle/>
          <a:p>
            <a:pPr indent="0" marL="0">
              <a:buNone/>
            </a:pPr>
            <a:r>
              <a:rPr lang="en-US" sz="1700" b="1" dirty="0">
                <a:solidFill>
                  <a:schemeClr val="tx1"/>
                </a:solidFill>
              </a:rPr>
              <a:t>Data protection</a:t>
            </a:r>
            <a:endParaRPr lang="en-US" sz="1700" dirty="0"/>
          </a:p>
        </p:txBody>
      </p:sp>
      <p:sp>
        <p:nvSpPr>
          <p:cNvPr id="8" name="Text 5"/>
          <p:cNvSpPr txBox="1"/>
          <p:nvPr/>
        </p:nvSpPr>
        <p:spPr>
          <a:xfrm>
            <a:off x="749808" y="2496312"/>
            <a:ext cx="5038344" cy="1161288"/>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2"/>
                </a:solidFill>
              </a:rPr>
              <a:t>Self-host everything: on-prem, VPC or air-gapped</a:t>
            </a:r>
            <a:endParaRPr lang="en-US" sz="1400" dirty="0"/>
          </a:p>
          <a:p>
            <a:pPr marL="342900" indent="-342900">
              <a:spcAft>
                <a:spcPts val="500"/>
              </a:spcAft>
              <a:buSzPct val="100000"/>
              <a:buChar char="•"/>
            </a:pPr>
            <a:r>
              <a:rPr lang="en-US" sz="1400" dirty="0">
                <a:solidFill>
                  <a:schemeClr val="tx2"/>
                </a:solidFill>
              </a:rPr>
              <a:t>PII redaction with Curator and Guardrails</a:t>
            </a:r>
            <a:endParaRPr lang="en-US" sz="1400" dirty="0"/>
          </a:p>
          <a:p>
            <a:pPr marL="342900" indent="-342900">
              <a:spcAft>
                <a:spcPts val="500"/>
              </a:spcAft>
              <a:buSzPct val="100000"/>
              <a:buChar char="•"/>
            </a:pPr>
            <a:r>
              <a:rPr lang="en-US" sz="1400" dirty="0">
                <a:solidFill>
                  <a:schemeClr val="tx2"/>
                </a:solidFill>
              </a:rPr>
              <a:t>Namespaces and RBAC per team</a:t>
            </a:r>
            <a:endParaRPr lang="en-US" sz="1400" dirty="0"/>
          </a:p>
        </p:txBody>
      </p:sp>
      <p:sp>
        <p:nvSpPr>
          <p:cNvPr id="9" name="card"/>
          <p:cNvSpPr/>
          <p:nvPr/>
        </p:nvSpPr>
        <p:spPr>
          <a:xfrm>
            <a:off x="6172200" y="1600200"/>
            <a:ext cx="5440680" cy="2194560"/>
          </a:xfrm>
          <a:prstGeom prst="roundRect">
            <a:avLst>
              <a:gd name="adj" fmla="val 3333"/>
            </a:avLst>
          </a:prstGeom>
          <a:solidFill>
            <a:schemeClr val="bg2"/>
          </a:solidFill>
          <a:ln/>
        </p:spPr>
      </p:sp>
      <p:sp>
        <p:nvSpPr>
          <p:cNvPr id="10" name="Shape 7"/>
          <p:cNvSpPr/>
          <p:nvPr/>
        </p:nvSpPr>
        <p:spPr>
          <a:xfrm>
            <a:off x="6373368" y="1801368"/>
            <a:ext cx="548640" cy="548640"/>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6494069" y="1922069"/>
            <a:ext cx="307238" cy="307238"/>
          </a:xfrm>
          <a:prstGeom prst="rect">
            <a:avLst/>
          </a:prstGeom>
        </p:spPr>
      </p:pic>
      <p:sp>
        <p:nvSpPr>
          <p:cNvPr id="12" name="Text 8"/>
          <p:cNvSpPr txBox="1"/>
          <p:nvPr/>
        </p:nvSpPr>
        <p:spPr>
          <a:xfrm>
            <a:off x="7040880" y="1801368"/>
            <a:ext cx="4389120" cy="548640"/>
          </a:xfrm>
          <a:prstGeom prst="rect">
            <a:avLst/>
          </a:prstGeom>
          <a:noFill/>
          <a:ln/>
        </p:spPr>
        <p:txBody>
          <a:bodyPr wrap="square" lIns="0" tIns="0" rIns="0" bIns="0" rtlCol="0" anchor="ctr"/>
          <a:lstStyle/>
          <a:p>
            <a:pPr indent="0" marL="0">
              <a:buNone/>
            </a:pPr>
            <a:r>
              <a:rPr lang="en-US" sz="1700" b="1" dirty="0">
                <a:solidFill>
                  <a:schemeClr val="tx1"/>
                </a:solidFill>
              </a:rPr>
              <a:t>Traceability</a:t>
            </a:r>
            <a:endParaRPr lang="en-US" sz="1700" dirty="0"/>
          </a:p>
        </p:txBody>
      </p:sp>
      <p:sp>
        <p:nvSpPr>
          <p:cNvPr id="13" name="Text 9"/>
          <p:cNvSpPr txBox="1"/>
          <p:nvPr/>
        </p:nvSpPr>
        <p:spPr>
          <a:xfrm>
            <a:off x="6373368" y="2496312"/>
            <a:ext cx="5038344" cy="1161288"/>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2"/>
                </a:solidFill>
              </a:rPr>
              <a:t>Entity Store records datasets, jobs and model versions</a:t>
            </a:r>
            <a:endParaRPr lang="en-US" sz="1400" dirty="0"/>
          </a:p>
          <a:p>
            <a:pPr marL="342900" indent="-342900">
              <a:spcAft>
                <a:spcPts val="500"/>
              </a:spcAft>
              <a:buSzPct val="100000"/>
              <a:buChar char="•"/>
            </a:pPr>
            <a:r>
              <a:rPr lang="en-US" sz="1400" dirty="0">
                <a:solidFill>
                  <a:schemeClr val="tx2"/>
                </a:solidFill>
              </a:rPr>
              <a:t>Evaluation results stored per release</a:t>
            </a:r>
            <a:endParaRPr lang="en-US" sz="1400" dirty="0"/>
          </a:p>
          <a:p>
            <a:pPr marL="342900" indent="-342900">
              <a:spcAft>
                <a:spcPts val="500"/>
              </a:spcAft>
              <a:buSzPct val="100000"/>
              <a:buChar char="•"/>
            </a:pPr>
            <a:r>
              <a:rPr lang="en-US" sz="1400" dirty="0">
                <a:solidFill>
                  <a:schemeClr val="tx2"/>
                </a:solidFill>
              </a:rPr>
              <a:t>Audit logs at the API gateway</a:t>
            </a:r>
            <a:endParaRPr lang="en-US" sz="1400" dirty="0"/>
          </a:p>
        </p:txBody>
      </p:sp>
      <p:sp>
        <p:nvSpPr>
          <p:cNvPr id="14" name="card"/>
          <p:cNvSpPr/>
          <p:nvPr/>
        </p:nvSpPr>
        <p:spPr>
          <a:xfrm>
            <a:off x="548640" y="3931920"/>
            <a:ext cx="5440680" cy="2194560"/>
          </a:xfrm>
          <a:prstGeom prst="roundRect">
            <a:avLst>
              <a:gd name="adj" fmla="val 3333"/>
            </a:avLst>
          </a:prstGeom>
          <a:solidFill>
            <a:schemeClr val="bg2"/>
          </a:solidFill>
          <a:ln/>
        </p:spPr>
      </p:sp>
      <p:sp>
        <p:nvSpPr>
          <p:cNvPr id="15" name="Shape 11"/>
          <p:cNvSpPr/>
          <p:nvPr/>
        </p:nvSpPr>
        <p:spPr>
          <a:xfrm>
            <a:off x="749808" y="4133088"/>
            <a:ext cx="548640" cy="548640"/>
          </a:xfrm>
          <a:prstGeom prst="ellipse">
            <a:avLst/>
          </a:prstGeom>
          <a:solidFill>
            <a:schemeClr val="accent1"/>
          </a:solidFill>
          <a:ln/>
        </p:spPr>
      </p:sp>
      <p:pic>
        <p:nvPicPr>
          <p:cNvPr id="16" name="Image 2" descr="preencoded.png">    </p:cNvPr>
          <p:cNvPicPr>
            <a:picLocks noChangeAspect="1"/>
          </p:cNvPicPr>
          <p:nvPr/>
        </p:nvPicPr>
        <p:blipFill>
          <a:blip r:embed="rId3"/>
          <a:stretch>
            <a:fillRect/>
          </a:stretch>
        </p:blipFill>
        <p:spPr>
          <a:xfrm>
            <a:off x="870509" y="4253789"/>
            <a:ext cx="307238" cy="307238"/>
          </a:xfrm>
          <a:prstGeom prst="rect">
            <a:avLst/>
          </a:prstGeom>
        </p:spPr>
      </p:pic>
      <p:sp>
        <p:nvSpPr>
          <p:cNvPr id="17" name="Text 12"/>
          <p:cNvSpPr txBox="1"/>
          <p:nvPr/>
        </p:nvSpPr>
        <p:spPr>
          <a:xfrm>
            <a:off x="1417320" y="4133088"/>
            <a:ext cx="4389120" cy="548640"/>
          </a:xfrm>
          <a:prstGeom prst="rect">
            <a:avLst/>
          </a:prstGeom>
          <a:noFill/>
          <a:ln/>
        </p:spPr>
        <p:txBody>
          <a:bodyPr wrap="square" lIns="0" tIns="0" rIns="0" bIns="0" rtlCol="0" anchor="ctr"/>
          <a:lstStyle/>
          <a:p>
            <a:pPr indent="0" marL="0">
              <a:buNone/>
            </a:pPr>
            <a:r>
              <a:rPr lang="en-US" sz="1700" b="1" dirty="0">
                <a:solidFill>
                  <a:schemeClr val="tx1"/>
                </a:solidFill>
              </a:rPr>
              <a:t>Model risk</a:t>
            </a:r>
            <a:endParaRPr lang="en-US" sz="1700" dirty="0"/>
          </a:p>
        </p:txBody>
      </p:sp>
      <p:sp>
        <p:nvSpPr>
          <p:cNvPr id="18" name="Text 13"/>
          <p:cNvSpPr txBox="1"/>
          <p:nvPr/>
        </p:nvSpPr>
        <p:spPr>
          <a:xfrm>
            <a:off x="749808" y="4828032"/>
            <a:ext cx="5038344" cy="1161288"/>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2"/>
                </a:solidFill>
              </a:rPr>
              <a:t>Red-team with Auditor and adversarial datasets</a:t>
            </a:r>
            <a:endParaRPr lang="en-US" sz="1400" dirty="0"/>
          </a:p>
          <a:p>
            <a:pPr marL="342900" indent="-342900">
              <a:spcAft>
                <a:spcPts val="500"/>
              </a:spcAft>
              <a:buSzPct val="100000"/>
              <a:buChar char="•"/>
            </a:pPr>
            <a:r>
              <a:rPr lang="en-US" sz="1400" dirty="0">
                <a:solidFill>
                  <a:schemeClr val="tx2"/>
                </a:solidFill>
              </a:rPr>
              <a:t>Guardrails for runtime enforcement</a:t>
            </a:r>
            <a:endParaRPr lang="en-US" sz="1400" dirty="0"/>
          </a:p>
          <a:p>
            <a:pPr marL="342900" indent="-342900">
              <a:spcAft>
                <a:spcPts val="500"/>
              </a:spcAft>
              <a:buSzPct val="100000"/>
              <a:buChar char="•"/>
            </a:pPr>
            <a:r>
              <a:rPr lang="en-US" sz="1400" dirty="0">
                <a:solidFill>
                  <a:schemeClr val="tx2"/>
                </a:solidFill>
              </a:rPr>
              <a:t>Human review for high-impact uses</a:t>
            </a:r>
            <a:endParaRPr lang="en-US" sz="1400" dirty="0"/>
          </a:p>
        </p:txBody>
      </p:sp>
      <p:sp>
        <p:nvSpPr>
          <p:cNvPr id="19" name="card"/>
          <p:cNvSpPr/>
          <p:nvPr/>
        </p:nvSpPr>
        <p:spPr>
          <a:xfrm>
            <a:off x="6172200" y="3931920"/>
            <a:ext cx="5440680" cy="2194560"/>
          </a:xfrm>
          <a:prstGeom prst="roundRect">
            <a:avLst>
              <a:gd name="adj" fmla="val 3333"/>
            </a:avLst>
          </a:prstGeom>
          <a:solidFill>
            <a:schemeClr val="bg2"/>
          </a:solidFill>
          <a:ln/>
        </p:spPr>
      </p:sp>
      <p:sp>
        <p:nvSpPr>
          <p:cNvPr id="20" name="Shape 15"/>
          <p:cNvSpPr/>
          <p:nvPr/>
        </p:nvSpPr>
        <p:spPr>
          <a:xfrm>
            <a:off x="6373368" y="4133088"/>
            <a:ext cx="548640" cy="548640"/>
          </a:xfrm>
          <a:prstGeom prst="ellipse">
            <a:avLst/>
          </a:prstGeom>
          <a:solidFill>
            <a:schemeClr val="accent1"/>
          </a:solidFill>
          <a:ln/>
        </p:spPr>
      </p:sp>
      <p:pic>
        <p:nvPicPr>
          <p:cNvPr id="21" name="Image 3" descr="preencoded.png">    </p:cNvPr>
          <p:cNvPicPr>
            <a:picLocks noChangeAspect="1"/>
          </p:cNvPicPr>
          <p:nvPr/>
        </p:nvPicPr>
        <p:blipFill>
          <a:blip r:embed="rId4"/>
          <a:stretch>
            <a:fillRect/>
          </a:stretch>
        </p:blipFill>
        <p:spPr>
          <a:xfrm>
            <a:off x="6494069" y="4253789"/>
            <a:ext cx="307238" cy="307238"/>
          </a:xfrm>
          <a:prstGeom prst="rect">
            <a:avLst/>
          </a:prstGeom>
        </p:spPr>
      </p:pic>
      <p:sp>
        <p:nvSpPr>
          <p:cNvPr id="22" name="Text 16"/>
          <p:cNvSpPr txBox="1"/>
          <p:nvPr/>
        </p:nvSpPr>
        <p:spPr>
          <a:xfrm>
            <a:off x="7040880" y="4133088"/>
            <a:ext cx="4389120" cy="548640"/>
          </a:xfrm>
          <a:prstGeom prst="rect">
            <a:avLst/>
          </a:prstGeom>
          <a:noFill/>
          <a:ln/>
        </p:spPr>
        <p:txBody>
          <a:bodyPr wrap="square" lIns="0" tIns="0" rIns="0" bIns="0" rtlCol="0" anchor="ctr"/>
          <a:lstStyle/>
          <a:p>
            <a:pPr indent="0" marL="0">
              <a:buNone/>
            </a:pPr>
            <a:r>
              <a:rPr lang="en-US" sz="1700" b="1" dirty="0">
                <a:solidFill>
                  <a:schemeClr val="tx1"/>
                </a:solidFill>
              </a:rPr>
              <a:t>Licensing</a:t>
            </a:r>
            <a:endParaRPr lang="en-US" sz="1700" dirty="0"/>
          </a:p>
        </p:txBody>
      </p:sp>
      <p:sp>
        <p:nvSpPr>
          <p:cNvPr id="23" name="Text 17"/>
          <p:cNvSpPr txBox="1"/>
          <p:nvPr/>
        </p:nvSpPr>
        <p:spPr>
          <a:xfrm>
            <a:off x="6373368" y="4828032"/>
            <a:ext cx="5038344" cy="1161288"/>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2"/>
                </a:solidFill>
              </a:rPr>
              <a:t>NeMo libraries: open source (mostly Apache 2.0)</a:t>
            </a:r>
            <a:endParaRPr lang="en-US" sz="1400" dirty="0"/>
          </a:p>
          <a:p>
            <a:pPr marL="342900" indent="-342900">
              <a:spcAft>
                <a:spcPts val="500"/>
              </a:spcAft>
              <a:buSzPct val="100000"/>
              <a:buChar char="•"/>
            </a:pPr>
            <a:r>
              <a:rPr lang="en-US" sz="1400" dirty="0">
                <a:solidFill>
                  <a:schemeClr val="tx2"/>
                </a:solidFill>
              </a:rPr>
              <a:t>Microservices / NIM: NVIDIA AI Enterprise for production</a:t>
            </a:r>
            <a:endParaRPr lang="en-US" sz="1400" dirty="0"/>
          </a:p>
          <a:p>
            <a:pPr marL="342900" indent="-342900">
              <a:spcAft>
                <a:spcPts val="500"/>
              </a:spcAft>
              <a:buSzPct val="100000"/>
              <a:buChar char="•"/>
            </a:pPr>
            <a:r>
              <a:rPr lang="en-US" sz="1400" dirty="0">
                <a:solidFill>
                  <a:schemeClr val="tx2"/>
                </a:solidFill>
              </a:rPr>
              <a:t>Base models: check each model licence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000" b="1" dirty="0">
                <a:solidFill>
                  <a:schemeClr val="tx1"/>
                </a:solidFill>
              </a:rPr>
              <a:t>Adoption roadmap: the first 90 days</a:t>
            </a:r>
            <a:endParaRPr lang="en-US" sz="3000" dirty="0"/>
          </a:p>
        </p:txBody>
      </p:sp>
      <p:sp>
        <p:nvSpPr>
          <p:cNvPr id="3" name="Text 0"/>
          <p:cNvSpPr/>
          <p:nvPr>
            <p:ph idx="101" type="body" hasCustomPrompt="1"/>
          </p:nvPr>
        </p:nvSpPr>
        <p:spPr>
          <a:xfrm>
            <a:off x="548640" y="960120"/>
            <a:ext cx="11064240" cy="411480"/>
          </a:xfrm>
          <a:prstGeom prst="rect">
            <a:avLst/>
          </a:prstGeom>
          <a:noFill/>
          <a:ln/>
        </p:spPr>
        <p:txBody>
          <a:bodyPr wrap="square" lIns="0" tIns="0" rIns="0" bIns="0" rtlCol="0" anchor="t"/>
          <a:lstStyle/>
          <a:p>
            <a:pPr indent="0" marL="0">
              <a:buNone/>
            </a:pPr>
            <a:r>
              <a:rPr lang="en-US" sz="1600" dirty="0">
                <a:solidFill>
                  <a:schemeClr val="accent5"/>
                </a:solidFill>
              </a:rPr>
              <a:t>Start small, prove value with one use case, then build the platform</a:t>
            </a:r>
            <a:endParaRPr lang="en-US" sz="1600" dirty="0"/>
          </a:p>
        </p:txBody>
      </p:sp>
      <p:sp>
        <p:nvSpPr>
          <p:cNvPr id="4" name="Text 2"/>
          <p:cNvSpPr/>
          <p:nvPr/>
        </p:nvSpPr>
        <p:spPr>
          <a:xfrm>
            <a:off x="548640" y="1600200"/>
            <a:ext cx="3566160" cy="548640"/>
          </a:xfrm>
          <a:prstGeom prst="roundRect">
            <a:avLst>
              <a:gd name="adj" fmla="val 8333"/>
            </a:avLst>
          </a:prstGeom>
          <a:solidFill>
            <a:schemeClr val="accent1"/>
          </a:solidFill>
          <a:ln/>
        </p:spPr>
        <p:txBody>
          <a:bodyPr wrap="square" lIns="381" tIns="381" rIns="381" bIns="381" rtlCol="0" anchor="ctr"/>
          <a:lstStyle/>
          <a:p>
            <a:pPr algn="ctr" indent="0" marL="0">
              <a:buNone/>
            </a:pPr>
            <a:r>
              <a:rPr lang="en-US" sz="1500" b="1" dirty="0">
                <a:solidFill>
                  <a:schemeClr val="tx1"/>
                </a:solidFill>
              </a:rPr>
              <a:t>Days 0–30</a:t>
            </a:r>
            <a:endParaRPr lang="en-US" sz="1500" dirty="0"/>
          </a:p>
        </p:txBody>
      </p:sp>
      <p:sp>
        <p:nvSpPr>
          <p:cNvPr id="5" name="Shape 3"/>
          <p:cNvSpPr/>
          <p:nvPr/>
        </p:nvSpPr>
        <p:spPr>
          <a:xfrm>
            <a:off x="4133088" y="1874520"/>
            <a:ext cx="146304" cy="914"/>
          </a:xfrm>
          <a:prstGeom prst="line">
            <a:avLst/>
          </a:prstGeom>
          <a:noFill/>
          <a:ln w="25400">
            <a:solidFill>
              <a:schemeClr val="accent2"/>
            </a:solidFill>
            <a:prstDash val="solid"/>
            <a:tailEnd type="triangle"/>
          </a:ln>
        </p:spPr>
      </p:sp>
      <p:sp>
        <p:nvSpPr>
          <p:cNvPr id="6" name="Shape 4"/>
          <p:cNvSpPr/>
          <p:nvPr/>
        </p:nvSpPr>
        <p:spPr>
          <a:xfrm>
            <a:off x="548640" y="2286000"/>
            <a:ext cx="3566160" cy="3886200"/>
          </a:xfrm>
          <a:prstGeom prst="roundRect">
            <a:avLst>
              <a:gd name="adj" fmla="val 2051"/>
            </a:avLst>
          </a:prstGeom>
          <a:solidFill>
            <a:schemeClr val="bg2"/>
          </a:solidFill>
          <a:ln/>
        </p:spPr>
      </p:sp>
      <p:sp>
        <p:nvSpPr>
          <p:cNvPr id="7" name="Text 5"/>
          <p:cNvSpPr txBox="1"/>
          <p:nvPr/>
        </p:nvSpPr>
        <p:spPr>
          <a:xfrm>
            <a:off x="777240" y="2423160"/>
            <a:ext cx="3108960" cy="457200"/>
          </a:xfrm>
          <a:prstGeom prst="rect">
            <a:avLst/>
          </a:prstGeom>
          <a:noFill/>
          <a:ln/>
        </p:spPr>
        <p:txBody>
          <a:bodyPr wrap="square" lIns="0" tIns="0" rIns="0" bIns="0" rtlCol="0" anchor="t"/>
          <a:lstStyle/>
          <a:p>
            <a:pPr indent="0" marL="0">
              <a:buNone/>
            </a:pPr>
            <a:r>
              <a:rPr lang="en-US" sz="2200" b="1" dirty="0">
                <a:solidFill>
                  <a:schemeClr val="accent2"/>
                </a:solidFill>
                <a:latin typeface="Arial" pitchFamily="34" charset="0"/>
                <a:ea typeface="Arial" pitchFamily="34" charset="-122"/>
                <a:cs typeface="Arial" pitchFamily="34" charset="-120"/>
              </a:rPr>
              <a:t>Explore</a:t>
            </a:r>
            <a:endParaRPr lang="en-US" sz="2200" dirty="0"/>
          </a:p>
        </p:txBody>
      </p:sp>
      <p:sp>
        <p:nvSpPr>
          <p:cNvPr id="8" name="Text 6"/>
          <p:cNvSpPr txBox="1"/>
          <p:nvPr/>
        </p:nvSpPr>
        <p:spPr>
          <a:xfrm>
            <a:off x="777240" y="3017520"/>
            <a:ext cx="3154680" cy="30175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2"/>
                </a:solidFill>
              </a:rPr>
              <a:t>Pick one use case with clear value and data</a:t>
            </a:r>
            <a:endParaRPr lang="en-US" sz="1500" dirty="0"/>
          </a:p>
          <a:p>
            <a:pPr marL="342900" indent="-342900">
              <a:spcAft>
                <a:spcPts val="1000"/>
              </a:spcAft>
              <a:buSzPct val="100000"/>
              <a:buChar char="•"/>
            </a:pPr>
            <a:r>
              <a:rPr lang="en-US" sz="1500" dirty="0">
                <a:solidFill>
                  <a:schemeClr val="tx2"/>
                </a:solidFill>
              </a:rPr>
              <a:t>Try hosted NIM and NeMo APIs (build.nvidia.com)</a:t>
            </a:r>
            <a:endParaRPr lang="en-US" sz="1500" dirty="0"/>
          </a:p>
          <a:p>
            <a:pPr marL="342900" indent="-342900">
              <a:spcAft>
                <a:spcPts val="1000"/>
              </a:spcAft>
              <a:buSzPct val="100000"/>
              <a:buChar char="•"/>
            </a:pPr>
            <a:r>
              <a:rPr lang="en-US" sz="1500" dirty="0">
                <a:solidFill>
                  <a:schemeClr val="tx2"/>
                </a:solidFill>
              </a:rPr>
              <a:t>Build a golden evaluation set</a:t>
            </a:r>
            <a:endParaRPr lang="en-US" sz="1500" dirty="0"/>
          </a:p>
          <a:p>
            <a:pPr marL="342900" indent="-342900">
              <a:spcAft>
                <a:spcPts val="1000"/>
              </a:spcAft>
              <a:buSzPct val="100000"/>
              <a:buChar char="•"/>
            </a:pPr>
            <a:r>
              <a:rPr lang="en-US" sz="1500" dirty="0">
                <a:solidFill>
                  <a:schemeClr val="tx2"/>
                </a:solidFill>
              </a:rPr>
              <a:t>Baseline: prompting + RAG</a:t>
            </a:r>
            <a:endParaRPr lang="en-US" sz="1500" dirty="0"/>
          </a:p>
        </p:txBody>
      </p:sp>
      <p:sp>
        <p:nvSpPr>
          <p:cNvPr id="9" name="Text 7"/>
          <p:cNvSpPr/>
          <p:nvPr/>
        </p:nvSpPr>
        <p:spPr>
          <a:xfrm>
            <a:off x="4297680" y="1600200"/>
            <a:ext cx="3566160" cy="548640"/>
          </a:xfrm>
          <a:prstGeom prst="roundRect">
            <a:avLst>
              <a:gd name="adj" fmla="val 8333"/>
            </a:avLst>
          </a:prstGeom>
          <a:solidFill>
            <a:schemeClr val="accent1"/>
          </a:solidFill>
          <a:ln/>
        </p:spPr>
        <p:txBody>
          <a:bodyPr wrap="square" lIns="381" tIns="381" rIns="381" bIns="381" rtlCol="0" anchor="ctr"/>
          <a:lstStyle/>
          <a:p>
            <a:pPr algn="ctr" indent="0" marL="0">
              <a:buNone/>
            </a:pPr>
            <a:r>
              <a:rPr lang="en-US" sz="1500" b="1" dirty="0">
                <a:solidFill>
                  <a:schemeClr val="tx1"/>
                </a:solidFill>
              </a:rPr>
              <a:t>Days 31–60</a:t>
            </a:r>
            <a:endParaRPr lang="en-US" sz="1500" dirty="0"/>
          </a:p>
        </p:txBody>
      </p:sp>
      <p:sp>
        <p:nvSpPr>
          <p:cNvPr id="10" name="Shape 8"/>
          <p:cNvSpPr/>
          <p:nvPr/>
        </p:nvSpPr>
        <p:spPr>
          <a:xfrm>
            <a:off x="7882128" y="1874520"/>
            <a:ext cx="146304" cy="914"/>
          </a:xfrm>
          <a:prstGeom prst="line">
            <a:avLst/>
          </a:prstGeom>
          <a:noFill/>
          <a:ln w="25400">
            <a:solidFill>
              <a:schemeClr val="accent2"/>
            </a:solidFill>
            <a:prstDash val="solid"/>
            <a:tailEnd type="triangle"/>
          </a:ln>
        </p:spPr>
      </p:sp>
      <p:sp>
        <p:nvSpPr>
          <p:cNvPr id="11" name="Shape 9"/>
          <p:cNvSpPr/>
          <p:nvPr/>
        </p:nvSpPr>
        <p:spPr>
          <a:xfrm>
            <a:off x="4297680" y="2286000"/>
            <a:ext cx="3566160" cy="3886200"/>
          </a:xfrm>
          <a:prstGeom prst="roundRect">
            <a:avLst>
              <a:gd name="adj" fmla="val 2051"/>
            </a:avLst>
          </a:prstGeom>
          <a:solidFill>
            <a:schemeClr val="bg2"/>
          </a:solidFill>
          <a:ln/>
        </p:spPr>
      </p:sp>
      <p:sp>
        <p:nvSpPr>
          <p:cNvPr id="12" name="Text 10"/>
          <p:cNvSpPr txBox="1"/>
          <p:nvPr/>
        </p:nvSpPr>
        <p:spPr>
          <a:xfrm>
            <a:off x="4526280" y="2423160"/>
            <a:ext cx="3108960" cy="457200"/>
          </a:xfrm>
          <a:prstGeom prst="rect">
            <a:avLst/>
          </a:prstGeom>
          <a:noFill/>
          <a:ln/>
        </p:spPr>
        <p:txBody>
          <a:bodyPr wrap="square" lIns="0" tIns="0" rIns="0" bIns="0" rtlCol="0" anchor="t"/>
          <a:lstStyle/>
          <a:p>
            <a:pPr indent="0" marL="0">
              <a:buNone/>
            </a:pPr>
            <a:r>
              <a:rPr lang="en-US" sz="2200" b="1" dirty="0">
                <a:solidFill>
                  <a:schemeClr val="accent2"/>
                </a:solidFill>
                <a:latin typeface="Arial" pitchFamily="34" charset="0"/>
                <a:ea typeface="Arial" pitchFamily="34" charset="-122"/>
                <a:cs typeface="Arial" pitchFamily="34" charset="-120"/>
              </a:rPr>
              <a:t>Prove</a:t>
            </a:r>
            <a:endParaRPr lang="en-US" sz="2200" dirty="0"/>
          </a:p>
        </p:txBody>
      </p:sp>
      <p:sp>
        <p:nvSpPr>
          <p:cNvPr id="13" name="Text 11"/>
          <p:cNvSpPr txBox="1"/>
          <p:nvPr/>
        </p:nvSpPr>
        <p:spPr>
          <a:xfrm>
            <a:off x="4526280" y="3017520"/>
            <a:ext cx="3154680" cy="30175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2"/>
                </a:solidFill>
              </a:rPr>
              <a:t>Deploy NeMo microservices + NIM in a dev cluster</a:t>
            </a:r>
            <a:endParaRPr lang="en-US" sz="1500" dirty="0"/>
          </a:p>
          <a:p>
            <a:pPr marL="342900" indent="-342900">
              <a:spcAft>
                <a:spcPts val="1000"/>
              </a:spcAft>
              <a:buSzPct val="100000"/>
              <a:buChar char="•"/>
            </a:pPr>
            <a:r>
              <a:rPr lang="en-US" sz="1500" dirty="0">
                <a:solidFill>
                  <a:schemeClr val="tx2"/>
                </a:solidFill>
              </a:rPr>
              <a:t>LoRA fine-tune with Customizer</a:t>
            </a:r>
            <a:endParaRPr lang="en-US" sz="1500" dirty="0"/>
          </a:p>
          <a:p>
            <a:pPr marL="342900" indent="-342900">
              <a:spcAft>
                <a:spcPts val="1000"/>
              </a:spcAft>
              <a:buSzPct val="100000"/>
              <a:buChar char="•"/>
            </a:pPr>
            <a:r>
              <a:rPr lang="en-US" sz="1500" dirty="0">
                <a:solidFill>
                  <a:schemeClr val="tx2"/>
                </a:solidFill>
              </a:rPr>
              <a:t>Evaluate vs baseline; add Guardrails</a:t>
            </a:r>
            <a:endParaRPr lang="en-US" sz="1500" dirty="0"/>
          </a:p>
          <a:p>
            <a:pPr marL="342900" indent="-342900">
              <a:spcAft>
                <a:spcPts val="1000"/>
              </a:spcAft>
              <a:buSzPct val="100000"/>
              <a:buChar char="•"/>
            </a:pPr>
            <a:r>
              <a:rPr lang="en-US" sz="1500" dirty="0">
                <a:solidFill>
                  <a:schemeClr val="tx2"/>
                </a:solidFill>
              </a:rPr>
              <a:t>Security and licence review</a:t>
            </a:r>
            <a:endParaRPr lang="en-US" sz="1500" dirty="0"/>
          </a:p>
        </p:txBody>
      </p:sp>
      <p:sp>
        <p:nvSpPr>
          <p:cNvPr id="14" name="Text 12"/>
          <p:cNvSpPr/>
          <p:nvPr/>
        </p:nvSpPr>
        <p:spPr>
          <a:xfrm>
            <a:off x="8046720" y="1600200"/>
            <a:ext cx="3566160" cy="548640"/>
          </a:xfrm>
          <a:prstGeom prst="roundRect">
            <a:avLst>
              <a:gd name="adj" fmla="val 8333"/>
            </a:avLst>
          </a:prstGeom>
          <a:solidFill>
            <a:schemeClr val="tx1"/>
          </a:solidFill>
          <a:ln/>
        </p:spPr>
        <p:txBody>
          <a:bodyPr wrap="square" lIns="381" tIns="381" rIns="381" bIns="381" rtlCol="0" anchor="ctr"/>
          <a:lstStyle/>
          <a:p>
            <a:pPr algn="ctr" indent="0" marL="0">
              <a:buNone/>
            </a:pPr>
            <a:r>
              <a:rPr lang="en-US" sz="1500" b="1" dirty="0">
                <a:solidFill>
                  <a:schemeClr val="accent1"/>
                </a:solidFill>
              </a:rPr>
              <a:t>Days 61–90</a:t>
            </a:r>
            <a:endParaRPr lang="en-US" sz="1500" dirty="0"/>
          </a:p>
        </p:txBody>
      </p:sp>
      <p:sp>
        <p:nvSpPr>
          <p:cNvPr id="15" name="Shape 13"/>
          <p:cNvSpPr/>
          <p:nvPr/>
        </p:nvSpPr>
        <p:spPr>
          <a:xfrm>
            <a:off x="8046720" y="2286000"/>
            <a:ext cx="3566160" cy="3886200"/>
          </a:xfrm>
          <a:prstGeom prst="roundRect">
            <a:avLst>
              <a:gd name="adj" fmla="val 2051"/>
            </a:avLst>
          </a:prstGeom>
          <a:solidFill>
            <a:schemeClr val="bg2"/>
          </a:solidFill>
          <a:ln/>
        </p:spPr>
      </p:sp>
      <p:sp>
        <p:nvSpPr>
          <p:cNvPr id="16" name="Text 14"/>
          <p:cNvSpPr txBox="1"/>
          <p:nvPr/>
        </p:nvSpPr>
        <p:spPr>
          <a:xfrm>
            <a:off x="8275320" y="2423160"/>
            <a:ext cx="3108960" cy="457200"/>
          </a:xfrm>
          <a:prstGeom prst="rect">
            <a:avLst/>
          </a:prstGeom>
          <a:noFill/>
          <a:ln/>
        </p:spPr>
        <p:txBody>
          <a:bodyPr wrap="square" lIns="0" tIns="0" rIns="0" bIns="0" rtlCol="0" anchor="t"/>
          <a:lstStyle/>
          <a:p>
            <a:pPr indent="0" marL="0">
              <a:buNone/>
            </a:pPr>
            <a:r>
              <a:rPr lang="en-US" sz="2200" b="1" dirty="0">
                <a:solidFill>
                  <a:schemeClr val="accent2"/>
                </a:solidFill>
                <a:latin typeface="Arial" pitchFamily="34" charset="0"/>
                <a:ea typeface="Arial" pitchFamily="34" charset="-122"/>
                <a:cs typeface="Arial" pitchFamily="34" charset="-120"/>
              </a:rPr>
              <a:t>Productionize</a:t>
            </a:r>
            <a:endParaRPr lang="en-US" sz="2200" dirty="0"/>
          </a:p>
        </p:txBody>
      </p:sp>
      <p:sp>
        <p:nvSpPr>
          <p:cNvPr id="17" name="Text 15"/>
          <p:cNvSpPr txBox="1"/>
          <p:nvPr/>
        </p:nvSpPr>
        <p:spPr>
          <a:xfrm>
            <a:off x="8275320" y="3017520"/>
            <a:ext cx="3154680" cy="30175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2"/>
                </a:solidFill>
              </a:rPr>
              <a:t>Production NIM with monitoring</a:t>
            </a:r>
            <a:endParaRPr lang="en-US" sz="1500" dirty="0"/>
          </a:p>
          <a:p>
            <a:pPr marL="342900" indent="-342900">
              <a:spcAft>
                <a:spcPts val="1000"/>
              </a:spcAft>
              <a:buSzPct val="100000"/>
              <a:buChar char="•"/>
            </a:pPr>
            <a:r>
              <a:rPr lang="en-US" sz="1500" dirty="0">
                <a:solidFill>
                  <a:schemeClr val="tx2"/>
                </a:solidFill>
              </a:rPr>
              <a:t>CI/CD: customize → evaluate → promote</a:t>
            </a:r>
            <a:endParaRPr lang="en-US" sz="1500" dirty="0"/>
          </a:p>
          <a:p>
            <a:pPr marL="342900" indent="-342900">
              <a:spcAft>
                <a:spcPts val="1000"/>
              </a:spcAft>
              <a:buSzPct val="100000"/>
              <a:buChar char="•"/>
            </a:pPr>
            <a:r>
              <a:rPr lang="en-US" sz="1500" dirty="0">
                <a:solidFill>
                  <a:schemeClr val="tx2"/>
                </a:solidFill>
              </a:rPr>
              <a:t>Start logging for the flywheel</a:t>
            </a:r>
            <a:endParaRPr lang="en-US" sz="1500" dirty="0"/>
          </a:p>
          <a:p>
            <a:pPr marL="342900" indent="-342900">
              <a:spcAft>
                <a:spcPts val="1000"/>
              </a:spcAft>
              <a:buSzPct val="100000"/>
              <a:buChar char="•"/>
            </a:pPr>
            <a:r>
              <a:rPr lang="en-US" sz="1500" dirty="0">
                <a:solidFill>
                  <a:schemeClr val="tx2"/>
                </a:solidFill>
              </a:rPr>
              <a:t>Plan the next 2–3 use cases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000" b="1" dirty="0">
                <a:solidFill>
                  <a:schemeClr val="tx1"/>
                </a:solidFill>
              </a:rPr>
              <a:t>Hands-on lab outline</a:t>
            </a:r>
            <a:endParaRPr lang="en-US" sz="3000" dirty="0"/>
          </a:p>
        </p:txBody>
      </p:sp>
      <p:sp>
        <p:nvSpPr>
          <p:cNvPr id="3" name="Text 0"/>
          <p:cNvSpPr/>
          <p:nvPr>
            <p:ph idx="101" type="body" hasCustomPrompt="1"/>
          </p:nvPr>
        </p:nvSpPr>
        <p:spPr>
          <a:xfrm>
            <a:off x="548640" y="960120"/>
            <a:ext cx="11064240" cy="411480"/>
          </a:xfrm>
          <a:prstGeom prst="rect">
            <a:avLst/>
          </a:prstGeom>
          <a:noFill/>
          <a:ln/>
        </p:spPr>
        <p:txBody>
          <a:bodyPr wrap="square" lIns="0" tIns="0" rIns="0" bIns="0" rtlCol="0" anchor="t"/>
          <a:lstStyle/>
          <a:p>
            <a:pPr indent="0" marL="0">
              <a:buNone/>
            </a:pPr>
            <a:r>
              <a:rPr lang="en-US" sz="1600" dirty="0">
                <a:solidFill>
                  <a:schemeClr val="accent5"/>
                </a:solidFill>
              </a:rPr>
              <a:t>Optional 60–90 minute lab: customize, evaluate, safeguard and deploy an 8B model</a:t>
            </a:r>
            <a:endParaRPr lang="en-US" sz="1600" dirty="0"/>
          </a:p>
        </p:txBody>
      </p:sp>
      <p:sp>
        <p:nvSpPr>
          <p:cNvPr id="4" name="Shape 2"/>
          <p:cNvSpPr/>
          <p:nvPr/>
        </p:nvSpPr>
        <p:spPr>
          <a:xfrm>
            <a:off x="548640" y="1600200"/>
            <a:ext cx="3566160" cy="2194560"/>
          </a:xfrm>
          <a:prstGeom prst="roundRect">
            <a:avLst>
              <a:gd name="adj" fmla="val 3333"/>
            </a:avLst>
          </a:prstGeom>
          <a:solidFill>
            <a:schemeClr val="bg2"/>
          </a:solidFill>
          <a:ln/>
        </p:spPr>
      </p:sp>
      <p:sp>
        <p:nvSpPr>
          <p:cNvPr id="5" name="Text 3"/>
          <p:cNvSpPr/>
          <p:nvPr/>
        </p:nvSpPr>
        <p:spPr>
          <a:xfrm>
            <a:off x="749808" y="1801368"/>
            <a:ext cx="548640" cy="548640"/>
          </a:xfrm>
          <a:prstGeom prst="roundRect">
            <a:avLst>
              <a:gd name="adj" fmla="val 8333"/>
            </a:avLst>
          </a:prstGeom>
          <a:solidFill>
            <a:schemeClr val="accent1"/>
          </a:solidFill>
          <a:ln/>
        </p:spPr>
        <p:txBody>
          <a:bodyPr wrap="square" lIns="381" tIns="381" rIns="381" bIns="381" rtlCol="0" anchor="ctr"/>
          <a:lstStyle/>
          <a:p>
            <a:pPr algn="ctr" indent="0" marL="0">
              <a:buNone/>
            </a:pPr>
            <a:r>
              <a:rPr lang="en-US" sz="1800" b="1" dirty="0">
                <a:solidFill>
                  <a:schemeClr val="tx1"/>
                </a:solidFill>
              </a:rPr>
              <a:t>1</a:t>
            </a:r>
            <a:endParaRPr lang="en-US" sz="1800" dirty="0"/>
          </a:p>
        </p:txBody>
      </p:sp>
      <p:sp>
        <p:nvSpPr>
          <p:cNvPr id="6" name="Text 4"/>
          <p:cNvSpPr txBox="1"/>
          <p:nvPr/>
        </p:nvSpPr>
        <p:spPr>
          <a:xfrm>
            <a:off x="1417320" y="1801368"/>
            <a:ext cx="2560320" cy="548640"/>
          </a:xfrm>
          <a:prstGeom prst="rect">
            <a:avLst/>
          </a:prstGeom>
          <a:noFill/>
          <a:ln/>
        </p:spPr>
        <p:txBody>
          <a:bodyPr wrap="square" lIns="0" tIns="0" rIns="0" bIns="0" rtlCol="0" anchor="ctr"/>
          <a:lstStyle/>
          <a:p>
            <a:pPr indent="0" marL="0">
              <a:buNone/>
            </a:pPr>
            <a:r>
              <a:rPr lang="en-US" sz="1800" b="1" dirty="0">
                <a:solidFill>
                  <a:schemeClr val="tx1"/>
                </a:solidFill>
              </a:rPr>
              <a:t>Set up</a:t>
            </a:r>
            <a:endParaRPr lang="en-US" sz="1800" dirty="0"/>
          </a:p>
        </p:txBody>
      </p:sp>
      <p:sp>
        <p:nvSpPr>
          <p:cNvPr id="7" name="Text 5"/>
          <p:cNvSpPr txBox="1"/>
          <p:nvPr/>
        </p:nvSpPr>
        <p:spPr>
          <a:xfrm>
            <a:off x="749808" y="2496312"/>
            <a:ext cx="3154680" cy="1188720"/>
          </a:xfrm>
          <a:prstGeom prst="rect">
            <a:avLst/>
          </a:prstGeom>
          <a:noFill/>
          <a:ln/>
        </p:spPr>
        <p:txBody>
          <a:bodyPr wrap="square" lIns="0" tIns="0" rIns="0" bIns="0" rtlCol="0" anchor="t"/>
          <a:lstStyle/>
          <a:p>
            <a:pPr indent="0" marL="0">
              <a:buNone/>
            </a:pPr>
            <a:r>
              <a:rPr lang="en-US" sz="1400" dirty="0">
                <a:solidFill>
                  <a:schemeClr val="tx2"/>
                </a:solidFill>
              </a:rPr>
              <a:t>Access a NeMo microservices environment and NIM endpoint; upload a sample dataset to the Data Store</a:t>
            </a:r>
            <a:endParaRPr lang="en-US" sz="1400" dirty="0"/>
          </a:p>
        </p:txBody>
      </p:sp>
      <p:sp>
        <p:nvSpPr>
          <p:cNvPr id="8" name="Shape 6"/>
          <p:cNvSpPr/>
          <p:nvPr/>
        </p:nvSpPr>
        <p:spPr>
          <a:xfrm>
            <a:off x="4297680" y="1600200"/>
            <a:ext cx="3566160" cy="2194560"/>
          </a:xfrm>
          <a:prstGeom prst="roundRect">
            <a:avLst>
              <a:gd name="adj" fmla="val 3333"/>
            </a:avLst>
          </a:prstGeom>
          <a:solidFill>
            <a:schemeClr val="bg2"/>
          </a:solidFill>
          <a:ln/>
        </p:spPr>
      </p:sp>
      <p:sp>
        <p:nvSpPr>
          <p:cNvPr id="9" name="Text 7"/>
          <p:cNvSpPr/>
          <p:nvPr/>
        </p:nvSpPr>
        <p:spPr>
          <a:xfrm>
            <a:off x="4498848" y="1801368"/>
            <a:ext cx="548640" cy="548640"/>
          </a:xfrm>
          <a:prstGeom prst="roundRect">
            <a:avLst>
              <a:gd name="adj" fmla="val 8333"/>
            </a:avLst>
          </a:prstGeom>
          <a:solidFill>
            <a:schemeClr val="accent1"/>
          </a:solidFill>
          <a:ln/>
        </p:spPr>
        <p:txBody>
          <a:bodyPr wrap="square" lIns="381" tIns="381" rIns="381" bIns="381" rtlCol="0" anchor="ctr"/>
          <a:lstStyle/>
          <a:p>
            <a:pPr algn="ctr" indent="0" marL="0">
              <a:buNone/>
            </a:pPr>
            <a:r>
              <a:rPr lang="en-US" sz="1800" b="1" dirty="0">
                <a:solidFill>
                  <a:schemeClr val="tx1"/>
                </a:solidFill>
              </a:rPr>
              <a:t>2</a:t>
            </a:r>
            <a:endParaRPr lang="en-US" sz="1800" dirty="0"/>
          </a:p>
        </p:txBody>
      </p:sp>
      <p:sp>
        <p:nvSpPr>
          <p:cNvPr id="10" name="Text 8"/>
          <p:cNvSpPr txBox="1"/>
          <p:nvPr/>
        </p:nvSpPr>
        <p:spPr>
          <a:xfrm>
            <a:off x="5166360" y="1801368"/>
            <a:ext cx="2560320" cy="548640"/>
          </a:xfrm>
          <a:prstGeom prst="rect">
            <a:avLst/>
          </a:prstGeom>
          <a:noFill/>
          <a:ln/>
        </p:spPr>
        <p:txBody>
          <a:bodyPr wrap="square" lIns="0" tIns="0" rIns="0" bIns="0" rtlCol="0" anchor="ctr"/>
          <a:lstStyle/>
          <a:p>
            <a:pPr indent="0" marL="0">
              <a:buNone/>
            </a:pPr>
            <a:r>
              <a:rPr lang="en-US" sz="1800" b="1" dirty="0">
                <a:solidFill>
                  <a:schemeClr val="tx1"/>
                </a:solidFill>
              </a:rPr>
              <a:t>Baseline</a:t>
            </a:r>
            <a:endParaRPr lang="en-US" sz="1800" dirty="0"/>
          </a:p>
        </p:txBody>
      </p:sp>
      <p:sp>
        <p:nvSpPr>
          <p:cNvPr id="11" name="Text 9"/>
          <p:cNvSpPr txBox="1"/>
          <p:nvPr/>
        </p:nvSpPr>
        <p:spPr>
          <a:xfrm>
            <a:off x="4498848" y="2496312"/>
            <a:ext cx="3154680" cy="1188720"/>
          </a:xfrm>
          <a:prstGeom prst="rect">
            <a:avLst/>
          </a:prstGeom>
          <a:noFill/>
          <a:ln/>
        </p:spPr>
        <p:txBody>
          <a:bodyPr wrap="square" lIns="0" tIns="0" rIns="0" bIns="0" rtlCol="0" anchor="t"/>
          <a:lstStyle/>
          <a:p>
            <a:pPr indent="0" marL="0">
              <a:buNone/>
            </a:pPr>
            <a:r>
              <a:rPr lang="en-US" sz="1400" dirty="0">
                <a:solidFill>
                  <a:schemeClr val="tx2"/>
                </a:solidFill>
              </a:rPr>
              <a:t>Run Evaluator on the base Llama 3.1 8B Instruct NIM with a custom test set</a:t>
            </a:r>
            <a:endParaRPr lang="en-US" sz="1400" dirty="0"/>
          </a:p>
        </p:txBody>
      </p:sp>
      <p:sp>
        <p:nvSpPr>
          <p:cNvPr id="12" name="Shape 10"/>
          <p:cNvSpPr/>
          <p:nvPr/>
        </p:nvSpPr>
        <p:spPr>
          <a:xfrm>
            <a:off x="8046720" y="1600200"/>
            <a:ext cx="3566160" cy="2194560"/>
          </a:xfrm>
          <a:prstGeom prst="roundRect">
            <a:avLst>
              <a:gd name="adj" fmla="val 3333"/>
            </a:avLst>
          </a:prstGeom>
          <a:solidFill>
            <a:schemeClr val="bg2"/>
          </a:solidFill>
          <a:ln/>
        </p:spPr>
      </p:sp>
      <p:sp>
        <p:nvSpPr>
          <p:cNvPr id="13" name="Text 11"/>
          <p:cNvSpPr/>
          <p:nvPr/>
        </p:nvSpPr>
        <p:spPr>
          <a:xfrm>
            <a:off x="8247888" y="1801368"/>
            <a:ext cx="548640" cy="548640"/>
          </a:xfrm>
          <a:prstGeom prst="roundRect">
            <a:avLst>
              <a:gd name="adj" fmla="val 8333"/>
            </a:avLst>
          </a:prstGeom>
          <a:solidFill>
            <a:schemeClr val="accent1"/>
          </a:solidFill>
          <a:ln/>
        </p:spPr>
        <p:txBody>
          <a:bodyPr wrap="square" lIns="381" tIns="381" rIns="381" bIns="381" rtlCol="0" anchor="ctr"/>
          <a:lstStyle/>
          <a:p>
            <a:pPr algn="ctr" indent="0" marL="0">
              <a:buNone/>
            </a:pPr>
            <a:r>
              <a:rPr lang="en-US" sz="1800" b="1" dirty="0">
                <a:solidFill>
                  <a:schemeClr val="tx1"/>
                </a:solidFill>
              </a:rPr>
              <a:t>3</a:t>
            </a:r>
            <a:endParaRPr lang="en-US" sz="1800" dirty="0"/>
          </a:p>
        </p:txBody>
      </p:sp>
      <p:sp>
        <p:nvSpPr>
          <p:cNvPr id="14" name="Text 12"/>
          <p:cNvSpPr txBox="1"/>
          <p:nvPr/>
        </p:nvSpPr>
        <p:spPr>
          <a:xfrm>
            <a:off x="8915400" y="1801368"/>
            <a:ext cx="2560320" cy="548640"/>
          </a:xfrm>
          <a:prstGeom prst="rect">
            <a:avLst/>
          </a:prstGeom>
          <a:noFill/>
          <a:ln/>
        </p:spPr>
        <p:txBody>
          <a:bodyPr wrap="square" lIns="0" tIns="0" rIns="0" bIns="0" rtlCol="0" anchor="ctr"/>
          <a:lstStyle/>
          <a:p>
            <a:pPr indent="0" marL="0">
              <a:buNone/>
            </a:pPr>
            <a:r>
              <a:rPr lang="en-US" sz="1800" b="1" dirty="0">
                <a:solidFill>
                  <a:schemeClr val="tx1"/>
                </a:solidFill>
              </a:rPr>
              <a:t>Customize</a:t>
            </a:r>
            <a:endParaRPr lang="en-US" sz="1800" dirty="0"/>
          </a:p>
        </p:txBody>
      </p:sp>
      <p:sp>
        <p:nvSpPr>
          <p:cNvPr id="15" name="Text 13"/>
          <p:cNvSpPr txBox="1"/>
          <p:nvPr/>
        </p:nvSpPr>
        <p:spPr>
          <a:xfrm>
            <a:off x="8247888" y="2496312"/>
            <a:ext cx="3154680" cy="1188720"/>
          </a:xfrm>
          <a:prstGeom prst="rect">
            <a:avLst/>
          </a:prstGeom>
          <a:noFill/>
          <a:ln/>
        </p:spPr>
        <p:txBody>
          <a:bodyPr wrap="square" lIns="0" tIns="0" rIns="0" bIns="0" rtlCol="0" anchor="t"/>
          <a:lstStyle/>
          <a:p>
            <a:pPr indent="0" marL="0">
              <a:buNone/>
            </a:pPr>
            <a:r>
              <a:rPr lang="en-US" sz="1400" dirty="0">
                <a:solidFill>
                  <a:schemeClr val="tx2"/>
                </a:solidFill>
              </a:rPr>
              <a:t>Start a LoRA job with Customizer; watch training and validation loss</a:t>
            </a:r>
            <a:endParaRPr lang="en-US" sz="1400" dirty="0"/>
          </a:p>
        </p:txBody>
      </p:sp>
      <p:sp>
        <p:nvSpPr>
          <p:cNvPr id="16" name="Shape 14"/>
          <p:cNvSpPr/>
          <p:nvPr/>
        </p:nvSpPr>
        <p:spPr>
          <a:xfrm>
            <a:off x="548640" y="3931920"/>
            <a:ext cx="3566160" cy="2194560"/>
          </a:xfrm>
          <a:prstGeom prst="roundRect">
            <a:avLst>
              <a:gd name="adj" fmla="val 3333"/>
            </a:avLst>
          </a:prstGeom>
          <a:solidFill>
            <a:schemeClr val="bg2"/>
          </a:solidFill>
          <a:ln/>
        </p:spPr>
      </p:sp>
      <p:sp>
        <p:nvSpPr>
          <p:cNvPr id="17" name="Text 15"/>
          <p:cNvSpPr/>
          <p:nvPr/>
        </p:nvSpPr>
        <p:spPr>
          <a:xfrm>
            <a:off x="749808" y="4133088"/>
            <a:ext cx="548640" cy="548640"/>
          </a:xfrm>
          <a:prstGeom prst="roundRect">
            <a:avLst>
              <a:gd name="adj" fmla="val 8333"/>
            </a:avLst>
          </a:prstGeom>
          <a:solidFill>
            <a:schemeClr val="accent1"/>
          </a:solidFill>
          <a:ln/>
        </p:spPr>
        <p:txBody>
          <a:bodyPr wrap="square" lIns="381" tIns="381" rIns="381" bIns="381" rtlCol="0" anchor="ctr"/>
          <a:lstStyle/>
          <a:p>
            <a:pPr algn="ctr" indent="0" marL="0">
              <a:buNone/>
            </a:pPr>
            <a:r>
              <a:rPr lang="en-US" sz="1800" b="1" dirty="0">
                <a:solidFill>
                  <a:schemeClr val="tx1"/>
                </a:solidFill>
              </a:rPr>
              <a:t>4</a:t>
            </a:r>
            <a:endParaRPr lang="en-US" sz="1800" dirty="0"/>
          </a:p>
        </p:txBody>
      </p:sp>
      <p:sp>
        <p:nvSpPr>
          <p:cNvPr id="18" name="Text 16"/>
          <p:cNvSpPr txBox="1"/>
          <p:nvPr/>
        </p:nvSpPr>
        <p:spPr>
          <a:xfrm>
            <a:off x="1417320" y="4133088"/>
            <a:ext cx="2560320" cy="548640"/>
          </a:xfrm>
          <a:prstGeom prst="rect">
            <a:avLst/>
          </a:prstGeom>
          <a:noFill/>
          <a:ln/>
        </p:spPr>
        <p:txBody>
          <a:bodyPr wrap="square" lIns="0" tIns="0" rIns="0" bIns="0" rtlCol="0" anchor="ctr"/>
          <a:lstStyle/>
          <a:p>
            <a:pPr indent="0" marL="0">
              <a:buNone/>
            </a:pPr>
            <a:r>
              <a:rPr lang="en-US" sz="1800" b="1" dirty="0">
                <a:solidFill>
                  <a:schemeClr val="tx1"/>
                </a:solidFill>
              </a:rPr>
              <a:t>Evaluate</a:t>
            </a:r>
            <a:endParaRPr lang="en-US" sz="1800" dirty="0"/>
          </a:p>
        </p:txBody>
      </p:sp>
      <p:sp>
        <p:nvSpPr>
          <p:cNvPr id="19" name="Text 17"/>
          <p:cNvSpPr txBox="1"/>
          <p:nvPr/>
        </p:nvSpPr>
        <p:spPr>
          <a:xfrm>
            <a:off x="749808" y="4828032"/>
            <a:ext cx="3154680" cy="1188720"/>
          </a:xfrm>
          <a:prstGeom prst="rect">
            <a:avLst/>
          </a:prstGeom>
          <a:noFill/>
          <a:ln/>
        </p:spPr>
        <p:txBody>
          <a:bodyPr wrap="square" lIns="0" tIns="0" rIns="0" bIns="0" rtlCol="0" anchor="t"/>
          <a:lstStyle/>
          <a:p>
            <a:pPr indent="0" marL="0">
              <a:buNone/>
            </a:pPr>
            <a:r>
              <a:rPr lang="en-US" sz="1400" dirty="0">
                <a:solidFill>
                  <a:schemeClr val="tx2"/>
                </a:solidFill>
              </a:rPr>
              <a:t>Re-run the same evaluation on the adapter; compare scores side by side</a:t>
            </a:r>
            <a:endParaRPr lang="en-US" sz="1400" dirty="0"/>
          </a:p>
        </p:txBody>
      </p:sp>
      <p:sp>
        <p:nvSpPr>
          <p:cNvPr id="20" name="Shape 18"/>
          <p:cNvSpPr/>
          <p:nvPr/>
        </p:nvSpPr>
        <p:spPr>
          <a:xfrm>
            <a:off x="4297680" y="3931920"/>
            <a:ext cx="3566160" cy="2194560"/>
          </a:xfrm>
          <a:prstGeom prst="roundRect">
            <a:avLst>
              <a:gd name="adj" fmla="val 3333"/>
            </a:avLst>
          </a:prstGeom>
          <a:solidFill>
            <a:schemeClr val="bg2"/>
          </a:solidFill>
          <a:ln/>
        </p:spPr>
      </p:sp>
      <p:sp>
        <p:nvSpPr>
          <p:cNvPr id="21" name="Text 19"/>
          <p:cNvSpPr/>
          <p:nvPr/>
        </p:nvSpPr>
        <p:spPr>
          <a:xfrm>
            <a:off x="4498848" y="4133088"/>
            <a:ext cx="548640" cy="548640"/>
          </a:xfrm>
          <a:prstGeom prst="roundRect">
            <a:avLst>
              <a:gd name="adj" fmla="val 8333"/>
            </a:avLst>
          </a:prstGeom>
          <a:solidFill>
            <a:schemeClr val="accent1"/>
          </a:solidFill>
          <a:ln/>
        </p:spPr>
        <p:txBody>
          <a:bodyPr wrap="square" lIns="381" tIns="381" rIns="381" bIns="381" rtlCol="0" anchor="ctr"/>
          <a:lstStyle/>
          <a:p>
            <a:pPr algn="ctr" indent="0" marL="0">
              <a:buNone/>
            </a:pPr>
            <a:r>
              <a:rPr lang="en-US" sz="1800" b="1" dirty="0">
                <a:solidFill>
                  <a:schemeClr val="tx1"/>
                </a:solidFill>
              </a:rPr>
              <a:t>5</a:t>
            </a:r>
            <a:endParaRPr lang="en-US" sz="1800" dirty="0"/>
          </a:p>
        </p:txBody>
      </p:sp>
      <p:sp>
        <p:nvSpPr>
          <p:cNvPr id="22" name="Text 20"/>
          <p:cNvSpPr txBox="1"/>
          <p:nvPr/>
        </p:nvSpPr>
        <p:spPr>
          <a:xfrm>
            <a:off x="5166360" y="4133088"/>
            <a:ext cx="2560320" cy="548640"/>
          </a:xfrm>
          <a:prstGeom prst="rect">
            <a:avLst/>
          </a:prstGeom>
          <a:noFill/>
          <a:ln/>
        </p:spPr>
        <p:txBody>
          <a:bodyPr wrap="square" lIns="0" tIns="0" rIns="0" bIns="0" rtlCol="0" anchor="ctr"/>
          <a:lstStyle/>
          <a:p>
            <a:pPr indent="0" marL="0">
              <a:buNone/>
            </a:pPr>
            <a:r>
              <a:rPr lang="en-US" sz="1800" b="1" dirty="0">
                <a:solidFill>
                  <a:schemeClr val="tx1"/>
                </a:solidFill>
              </a:rPr>
              <a:t>Safeguard</a:t>
            </a:r>
            <a:endParaRPr lang="en-US" sz="1800" dirty="0"/>
          </a:p>
        </p:txBody>
      </p:sp>
      <p:sp>
        <p:nvSpPr>
          <p:cNvPr id="23" name="Text 21"/>
          <p:cNvSpPr txBox="1"/>
          <p:nvPr/>
        </p:nvSpPr>
        <p:spPr>
          <a:xfrm>
            <a:off x="4498848" y="4828032"/>
            <a:ext cx="3154680" cy="1188720"/>
          </a:xfrm>
          <a:prstGeom prst="rect">
            <a:avLst/>
          </a:prstGeom>
          <a:noFill/>
          <a:ln/>
        </p:spPr>
        <p:txBody>
          <a:bodyPr wrap="square" lIns="0" tIns="0" rIns="0" bIns="0" rtlCol="0" anchor="t"/>
          <a:lstStyle/>
          <a:p>
            <a:pPr indent="0" marL="0">
              <a:buNone/>
            </a:pPr>
            <a:r>
              <a:rPr lang="en-US" sz="1400" dirty="0">
                <a:solidFill>
                  <a:schemeClr val="tx2"/>
                </a:solidFill>
              </a:rPr>
              <a:t>Apply a Guardrails config with content safety and topic control; test jailbreak prompts</a:t>
            </a:r>
            <a:endParaRPr lang="en-US" sz="1400" dirty="0"/>
          </a:p>
        </p:txBody>
      </p:sp>
      <p:sp>
        <p:nvSpPr>
          <p:cNvPr id="24" name="Shape 22"/>
          <p:cNvSpPr/>
          <p:nvPr/>
        </p:nvSpPr>
        <p:spPr>
          <a:xfrm>
            <a:off x="8046720" y="3931920"/>
            <a:ext cx="3566160" cy="2194560"/>
          </a:xfrm>
          <a:prstGeom prst="roundRect">
            <a:avLst>
              <a:gd name="adj" fmla="val 3333"/>
            </a:avLst>
          </a:prstGeom>
          <a:solidFill>
            <a:schemeClr val="bg2"/>
          </a:solidFill>
          <a:ln/>
        </p:spPr>
      </p:sp>
      <p:sp>
        <p:nvSpPr>
          <p:cNvPr id="25" name="Text 23"/>
          <p:cNvSpPr/>
          <p:nvPr/>
        </p:nvSpPr>
        <p:spPr>
          <a:xfrm>
            <a:off x="8247888" y="4133088"/>
            <a:ext cx="548640" cy="548640"/>
          </a:xfrm>
          <a:prstGeom prst="roundRect">
            <a:avLst>
              <a:gd name="adj" fmla="val 8333"/>
            </a:avLst>
          </a:prstGeom>
          <a:solidFill>
            <a:schemeClr val="accent1"/>
          </a:solidFill>
          <a:ln/>
        </p:spPr>
        <p:txBody>
          <a:bodyPr wrap="square" lIns="381" tIns="381" rIns="381" bIns="381" rtlCol="0" anchor="ctr"/>
          <a:lstStyle/>
          <a:p>
            <a:pPr algn="ctr" indent="0" marL="0">
              <a:buNone/>
            </a:pPr>
            <a:r>
              <a:rPr lang="en-US" sz="1800" b="1" dirty="0">
                <a:solidFill>
                  <a:schemeClr val="tx1"/>
                </a:solidFill>
              </a:rPr>
              <a:t>6</a:t>
            </a:r>
            <a:endParaRPr lang="en-US" sz="1800" dirty="0"/>
          </a:p>
        </p:txBody>
      </p:sp>
      <p:sp>
        <p:nvSpPr>
          <p:cNvPr id="26" name="Text 24"/>
          <p:cNvSpPr txBox="1"/>
          <p:nvPr/>
        </p:nvSpPr>
        <p:spPr>
          <a:xfrm>
            <a:off x="8915400" y="4133088"/>
            <a:ext cx="2560320" cy="548640"/>
          </a:xfrm>
          <a:prstGeom prst="rect">
            <a:avLst/>
          </a:prstGeom>
          <a:noFill/>
          <a:ln/>
        </p:spPr>
        <p:txBody>
          <a:bodyPr wrap="square" lIns="0" tIns="0" rIns="0" bIns="0" rtlCol="0" anchor="ctr"/>
          <a:lstStyle/>
          <a:p>
            <a:pPr indent="0" marL="0">
              <a:buNone/>
            </a:pPr>
            <a:r>
              <a:rPr lang="en-US" sz="1800" b="1" dirty="0">
                <a:solidFill>
                  <a:schemeClr val="tx1"/>
                </a:solidFill>
              </a:rPr>
              <a:t>Reflect</a:t>
            </a:r>
            <a:endParaRPr lang="en-US" sz="1800" dirty="0"/>
          </a:p>
        </p:txBody>
      </p:sp>
      <p:sp>
        <p:nvSpPr>
          <p:cNvPr id="27" name="Text 25"/>
          <p:cNvSpPr txBox="1"/>
          <p:nvPr/>
        </p:nvSpPr>
        <p:spPr>
          <a:xfrm>
            <a:off x="8247888" y="4828032"/>
            <a:ext cx="3154680" cy="1188720"/>
          </a:xfrm>
          <a:prstGeom prst="rect">
            <a:avLst/>
          </a:prstGeom>
          <a:noFill/>
          <a:ln/>
        </p:spPr>
        <p:txBody>
          <a:bodyPr wrap="square" lIns="0" tIns="0" rIns="0" bIns="0" rtlCol="0" anchor="t"/>
          <a:lstStyle/>
          <a:p>
            <a:pPr indent="0" marL="0">
              <a:buNone/>
            </a:pPr>
            <a:r>
              <a:rPr lang="en-US" sz="1400" dirty="0">
                <a:solidFill>
                  <a:schemeClr val="tx2"/>
                </a:solidFill>
              </a:rPr>
              <a:t>Discuss: was fine-tuning worth it vs prompting + RAG? What would the flywheel collect?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000" b="1" dirty="0">
                <a:solidFill>
                  <a:schemeClr val="bg1"/>
                </a:solidFill>
              </a:rPr>
              <a:t>Key takeaways</a:t>
            </a:r>
            <a:endParaRPr lang="en-US" sz="3000" dirty="0"/>
          </a:p>
        </p:txBody>
      </p:sp>
      <p:sp>
        <p:nvSpPr>
          <p:cNvPr id="3" name="Text 0"/>
          <p:cNvSpPr/>
          <p:nvPr>
            <p:ph idx="101" type="body" hasCustomPrompt="1"/>
          </p:nvPr>
        </p:nvSpPr>
        <p:spPr>
          <a:xfrm>
            <a:off x="548640" y="960120"/>
            <a:ext cx="11064240" cy="411480"/>
          </a:xfrm>
          <a:prstGeom prst="rect">
            <a:avLst/>
          </a:prstGeom>
          <a:noFill/>
          <a:ln/>
        </p:spPr>
        <p:txBody>
          <a:bodyPr wrap="square" lIns="0" tIns="0" rIns="0" bIns="0" rtlCol="0" anchor="t"/>
          <a:lstStyle/>
          <a:p>
            <a:pPr indent="0" marL="0">
              <a:buNone/>
            </a:pPr>
            <a:r>
              <a:rPr lang="en-US" sz="1600" dirty="0">
                <a:solidFill>
                  <a:schemeClr val="accent1"/>
                </a:solidFill>
              </a:rPr>
              <a:t>Six ideas to remember</a:t>
            </a:r>
            <a:endParaRPr lang="en-US" sz="1600" dirty="0"/>
          </a:p>
        </p:txBody>
      </p:sp>
      <p:sp>
        <p:nvSpPr>
          <p:cNvPr id="4" name="Shape 2"/>
          <p:cNvSpPr/>
          <p:nvPr/>
        </p:nvSpPr>
        <p:spPr>
          <a:xfrm>
            <a:off x="548640" y="1645920"/>
            <a:ext cx="3566160" cy="2103120"/>
          </a:xfrm>
          <a:prstGeom prst="roundRect">
            <a:avLst>
              <a:gd name="adj" fmla="val 3478"/>
            </a:avLst>
          </a:prstGeom>
          <a:solidFill>
            <a:srgbClr val="1F2A21"/>
          </a:solidFill>
          <a:ln/>
        </p:spPr>
      </p:sp>
      <p:sp>
        <p:nvSpPr>
          <p:cNvPr id="5" name="Text 3"/>
          <p:cNvSpPr txBox="1"/>
          <p:nvPr/>
        </p:nvSpPr>
        <p:spPr>
          <a:xfrm>
            <a:off x="777240" y="1828800"/>
            <a:ext cx="914400" cy="502920"/>
          </a:xfrm>
          <a:prstGeom prst="rect">
            <a:avLst/>
          </a:prstGeom>
          <a:noFill/>
          <a:ln/>
        </p:spPr>
        <p:txBody>
          <a:bodyPr wrap="square" lIns="0" tIns="0" rIns="0" bIns="0" rtlCol="0" anchor="t"/>
          <a:lstStyle/>
          <a:p>
            <a:pPr indent="0" marL="0">
              <a:buNone/>
            </a:pPr>
            <a:r>
              <a:rPr lang="en-US" sz="2800" b="1" dirty="0">
                <a:solidFill>
                  <a:schemeClr val="accent1"/>
                </a:solidFill>
                <a:latin typeface="Arial" pitchFamily="34" charset="0"/>
                <a:ea typeface="Arial" pitchFamily="34" charset="-122"/>
                <a:cs typeface="Arial" pitchFamily="34" charset="-120"/>
              </a:rPr>
              <a:t>01</a:t>
            </a:r>
            <a:endParaRPr lang="en-US" sz="2800" dirty="0"/>
          </a:p>
        </p:txBody>
      </p:sp>
      <p:sp>
        <p:nvSpPr>
          <p:cNvPr id="6" name="Text 4"/>
          <p:cNvSpPr txBox="1"/>
          <p:nvPr/>
        </p:nvSpPr>
        <p:spPr>
          <a:xfrm>
            <a:off x="777240" y="2377440"/>
            <a:ext cx="3154680" cy="457200"/>
          </a:xfrm>
          <a:prstGeom prst="rect">
            <a:avLst/>
          </a:prstGeom>
          <a:noFill/>
          <a:ln/>
        </p:spPr>
        <p:txBody>
          <a:bodyPr wrap="square" lIns="0" tIns="0" rIns="0" bIns="0" rtlCol="0" anchor="t"/>
          <a:lstStyle/>
          <a:p>
            <a:pPr indent="0" marL="0">
              <a:buNone/>
            </a:pPr>
            <a:r>
              <a:rPr lang="en-US" sz="1700" b="1" dirty="0">
                <a:solidFill>
                  <a:schemeClr val="bg1"/>
                </a:solidFill>
              </a:rPr>
              <a:t>Customize, don't start from scratch</a:t>
            </a:r>
            <a:endParaRPr lang="en-US" sz="1700" dirty="0"/>
          </a:p>
        </p:txBody>
      </p:sp>
      <p:sp>
        <p:nvSpPr>
          <p:cNvPr id="7" name="Text 5"/>
          <p:cNvSpPr txBox="1"/>
          <p:nvPr/>
        </p:nvSpPr>
        <p:spPr>
          <a:xfrm>
            <a:off x="777240" y="2852928"/>
            <a:ext cx="3154680" cy="822960"/>
          </a:xfrm>
          <a:prstGeom prst="rect">
            <a:avLst/>
          </a:prstGeom>
          <a:noFill/>
          <a:ln/>
        </p:spPr>
        <p:txBody>
          <a:bodyPr wrap="square" lIns="0" tIns="0" rIns="0" bIns="0" rtlCol="0" anchor="t"/>
          <a:lstStyle/>
          <a:p>
            <a:pPr indent="0" marL="0">
              <a:buNone/>
            </a:pPr>
            <a:r>
              <a:rPr lang="en-US" sz="1400" dirty="0">
                <a:solidFill>
                  <a:srgbClr val="C9D3CC"/>
                </a:solidFill>
              </a:rPr>
              <a:t>Most enterprise value comes from adapting open models to your data and policies.</a:t>
            </a:r>
            <a:endParaRPr lang="en-US" sz="1400" dirty="0"/>
          </a:p>
        </p:txBody>
      </p:sp>
      <p:sp>
        <p:nvSpPr>
          <p:cNvPr id="8" name="Shape 6"/>
          <p:cNvSpPr/>
          <p:nvPr/>
        </p:nvSpPr>
        <p:spPr>
          <a:xfrm>
            <a:off x="4297680" y="1645920"/>
            <a:ext cx="3566160" cy="2103120"/>
          </a:xfrm>
          <a:prstGeom prst="roundRect">
            <a:avLst>
              <a:gd name="adj" fmla="val 3478"/>
            </a:avLst>
          </a:prstGeom>
          <a:solidFill>
            <a:srgbClr val="1F2A21"/>
          </a:solidFill>
          <a:ln/>
        </p:spPr>
      </p:sp>
      <p:sp>
        <p:nvSpPr>
          <p:cNvPr id="9" name="Text 7"/>
          <p:cNvSpPr txBox="1"/>
          <p:nvPr/>
        </p:nvSpPr>
        <p:spPr>
          <a:xfrm>
            <a:off x="4526280" y="1828800"/>
            <a:ext cx="914400" cy="502920"/>
          </a:xfrm>
          <a:prstGeom prst="rect">
            <a:avLst/>
          </a:prstGeom>
          <a:noFill/>
          <a:ln/>
        </p:spPr>
        <p:txBody>
          <a:bodyPr wrap="square" lIns="0" tIns="0" rIns="0" bIns="0" rtlCol="0" anchor="t"/>
          <a:lstStyle/>
          <a:p>
            <a:pPr indent="0" marL="0">
              <a:buNone/>
            </a:pPr>
            <a:r>
              <a:rPr lang="en-US" sz="2800" b="1" dirty="0">
                <a:solidFill>
                  <a:schemeClr val="accent1"/>
                </a:solidFill>
                <a:latin typeface="Arial" pitchFamily="34" charset="0"/>
                <a:ea typeface="Arial" pitchFamily="34" charset="-122"/>
                <a:cs typeface="Arial" pitchFamily="34" charset="-120"/>
              </a:rPr>
              <a:t>02</a:t>
            </a:r>
            <a:endParaRPr lang="en-US" sz="2800" dirty="0"/>
          </a:p>
        </p:txBody>
      </p:sp>
      <p:sp>
        <p:nvSpPr>
          <p:cNvPr id="10" name="Text 8"/>
          <p:cNvSpPr txBox="1"/>
          <p:nvPr/>
        </p:nvSpPr>
        <p:spPr>
          <a:xfrm>
            <a:off x="4526280" y="2377440"/>
            <a:ext cx="3154680" cy="457200"/>
          </a:xfrm>
          <a:prstGeom prst="rect">
            <a:avLst/>
          </a:prstGeom>
          <a:noFill/>
          <a:ln/>
        </p:spPr>
        <p:txBody>
          <a:bodyPr wrap="square" lIns="0" tIns="0" rIns="0" bIns="0" rtlCol="0" anchor="t"/>
          <a:lstStyle/>
          <a:p>
            <a:pPr indent="0" marL="0">
              <a:buNone/>
            </a:pPr>
            <a:r>
              <a:rPr lang="en-US" sz="1700" b="1" dirty="0">
                <a:solidFill>
                  <a:schemeClr val="bg1"/>
                </a:solidFill>
              </a:rPr>
              <a:t>Simplest technique first</a:t>
            </a:r>
            <a:endParaRPr lang="en-US" sz="1700" dirty="0"/>
          </a:p>
        </p:txBody>
      </p:sp>
      <p:sp>
        <p:nvSpPr>
          <p:cNvPr id="11" name="Text 9"/>
          <p:cNvSpPr txBox="1"/>
          <p:nvPr/>
        </p:nvSpPr>
        <p:spPr>
          <a:xfrm>
            <a:off x="4526280" y="2852928"/>
            <a:ext cx="3154680" cy="822960"/>
          </a:xfrm>
          <a:prstGeom prst="rect">
            <a:avLst/>
          </a:prstGeom>
          <a:noFill/>
          <a:ln/>
        </p:spPr>
        <p:txBody>
          <a:bodyPr wrap="square" lIns="0" tIns="0" rIns="0" bIns="0" rtlCol="0" anchor="t"/>
          <a:lstStyle/>
          <a:p>
            <a:pPr indent="0" marL="0">
              <a:buNone/>
            </a:pPr>
            <a:r>
              <a:rPr lang="en-US" sz="1400" dirty="0">
                <a:solidFill>
                  <a:srgbClr val="C9D3CC"/>
                </a:solidFill>
              </a:rPr>
              <a:t>Prompting → RAG → LoRA → SFT → alignment; measure at each step.</a:t>
            </a:r>
            <a:endParaRPr lang="en-US" sz="1400" dirty="0"/>
          </a:p>
        </p:txBody>
      </p:sp>
      <p:sp>
        <p:nvSpPr>
          <p:cNvPr id="12" name="Shape 10"/>
          <p:cNvSpPr/>
          <p:nvPr/>
        </p:nvSpPr>
        <p:spPr>
          <a:xfrm>
            <a:off x="8046720" y="1645920"/>
            <a:ext cx="3566160" cy="2103120"/>
          </a:xfrm>
          <a:prstGeom prst="roundRect">
            <a:avLst>
              <a:gd name="adj" fmla="val 3478"/>
            </a:avLst>
          </a:prstGeom>
          <a:solidFill>
            <a:srgbClr val="1F2A21"/>
          </a:solidFill>
          <a:ln/>
        </p:spPr>
      </p:sp>
      <p:sp>
        <p:nvSpPr>
          <p:cNvPr id="13" name="Text 11"/>
          <p:cNvSpPr txBox="1"/>
          <p:nvPr/>
        </p:nvSpPr>
        <p:spPr>
          <a:xfrm>
            <a:off x="8275320" y="1828800"/>
            <a:ext cx="914400" cy="502920"/>
          </a:xfrm>
          <a:prstGeom prst="rect">
            <a:avLst/>
          </a:prstGeom>
          <a:noFill/>
          <a:ln/>
        </p:spPr>
        <p:txBody>
          <a:bodyPr wrap="square" lIns="0" tIns="0" rIns="0" bIns="0" rtlCol="0" anchor="t"/>
          <a:lstStyle/>
          <a:p>
            <a:pPr indent="0" marL="0">
              <a:buNone/>
            </a:pPr>
            <a:r>
              <a:rPr lang="en-US" sz="2800" b="1" dirty="0">
                <a:solidFill>
                  <a:schemeClr val="accent1"/>
                </a:solidFill>
                <a:latin typeface="Arial" pitchFamily="34" charset="0"/>
                <a:ea typeface="Arial" pitchFamily="34" charset="-122"/>
                <a:cs typeface="Arial" pitchFamily="34" charset="-120"/>
              </a:rPr>
              <a:t>03</a:t>
            </a:r>
            <a:endParaRPr lang="en-US" sz="2800" dirty="0"/>
          </a:p>
        </p:txBody>
      </p:sp>
      <p:sp>
        <p:nvSpPr>
          <p:cNvPr id="14" name="Text 12"/>
          <p:cNvSpPr txBox="1"/>
          <p:nvPr/>
        </p:nvSpPr>
        <p:spPr>
          <a:xfrm>
            <a:off x="8275320" y="2377440"/>
            <a:ext cx="3154680" cy="457200"/>
          </a:xfrm>
          <a:prstGeom prst="rect">
            <a:avLst/>
          </a:prstGeom>
          <a:noFill/>
          <a:ln/>
        </p:spPr>
        <p:txBody>
          <a:bodyPr wrap="square" lIns="0" tIns="0" rIns="0" bIns="0" rtlCol="0" anchor="t"/>
          <a:lstStyle/>
          <a:p>
            <a:pPr indent="0" marL="0">
              <a:buNone/>
            </a:pPr>
            <a:r>
              <a:rPr lang="en-US" sz="1700" b="1" dirty="0">
                <a:solidFill>
                  <a:schemeClr val="bg1"/>
                </a:solidFill>
              </a:rPr>
              <a:t>NeMo is a family</a:t>
            </a:r>
            <a:endParaRPr lang="en-US" sz="1700" dirty="0"/>
          </a:p>
        </p:txBody>
      </p:sp>
      <p:sp>
        <p:nvSpPr>
          <p:cNvPr id="15" name="Text 13"/>
          <p:cNvSpPr txBox="1"/>
          <p:nvPr/>
        </p:nvSpPr>
        <p:spPr>
          <a:xfrm>
            <a:off x="8275320" y="2852928"/>
            <a:ext cx="3154680" cy="822960"/>
          </a:xfrm>
          <a:prstGeom prst="rect">
            <a:avLst/>
          </a:prstGeom>
          <a:noFill/>
          <a:ln/>
        </p:spPr>
        <p:txBody>
          <a:bodyPr wrap="square" lIns="0" tIns="0" rIns="0" bIns="0" rtlCol="0" anchor="t"/>
          <a:lstStyle/>
          <a:p>
            <a:pPr indent="0" marL="0">
              <a:buNone/>
            </a:pPr>
            <a:r>
              <a:rPr lang="en-US" sz="1400" dirty="0">
                <a:solidFill>
                  <a:srgbClr val="C9D3CC"/>
                </a:solidFill>
              </a:rPr>
              <a:t>Curator, Framework, RL, Customizer, Evaluator, Guardrails, Retriever, Agent Toolkit.</a:t>
            </a:r>
            <a:endParaRPr lang="en-US" sz="1400" dirty="0"/>
          </a:p>
        </p:txBody>
      </p:sp>
      <p:sp>
        <p:nvSpPr>
          <p:cNvPr id="16" name="Shape 14"/>
          <p:cNvSpPr/>
          <p:nvPr/>
        </p:nvSpPr>
        <p:spPr>
          <a:xfrm>
            <a:off x="548640" y="3931920"/>
            <a:ext cx="3566160" cy="2103120"/>
          </a:xfrm>
          <a:prstGeom prst="roundRect">
            <a:avLst>
              <a:gd name="adj" fmla="val 3478"/>
            </a:avLst>
          </a:prstGeom>
          <a:solidFill>
            <a:srgbClr val="1F2A21"/>
          </a:solidFill>
          <a:ln/>
        </p:spPr>
      </p:sp>
      <p:sp>
        <p:nvSpPr>
          <p:cNvPr id="17" name="Text 15"/>
          <p:cNvSpPr txBox="1"/>
          <p:nvPr/>
        </p:nvSpPr>
        <p:spPr>
          <a:xfrm>
            <a:off x="777240" y="4114800"/>
            <a:ext cx="914400" cy="502920"/>
          </a:xfrm>
          <a:prstGeom prst="rect">
            <a:avLst/>
          </a:prstGeom>
          <a:noFill/>
          <a:ln/>
        </p:spPr>
        <p:txBody>
          <a:bodyPr wrap="square" lIns="0" tIns="0" rIns="0" bIns="0" rtlCol="0" anchor="t"/>
          <a:lstStyle/>
          <a:p>
            <a:pPr indent="0" marL="0">
              <a:buNone/>
            </a:pPr>
            <a:r>
              <a:rPr lang="en-US" sz="2800" b="1" dirty="0">
                <a:solidFill>
                  <a:schemeClr val="accent1"/>
                </a:solidFill>
                <a:latin typeface="Arial" pitchFamily="34" charset="0"/>
                <a:ea typeface="Arial" pitchFamily="34" charset="-122"/>
                <a:cs typeface="Arial" pitchFamily="34" charset="-120"/>
              </a:rPr>
              <a:t>04</a:t>
            </a:r>
            <a:endParaRPr lang="en-US" sz="2800" dirty="0"/>
          </a:p>
        </p:txBody>
      </p:sp>
      <p:sp>
        <p:nvSpPr>
          <p:cNvPr id="18" name="Text 16"/>
          <p:cNvSpPr txBox="1"/>
          <p:nvPr/>
        </p:nvSpPr>
        <p:spPr>
          <a:xfrm>
            <a:off x="777240" y="4663440"/>
            <a:ext cx="3154680" cy="457200"/>
          </a:xfrm>
          <a:prstGeom prst="rect">
            <a:avLst/>
          </a:prstGeom>
          <a:noFill/>
          <a:ln/>
        </p:spPr>
        <p:txBody>
          <a:bodyPr wrap="square" lIns="0" tIns="0" rIns="0" bIns="0" rtlCol="0" anchor="t"/>
          <a:lstStyle/>
          <a:p>
            <a:pPr indent="0" marL="0">
              <a:buNone/>
            </a:pPr>
            <a:r>
              <a:rPr lang="en-US" sz="1700" b="1" dirty="0">
                <a:solidFill>
                  <a:schemeClr val="bg1"/>
                </a:solidFill>
              </a:rPr>
              <a:t>Framework vs microservices</a:t>
            </a:r>
            <a:endParaRPr lang="en-US" sz="1700" dirty="0"/>
          </a:p>
        </p:txBody>
      </p:sp>
      <p:sp>
        <p:nvSpPr>
          <p:cNvPr id="19" name="Text 17"/>
          <p:cNvSpPr txBox="1"/>
          <p:nvPr/>
        </p:nvSpPr>
        <p:spPr>
          <a:xfrm>
            <a:off x="777240" y="5138928"/>
            <a:ext cx="3154680" cy="822960"/>
          </a:xfrm>
          <a:prstGeom prst="rect">
            <a:avLst/>
          </a:prstGeom>
          <a:noFill/>
          <a:ln/>
        </p:spPr>
        <p:txBody>
          <a:bodyPr wrap="square" lIns="0" tIns="0" rIns="0" bIns="0" rtlCol="0" anchor="t"/>
          <a:lstStyle/>
          <a:p>
            <a:pPr indent="0" marL="0">
              <a:buNone/>
            </a:pPr>
            <a:r>
              <a:rPr lang="en-US" sz="1400" dirty="0">
                <a:solidFill>
                  <a:srgbClr val="C9D3CC"/>
                </a:solidFill>
              </a:rPr>
              <a:t>Code for deep control; APIs for repeatable, governed workflows.</a:t>
            </a:r>
            <a:endParaRPr lang="en-US" sz="1400" dirty="0"/>
          </a:p>
        </p:txBody>
      </p:sp>
      <p:sp>
        <p:nvSpPr>
          <p:cNvPr id="20" name="Shape 18"/>
          <p:cNvSpPr/>
          <p:nvPr/>
        </p:nvSpPr>
        <p:spPr>
          <a:xfrm>
            <a:off x="4297680" y="3931920"/>
            <a:ext cx="3566160" cy="2103120"/>
          </a:xfrm>
          <a:prstGeom prst="roundRect">
            <a:avLst>
              <a:gd name="adj" fmla="val 3478"/>
            </a:avLst>
          </a:prstGeom>
          <a:solidFill>
            <a:srgbClr val="1F2A21"/>
          </a:solidFill>
          <a:ln/>
        </p:spPr>
      </p:sp>
      <p:sp>
        <p:nvSpPr>
          <p:cNvPr id="21" name="Text 19"/>
          <p:cNvSpPr txBox="1"/>
          <p:nvPr/>
        </p:nvSpPr>
        <p:spPr>
          <a:xfrm>
            <a:off x="4526280" y="4114800"/>
            <a:ext cx="914400" cy="502920"/>
          </a:xfrm>
          <a:prstGeom prst="rect">
            <a:avLst/>
          </a:prstGeom>
          <a:noFill/>
          <a:ln/>
        </p:spPr>
        <p:txBody>
          <a:bodyPr wrap="square" lIns="0" tIns="0" rIns="0" bIns="0" rtlCol="0" anchor="t"/>
          <a:lstStyle/>
          <a:p>
            <a:pPr indent="0" marL="0">
              <a:buNone/>
            </a:pPr>
            <a:r>
              <a:rPr lang="en-US" sz="2800" b="1" dirty="0">
                <a:solidFill>
                  <a:schemeClr val="accent1"/>
                </a:solidFill>
                <a:latin typeface="Arial" pitchFamily="34" charset="0"/>
                <a:ea typeface="Arial" pitchFamily="34" charset="-122"/>
                <a:cs typeface="Arial" pitchFamily="34" charset="-120"/>
              </a:rPr>
              <a:t>05</a:t>
            </a:r>
            <a:endParaRPr lang="en-US" sz="2800" dirty="0"/>
          </a:p>
        </p:txBody>
      </p:sp>
      <p:sp>
        <p:nvSpPr>
          <p:cNvPr id="22" name="Text 20"/>
          <p:cNvSpPr txBox="1"/>
          <p:nvPr/>
        </p:nvSpPr>
        <p:spPr>
          <a:xfrm>
            <a:off x="4526280" y="4663440"/>
            <a:ext cx="3154680" cy="457200"/>
          </a:xfrm>
          <a:prstGeom prst="rect">
            <a:avLst/>
          </a:prstGeom>
          <a:noFill/>
          <a:ln/>
        </p:spPr>
        <p:txBody>
          <a:bodyPr wrap="square" lIns="0" tIns="0" rIns="0" bIns="0" rtlCol="0" anchor="t"/>
          <a:lstStyle/>
          <a:p>
            <a:pPr indent="0" marL="0">
              <a:buNone/>
            </a:pPr>
            <a:r>
              <a:rPr lang="en-US" sz="1700" b="1" dirty="0">
                <a:solidFill>
                  <a:schemeClr val="bg1"/>
                </a:solidFill>
              </a:rPr>
              <a:t>Evaluate and safeguard always</a:t>
            </a:r>
            <a:endParaRPr lang="en-US" sz="1700" dirty="0"/>
          </a:p>
        </p:txBody>
      </p:sp>
      <p:sp>
        <p:nvSpPr>
          <p:cNvPr id="23" name="Text 21"/>
          <p:cNvSpPr txBox="1"/>
          <p:nvPr/>
        </p:nvSpPr>
        <p:spPr>
          <a:xfrm>
            <a:off x="4526280" y="5138928"/>
            <a:ext cx="3154680" cy="822960"/>
          </a:xfrm>
          <a:prstGeom prst="rect">
            <a:avLst/>
          </a:prstGeom>
          <a:noFill/>
          <a:ln/>
        </p:spPr>
        <p:txBody>
          <a:bodyPr wrap="square" lIns="0" tIns="0" rIns="0" bIns="0" rtlCol="0" anchor="t"/>
          <a:lstStyle/>
          <a:p>
            <a:pPr indent="0" marL="0">
              <a:buNone/>
            </a:pPr>
            <a:r>
              <a:rPr lang="en-US" sz="1400" dirty="0">
                <a:solidFill>
                  <a:srgbClr val="C9D3CC"/>
                </a:solidFill>
              </a:rPr>
              <a:t>No release without evaluation; no production without guardrails.</a:t>
            </a:r>
            <a:endParaRPr lang="en-US" sz="1400" dirty="0"/>
          </a:p>
        </p:txBody>
      </p:sp>
      <p:sp>
        <p:nvSpPr>
          <p:cNvPr id="24" name="Shape 22"/>
          <p:cNvSpPr/>
          <p:nvPr/>
        </p:nvSpPr>
        <p:spPr>
          <a:xfrm>
            <a:off x="8046720" y="3931920"/>
            <a:ext cx="3566160" cy="2103120"/>
          </a:xfrm>
          <a:prstGeom prst="roundRect">
            <a:avLst>
              <a:gd name="adj" fmla="val 3478"/>
            </a:avLst>
          </a:prstGeom>
          <a:solidFill>
            <a:srgbClr val="1F2A21"/>
          </a:solidFill>
          <a:ln/>
        </p:spPr>
      </p:sp>
      <p:sp>
        <p:nvSpPr>
          <p:cNvPr id="25" name="Text 23"/>
          <p:cNvSpPr txBox="1"/>
          <p:nvPr/>
        </p:nvSpPr>
        <p:spPr>
          <a:xfrm>
            <a:off x="8275320" y="4114800"/>
            <a:ext cx="914400" cy="502920"/>
          </a:xfrm>
          <a:prstGeom prst="rect">
            <a:avLst/>
          </a:prstGeom>
          <a:noFill/>
          <a:ln/>
        </p:spPr>
        <p:txBody>
          <a:bodyPr wrap="square" lIns="0" tIns="0" rIns="0" bIns="0" rtlCol="0" anchor="t"/>
          <a:lstStyle/>
          <a:p>
            <a:pPr indent="0" marL="0">
              <a:buNone/>
            </a:pPr>
            <a:r>
              <a:rPr lang="en-US" sz="2800" b="1" dirty="0">
                <a:solidFill>
                  <a:schemeClr val="accent1"/>
                </a:solidFill>
                <a:latin typeface="Arial" pitchFamily="34" charset="0"/>
                <a:ea typeface="Arial" pitchFamily="34" charset="-122"/>
                <a:cs typeface="Arial" pitchFamily="34" charset="-120"/>
              </a:rPr>
              <a:t>06</a:t>
            </a:r>
            <a:endParaRPr lang="en-US" sz="2800" dirty="0"/>
          </a:p>
        </p:txBody>
      </p:sp>
      <p:sp>
        <p:nvSpPr>
          <p:cNvPr id="26" name="Text 24"/>
          <p:cNvSpPr txBox="1"/>
          <p:nvPr/>
        </p:nvSpPr>
        <p:spPr>
          <a:xfrm>
            <a:off x="8275320" y="4663440"/>
            <a:ext cx="3154680" cy="457200"/>
          </a:xfrm>
          <a:prstGeom prst="rect">
            <a:avLst/>
          </a:prstGeom>
          <a:noFill/>
          <a:ln/>
        </p:spPr>
        <p:txBody>
          <a:bodyPr wrap="square" lIns="0" tIns="0" rIns="0" bIns="0" rtlCol="0" anchor="t"/>
          <a:lstStyle/>
          <a:p>
            <a:pPr indent="0" marL="0">
              <a:buNone/>
            </a:pPr>
            <a:r>
              <a:rPr lang="en-US" sz="1700" b="1" dirty="0">
                <a:solidFill>
                  <a:schemeClr val="bg1"/>
                </a:solidFill>
              </a:rPr>
              <a:t>Build the flywheel</a:t>
            </a:r>
            <a:endParaRPr lang="en-US" sz="1700" dirty="0"/>
          </a:p>
        </p:txBody>
      </p:sp>
      <p:sp>
        <p:nvSpPr>
          <p:cNvPr id="27" name="Text 25"/>
          <p:cNvSpPr txBox="1"/>
          <p:nvPr/>
        </p:nvSpPr>
        <p:spPr>
          <a:xfrm>
            <a:off x="8275320" y="5138928"/>
            <a:ext cx="3154680" cy="822960"/>
          </a:xfrm>
          <a:prstGeom prst="rect">
            <a:avLst/>
          </a:prstGeom>
          <a:noFill/>
          <a:ln/>
        </p:spPr>
        <p:txBody>
          <a:bodyPr wrap="square" lIns="0" tIns="0" rIns="0" bIns="0" rtlCol="0" anchor="t"/>
          <a:lstStyle/>
          <a:p>
            <a:pPr indent="0" marL="0">
              <a:buNone/>
            </a:pPr>
            <a:r>
              <a:rPr lang="en-US" sz="1400" dirty="0">
                <a:solidFill>
                  <a:srgbClr val="C9D3CC"/>
                </a:solidFill>
              </a:rPr>
              <a:t>Production feedback → better, cheaper models over time, served by NIM.</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9E"/>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40080"/>
          </a:xfrm>
          <a:prstGeom prst="rect">
            <a:avLst/>
          </a:prstGeom>
          <a:noFill/>
          <a:ln/>
        </p:spPr>
        <p:txBody>
          <a:bodyPr wrap="square" lIns="0" tIns="0" rIns="0" bIns="0" rtlCol="0" anchor="ctr"/>
          <a:lstStyle/>
          <a:p>
            <a:pPr algn="l" indent="0" marL="0">
              <a:buNone/>
            </a:pPr>
            <a:r>
              <a:rPr lang="en-US" sz="3000" b="1" dirty="0">
                <a:solidFill>
                  <a:schemeClr val="tx1"/>
                </a:solidFill>
              </a:rPr>
              <a:t>Knowledge check</a:t>
            </a:r>
            <a:endParaRPr lang="en-US" sz="3000" dirty="0"/>
          </a:p>
        </p:txBody>
      </p:sp>
      <p:sp>
        <p:nvSpPr>
          <p:cNvPr id="3" name="Text 0"/>
          <p:cNvSpPr/>
          <p:nvPr>
            <p:ph idx="101" type="body" hasCustomPrompt="1"/>
          </p:nvPr>
        </p:nvSpPr>
        <p:spPr>
          <a:xfrm>
            <a:off x="548640" y="960120"/>
            <a:ext cx="11064240" cy="411480"/>
          </a:xfrm>
          <a:prstGeom prst="rect">
            <a:avLst/>
          </a:prstGeom>
          <a:noFill/>
          <a:ln/>
        </p:spPr>
        <p:txBody>
          <a:bodyPr wrap="square" lIns="0" tIns="0" rIns="0" bIns="0" rtlCol="0" anchor="t"/>
          <a:lstStyle/>
          <a:p>
            <a:pPr indent="0" marL="0">
              <a:buNone/>
            </a:pPr>
            <a:r>
              <a:rPr lang="en-US" sz="1600" dirty="0">
                <a:solidFill>
                  <a:schemeClr val="accent5"/>
                </a:solidFill>
              </a:rPr>
              <a:t>Discuss in pairs for 5 minutes, then we review together</a:t>
            </a:r>
            <a:endParaRPr lang="en-US" sz="1600" dirty="0"/>
          </a:p>
        </p:txBody>
      </p:sp>
      <p:sp>
        <p:nvSpPr>
          <p:cNvPr id="4" name="Shape 2"/>
          <p:cNvSpPr/>
          <p:nvPr/>
        </p:nvSpPr>
        <p:spPr>
          <a:xfrm>
            <a:off x="548640" y="1600200"/>
            <a:ext cx="5440680" cy="1389888"/>
          </a:xfrm>
          <a:prstGeom prst="roundRect">
            <a:avLst>
              <a:gd name="adj" fmla="val 5263"/>
            </a:avLst>
          </a:prstGeom>
          <a:solidFill>
            <a:schemeClr val="bg2"/>
          </a:solidFill>
          <a:ln/>
        </p:spPr>
      </p:sp>
      <p:sp>
        <p:nvSpPr>
          <p:cNvPr id="5" name="Text 3"/>
          <p:cNvSpPr/>
          <p:nvPr/>
        </p:nvSpPr>
        <p:spPr>
          <a:xfrm>
            <a:off x="731520" y="1947672"/>
            <a:ext cx="685800" cy="685800"/>
          </a:xfrm>
          <a:prstGeom prst="roundRect">
            <a:avLst>
              <a:gd name="adj" fmla="val 6667"/>
            </a:avLst>
          </a:prstGeom>
          <a:solidFill>
            <a:schemeClr val="accent1"/>
          </a:solidFill>
          <a:ln/>
        </p:spPr>
        <p:txBody>
          <a:bodyPr wrap="square" lIns="381" tIns="381" rIns="381" bIns="381" rtlCol="0" anchor="ctr"/>
          <a:lstStyle/>
          <a:p>
            <a:pPr algn="ctr" indent="0" marL="0">
              <a:buNone/>
            </a:pPr>
            <a:r>
              <a:rPr lang="en-US" sz="1800" b="1" dirty="0">
                <a:solidFill>
                  <a:schemeClr val="tx1"/>
                </a:solidFill>
              </a:rPr>
              <a:t>Q1</a:t>
            </a:r>
            <a:endParaRPr lang="en-US" sz="1800" dirty="0"/>
          </a:p>
        </p:txBody>
      </p:sp>
      <p:sp>
        <p:nvSpPr>
          <p:cNvPr id="6" name="Text 4"/>
          <p:cNvSpPr txBox="1"/>
          <p:nvPr/>
        </p:nvSpPr>
        <p:spPr>
          <a:xfrm>
            <a:off x="1600200" y="1709928"/>
            <a:ext cx="4206240" cy="1170432"/>
          </a:xfrm>
          <a:prstGeom prst="rect">
            <a:avLst/>
          </a:prstGeom>
          <a:noFill/>
          <a:ln/>
        </p:spPr>
        <p:txBody>
          <a:bodyPr wrap="square" lIns="0" tIns="0" rIns="0" bIns="0" rtlCol="0" anchor="ctr"/>
          <a:lstStyle/>
          <a:p>
            <a:pPr indent="0" marL="0">
              <a:buNone/>
            </a:pPr>
            <a:r>
              <a:rPr lang="en-US" sz="1400" dirty="0">
                <a:solidFill>
                  <a:schemeClr val="tx1"/>
                </a:solidFill>
              </a:rPr>
              <a:t>A policy assistant must always cite the latest internal policy. Which technique comes first, and which NeMo component supports it?</a:t>
            </a:r>
            <a:endParaRPr lang="en-US" sz="1400" dirty="0"/>
          </a:p>
        </p:txBody>
      </p:sp>
      <p:sp>
        <p:nvSpPr>
          <p:cNvPr id="7" name="Shape 5"/>
          <p:cNvSpPr/>
          <p:nvPr/>
        </p:nvSpPr>
        <p:spPr>
          <a:xfrm>
            <a:off x="6172200" y="1600200"/>
            <a:ext cx="5440680" cy="1389888"/>
          </a:xfrm>
          <a:prstGeom prst="roundRect">
            <a:avLst>
              <a:gd name="adj" fmla="val 5263"/>
            </a:avLst>
          </a:prstGeom>
          <a:solidFill>
            <a:schemeClr val="bg2"/>
          </a:solidFill>
          <a:ln/>
        </p:spPr>
      </p:sp>
      <p:sp>
        <p:nvSpPr>
          <p:cNvPr id="8" name="Text 6"/>
          <p:cNvSpPr/>
          <p:nvPr/>
        </p:nvSpPr>
        <p:spPr>
          <a:xfrm>
            <a:off x="6355080" y="1947672"/>
            <a:ext cx="685800" cy="685800"/>
          </a:xfrm>
          <a:prstGeom prst="roundRect">
            <a:avLst>
              <a:gd name="adj" fmla="val 6667"/>
            </a:avLst>
          </a:prstGeom>
          <a:solidFill>
            <a:schemeClr val="accent1"/>
          </a:solidFill>
          <a:ln/>
        </p:spPr>
        <p:txBody>
          <a:bodyPr wrap="square" lIns="381" tIns="381" rIns="381" bIns="381" rtlCol="0" anchor="ctr"/>
          <a:lstStyle/>
          <a:p>
            <a:pPr algn="ctr" indent="0" marL="0">
              <a:buNone/>
            </a:pPr>
            <a:r>
              <a:rPr lang="en-US" sz="1800" b="1" dirty="0">
                <a:solidFill>
                  <a:schemeClr val="tx1"/>
                </a:solidFill>
              </a:rPr>
              <a:t>Q2</a:t>
            </a:r>
            <a:endParaRPr lang="en-US" sz="1800" dirty="0"/>
          </a:p>
        </p:txBody>
      </p:sp>
      <p:sp>
        <p:nvSpPr>
          <p:cNvPr id="9" name="Text 7"/>
          <p:cNvSpPr txBox="1"/>
          <p:nvPr/>
        </p:nvSpPr>
        <p:spPr>
          <a:xfrm>
            <a:off x="7223760" y="1709928"/>
            <a:ext cx="4206240" cy="1170432"/>
          </a:xfrm>
          <a:prstGeom prst="rect">
            <a:avLst/>
          </a:prstGeom>
          <a:noFill/>
          <a:ln/>
        </p:spPr>
        <p:txBody>
          <a:bodyPr wrap="square" lIns="0" tIns="0" rIns="0" bIns="0" rtlCol="0" anchor="ctr"/>
          <a:lstStyle/>
          <a:p>
            <a:pPr indent="0" marL="0">
              <a:buNone/>
            </a:pPr>
            <a:r>
              <a:rPr lang="en-US" sz="1400" dirty="0">
                <a:solidFill>
                  <a:schemeClr val="tx1"/>
                </a:solidFill>
              </a:rPr>
              <a:t>What is the difference between the NeMo Framework and the NeMo microservices? Who uses each?</a:t>
            </a:r>
            <a:endParaRPr lang="en-US" sz="1400" dirty="0"/>
          </a:p>
        </p:txBody>
      </p:sp>
      <p:sp>
        <p:nvSpPr>
          <p:cNvPr id="10" name="Shape 8"/>
          <p:cNvSpPr/>
          <p:nvPr/>
        </p:nvSpPr>
        <p:spPr>
          <a:xfrm>
            <a:off x="548640" y="3136392"/>
            <a:ext cx="5440680" cy="1389888"/>
          </a:xfrm>
          <a:prstGeom prst="roundRect">
            <a:avLst>
              <a:gd name="adj" fmla="val 5263"/>
            </a:avLst>
          </a:prstGeom>
          <a:solidFill>
            <a:schemeClr val="bg2"/>
          </a:solidFill>
          <a:ln/>
        </p:spPr>
      </p:sp>
      <p:sp>
        <p:nvSpPr>
          <p:cNvPr id="11" name="Text 9"/>
          <p:cNvSpPr/>
          <p:nvPr/>
        </p:nvSpPr>
        <p:spPr>
          <a:xfrm>
            <a:off x="731520" y="3483864"/>
            <a:ext cx="685800" cy="685800"/>
          </a:xfrm>
          <a:prstGeom prst="roundRect">
            <a:avLst>
              <a:gd name="adj" fmla="val 6667"/>
            </a:avLst>
          </a:prstGeom>
          <a:solidFill>
            <a:schemeClr val="accent1"/>
          </a:solidFill>
          <a:ln/>
        </p:spPr>
        <p:txBody>
          <a:bodyPr wrap="square" lIns="381" tIns="381" rIns="381" bIns="381" rtlCol="0" anchor="ctr"/>
          <a:lstStyle/>
          <a:p>
            <a:pPr algn="ctr" indent="0" marL="0">
              <a:buNone/>
            </a:pPr>
            <a:r>
              <a:rPr lang="en-US" sz="1800" b="1" dirty="0">
                <a:solidFill>
                  <a:schemeClr val="tx1"/>
                </a:solidFill>
              </a:rPr>
              <a:t>Q3</a:t>
            </a:r>
            <a:endParaRPr lang="en-US" sz="1800" dirty="0"/>
          </a:p>
        </p:txBody>
      </p:sp>
      <p:sp>
        <p:nvSpPr>
          <p:cNvPr id="12" name="Text 10"/>
          <p:cNvSpPr txBox="1"/>
          <p:nvPr/>
        </p:nvSpPr>
        <p:spPr>
          <a:xfrm>
            <a:off x="1600200" y="3246120"/>
            <a:ext cx="4206240" cy="1170432"/>
          </a:xfrm>
          <a:prstGeom prst="rect">
            <a:avLst/>
          </a:prstGeom>
          <a:noFill/>
          <a:ln/>
        </p:spPr>
        <p:txBody>
          <a:bodyPr wrap="square" lIns="0" tIns="0" rIns="0" bIns="0" rtlCol="0" anchor="ctr"/>
          <a:lstStyle/>
          <a:p>
            <a:pPr indent="0" marL="0">
              <a:buNone/>
            </a:pPr>
            <a:r>
              <a:rPr lang="en-US" sz="1400" dirty="0">
                <a:solidFill>
                  <a:schemeClr val="tx1"/>
                </a:solidFill>
              </a:rPr>
              <a:t>Name three steps in a NeMo Curator pipeline and why deduplication matters.</a:t>
            </a:r>
            <a:endParaRPr lang="en-US" sz="1400" dirty="0"/>
          </a:p>
        </p:txBody>
      </p:sp>
      <p:sp>
        <p:nvSpPr>
          <p:cNvPr id="13" name="Shape 11"/>
          <p:cNvSpPr/>
          <p:nvPr/>
        </p:nvSpPr>
        <p:spPr>
          <a:xfrm>
            <a:off x="6172200" y="3136392"/>
            <a:ext cx="5440680" cy="1389888"/>
          </a:xfrm>
          <a:prstGeom prst="roundRect">
            <a:avLst>
              <a:gd name="adj" fmla="val 5263"/>
            </a:avLst>
          </a:prstGeom>
          <a:solidFill>
            <a:schemeClr val="bg2"/>
          </a:solidFill>
          <a:ln/>
        </p:spPr>
      </p:sp>
      <p:sp>
        <p:nvSpPr>
          <p:cNvPr id="14" name="Text 12"/>
          <p:cNvSpPr/>
          <p:nvPr/>
        </p:nvSpPr>
        <p:spPr>
          <a:xfrm>
            <a:off x="6355080" y="3483864"/>
            <a:ext cx="685800" cy="685800"/>
          </a:xfrm>
          <a:prstGeom prst="roundRect">
            <a:avLst>
              <a:gd name="adj" fmla="val 6667"/>
            </a:avLst>
          </a:prstGeom>
          <a:solidFill>
            <a:schemeClr val="accent1"/>
          </a:solidFill>
          <a:ln/>
        </p:spPr>
        <p:txBody>
          <a:bodyPr wrap="square" lIns="381" tIns="381" rIns="381" bIns="381" rtlCol="0" anchor="ctr"/>
          <a:lstStyle/>
          <a:p>
            <a:pPr algn="ctr" indent="0" marL="0">
              <a:buNone/>
            </a:pPr>
            <a:r>
              <a:rPr lang="en-US" sz="1800" b="1" dirty="0">
                <a:solidFill>
                  <a:schemeClr val="tx1"/>
                </a:solidFill>
              </a:rPr>
              <a:t>Q4</a:t>
            </a:r>
            <a:endParaRPr lang="en-US" sz="1800" dirty="0"/>
          </a:p>
        </p:txBody>
      </p:sp>
      <p:sp>
        <p:nvSpPr>
          <p:cNvPr id="15" name="Text 13"/>
          <p:cNvSpPr txBox="1"/>
          <p:nvPr/>
        </p:nvSpPr>
        <p:spPr>
          <a:xfrm>
            <a:off x="7223760" y="3246120"/>
            <a:ext cx="4206240" cy="1170432"/>
          </a:xfrm>
          <a:prstGeom prst="rect">
            <a:avLst/>
          </a:prstGeom>
          <a:noFill/>
          <a:ln/>
        </p:spPr>
        <p:txBody>
          <a:bodyPr wrap="square" lIns="0" tIns="0" rIns="0" bIns="0" rtlCol="0" anchor="ctr"/>
          <a:lstStyle/>
          <a:p>
            <a:pPr indent="0" marL="0">
              <a:buNone/>
            </a:pPr>
            <a:r>
              <a:rPr lang="en-US" sz="1400" dirty="0">
                <a:solidFill>
                  <a:schemeClr val="tx1"/>
                </a:solidFill>
              </a:rPr>
              <a:t>When would you choose LoRA over full fine-tuning, and when would you use DPO?</a:t>
            </a:r>
            <a:endParaRPr lang="en-US" sz="1400" dirty="0"/>
          </a:p>
        </p:txBody>
      </p:sp>
      <p:sp>
        <p:nvSpPr>
          <p:cNvPr id="16" name="Shape 14"/>
          <p:cNvSpPr/>
          <p:nvPr/>
        </p:nvSpPr>
        <p:spPr>
          <a:xfrm>
            <a:off x="548640" y="4672584"/>
            <a:ext cx="5440680" cy="1389888"/>
          </a:xfrm>
          <a:prstGeom prst="roundRect">
            <a:avLst>
              <a:gd name="adj" fmla="val 5263"/>
            </a:avLst>
          </a:prstGeom>
          <a:solidFill>
            <a:schemeClr val="bg2"/>
          </a:solidFill>
          <a:ln/>
        </p:spPr>
      </p:sp>
      <p:sp>
        <p:nvSpPr>
          <p:cNvPr id="17" name="Text 15"/>
          <p:cNvSpPr/>
          <p:nvPr/>
        </p:nvSpPr>
        <p:spPr>
          <a:xfrm>
            <a:off x="731520" y="5020056"/>
            <a:ext cx="685800" cy="685800"/>
          </a:xfrm>
          <a:prstGeom prst="roundRect">
            <a:avLst>
              <a:gd name="adj" fmla="val 6667"/>
            </a:avLst>
          </a:prstGeom>
          <a:solidFill>
            <a:schemeClr val="accent1"/>
          </a:solidFill>
          <a:ln/>
        </p:spPr>
        <p:txBody>
          <a:bodyPr wrap="square" lIns="381" tIns="381" rIns="381" bIns="381" rtlCol="0" anchor="ctr"/>
          <a:lstStyle/>
          <a:p>
            <a:pPr algn="ctr" indent="0" marL="0">
              <a:buNone/>
            </a:pPr>
            <a:r>
              <a:rPr lang="en-US" sz="1800" b="1" dirty="0">
                <a:solidFill>
                  <a:schemeClr val="tx1"/>
                </a:solidFill>
              </a:rPr>
              <a:t>Q5</a:t>
            </a:r>
            <a:endParaRPr lang="en-US" sz="1800" dirty="0"/>
          </a:p>
        </p:txBody>
      </p:sp>
      <p:sp>
        <p:nvSpPr>
          <p:cNvPr id="18" name="Text 16"/>
          <p:cNvSpPr txBox="1"/>
          <p:nvPr/>
        </p:nvSpPr>
        <p:spPr>
          <a:xfrm>
            <a:off x="1600200" y="4782312"/>
            <a:ext cx="4206240" cy="1170432"/>
          </a:xfrm>
          <a:prstGeom prst="rect">
            <a:avLst/>
          </a:prstGeom>
          <a:noFill/>
          <a:ln/>
        </p:spPr>
        <p:txBody>
          <a:bodyPr wrap="square" lIns="0" tIns="0" rIns="0" bIns="0" rtlCol="0" anchor="ctr"/>
          <a:lstStyle/>
          <a:p>
            <a:pPr indent="0" marL="0">
              <a:buNone/>
            </a:pPr>
            <a:r>
              <a:rPr lang="en-US" sz="1400" dirty="0">
                <a:solidFill>
                  <a:schemeClr val="tx1"/>
                </a:solidFill>
              </a:rPr>
              <a:t>Which rails would you configure in NeMo Guardrails for a public-facing banking chatbot?</a:t>
            </a:r>
            <a:endParaRPr lang="en-US" sz="1400" dirty="0"/>
          </a:p>
        </p:txBody>
      </p:sp>
      <p:sp>
        <p:nvSpPr>
          <p:cNvPr id="19" name="Shape 17"/>
          <p:cNvSpPr/>
          <p:nvPr/>
        </p:nvSpPr>
        <p:spPr>
          <a:xfrm>
            <a:off x="6172200" y="4672584"/>
            <a:ext cx="5440680" cy="1389888"/>
          </a:xfrm>
          <a:prstGeom prst="roundRect">
            <a:avLst>
              <a:gd name="adj" fmla="val 5263"/>
            </a:avLst>
          </a:prstGeom>
          <a:solidFill>
            <a:schemeClr val="bg2"/>
          </a:solidFill>
          <a:ln/>
        </p:spPr>
      </p:sp>
      <p:sp>
        <p:nvSpPr>
          <p:cNvPr id="20" name="Text 18"/>
          <p:cNvSpPr/>
          <p:nvPr/>
        </p:nvSpPr>
        <p:spPr>
          <a:xfrm>
            <a:off x="6355080" y="5020056"/>
            <a:ext cx="685800" cy="685800"/>
          </a:xfrm>
          <a:prstGeom prst="roundRect">
            <a:avLst>
              <a:gd name="adj" fmla="val 6667"/>
            </a:avLst>
          </a:prstGeom>
          <a:solidFill>
            <a:schemeClr val="accent1"/>
          </a:solidFill>
          <a:ln/>
        </p:spPr>
        <p:txBody>
          <a:bodyPr wrap="square" lIns="381" tIns="381" rIns="381" bIns="381" rtlCol="0" anchor="ctr"/>
          <a:lstStyle/>
          <a:p>
            <a:pPr algn="ctr" indent="0" marL="0">
              <a:buNone/>
            </a:pPr>
            <a:r>
              <a:rPr lang="en-US" sz="1800" b="1" dirty="0">
                <a:solidFill>
                  <a:schemeClr val="tx1"/>
                </a:solidFill>
              </a:rPr>
              <a:t>Q6</a:t>
            </a:r>
            <a:endParaRPr lang="en-US" sz="1800" dirty="0"/>
          </a:p>
        </p:txBody>
      </p:sp>
      <p:sp>
        <p:nvSpPr>
          <p:cNvPr id="21" name="Text 19"/>
          <p:cNvSpPr txBox="1"/>
          <p:nvPr/>
        </p:nvSpPr>
        <p:spPr>
          <a:xfrm>
            <a:off x="7223760" y="4782312"/>
            <a:ext cx="4206240" cy="1170432"/>
          </a:xfrm>
          <a:prstGeom prst="rect">
            <a:avLst/>
          </a:prstGeom>
          <a:noFill/>
          <a:ln/>
        </p:spPr>
        <p:txBody>
          <a:bodyPr wrap="square" lIns="0" tIns="0" rIns="0" bIns="0" rtlCol="0" anchor="ctr"/>
          <a:lstStyle/>
          <a:p>
            <a:pPr indent="0" marL="0">
              <a:buNone/>
            </a:pPr>
            <a:r>
              <a:rPr lang="en-US" sz="1400" dirty="0">
                <a:solidFill>
                  <a:schemeClr val="tx1"/>
                </a:solidFill>
              </a:rPr>
              <a:t>Describe the six stages of a data flywheel and the NeMo component used in three of them.</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640080" y="1097280"/>
            <a:ext cx="6400800" cy="365760"/>
          </a:xfrm>
          <a:prstGeom prst="rect">
            <a:avLst/>
          </a:prstGeom>
          <a:noFill/>
          <a:ln/>
        </p:spPr>
        <p:txBody>
          <a:bodyPr wrap="square" lIns="0" tIns="0" rIns="0" bIns="0" rtlCol="0" anchor="t"/>
          <a:lstStyle/>
          <a:p>
            <a:pPr indent="0" marL="0">
              <a:buNone/>
            </a:pPr>
            <a:r>
              <a:rPr lang="en-US" sz="1400" b="1" spc="300" kern="0" dirty="0">
                <a:solidFill>
                  <a:schemeClr val="accent1"/>
                </a:solidFill>
              </a:rPr>
              <a:t>THANK YOU</a:t>
            </a:r>
            <a:endParaRPr lang="en-US" sz="1400" dirty="0"/>
          </a:p>
        </p:txBody>
      </p:sp>
      <p:sp>
        <p:nvSpPr>
          <p:cNvPr id="3" name="Text 0"/>
          <p:cNvSpPr/>
          <p:nvPr>
            <p:ph idx="100" type="title" hasCustomPrompt="1"/>
          </p:nvPr>
        </p:nvSpPr>
        <p:spPr>
          <a:xfrm>
            <a:off x="640080" y="1737360"/>
            <a:ext cx="6949440" cy="2194560"/>
          </a:xfrm>
          <a:prstGeom prst="rect">
            <a:avLst/>
          </a:prstGeom>
          <a:noFill/>
          <a:ln/>
        </p:spPr>
        <p:txBody>
          <a:bodyPr wrap="square" lIns="0" tIns="0" rIns="0" bIns="0" rtlCol="0" anchor="t"/>
          <a:lstStyle/>
          <a:p>
            <a:pPr algn="l" indent="0" marL="0">
              <a:buNone/>
            </a:pPr>
            <a:r>
              <a:rPr lang="en-US" sz="4200" b="1" dirty="0">
                <a:solidFill>
                  <a:schemeClr val="bg1"/>
                </a:solidFill>
              </a:rPr>
              <a:t>Questions and discussion</a:t>
            </a:r>
            <a:endParaRPr lang="en-US" sz="4200" dirty="0"/>
          </a:p>
        </p:txBody>
      </p:sp>
      <p:sp>
        <p:nvSpPr>
          <p:cNvPr id="4" name="Text 0"/>
          <p:cNvSpPr/>
          <p:nvPr>
            <p:ph idx="101" type="body" hasCustomPrompt="1"/>
          </p:nvPr>
        </p:nvSpPr>
        <p:spPr>
          <a:xfrm>
            <a:off x="640080" y="4069080"/>
            <a:ext cx="6766560" cy="822960"/>
          </a:xfrm>
          <a:prstGeom prst="rect">
            <a:avLst/>
          </a:prstGeom>
          <a:noFill/>
          <a:ln/>
        </p:spPr>
        <p:txBody>
          <a:bodyPr wrap="square" lIns="0" tIns="0" rIns="0" bIns="0" rtlCol="0" anchor="t"/>
          <a:lstStyle/>
          <a:p>
            <a:pPr indent="0" marL="0">
              <a:buNone/>
            </a:pPr>
            <a:r>
              <a:rPr lang="en-US" sz="1800" dirty="0">
                <a:solidFill>
                  <a:schemeClr val="accent1"/>
                </a:solidFill>
              </a:rPr>
              <a:t>Further reading for participants:</a:t>
            </a:r>
            <a:endParaRPr lang="en-US" sz="1800" dirty="0"/>
          </a:p>
        </p:txBody>
      </p:sp>
      <p:sp>
        <p:nvSpPr>
          <p:cNvPr id="5" name="Text 3"/>
          <p:cNvSpPr txBox="1"/>
          <p:nvPr/>
        </p:nvSpPr>
        <p:spPr>
          <a:xfrm>
            <a:off x="640080" y="4526280"/>
            <a:ext cx="7132320" cy="18288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C9D3CC"/>
                </a:solidFill>
              </a:rPr>
              <a:t>NVIDIA NeMo documentation: docs.nvidia.com/nemo</a:t>
            </a:r>
            <a:endParaRPr lang="en-US" sz="1500" dirty="0"/>
          </a:p>
          <a:p>
            <a:pPr marL="342900" indent="-342900">
              <a:spcAft>
                <a:spcPts val="600"/>
              </a:spcAft>
              <a:buSzPct val="100000"/>
              <a:buChar char="•"/>
            </a:pPr>
            <a:r>
              <a:rPr lang="en-US" sz="1500" dirty="0">
                <a:solidFill>
                  <a:srgbClr val="C9D3CC"/>
                </a:solidFill>
              </a:rPr>
              <a:t>NeMo on GitHub: github.com/NVIDIA-NeMo</a:t>
            </a:r>
            <a:endParaRPr lang="en-US" sz="1500" dirty="0"/>
          </a:p>
          <a:p>
            <a:pPr marL="342900" indent="-342900">
              <a:spcAft>
                <a:spcPts val="600"/>
              </a:spcAft>
              <a:buSzPct val="100000"/>
              <a:buChar char="•"/>
            </a:pPr>
            <a:r>
              <a:rPr lang="en-US" sz="1500" dirty="0">
                <a:solidFill>
                  <a:srgbClr val="C9D3CC"/>
                </a:solidFill>
              </a:rPr>
              <a:t>Try NIM and NeMo APIs: build.nvidia.com</a:t>
            </a:r>
            <a:endParaRPr lang="en-US" sz="1500" dirty="0"/>
          </a:p>
          <a:p>
            <a:pPr marL="342900" indent="-342900">
              <a:spcAft>
                <a:spcPts val="600"/>
              </a:spcAft>
              <a:buSzPct val="100000"/>
              <a:buChar char="•"/>
            </a:pPr>
            <a:r>
              <a:rPr lang="en-US" sz="1500" dirty="0">
                <a:solidFill>
                  <a:srgbClr val="C9D3CC"/>
                </a:solidFill>
              </a:rPr>
              <a:t>NVIDIA AI Blueprints: data flywheel, RAG, agents</a:t>
            </a:r>
            <a:endParaRPr lang="en-US" sz="1500" dirty="0"/>
          </a:p>
          <a:p>
            <a:pPr marL="342900" indent="-342900">
              <a:spcAft>
                <a:spcPts val="600"/>
              </a:spcAft>
              <a:buSzPct val="100000"/>
              <a:buChar char="•"/>
            </a:pPr>
            <a:r>
              <a:rPr lang="en-US" sz="1500" dirty="0">
                <a:solidFill>
                  <a:srgbClr val="C9D3CC"/>
                </a:solidFill>
              </a:rPr>
              <a:t>NeMo Guardrails documentation and Colang guide</a:t>
            </a:r>
            <a:endParaRPr lang="en-US" sz="1500" dirty="0"/>
          </a:p>
        </p:txBody>
      </p:sp>
      <p:sp>
        <p:nvSpPr>
          <p:cNvPr id="6" name="Shape 4"/>
          <p:cNvSpPr/>
          <p:nvPr/>
        </p:nvSpPr>
        <p:spPr>
          <a:xfrm>
            <a:off x="8321040" y="822960"/>
            <a:ext cx="457200" cy="481584"/>
          </a:xfrm>
          <a:prstGeom prst="roundRect">
            <a:avLst>
              <a:gd name="adj" fmla="val 8000"/>
            </a:avLst>
          </a:prstGeom>
          <a:solidFill>
            <a:schemeClr val="accent1"/>
          </a:solidFill>
          <a:ln/>
        </p:spPr>
      </p:sp>
      <p:sp>
        <p:nvSpPr>
          <p:cNvPr id="7" name="Shape 5"/>
          <p:cNvSpPr/>
          <p:nvPr/>
        </p:nvSpPr>
        <p:spPr>
          <a:xfrm>
            <a:off x="8887968" y="822960"/>
            <a:ext cx="457200" cy="481584"/>
          </a:xfrm>
          <a:prstGeom prst="roundRect">
            <a:avLst>
              <a:gd name="adj" fmla="val 8000"/>
            </a:avLst>
          </a:prstGeom>
          <a:solidFill>
            <a:schemeClr val="accent1">
              <a:alpha val="20000"/>
            </a:schemeClr>
          </a:solidFill>
          <a:ln/>
        </p:spPr>
      </p:sp>
      <p:sp>
        <p:nvSpPr>
          <p:cNvPr id="8" name="Shape 6"/>
          <p:cNvSpPr/>
          <p:nvPr/>
        </p:nvSpPr>
        <p:spPr>
          <a:xfrm>
            <a:off x="9454896" y="822960"/>
            <a:ext cx="457200" cy="481584"/>
          </a:xfrm>
          <a:prstGeom prst="roundRect">
            <a:avLst>
              <a:gd name="adj" fmla="val 8000"/>
            </a:avLst>
          </a:prstGeom>
          <a:solidFill>
            <a:schemeClr val="accent1">
              <a:alpha val="45000"/>
            </a:schemeClr>
          </a:solidFill>
          <a:ln/>
        </p:spPr>
      </p:sp>
      <p:sp>
        <p:nvSpPr>
          <p:cNvPr id="9" name="Shape 7"/>
          <p:cNvSpPr/>
          <p:nvPr/>
        </p:nvSpPr>
        <p:spPr>
          <a:xfrm>
            <a:off x="10021824" y="822960"/>
            <a:ext cx="457200" cy="481584"/>
          </a:xfrm>
          <a:prstGeom prst="roundRect">
            <a:avLst>
              <a:gd name="adj" fmla="val 8000"/>
            </a:avLst>
          </a:prstGeom>
          <a:solidFill>
            <a:schemeClr val="accent1">
              <a:alpha val="75000"/>
            </a:schemeClr>
          </a:solidFill>
          <a:ln/>
        </p:spPr>
      </p:sp>
      <p:sp>
        <p:nvSpPr>
          <p:cNvPr id="10" name="Shape 8"/>
          <p:cNvSpPr/>
          <p:nvPr/>
        </p:nvSpPr>
        <p:spPr>
          <a:xfrm>
            <a:off x="10588752" y="822960"/>
            <a:ext cx="457200" cy="481584"/>
          </a:xfrm>
          <a:prstGeom prst="roundRect">
            <a:avLst>
              <a:gd name="adj" fmla="val 8000"/>
            </a:avLst>
          </a:prstGeom>
          <a:solidFill>
            <a:schemeClr val="accent1"/>
          </a:solidFill>
          <a:ln/>
        </p:spPr>
      </p:sp>
      <p:sp>
        <p:nvSpPr>
          <p:cNvPr id="11" name="Shape 9"/>
          <p:cNvSpPr/>
          <p:nvPr/>
        </p:nvSpPr>
        <p:spPr>
          <a:xfrm>
            <a:off x="11155680" y="822960"/>
            <a:ext cx="457200" cy="481584"/>
          </a:xfrm>
          <a:prstGeom prst="roundRect">
            <a:avLst>
              <a:gd name="adj" fmla="val 8000"/>
            </a:avLst>
          </a:prstGeom>
          <a:solidFill>
            <a:schemeClr val="accent1">
              <a:alpha val="20000"/>
            </a:schemeClr>
          </a:solidFill>
          <a:ln/>
        </p:spPr>
      </p:sp>
      <p:sp>
        <p:nvSpPr>
          <p:cNvPr id="12" name="Shape 10"/>
          <p:cNvSpPr/>
          <p:nvPr/>
        </p:nvSpPr>
        <p:spPr>
          <a:xfrm>
            <a:off x="8321040" y="1414272"/>
            <a:ext cx="457200" cy="481584"/>
          </a:xfrm>
          <a:prstGeom prst="roundRect">
            <a:avLst>
              <a:gd name="adj" fmla="val 8000"/>
            </a:avLst>
          </a:prstGeom>
          <a:solidFill>
            <a:schemeClr val="accent1">
              <a:alpha val="20000"/>
            </a:schemeClr>
          </a:solidFill>
          <a:ln/>
        </p:spPr>
      </p:sp>
      <p:sp>
        <p:nvSpPr>
          <p:cNvPr id="13" name="Shape 11"/>
          <p:cNvSpPr/>
          <p:nvPr/>
        </p:nvSpPr>
        <p:spPr>
          <a:xfrm>
            <a:off x="8887968" y="1414272"/>
            <a:ext cx="457200" cy="481584"/>
          </a:xfrm>
          <a:prstGeom prst="roundRect">
            <a:avLst>
              <a:gd name="adj" fmla="val 8000"/>
            </a:avLst>
          </a:prstGeom>
          <a:solidFill>
            <a:schemeClr val="accent1">
              <a:alpha val="20000"/>
            </a:schemeClr>
          </a:solidFill>
          <a:ln/>
        </p:spPr>
      </p:sp>
      <p:sp>
        <p:nvSpPr>
          <p:cNvPr id="14" name="Shape 12"/>
          <p:cNvSpPr/>
          <p:nvPr/>
        </p:nvSpPr>
        <p:spPr>
          <a:xfrm>
            <a:off x="9454896" y="1414272"/>
            <a:ext cx="457200" cy="481584"/>
          </a:xfrm>
          <a:prstGeom prst="roundRect">
            <a:avLst>
              <a:gd name="adj" fmla="val 8000"/>
            </a:avLst>
          </a:prstGeom>
          <a:solidFill>
            <a:schemeClr val="accent1">
              <a:alpha val="20000"/>
            </a:schemeClr>
          </a:solidFill>
          <a:ln/>
        </p:spPr>
      </p:sp>
      <p:sp>
        <p:nvSpPr>
          <p:cNvPr id="15" name="Shape 13"/>
          <p:cNvSpPr/>
          <p:nvPr/>
        </p:nvSpPr>
        <p:spPr>
          <a:xfrm>
            <a:off x="10021824" y="1414272"/>
            <a:ext cx="457200" cy="481584"/>
          </a:xfrm>
          <a:prstGeom prst="roundRect">
            <a:avLst>
              <a:gd name="adj" fmla="val 8000"/>
            </a:avLst>
          </a:prstGeom>
          <a:solidFill>
            <a:schemeClr val="accent1">
              <a:alpha val="20000"/>
            </a:schemeClr>
          </a:solidFill>
          <a:ln/>
        </p:spPr>
      </p:sp>
      <p:sp>
        <p:nvSpPr>
          <p:cNvPr id="16" name="Shape 14"/>
          <p:cNvSpPr/>
          <p:nvPr/>
        </p:nvSpPr>
        <p:spPr>
          <a:xfrm>
            <a:off x="10588752" y="1414272"/>
            <a:ext cx="457200" cy="481584"/>
          </a:xfrm>
          <a:prstGeom prst="roundRect">
            <a:avLst>
              <a:gd name="adj" fmla="val 8000"/>
            </a:avLst>
          </a:prstGeom>
          <a:solidFill>
            <a:schemeClr val="accent1">
              <a:alpha val="20000"/>
            </a:schemeClr>
          </a:solidFill>
          <a:ln/>
        </p:spPr>
      </p:sp>
      <p:sp>
        <p:nvSpPr>
          <p:cNvPr id="17" name="Shape 15"/>
          <p:cNvSpPr/>
          <p:nvPr/>
        </p:nvSpPr>
        <p:spPr>
          <a:xfrm>
            <a:off x="11155680" y="1414272"/>
            <a:ext cx="457200" cy="481584"/>
          </a:xfrm>
          <a:prstGeom prst="roundRect">
            <a:avLst>
              <a:gd name="adj" fmla="val 8000"/>
            </a:avLst>
          </a:prstGeom>
          <a:solidFill>
            <a:schemeClr val="accent1">
              <a:alpha val="20000"/>
            </a:schemeClr>
          </a:solidFill>
          <a:ln/>
        </p:spPr>
      </p:sp>
      <p:sp>
        <p:nvSpPr>
          <p:cNvPr id="18" name="Shape 16"/>
          <p:cNvSpPr/>
          <p:nvPr/>
        </p:nvSpPr>
        <p:spPr>
          <a:xfrm>
            <a:off x="8321040" y="2005584"/>
            <a:ext cx="457200" cy="481584"/>
          </a:xfrm>
          <a:prstGeom prst="roundRect">
            <a:avLst>
              <a:gd name="adj" fmla="val 8000"/>
            </a:avLst>
          </a:prstGeom>
          <a:solidFill>
            <a:schemeClr val="accent1">
              <a:alpha val="45000"/>
            </a:schemeClr>
          </a:solidFill>
          <a:ln/>
        </p:spPr>
      </p:sp>
      <p:sp>
        <p:nvSpPr>
          <p:cNvPr id="19" name="Shape 17"/>
          <p:cNvSpPr/>
          <p:nvPr/>
        </p:nvSpPr>
        <p:spPr>
          <a:xfrm>
            <a:off x="8887968" y="2005584"/>
            <a:ext cx="457200" cy="481584"/>
          </a:xfrm>
          <a:prstGeom prst="roundRect">
            <a:avLst>
              <a:gd name="adj" fmla="val 8000"/>
            </a:avLst>
          </a:prstGeom>
          <a:solidFill>
            <a:schemeClr val="accent1">
              <a:alpha val="20000"/>
            </a:schemeClr>
          </a:solidFill>
          <a:ln/>
        </p:spPr>
      </p:sp>
      <p:sp>
        <p:nvSpPr>
          <p:cNvPr id="20" name="Shape 18"/>
          <p:cNvSpPr/>
          <p:nvPr/>
        </p:nvSpPr>
        <p:spPr>
          <a:xfrm>
            <a:off x="9454896" y="2005584"/>
            <a:ext cx="457200" cy="481584"/>
          </a:xfrm>
          <a:prstGeom prst="roundRect">
            <a:avLst>
              <a:gd name="adj" fmla="val 8000"/>
            </a:avLst>
          </a:prstGeom>
          <a:solidFill>
            <a:schemeClr val="accent1"/>
          </a:solidFill>
          <a:ln/>
        </p:spPr>
      </p:sp>
      <p:sp>
        <p:nvSpPr>
          <p:cNvPr id="21" name="Shape 19"/>
          <p:cNvSpPr/>
          <p:nvPr/>
        </p:nvSpPr>
        <p:spPr>
          <a:xfrm>
            <a:off x="10021824" y="2005584"/>
            <a:ext cx="457200" cy="481584"/>
          </a:xfrm>
          <a:prstGeom prst="roundRect">
            <a:avLst>
              <a:gd name="adj" fmla="val 8000"/>
            </a:avLst>
          </a:prstGeom>
          <a:solidFill>
            <a:schemeClr val="accent1">
              <a:alpha val="75000"/>
            </a:schemeClr>
          </a:solidFill>
          <a:ln/>
        </p:spPr>
      </p:sp>
      <p:sp>
        <p:nvSpPr>
          <p:cNvPr id="22" name="Shape 20"/>
          <p:cNvSpPr/>
          <p:nvPr/>
        </p:nvSpPr>
        <p:spPr>
          <a:xfrm>
            <a:off x="10588752" y="2005584"/>
            <a:ext cx="457200" cy="481584"/>
          </a:xfrm>
          <a:prstGeom prst="roundRect">
            <a:avLst>
              <a:gd name="adj" fmla="val 8000"/>
            </a:avLst>
          </a:prstGeom>
          <a:solidFill>
            <a:schemeClr val="accent1">
              <a:alpha val="45000"/>
            </a:schemeClr>
          </a:solidFill>
          <a:ln/>
        </p:spPr>
      </p:sp>
      <p:sp>
        <p:nvSpPr>
          <p:cNvPr id="23" name="Shape 21"/>
          <p:cNvSpPr/>
          <p:nvPr/>
        </p:nvSpPr>
        <p:spPr>
          <a:xfrm>
            <a:off x="11155680" y="2005584"/>
            <a:ext cx="457200" cy="481584"/>
          </a:xfrm>
          <a:prstGeom prst="roundRect">
            <a:avLst>
              <a:gd name="adj" fmla="val 8000"/>
            </a:avLst>
          </a:prstGeom>
          <a:solidFill>
            <a:schemeClr val="accent1">
              <a:alpha val="20000"/>
            </a:schemeClr>
          </a:solidFill>
          <a:ln/>
        </p:spPr>
      </p:sp>
      <p:sp>
        <p:nvSpPr>
          <p:cNvPr id="24" name="Shape 22"/>
          <p:cNvSpPr/>
          <p:nvPr/>
        </p:nvSpPr>
        <p:spPr>
          <a:xfrm>
            <a:off x="8321040" y="2596896"/>
            <a:ext cx="457200" cy="481584"/>
          </a:xfrm>
          <a:prstGeom prst="roundRect">
            <a:avLst>
              <a:gd name="adj" fmla="val 8000"/>
            </a:avLst>
          </a:prstGeom>
          <a:solidFill>
            <a:schemeClr val="accent1">
              <a:alpha val="75000"/>
            </a:schemeClr>
          </a:solidFill>
          <a:ln/>
        </p:spPr>
      </p:sp>
      <p:sp>
        <p:nvSpPr>
          <p:cNvPr id="25" name="Shape 23"/>
          <p:cNvSpPr/>
          <p:nvPr/>
        </p:nvSpPr>
        <p:spPr>
          <a:xfrm>
            <a:off x="8887968" y="2596896"/>
            <a:ext cx="457200" cy="481584"/>
          </a:xfrm>
          <a:prstGeom prst="roundRect">
            <a:avLst>
              <a:gd name="adj" fmla="val 8000"/>
            </a:avLst>
          </a:prstGeom>
          <a:solidFill>
            <a:schemeClr val="accent1">
              <a:alpha val="20000"/>
            </a:schemeClr>
          </a:solidFill>
          <a:ln/>
        </p:spPr>
      </p:sp>
      <p:sp>
        <p:nvSpPr>
          <p:cNvPr id="26" name="Shape 24"/>
          <p:cNvSpPr/>
          <p:nvPr/>
        </p:nvSpPr>
        <p:spPr>
          <a:xfrm>
            <a:off x="9454896" y="2596896"/>
            <a:ext cx="457200" cy="481584"/>
          </a:xfrm>
          <a:prstGeom prst="roundRect">
            <a:avLst>
              <a:gd name="adj" fmla="val 8000"/>
            </a:avLst>
          </a:prstGeom>
          <a:solidFill>
            <a:schemeClr val="accent1">
              <a:alpha val="75000"/>
            </a:schemeClr>
          </a:solidFill>
          <a:ln/>
        </p:spPr>
      </p:sp>
      <p:sp>
        <p:nvSpPr>
          <p:cNvPr id="27" name="Shape 25"/>
          <p:cNvSpPr/>
          <p:nvPr/>
        </p:nvSpPr>
        <p:spPr>
          <a:xfrm>
            <a:off x="10021824" y="2596896"/>
            <a:ext cx="457200" cy="481584"/>
          </a:xfrm>
          <a:prstGeom prst="roundRect">
            <a:avLst>
              <a:gd name="adj" fmla="val 8000"/>
            </a:avLst>
          </a:prstGeom>
          <a:solidFill>
            <a:schemeClr val="accent1">
              <a:alpha val="20000"/>
            </a:schemeClr>
          </a:solidFill>
          <a:ln/>
        </p:spPr>
      </p:sp>
      <p:sp>
        <p:nvSpPr>
          <p:cNvPr id="28" name="Shape 26"/>
          <p:cNvSpPr/>
          <p:nvPr/>
        </p:nvSpPr>
        <p:spPr>
          <a:xfrm>
            <a:off x="10588752" y="2596896"/>
            <a:ext cx="457200" cy="481584"/>
          </a:xfrm>
          <a:prstGeom prst="roundRect">
            <a:avLst>
              <a:gd name="adj" fmla="val 8000"/>
            </a:avLst>
          </a:prstGeom>
          <a:solidFill>
            <a:schemeClr val="accent1">
              <a:alpha val="75000"/>
            </a:schemeClr>
          </a:solidFill>
          <a:ln/>
        </p:spPr>
      </p:sp>
      <p:sp>
        <p:nvSpPr>
          <p:cNvPr id="29" name="Shape 27"/>
          <p:cNvSpPr/>
          <p:nvPr/>
        </p:nvSpPr>
        <p:spPr>
          <a:xfrm>
            <a:off x="11155680" y="2596896"/>
            <a:ext cx="457200" cy="481584"/>
          </a:xfrm>
          <a:prstGeom prst="roundRect">
            <a:avLst>
              <a:gd name="adj" fmla="val 8000"/>
            </a:avLst>
          </a:prstGeom>
          <a:solidFill>
            <a:schemeClr val="accent1">
              <a:alpha val="20000"/>
            </a:schemeClr>
          </a:solidFill>
          <a:ln/>
        </p:spPr>
      </p:sp>
      <p:sp>
        <p:nvSpPr>
          <p:cNvPr id="30" name="Shape 28"/>
          <p:cNvSpPr/>
          <p:nvPr/>
        </p:nvSpPr>
        <p:spPr>
          <a:xfrm>
            <a:off x="8321040" y="3188208"/>
            <a:ext cx="457200" cy="481584"/>
          </a:xfrm>
          <a:prstGeom prst="roundRect">
            <a:avLst>
              <a:gd name="adj" fmla="val 8000"/>
            </a:avLst>
          </a:prstGeom>
          <a:solidFill>
            <a:schemeClr val="accent1"/>
          </a:solidFill>
          <a:ln/>
        </p:spPr>
      </p:sp>
      <p:sp>
        <p:nvSpPr>
          <p:cNvPr id="31" name="Shape 29"/>
          <p:cNvSpPr/>
          <p:nvPr/>
        </p:nvSpPr>
        <p:spPr>
          <a:xfrm>
            <a:off x="8887968" y="3188208"/>
            <a:ext cx="457200" cy="481584"/>
          </a:xfrm>
          <a:prstGeom prst="roundRect">
            <a:avLst>
              <a:gd name="adj" fmla="val 8000"/>
            </a:avLst>
          </a:prstGeom>
          <a:solidFill>
            <a:schemeClr val="accent1">
              <a:alpha val="20000"/>
            </a:schemeClr>
          </a:solidFill>
          <a:ln/>
        </p:spPr>
      </p:sp>
      <p:sp>
        <p:nvSpPr>
          <p:cNvPr id="32" name="Shape 30"/>
          <p:cNvSpPr/>
          <p:nvPr/>
        </p:nvSpPr>
        <p:spPr>
          <a:xfrm>
            <a:off x="9454896" y="3188208"/>
            <a:ext cx="457200" cy="481584"/>
          </a:xfrm>
          <a:prstGeom prst="roundRect">
            <a:avLst>
              <a:gd name="adj" fmla="val 8000"/>
            </a:avLst>
          </a:prstGeom>
          <a:solidFill>
            <a:schemeClr val="accent1">
              <a:alpha val="45000"/>
            </a:schemeClr>
          </a:solidFill>
          <a:ln/>
        </p:spPr>
      </p:sp>
      <p:sp>
        <p:nvSpPr>
          <p:cNvPr id="33" name="Shape 31"/>
          <p:cNvSpPr/>
          <p:nvPr/>
        </p:nvSpPr>
        <p:spPr>
          <a:xfrm>
            <a:off x="10021824" y="3188208"/>
            <a:ext cx="457200" cy="481584"/>
          </a:xfrm>
          <a:prstGeom prst="roundRect">
            <a:avLst>
              <a:gd name="adj" fmla="val 8000"/>
            </a:avLst>
          </a:prstGeom>
          <a:solidFill>
            <a:schemeClr val="accent1">
              <a:alpha val="75000"/>
            </a:schemeClr>
          </a:solidFill>
          <a:ln/>
        </p:spPr>
      </p:sp>
      <p:sp>
        <p:nvSpPr>
          <p:cNvPr id="34" name="Shape 32"/>
          <p:cNvSpPr/>
          <p:nvPr/>
        </p:nvSpPr>
        <p:spPr>
          <a:xfrm>
            <a:off x="10588752" y="3188208"/>
            <a:ext cx="457200" cy="481584"/>
          </a:xfrm>
          <a:prstGeom prst="roundRect">
            <a:avLst>
              <a:gd name="adj" fmla="val 8000"/>
            </a:avLst>
          </a:prstGeom>
          <a:solidFill>
            <a:schemeClr val="accent1"/>
          </a:solidFill>
          <a:ln/>
        </p:spPr>
      </p:sp>
      <p:sp>
        <p:nvSpPr>
          <p:cNvPr id="35" name="Shape 33"/>
          <p:cNvSpPr/>
          <p:nvPr/>
        </p:nvSpPr>
        <p:spPr>
          <a:xfrm>
            <a:off x="11155680" y="3188208"/>
            <a:ext cx="457200" cy="481584"/>
          </a:xfrm>
          <a:prstGeom prst="roundRect">
            <a:avLst>
              <a:gd name="adj" fmla="val 8000"/>
            </a:avLst>
          </a:prstGeom>
          <a:solidFill>
            <a:schemeClr val="accent1">
              <a:alpha val="20000"/>
            </a:schemeClr>
          </a:solidFill>
          <a:ln/>
        </p:spPr>
      </p:sp>
      <p:sp>
        <p:nvSpPr>
          <p:cNvPr id="36" name="Shape 34"/>
          <p:cNvSpPr/>
          <p:nvPr/>
        </p:nvSpPr>
        <p:spPr>
          <a:xfrm>
            <a:off x="8321040" y="3779520"/>
            <a:ext cx="457200" cy="481584"/>
          </a:xfrm>
          <a:prstGeom prst="roundRect">
            <a:avLst>
              <a:gd name="adj" fmla="val 8000"/>
            </a:avLst>
          </a:prstGeom>
          <a:solidFill>
            <a:schemeClr val="accent1">
              <a:alpha val="20000"/>
            </a:schemeClr>
          </a:solidFill>
          <a:ln/>
        </p:spPr>
      </p:sp>
      <p:sp>
        <p:nvSpPr>
          <p:cNvPr id="37" name="Shape 35"/>
          <p:cNvSpPr/>
          <p:nvPr/>
        </p:nvSpPr>
        <p:spPr>
          <a:xfrm>
            <a:off x="8887968" y="3779520"/>
            <a:ext cx="457200" cy="481584"/>
          </a:xfrm>
          <a:prstGeom prst="roundRect">
            <a:avLst>
              <a:gd name="adj" fmla="val 8000"/>
            </a:avLst>
          </a:prstGeom>
          <a:solidFill>
            <a:schemeClr val="accent1">
              <a:alpha val="20000"/>
            </a:schemeClr>
          </a:solidFill>
          <a:ln/>
        </p:spPr>
      </p:sp>
      <p:sp>
        <p:nvSpPr>
          <p:cNvPr id="38" name="Shape 36"/>
          <p:cNvSpPr/>
          <p:nvPr/>
        </p:nvSpPr>
        <p:spPr>
          <a:xfrm>
            <a:off x="9454896" y="3779520"/>
            <a:ext cx="457200" cy="481584"/>
          </a:xfrm>
          <a:prstGeom prst="roundRect">
            <a:avLst>
              <a:gd name="adj" fmla="val 8000"/>
            </a:avLst>
          </a:prstGeom>
          <a:solidFill>
            <a:schemeClr val="accent1">
              <a:alpha val="20000"/>
            </a:schemeClr>
          </a:solidFill>
          <a:ln/>
        </p:spPr>
      </p:sp>
      <p:sp>
        <p:nvSpPr>
          <p:cNvPr id="39" name="Shape 37"/>
          <p:cNvSpPr/>
          <p:nvPr/>
        </p:nvSpPr>
        <p:spPr>
          <a:xfrm>
            <a:off x="10021824" y="3779520"/>
            <a:ext cx="457200" cy="481584"/>
          </a:xfrm>
          <a:prstGeom prst="roundRect">
            <a:avLst>
              <a:gd name="adj" fmla="val 8000"/>
            </a:avLst>
          </a:prstGeom>
          <a:solidFill>
            <a:schemeClr val="accent1">
              <a:alpha val="20000"/>
            </a:schemeClr>
          </a:solidFill>
          <a:ln/>
        </p:spPr>
      </p:sp>
      <p:sp>
        <p:nvSpPr>
          <p:cNvPr id="40" name="Shape 38"/>
          <p:cNvSpPr/>
          <p:nvPr/>
        </p:nvSpPr>
        <p:spPr>
          <a:xfrm>
            <a:off x="10588752" y="3779520"/>
            <a:ext cx="457200" cy="481584"/>
          </a:xfrm>
          <a:prstGeom prst="roundRect">
            <a:avLst>
              <a:gd name="adj" fmla="val 8000"/>
            </a:avLst>
          </a:prstGeom>
          <a:solidFill>
            <a:schemeClr val="accent1">
              <a:alpha val="20000"/>
            </a:schemeClr>
          </a:solidFill>
          <a:ln/>
        </p:spPr>
      </p:sp>
      <p:sp>
        <p:nvSpPr>
          <p:cNvPr id="41" name="Shape 39"/>
          <p:cNvSpPr/>
          <p:nvPr/>
        </p:nvSpPr>
        <p:spPr>
          <a:xfrm>
            <a:off x="11155680" y="3779520"/>
            <a:ext cx="457200" cy="481584"/>
          </a:xfrm>
          <a:prstGeom prst="roundRect">
            <a:avLst>
              <a:gd name="adj" fmla="val 8000"/>
            </a:avLst>
          </a:prstGeom>
          <a:solidFill>
            <a:schemeClr val="accent1">
              <a:alpha val="20000"/>
            </a:schemeClr>
          </a:solidFill>
          <a:ln/>
        </p:spPr>
      </p:sp>
      <p:sp>
        <p:nvSpPr>
          <p:cNvPr id="42" name="Shape 40"/>
          <p:cNvSpPr/>
          <p:nvPr/>
        </p:nvSpPr>
        <p:spPr>
          <a:xfrm>
            <a:off x="8321040" y="4370832"/>
            <a:ext cx="457200" cy="481584"/>
          </a:xfrm>
          <a:prstGeom prst="roundRect">
            <a:avLst>
              <a:gd name="adj" fmla="val 8000"/>
            </a:avLst>
          </a:prstGeom>
          <a:solidFill>
            <a:schemeClr val="accent1">
              <a:alpha val="45000"/>
            </a:schemeClr>
          </a:solidFill>
          <a:ln/>
        </p:spPr>
      </p:sp>
      <p:sp>
        <p:nvSpPr>
          <p:cNvPr id="43" name="Shape 41"/>
          <p:cNvSpPr/>
          <p:nvPr/>
        </p:nvSpPr>
        <p:spPr>
          <a:xfrm>
            <a:off x="8887968" y="4370832"/>
            <a:ext cx="457200" cy="481584"/>
          </a:xfrm>
          <a:prstGeom prst="roundRect">
            <a:avLst>
              <a:gd name="adj" fmla="val 8000"/>
            </a:avLst>
          </a:prstGeom>
          <a:solidFill>
            <a:schemeClr val="accent1">
              <a:alpha val="20000"/>
            </a:schemeClr>
          </a:solidFill>
          <a:ln/>
        </p:spPr>
      </p:sp>
      <p:sp>
        <p:nvSpPr>
          <p:cNvPr id="44" name="Shape 42"/>
          <p:cNvSpPr/>
          <p:nvPr/>
        </p:nvSpPr>
        <p:spPr>
          <a:xfrm>
            <a:off x="9454896" y="4370832"/>
            <a:ext cx="457200" cy="481584"/>
          </a:xfrm>
          <a:prstGeom prst="roundRect">
            <a:avLst>
              <a:gd name="adj" fmla="val 8000"/>
            </a:avLst>
          </a:prstGeom>
          <a:solidFill>
            <a:schemeClr val="accent1"/>
          </a:solidFill>
          <a:ln/>
        </p:spPr>
      </p:sp>
      <p:sp>
        <p:nvSpPr>
          <p:cNvPr id="45" name="Shape 43"/>
          <p:cNvSpPr/>
          <p:nvPr/>
        </p:nvSpPr>
        <p:spPr>
          <a:xfrm>
            <a:off x="10021824" y="4370832"/>
            <a:ext cx="457200" cy="481584"/>
          </a:xfrm>
          <a:prstGeom prst="roundRect">
            <a:avLst>
              <a:gd name="adj" fmla="val 8000"/>
            </a:avLst>
          </a:prstGeom>
          <a:solidFill>
            <a:schemeClr val="accent1">
              <a:alpha val="75000"/>
            </a:schemeClr>
          </a:solidFill>
          <a:ln/>
        </p:spPr>
      </p:sp>
      <p:sp>
        <p:nvSpPr>
          <p:cNvPr id="46" name="Shape 44"/>
          <p:cNvSpPr/>
          <p:nvPr/>
        </p:nvSpPr>
        <p:spPr>
          <a:xfrm>
            <a:off x="10588752" y="4370832"/>
            <a:ext cx="457200" cy="481584"/>
          </a:xfrm>
          <a:prstGeom prst="roundRect">
            <a:avLst>
              <a:gd name="adj" fmla="val 8000"/>
            </a:avLst>
          </a:prstGeom>
          <a:solidFill>
            <a:schemeClr val="accent1">
              <a:alpha val="45000"/>
            </a:schemeClr>
          </a:solidFill>
          <a:ln/>
        </p:spPr>
      </p:sp>
      <p:sp>
        <p:nvSpPr>
          <p:cNvPr id="47" name="Shape 45"/>
          <p:cNvSpPr/>
          <p:nvPr/>
        </p:nvSpPr>
        <p:spPr>
          <a:xfrm>
            <a:off x="11155680" y="4370832"/>
            <a:ext cx="457200" cy="481584"/>
          </a:xfrm>
          <a:prstGeom prst="roundRect">
            <a:avLst>
              <a:gd name="adj" fmla="val 8000"/>
            </a:avLst>
          </a:prstGeom>
          <a:solidFill>
            <a:schemeClr val="accent1">
              <a:alpha val="20000"/>
            </a:schemeClr>
          </a:solidFill>
          <a:ln/>
        </p:spPr>
      </p:sp>
      <p:sp>
        <p:nvSpPr>
          <p:cNvPr id="48" name="Shape 46"/>
          <p:cNvSpPr/>
          <p:nvPr/>
        </p:nvSpPr>
        <p:spPr>
          <a:xfrm>
            <a:off x="8321040" y="4962144"/>
            <a:ext cx="457200" cy="481584"/>
          </a:xfrm>
          <a:prstGeom prst="roundRect">
            <a:avLst>
              <a:gd name="adj" fmla="val 8000"/>
            </a:avLst>
          </a:prstGeom>
          <a:solidFill>
            <a:schemeClr val="accent1">
              <a:alpha val="75000"/>
            </a:schemeClr>
          </a:solidFill>
          <a:ln/>
        </p:spPr>
      </p:sp>
      <p:sp>
        <p:nvSpPr>
          <p:cNvPr id="49" name="Shape 47"/>
          <p:cNvSpPr/>
          <p:nvPr/>
        </p:nvSpPr>
        <p:spPr>
          <a:xfrm>
            <a:off x="8887968" y="4962144"/>
            <a:ext cx="457200" cy="481584"/>
          </a:xfrm>
          <a:prstGeom prst="roundRect">
            <a:avLst>
              <a:gd name="adj" fmla="val 8000"/>
            </a:avLst>
          </a:prstGeom>
          <a:solidFill>
            <a:schemeClr val="accent1">
              <a:alpha val="20000"/>
            </a:schemeClr>
          </a:solidFill>
          <a:ln/>
        </p:spPr>
      </p:sp>
      <p:sp>
        <p:nvSpPr>
          <p:cNvPr id="50" name="Shape 48"/>
          <p:cNvSpPr/>
          <p:nvPr/>
        </p:nvSpPr>
        <p:spPr>
          <a:xfrm>
            <a:off x="9454896" y="4962144"/>
            <a:ext cx="457200" cy="481584"/>
          </a:xfrm>
          <a:prstGeom prst="roundRect">
            <a:avLst>
              <a:gd name="adj" fmla="val 8000"/>
            </a:avLst>
          </a:prstGeom>
          <a:solidFill>
            <a:schemeClr val="accent1">
              <a:alpha val="75000"/>
            </a:schemeClr>
          </a:solidFill>
          <a:ln/>
        </p:spPr>
      </p:sp>
      <p:sp>
        <p:nvSpPr>
          <p:cNvPr id="51" name="Shape 49"/>
          <p:cNvSpPr/>
          <p:nvPr/>
        </p:nvSpPr>
        <p:spPr>
          <a:xfrm>
            <a:off x="10021824" y="4962144"/>
            <a:ext cx="457200" cy="481584"/>
          </a:xfrm>
          <a:prstGeom prst="roundRect">
            <a:avLst>
              <a:gd name="adj" fmla="val 8000"/>
            </a:avLst>
          </a:prstGeom>
          <a:solidFill>
            <a:schemeClr val="accent1">
              <a:alpha val="20000"/>
            </a:schemeClr>
          </a:solidFill>
          <a:ln/>
        </p:spPr>
      </p:sp>
      <p:sp>
        <p:nvSpPr>
          <p:cNvPr id="52" name="Shape 50"/>
          <p:cNvSpPr/>
          <p:nvPr/>
        </p:nvSpPr>
        <p:spPr>
          <a:xfrm>
            <a:off x="10588752" y="4962144"/>
            <a:ext cx="457200" cy="481584"/>
          </a:xfrm>
          <a:prstGeom prst="roundRect">
            <a:avLst>
              <a:gd name="adj" fmla="val 8000"/>
            </a:avLst>
          </a:prstGeom>
          <a:solidFill>
            <a:schemeClr val="accent1">
              <a:alpha val="75000"/>
            </a:schemeClr>
          </a:solidFill>
          <a:ln/>
        </p:spPr>
      </p:sp>
      <p:sp>
        <p:nvSpPr>
          <p:cNvPr id="53" name="Shape 51"/>
          <p:cNvSpPr/>
          <p:nvPr/>
        </p:nvSpPr>
        <p:spPr>
          <a:xfrm>
            <a:off x="11155680" y="4962144"/>
            <a:ext cx="457200" cy="481584"/>
          </a:xfrm>
          <a:prstGeom prst="roundRect">
            <a:avLst>
              <a:gd name="adj" fmla="val 8000"/>
            </a:avLst>
          </a:prstGeom>
          <a:solidFill>
            <a:schemeClr val="accent1">
              <a:alpha val="20000"/>
            </a:schemeClr>
          </a:solidFill>
          <a:ln/>
        </p:spPr>
      </p:sp>
      <p:sp>
        <p:nvSpPr>
          <p:cNvPr id="54" name="Shape 52"/>
          <p:cNvSpPr/>
          <p:nvPr/>
        </p:nvSpPr>
        <p:spPr>
          <a:xfrm>
            <a:off x="8321040" y="5553456"/>
            <a:ext cx="457200" cy="481584"/>
          </a:xfrm>
          <a:prstGeom prst="roundRect">
            <a:avLst>
              <a:gd name="adj" fmla="val 8000"/>
            </a:avLst>
          </a:prstGeom>
          <a:solidFill>
            <a:schemeClr val="accent1"/>
          </a:solidFill>
          <a:ln/>
        </p:spPr>
      </p:sp>
      <p:sp>
        <p:nvSpPr>
          <p:cNvPr id="55" name="Shape 53"/>
          <p:cNvSpPr/>
          <p:nvPr/>
        </p:nvSpPr>
        <p:spPr>
          <a:xfrm>
            <a:off x="8887968" y="5553456"/>
            <a:ext cx="457200" cy="481584"/>
          </a:xfrm>
          <a:prstGeom prst="roundRect">
            <a:avLst>
              <a:gd name="adj" fmla="val 8000"/>
            </a:avLst>
          </a:prstGeom>
          <a:solidFill>
            <a:schemeClr val="accent1">
              <a:alpha val="20000"/>
            </a:schemeClr>
          </a:solidFill>
          <a:ln/>
        </p:spPr>
      </p:sp>
      <p:sp>
        <p:nvSpPr>
          <p:cNvPr id="56" name="Shape 54"/>
          <p:cNvSpPr/>
          <p:nvPr/>
        </p:nvSpPr>
        <p:spPr>
          <a:xfrm>
            <a:off x="9454896" y="5553456"/>
            <a:ext cx="457200" cy="481584"/>
          </a:xfrm>
          <a:prstGeom prst="roundRect">
            <a:avLst>
              <a:gd name="adj" fmla="val 8000"/>
            </a:avLst>
          </a:prstGeom>
          <a:solidFill>
            <a:schemeClr val="accent1">
              <a:alpha val="45000"/>
            </a:schemeClr>
          </a:solidFill>
          <a:ln/>
        </p:spPr>
      </p:sp>
      <p:sp>
        <p:nvSpPr>
          <p:cNvPr id="57" name="Shape 55"/>
          <p:cNvSpPr/>
          <p:nvPr/>
        </p:nvSpPr>
        <p:spPr>
          <a:xfrm>
            <a:off x="10021824" y="5553456"/>
            <a:ext cx="457200" cy="481584"/>
          </a:xfrm>
          <a:prstGeom prst="roundRect">
            <a:avLst>
              <a:gd name="adj" fmla="val 8000"/>
            </a:avLst>
          </a:prstGeom>
          <a:solidFill>
            <a:schemeClr val="accent1">
              <a:alpha val="75000"/>
            </a:schemeClr>
          </a:solidFill>
          <a:ln/>
        </p:spPr>
      </p:sp>
      <p:sp>
        <p:nvSpPr>
          <p:cNvPr id="58" name="Shape 56"/>
          <p:cNvSpPr/>
          <p:nvPr/>
        </p:nvSpPr>
        <p:spPr>
          <a:xfrm>
            <a:off x="10588752" y="5553456"/>
            <a:ext cx="457200" cy="481584"/>
          </a:xfrm>
          <a:prstGeom prst="roundRect">
            <a:avLst>
              <a:gd name="adj" fmla="val 8000"/>
            </a:avLst>
          </a:prstGeom>
          <a:solidFill>
            <a:schemeClr val="accent1"/>
          </a:solidFill>
          <a:ln/>
        </p:spPr>
      </p:sp>
      <p:sp>
        <p:nvSpPr>
          <p:cNvPr id="59" name="Shape 57"/>
          <p:cNvSpPr/>
          <p:nvPr/>
        </p:nvSpPr>
        <p:spPr>
          <a:xfrm>
            <a:off x="11155680" y="5553456"/>
            <a:ext cx="457200" cy="481584"/>
          </a:xfrm>
          <a:prstGeom prst="roundRect">
            <a:avLst>
              <a:gd name="adj" fmla="val 8000"/>
            </a:avLst>
          </a:prstGeom>
          <a:solidFill>
            <a:schemeClr val="accent1">
              <a:alpha val="20000"/>
            </a:schemeClr>
          </a:solidFill>
          <a:ln/>
        </p:spPr>
      </p:sp>
    </p:spTree>
  </p:cSld>
  <p:clrMapOvr>
    <a:masterClrMapping/>
  </p:clrMapOvr>
</p:sld>
</file>

<file path=ppt/theme/theme1.xml><?xml version="1.0" encoding="utf-8"?>
<a:theme xmlns:a="http://schemas.openxmlformats.org/drawingml/2006/main" name="GPU Training">
  <a:themeElements>
    <a:clrScheme name="GPU Training">
      <a:dk1>
        <a:srgbClr val="111611"/>
      </a:dk1>
      <a:lt1>
        <a:srgbClr val="FFFFFF"/>
      </a:lt1>
      <a:dk2>
        <a:srgbClr val="3E4842"/>
      </a:dk2>
      <a:lt2>
        <a:srgbClr val="EEF3EA"/>
      </a:lt2>
      <a:accent1>
        <a:srgbClr val="76B900"/>
      </a:accent1>
      <a:accent2>
        <a:srgbClr val="3D7A12"/>
      </a:accent2>
      <a:accent3>
        <a:srgbClr val="F2A900"/>
      </a:accent3>
      <a:accent4>
        <a:srgbClr val="2D8FD5"/>
      </a:accent4>
      <a:accent5>
        <a:srgbClr val="6B7570"/>
      </a:accent5>
      <a:accent6>
        <a:srgbClr val="E4572E"/>
      </a:accent6>
      <a:hlink>
        <a:srgbClr val="2D8FD5"/>
      </a:hlink>
      <a:folHlink>
        <a:srgbClr val="6B7570"/>
      </a:folHlink>
    </a:clrScheme>
    <a:fontScheme name="GPU Training">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NVIDIA NeMo and its place in enterprise model development</dc:title>
  <dc:subject>PptxGenJS Presentation</dc:subject>
  <dc:creator>Corporate Technical Training</dc:creator>
  <cp:lastModifiedBy>Corporate Technical Training</cp:lastModifiedBy>
  <cp:revision>1</cp:revision>
  <dcterms:created xsi:type="dcterms:W3CDTF">2026-10-05T02:07:32Z</dcterms:created>
  <dcterms:modified xsi:type="dcterms:W3CDTF">2026-10-05T02:07:32Z</dcterms:modified>
</cp:coreProperties>
</file>