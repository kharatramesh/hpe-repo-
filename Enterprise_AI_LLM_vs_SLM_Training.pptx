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410164-1554-7DD8-F4F8-1FD503C4D48C}">
          <p14:sldIdLst>
            <p14:sldId id="256"/>
            <p14:sldId id="257"/>
          </p14:sldIdLst>
        </p14:section>
        <p14:section name="Module 1 · Build and deploy" id="{E49E744F-7843-9546-AAC7-2FD832E059D9}">
          <p14:sldIdLst>
            <p14:sldId id="258"/>
            <p14:sldId id="259"/>
            <p14:sldId id="260"/>
            <p14:sldId id="261"/>
            <p14:sldId id="262"/>
            <p14:sldId id="263"/>
            <p14:sldId id="264"/>
            <p14:sldId id="265"/>
          </p14:sldIdLst>
        </p14:section>
        <p14:section name="Module 2 · Understand the models" id="{15AAC32B-4BF3-0F84-F717-D6CF0C4D730B}">
          <p14:sldIdLst>
            <p14:sldId id="266"/>
            <p14:sldId id="267"/>
            <p14:sldId id="268"/>
            <p14:sldId id="269"/>
          </p14:sldIdLst>
        </p14:section>
        <p14:section name="Module 3 · Compare and choose" id="{3D0EDEEB-B52E-8D82-632C-6B5D1C3C2D73}">
          <p14:sldIdLst>
            <p14:sldId id="270"/>
            <p14:sldId id="271"/>
            <p14:sldId id="272"/>
            <p14:sldId id="273"/>
          </p14:sldIdLst>
        </p14:section>
        <p14:section name="Wrap-up" id="{2FDA6132-3560-D8CA-7DEC-87649D7FB4E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16-bit (FP16 / BF16)</c:v>
                </c:pt>
              </c:strCache>
            </c:strRef>
          </c:tx>
          <c:spPr>
            <a:solidFill>
              <a:srgbClr val="F26B3A"/>
            </a:solidFill>
            <a:effectLst/>
          </c:spPr>
          <c:invertIfNegative val="0"/>
          <c:dLbls>
            <c:numFmt formatCode="General&quot; GB&quot;" sourceLinked="0"/>
            <c:spPr>
              <a:noFill/>
              <a:ln>
                <a:noFill/>
              </a:ln>
              <a:effectLst/>
            </c:spPr>
            <c:txPr>
              <a:bodyPr/>
              <a:lstStyle/>
              <a:p>
                <a:pPr>
                  <a:defRPr sz="1200" b="0" i="0" u="none" strike="noStrike">
                    <a:solidFill>
                      <a:srgbClr val="434A5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Llama 3.2 3B</c:v>
                </c:pt>
                <c:pt idx="1">
                  <c:v>Llama 3.1 8B</c:v>
                </c:pt>
                <c:pt idx="2">
                  <c:v>Llama 3.1 70B</c:v>
                </c:pt>
                <c:pt idx="3">
                  <c:v>Llama 3.1 405B</c:v>
                </c:pt>
              </c:strCache>
            </c:strRef>
          </c:cat>
          <c:val>
            <c:numRef>
              <c:f>Sheet1!$B$2:$B$5</c:f>
              <c:numCache>
                <c:formatCode>General</c:formatCode>
                <c:ptCount val="4"/>
                <c:pt idx="0">
                  <c:v>6</c:v>
                </c:pt>
                <c:pt idx="1">
                  <c:v>16</c:v>
                </c:pt>
                <c:pt idx="2">
                  <c:v>140</c:v>
                </c:pt>
                <c:pt idx="3">
                  <c:v>810</c:v>
                </c:pt>
              </c:numCache>
            </c:numRef>
          </c:val>
          <c:extLst>
            <c:ext xmlns:c16="http://schemas.microsoft.com/office/drawing/2014/chart" uri="{C3380CC4-5D6E-409C-BE32-E72D297353CC}">
              <c16:uniqueId val="{00000000-8668-4FDC-BCAB-EE32E75ECB89}"/>
            </c:ext>
          </c:extLst>
        </c:ser>
        <c:ser>
          <c:idx val="1"/>
          <c:order val="1"/>
          <c:tx>
            <c:strRef>
              <c:f>Sheet1!$C$1</c:f>
              <c:strCache>
                <c:ptCount val="1"/>
                <c:pt idx="0">
                  <c:v>4-bit quantized (INT4)</c:v>
                </c:pt>
              </c:strCache>
            </c:strRef>
          </c:tx>
          <c:spPr>
            <a:solidFill>
              <a:srgbClr val="12968A"/>
            </a:solidFill>
            <a:effectLst/>
          </c:spPr>
          <c:invertIfNegative val="0"/>
          <c:dLbls>
            <c:numFmt formatCode="General&quot; GB&quot;" sourceLinked="0"/>
            <c:spPr>
              <a:noFill/>
              <a:ln>
                <a:noFill/>
              </a:ln>
              <a:effectLst/>
            </c:spPr>
            <c:txPr>
              <a:bodyPr/>
              <a:lstStyle/>
              <a:p>
                <a:pPr>
                  <a:defRPr sz="1200" b="0" i="0" u="none" strike="noStrike">
                    <a:solidFill>
                      <a:srgbClr val="434A5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Llama 3.2 3B</c:v>
                </c:pt>
                <c:pt idx="1">
                  <c:v>Llama 3.1 8B</c:v>
                </c:pt>
                <c:pt idx="2">
                  <c:v>Llama 3.1 70B</c:v>
                </c:pt>
                <c:pt idx="3">
                  <c:v>Llama 3.1 405B</c:v>
                </c:pt>
              </c:strCache>
            </c:strRef>
          </c:cat>
          <c:val>
            <c:numRef>
              <c:f>Sheet1!$C$2:$C$5</c:f>
              <c:numCache>
                <c:formatCode>General</c:formatCode>
                <c:ptCount val="4"/>
                <c:pt idx="0">
                  <c:v>1.5</c:v>
                </c:pt>
                <c:pt idx="1">
                  <c:v>4</c:v>
                </c:pt>
                <c:pt idx="2">
                  <c:v>35</c:v>
                </c:pt>
                <c:pt idx="3">
                  <c:v>203</c:v>
                </c:pt>
              </c:numCache>
            </c:numRef>
          </c:val>
          <c:extLst>
            <c:ext xmlns:c16="http://schemas.microsoft.com/office/drawing/2014/chart" uri="{C3380CC4-5D6E-409C-BE32-E72D297353CC}">
              <c16:uniqueId val="{00000001-8668-4FDC-BCAB-EE32E75ECB8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34A5C"/>
                </a:solidFill>
                <a:latin typeface="+mn-lt"/>
              </a:defRPr>
            </a:pPr>
            <a:endParaRPr lang="en-US"/>
          </a:p>
        </c:txPr>
        <c:crossAx val="2094734552"/>
        <c:crosses val="autoZero"/>
        <c:auto val="1"/>
        <c:lblAlgn val="ctr"/>
        <c:lblOffset val="100"/>
        <c:noMultiLvlLbl val="1"/>
      </c:catAx>
      <c:valAx>
        <c:axId val="2094734552"/>
        <c:scaling>
          <c:orientation val="minMax"/>
          <c:max val="95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300">
              <a:solidFill>
                <a:srgbClr val="434A5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928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(3 min)
Introduce yourself and the session. Today's goal: understand how enterprise AI applications are really built and run, what large and small language models are, and how to choose between them.
Key message to plant early: in an enterprise, the model is only one component. Most of the engineering effort goes into data, integration, security, evaluation and operations.
Visual cue: the coral circles on the cover stand for large models, the smaller teal circles for small models. The same colours are used throughout the deck: coral = LLM, teal = SLM.
Icebreaker: "Who here has an AI use case in production? In a pilot? Still just an idea?" Use the answers to calibrate depth.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Module 1 is the longest; it gives the system context that the model choice in Module 3 depends on.
Module 2 builds a shared vocabulary: parameters, tokens, context window, distillation, quantization.
Module 3 brings it together: the comparison across capability, cost, latency, infrastructure and business fit, finishing with a decision guide.
Plan a short break after Module 1. Ask participants to note one use case from their own work now; we'll come back to it in Module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INTRO (1 min)
Transition: "Calling a model API takes five lines of code. Running an AI application that thousands of employees or customers trust takes a lot more. This module is about that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AI "ENTERPRISE" (4 min)
Walk through the six requirements. The point: a model that answers questions well is necessary but nowhere near sufficient.
- Security and privacy: who can see which data? Prompts and outputs may contain confidential data, so they are data too.
- Integration: value comes from connecting the model to systems of record. Most effort is here.
- Governance: which model versions are approved? Can we prove what the system said and why?
- Reliability: a call centre assistant with 20-second response times will not be used.
- Cost: token costs scale with usage; a successful pilot can become an expensive production system.
- Quality: you need an evaluation set and acceptance thresholds before go-live.
Ask: "Which of these six is the hardest in your organisation?" Most groups answer integration or governance, which makes the point that the model is not the bottleneck.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(5 min)
Walk top to bottom, following a single user request.
- Experience: AI increasingly lives inside existing applications (CRM, ITSM, IDE) rather than as a separate chatbot.
- Orchestration: builds the prompt, decides which tools or data sources to call, manages conversation state. Agent frameworks live here.
- Guardrails: checks what goes into and comes out of the model: PII, jailbreaks, off-topic requests, unsafe content.
- Model layer: rarely one model. Typically a generation model plus an embedding model, sometimes a reranker or a classifier, all behind a gateway that handles authentication, rate limits, routing and logging. This is where the LLM vs SLM choice is made, and the gateway makes it reversible.
- Data and knowledge: where enterprise context comes from. Permissions must be respected here.
- Infrastructure: where everything runs.
The two vertical pillars cut across every layer: security/governance and LLMOps/observability.
Key teaching point: because the model sits behind a gateway, you can swap an LLM for an SLM (or route between them) without rewriting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(5 min)
Walk the seven stages left to right.
1. Define: what business outcome and how will we measure it? What is the risk level (internal summarisation vs customer-facing financial advice)?
2. Data: identify sources, clean them, check access rights, and build an evaluation set early.
3. Select model: highlighted in coral because it is the focus of Module 3. Start with a capable model to prove value, then optimise.
4. Adapt: prompting, RAG, fine-tuning, tools (next slide).
5. Evaluate: quality, safety, red-teaming, cost per request. This is the go/no-go gate.
6. Deploy: progressive rollout, fallbacks, SLOs, rollback plan.
7. Monitor: quality, latency, cost and drift in production.
The feedback loop is what makes the system improve. Failures in production become new test cases.
For a DevOps audience: this is CI/CD plus continuous evaluation. The new artefacts are prompts, eval sets and model versions.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PATTERNS (5 min)
These are combined in practice, not either/or. A typical enterprise assistant uses prompting + RAG, sometimes with tools.
- Prompt engineering: cheapest and fastest; always the starting point.
- RAG: the default enterprise pattern. Knowledge stays in your systems, is always current, respects permissions and the answer can cite sources. No retraining when documents change.
- Fine-tuning: changes behaviour. Good for consistent format, tone, domain jargon, classification or extraction. A common mistake is fine-tuning to "teach facts"; facts go stale and the model may still hallucinate. LoRA/PEFT makes this affordable.
- Agents: the model decides which tools to call. Most powerful, but needs the strongest guardrails and permissions.
Link to Module 3: fine-tuning is the main reason a small model can match a large one on a narrow task.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FLOW (5 min)
Top lane (offline): documents are split into chunks, converted into embeddings (vectors that capture meaning), tagged with metadata such as access permissions, and stored in a vector database. This runs on a schedule or on change events.
Bottom lane (online): the user's question is embedded, the most similar chunks are retrieved (filtered by the user's permissions), inserted into the prompt with instructions, sent to the model, checked by guardrails, and returned with citations.
Teaching points:
- The model (coral) is one of seven steps. Many "the AI gave a wrong answer" incidents are really retrieval failures.
- RAG is model-agnostic: the same pipeline can feed an LLM or an SLM. With good retrieval, a small model often only needs to read and summarise, which plays to its strengths.
- Embedding models are themselves small, specialised models, so most RAG systems already use an SLM-class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OPTIONS (5 min)
Read the arrow left to right: convenience on the left, control on the right.
- Hosted API: fastest path, access to the most capable models, usage-based pricing. Check data handling terms; many providers offer zero-retention options for enterprise.
- Cloud AI platform: the most common enterprise choice. Models run inside your cloud tenancy with private networking, IAM, enterprise SLAs and a catalogue of LLMs and SLMs.
- Self-hosted: open-weight models (Llama, Mistral, Gemma, Qwen, Phi) served with vLLM, NVIDIA NIM or Hugging Face TGI on your Kubernetes/GPU platform. Best when data must stay on-premises or volume is high and steady.
- Edge / on-device: only practical with SLMs. Use cases: field technicians, offline factories, privacy-sensitive endpoints.
Point out that options 3 and 4 are where model size has the biggest operational impact, which leads into Module 3.
Note: product names change frequently; check current vendor offerings before each delivery.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LLMOps (5 min)
For a DevOps audience this is familiar territory with three new artefacts: prompts, evaluation datasets and model versions.
Pipeline: a change to a prompt or a model version is a deployment and should go through CI. The coral "eval gate" is the key addition: an automated evaluation suite with thresholds for quality, safety and cost. A prompt tweak that improves one case can silently break ten others.
Deploy progressively through the model gateway (canary, A/B, shadow traffic) so you can roll back.
Monitoring: four groups. Highlight TTFT and tokens/second; these are the latency metrics users feel and they depend heavily on model size, which we cover in Module 3. Cost per task, not cost per token, is the metric that matters to the business.
Tools to mention (examples only): LangSmith, Langfuse, Arize Phoenix, MLflow, OpenTelemetry-based tracing, Prometheus/Grafana for GPU metrics.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INTRO (1 min)
Transition: "We placed the model inside the architecture. Now let's open the box: what is a language model, and what actually makes one large or small?"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LANGUAGE MODELS WORK (5 min)
Keep it operational, not mathematical.
Inference: text is split into tokens, each token becomes a vector, the vectors pass through N transformer layers where self-attention lets every token "look at" the others, and the model outputs a probability for every possible next token. One is chosen, appended, and the loop repeats. That is why output streams word by word and why long answers take longer.
Why this matters for LLM vs SLM: for every generated token the model reads essentially all of its weights from memory. More parameters means more memory, more compute per token and slower generation. We will quantify this in Module 3.
Training: pre-training is where most of the cost goes (and what only a few organisations do). Instruction tuning and alignment turn a raw text predictor into a useful assistant. Enterprises mostly work in the later stages: fine-tuning and adaptation.
Common misconception: the model does not "look up" facts. It generates plausible text from patterns, which is why grounding (RAG) is important.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(4 min)
There is no official threshold for "large". Today the term usually means general-purpose models with tens to hundreds of billions of parameters or more. Frontier proprietary models do not publish their sizes.
Mixture-of-experts (MoE): models like DeepSeek-V3 have a very large total parameter count (671B) but activate only a fraction (about 37B) per token. This reduces compute per token, but all weights must still be held in memory, so infrastructure needs stay large.
Where LLMs shine: ambiguous, open-ended or cross-domain tasks, complex reasoning, coding, long documents, and situations where you have no training data, because they work well from instructions alone.
Trade-offs: cost per token, latency, GPU requirements if self-hosted, and data residency questions if consumed as an API.
Note to trainer: model names and versions change quickly. Update the examples before each delivery.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LANGUAGE MODELS (4 min)
"Small" is relative. A 7B model would have been considered very large a few years ago. Today SLM usually means roughly under 10B parameters, though some vendors call 14B models (e.g. Phi-4) small.
Why SLMs have improved so much:
- Distillation: a large "teacher" model generates outputs or reasoning that a small "student" learns from.
- Data quality over quantity: the Phi family showed that carefully curated and synthetic "textbook-quality" data lets small models punch above their weight.
- Quantization: storing weights in 8-bit or 4-bit instead of 16-bit cuts memory by 2–4× with modest quality loss.
- Fine-tuning: a small model tuned on a narrow task (classification, extraction, routing, domain Q&amp;A) can match or beat a general LLM on that task.
Key message: an SLM is not a "worse LLM". It is a different tool, optimised for efficiency and specialisation.
Ask: "Which tasks in your organisation are narrow, high-volume and repetitive?" Those are SLM candidates.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INTRO (1 min)
Transition: "Now we compare them side by side on the five dimensions that drive an enterprise decision, and finish with a practical decision guide."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TABLE (5 min)
Go row by row and ask the room which dimension is a hard constraint for them versus something to optimise.
- Capability: LLMs win on breadth and difficult reasoning. But on a narrow task with good data, a fine-tuned SLM can match or beat an LLM. Capability must be measured per task.
- Cost: per-token prices for small models are typically far lower than for frontier models, and self-hosted SLMs avoid per-token fees entirely. Check current price lists; prices fall fast.
- Latency: SLMs generate tokens faster and have lower time to first token. Important for chat, voice and inline assistance.
- Infrastructure: SLMs run on modest hardware; large models need large GPU memory (next slide).
- Business fit: depends on volume, task variety, risk, privacy and offline needs.
Caution: these are tendencies, not laws. A large model with caching and batching may be cheaper than you expect; a small model with long prompts may be slower than you expect. Always benchmark.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COST AND LATENCY (6 min)
The chart is simple arithmetic everyone can reproduce: memory for weights = number of parameters × bytes per parameter.
- 16-bit: 2 bytes per parameter, so 8B ≈ 16 GB, 70B ≈ 140 GB, 405B ≈ 810 GB.
- 4-bit: 0.5 bytes per parameter, so 8B ≈ 4 GB, 70B ≈ 35 GB.
Real deployments need extra memory for the KV cache (grows with context length and concurrent users) and runtime overhead, often 20% or more.
Interpretation with an 80 GB data-centre GPU (e.g. NVIDIA H100):
- 3B / 8B: one GPU easily, even quantized on a laptop or edge device.
- 70B: two or more GPUs at 16-bit, or one GPU quantized.
- 405B: a full multi-GPU server (often run in 8-bit FP8 on 8 GPUs) or a cluster.
Latency: token generation is mostly limited by memory bandwidth, because every token reads the active weights. Fewer bytes means more tokens per second. MoE models reduce the bytes read per token but not the memory needed to hold them.
Cost: fewer and cheaper GPUs per request, more requests per GPU. For APIs, small models are typically priced far below frontier models per million tokens; check current pricing.
Ask: "What hardware do you have available today? What fits on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FIT AND HYBRID ROUTING (6 min)
Left: two simple profiles. Walk through the examples and ask participants to place their own use case from the start of the session.
- LLM profile: high-value, varied, reasoning-heavy work where quality matters more than unit cost, and new use cases where you need results before you have data.
- SLM profile: high-volume, narrow, latency- or privacy-sensitive work. Offline and edge use cases are almost always SLMs.
Right: in practice many enterprises do not choose one. A router (a rules engine or itself a small classifier) sends routine requests to an SLM and escalates complex, high-risk or low-confidence requests to an LLM. A cascade tries the SLM first and escalates only when a validation check fails.
Benefits: most traffic is served cheaply and quickly while hard cases still get frontier quality. The model gateway from slide 5 is where routing lives.
A pragmatic path: prototype with an LLM to prove value and collect data; then distil or fine-tune an SLM for the high-volume part; keep the LLM for the long tail.
Exercise (if time permits, 5 min): in pairs, choose LLM, SLM or hybrid for: (a) offline maintenance assistant for factory technicians, (b) cross-domain market research copilot, (c) classifying 1 million support tickets a day. Expected: (a) SLM on device + RAG, (b) LLM + RAG, (c) fine-tuned SLM with LLM fallback.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AND Q&amp;A (5–10 min)
Recap the four points:
1. Enterprise AI success is mostly a systems problem: data, integration, security, evaluation, operations.
2. LLMs and SLMs are the same technology at different scales, plus different training recipes.
3. Decide using the five dimensions, with evidence from your own workload: an eval set, p95 latency and cost per successful task.
4. Hybrid routing gets the best of both, and a gateway keeps the decision reversible.
Discussion prompt: ask two or three participants to share a use case and say LLM, SLM or hybrid, and what evaluation they would build first.
Suggested next steps for participants: define one use case, build a 50–100 example eval set, benchmark one LLM and one SLM on it, compare quality, p95 latency and cost per task.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6766560" cy="21031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640080" y="4023360"/>
            <a:ext cx="6583680" cy="914400"/>
          </a:xfrm>
          <a:prstGeom prst="rect">
            <a:avLst/>
          </a:prstGeom>
          <a:noFill/>
          <a:ln/>
        </p:spPr>
        <p:txBody>
          <a:bodyPr wrap="square" rtlCol="0"/>
          <a:lstStyle>
            <a:lvl1pPr marL="0" indent="0">
              <a:buNone/>
              <a:defRPr lang="en-US" sz="1800" dirty="0">
                <a:solidFill>
                  <a:schemeClr val="accent3"/>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rtlCol="0"/>
          <a:lstStyle>
            <a:lvl1pPr marL="0" indent="0">
              <a:buNone/>
              <a:defRPr lang="en-US" sz="8800" b="1" dirty="0">
                <a:solidFill>
                  <a:schemeClr val="accent1"/>
                </a:solidFill>
              </a:defRPr>
            </a:lvl1pPr>
          </a:lstStyle>
          <a:p>
            <a:pPr marL="0" indent="0">
              <a:buNone/>
            </a:pP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rtlCol="0"/>
          <a:lstStyle>
            <a:lvl1pPr marL="0" indent="0">
              <a:buNone/>
              <a:defRPr lang="en-US" sz="1800" dirty="0">
                <a:solidFill>
                  <a:srgbClr val="C5CAD6"/>
                </a:solidFill>
              </a:defRPr>
            </a:lvl1pPr>
          </a:lstStyle>
          <a:p>
            <a:pPr marL="0" indent="0">
              <a:buNone/>
            </a:pPr>
            <a:endParaRPr lang="en-US" sz="1800" dirty="0"/>
          </a:p>
        </p:txBody>
      </p:sp>
      <p:sp>
        <p:nvSpPr>
          <p:cNvPr id="5"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000" dirty="0">
                <a:solidFill>
                  <a:srgbClr val="8F96A8"/>
                </a:solidFill>
              </a:rPr>
              <a:t>Enterprise AI: LLMs and SLMs  |  Instructor-led training</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Enterprise AI: LLMs and SLMs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F96A8"/>
                </a:solidFill>
              </a:rPr>
              <a:t>Enterprise AI: LLMs and SLMs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96A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marL="0" indent="0">
              <a:buNone/>
            </a:pPr>
            <a:r>
              <a:rPr lang="en-US" sz="1400" b="1" kern="0" spc="300" dirty="0">
                <a:solidFill>
                  <a:schemeClr val="accent2"/>
                </a:solidFill>
              </a:rPr>
              <a:t>INSTRUCTOR-LED TECHNICAL TRAINING</a:t>
            </a:r>
            <a:endParaRPr lang="en-US" sz="1400" dirty="0"/>
          </a:p>
        </p:txBody>
      </p:sp>
      <p:sp>
        <p:nvSpPr>
          <p:cNvPr id="3" name="Text 0"/>
          <p:cNvSpPr>
            <a:spLocks noGrp="1"/>
          </p:cNvSpPr>
          <p:nvPr>
            <p:ph type="title" idx="100" hasCustomPrompt="1"/>
          </p:nvPr>
        </p:nvSpPr>
        <p:spPr>
          <a:xfrm>
            <a:off x="640080" y="1737360"/>
            <a:ext cx="6766560" cy="2103120"/>
          </a:xfrm>
          <a:prstGeom prst="rect">
            <a:avLst/>
          </a:prstGeom>
          <a:noFill/>
          <a:ln/>
        </p:spPr>
        <p:txBody>
          <a:bodyPr wrap="square" lIns="0" tIns="0" rIns="0" bIns="0" rtlCol="0" anchor="t"/>
          <a:lstStyle/>
          <a:p>
            <a:pPr marL="0" indent="0" algn="l">
              <a:buNone/>
            </a:pPr>
            <a:r>
              <a:rPr lang="en-US" sz="4200" b="1" dirty="0">
                <a:solidFill>
                  <a:schemeClr val="bg1"/>
                </a:solidFill>
              </a:rPr>
              <a:t>Enterprise AI applications: LLMs vs SLMs</a:t>
            </a:r>
            <a:endParaRPr lang="en-US" sz="4200" dirty="0"/>
          </a:p>
        </p:txBody>
      </p:sp>
      <p:sp>
        <p:nvSpPr>
          <p:cNvPr id="4" name="Text 0"/>
          <p:cNvSpPr>
            <a:spLocks noGrp="1"/>
          </p:cNvSpPr>
          <p:nvPr>
            <p:ph type="body" idx="101" hasCustomPrompt="1"/>
          </p:nvPr>
        </p:nvSpPr>
        <p:spPr>
          <a:xfrm>
            <a:off x="640080" y="4023360"/>
            <a:ext cx="6583680" cy="914400"/>
          </a:xfrm>
          <a:prstGeom prst="rect">
            <a:avLst/>
          </a:prstGeom>
          <a:noFill/>
          <a:ln/>
        </p:spPr>
        <p:txBody>
          <a:bodyPr wrap="square" lIns="0" tIns="0" rIns="0" bIns="0" rtlCol="0" anchor="t"/>
          <a:lstStyle/>
          <a:p>
            <a:pPr marL="0" indent="0">
              <a:buNone/>
            </a:pPr>
            <a:r>
              <a:rPr lang="en-US" sz="1800" dirty="0">
                <a:solidFill>
                  <a:schemeClr val="accent3"/>
                </a:solidFill>
              </a:rPr>
              <a:t>How AI apps are built and deployed, and how to choose between large and small language models</a:t>
            </a:r>
            <a:endParaRPr lang="en-US" sz="1800" dirty="0"/>
          </a:p>
        </p:txBody>
      </p:sp>
      <p:sp>
        <p:nvSpPr>
          <p:cNvPr id="5" name="Text 3"/>
          <p:cNvSpPr txBox="1"/>
          <p:nvPr/>
        </p:nvSpPr>
        <p:spPr>
          <a:xfrm>
            <a:off x="640080" y="5989320"/>
            <a:ext cx="7315200" cy="365760"/>
          </a:xfrm>
          <a:prstGeom prst="rect">
            <a:avLst/>
          </a:prstGeom>
          <a:noFill/>
          <a:ln/>
        </p:spPr>
        <p:txBody>
          <a:bodyPr wrap="square" lIns="0" tIns="0" rIns="0" bIns="0" rtlCol="0" anchor="t"/>
          <a:lstStyle/>
          <a:p>
            <a:pPr marL="0" indent="0">
              <a:buNone/>
            </a:pPr>
            <a:r>
              <a:rPr lang="en-US" sz="1300" dirty="0">
                <a:solidFill>
                  <a:srgbClr val="8F96A8"/>
                </a:solidFill>
              </a:rPr>
              <a:t>Build and deploy  ·  Model foundations  ·  Capability, cost, latency, infrastructure, fit</a:t>
            </a:r>
            <a:endParaRPr lang="en-US" sz="1300" dirty="0"/>
          </a:p>
        </p:txBody>
      </p:sp>
      <p:sp>
        <p:nvSpPr>
          <p:cNvPr id="6" name="bead"/>
          <p:cNvSpPr/>
          <p:nvPr/>
        </p:nvSpPr>
        <p:spPr>
          <a:xfrm>
            <a:off x="8257794" y="858774"/>
            <a:ext cx="507492" cy="507492"/>
          </a:xfrm>
          <a:prstGeom prst="ellipse">
            <a:avLst/>
          </a:prstGeom>
          <a:solidFill>
            <a:schemeClr val="accent1"/>
          </a:solidFill>
          <a:ln/>
        </p:spPr>
        <p:txBody>
          <a:bodyPr/>
          <a:lstStyle/>
          <a:p>
            <a:endParaRPr lang="en-US"/>
          </a:p>
        </p:txBody>
      </p:sp>
      <p:sp>
        <p:nvSpPr>
          <p:cNvPr id="7" name="bead"/>
          <p:cNvSpPr/>
          <p:nvPr/>
        </p:nvSpPr>
        <p:spPr>
          <a:xfrm>
            <a:off x="8948547" y="985647"/>
            <a:ext cx="253746" cy="253746"/>
          </a:xfrm>
          <a:prstGeom prst="ellipse">
            <a:avLst/>
          </a:prstGeom>
          <a:solidFill>
            <a:schemeClr val="accent1">
              <a:alpha val="25000"/>
            </a:schemeClr>
          </a:solidFill>
          <a:ln/>
        </p:spPr>
        <p:txBody>
          <a:bodyPr/>
          <a:lstStyle/>
          <a:p>
            <a:endParaRPr lang="en-US"/>
          </a:p>
        </p:txBody>
      </p:sp>
      <p:sp>
        <p:nvSpPr>
          <p:cNvPr id="8" name="bead"/>
          <p:cNvSpPr/>
          <p:nvPr/>
        </p:nvSpPr>
        <p:spPr>
          <a:xfrm>
            <a:off x="9540621" y="1013841"/>
            <a:ext cx="197358" cy="197358"/>
          </a:xfrm>
          <a:prstGeom prst="ellipse">
            <a:avLst/>
          </a:prstGeom>
          <a:solidFill>
            <a:schemeClr val="accent1">
              <a:alpha val="35000"/>
            </a:schemeClr>
          </a:solidFill>
          <a:ln/>
        </p:spPr>
        <p:txBody>
          <a:bodyPr/>
          <a:lstStyle/>
          <a:p>
            <a:endParaRPr lang="en-US"/>
          </a:p>
        </p:txBody>
      </p:sp>
      <p:sp>
        <p:nvSpPr>
          <p:cNvPr id="9" name="bead"/>
          <p:cNvSpPr/>
          <p:nvPr/>
        </p:nvSpPr>
        <p:spPr>
          <a:xfrm>
            <a:off x="10034016" y="943356"/>
            <a:ext cx="338328" cy="338328"/>
          </a:xfrm>
          <a:prstGeom prst="ellipse">
            <a:avLst/>
          </a:prstGeom>
          <a:solidFill>
            <a:schemeClr val="accent1">
              <a:alpha val="45000"/>
            </a:schemeClr>
          </a:solidFill>
          <a:ln/>
        </p:spPr>
        <p:txBody>
          <a:bodyPr/>
          <a:lstStyle/>
          <a:p>
            <a:endParaRPr lang="en-US"/>
          </a:p>
        </p:txBody>
      </p:sp>
      <p:sp>
        <p:nvSpPr>
          <p:cNvPr id="10" name="bead"/>
          <p:cNvSpPr/>
          <p:nvPr/>
        </p:nvSpPr>
        <p:spPr>
          <a:xfrm>
            <a:off x="10569702" y="915162"/>
            <a:ext cx="394716" cy="394716"/>
          </a:xfrm>
          <a:prstGeom prst="ellipse">
            <a:avLst/>
          </a:prstGeom>
          <a:solidFill>
            <a:schemeClr val="accent1">
              <a:alpha val="55000"/>
            </a:schemeClr>
          </a:solidFill>
          <a:ln/>
        </p:spPr>
        <p:txBody>
          <a:bodyPr/>
          <a:lstStyle/>
          <a:p>
            <a:endParaRPr lang="en-US"/>
          </a:p>
        </p:txBody>
      </p:sp>
      <p:sp>
        <p:nvSpPr>
          <p:cNvPr id="11" name="bead"/>
          <p:cNvSpPr/>
          <p:nvPr/>
        </p:nvSpPr>
        <p:spPr>
          <a:xfrm>
            <a:off x="11119485" y="901065"/>
            <a:ext cx="422910" cy="422910"/>
          </a:xfrm>
          <a:prstGeom prst="ellipse">
            <a:avLst/>
          </a:prstGeom>
          <a:solidFill>
            <a:schemeClr val="accent1">
              <a:alpha val="70000"/>
            </a:schemeClr>
          </a:solidFill>
          <a:ln/>
        </p:spPr>
        <p:txBody>
          <a:bodyPr/>
          <a:lstStyle/>
          <a:p>
            <a:endParaRPr lang="en-US"/>
          </a:p>
        </p:txBody>
      </p:sp>
      <p:sp>
        <p:nvSpPr>
          <p:cNvPr id="12" name="bead"/>
          <p:cNvSpPr/>
          <p:nvPr/>
        </p:nvSpPr>
        <p:spPr>
          <a:xfrm>
            <a:off x="8314182" y="1494282"/>
            <a:ext cx="394716" cy="394716"/>
          </a:xfrm>
          <a:prstGeom prst="ellipse">
            <a:avLst/>
          </a:prstGeom>
          <a:solidFill>
            <a:schemeClr val="accent1">
              <a:alpha val="55000"/>
            </a:schemeClr>
          </a:solidFill>
          <a:ln/>
        </p:spPr>
        <p:txBody>
          <a:bodyPr/>
          <a:lstStyle/>
          <a:p>
            <a:endParaRPr lang="en-US"/>
          </a:p>
        </p:txBody>
      </p:sp>
      <p:sp>
        <p:nvSpPr>
          <p:cNvPr id="13" name="bead"/>
          <p:cNvSpPr/>
          <p:nvPr/>
        </p:nvSpPr>
        <p:spPr>
          <a:xfrm>
            <a:off x="8906256" y="1522476"/>
            <a:ext cx="338328" cy="338328"/>
          </a:xfrm>
          <a:prstGeom prst="ellipse">
            <a:avLst/>
          </a:prstGeom>
          <a:solidFill>
            <a:schemeClr val="accent1">
              <a:alpha val="45000"/>
            </a:schemeClr>
          </a:solidFill>
          <a:ln/>
        </p:spPr>
        <p:txBody>
          <a:bodyPr/>
          <a:lstStyle/>
          <a:p>
            <a:endParaRPr lang="en-US"/>
          </a:p>
        </p:txBody>
      </p:sp>
      <p:sp>
        <p:nvSpPr>
          <p:cNvPr id="14" name="bead"/>
          <p:cNvSpPr/>
          <p:nvPr/>
        </p:nvSpPr>
        <p:spPr>
          <a:xfrm>
            <a:off x="9540621" y="1592961"/>
            <a:ext cx="197358" cy="197358"/>
          </a:xfrm>
          <a:prstGeom prst="ellipse">
            <a:avLst/>
          </a:prstGeom>
          <a:solidFill>
            <a:schemeClr val="accent1">
              <a:alpha val="35000"/>
            </a:schemeClr>
          </a:solidFill>
          <a:ln/>
        </p:spPr>
        <p:txBody>
          <a:bodyPr/>
          <a:lstStyle/>
          <a:p>
            <a:endParaRPr lang="en-US"/>
          </a:p>
        </p:txBody>
      </p:sp>
      <p:sp>
        <p:nvSpPr>
          <p:cNvPr id="15" name="bead"/>
          <p:cNvSpPr/>
          <p:nvPr/>
        </p:nvSpPr>
        <p:spPr>
          <a:xfrm>
            <a:off x="10076307" y="1564767"/>
            <a:ext cx="253746" cy="253746"/>
          </a:xfrm>
          <a:prstGeom prst="ellipse">
            <a:avLst/>
          </a:prstGeom>
          <a:solidFill>
            <a:schemeClr val="accent1">
              <a:alpha val="25000"/>
            </a:schemeClr>
          </a:solidFill>
          <a:ln/>
        </p:spPr>
        <p:txBody>
          <a:bodyPr/>
          <a:lstStyle/>
          <a:p>
            <a:endParaRPr lang="en-US"/>
          </a:p>
        </p:txBody>
      </p:sp>
      <p:sp>
        <p:nvSpPr>
          <p:cNvPr id="16" name="bead"/>
          <p:cNvSpPr/>
          <p:nvPr/>
        </p:nvSpPr>
        <p:spPr>
          <a:xfrm>
            <a:off x="10513314" y="1437894"/>
            <a:ext cx="507492" cy="507492"/>
          </a:xfrm>
          <a:prstGeom prst="ellipse">
            <a:avLst/>
          </a:prstGeom>
          <a:solidFill>
            <a:schemeClr val="accent1"/>
          </a:solidFill>
          <a:ln/>
        </p:spPr>
        <p:txBody>
          <a:bodyPr/>
          <a:lstStyle/>
          <a:p>
            <a:endParaRPr lang="en-US"/>
          </a:p>
        </p:txBody>
      </p:sp>
      <p:sp>
        <p:nvSpPr>
          <p:cNvPr id="17" name="bead"/>
          <p:cNvSpPr/>
          <p:nvPr/>
        </p:nvSpPr>
        <p:spPr>
          <a:xfrm>
            <a:off x="11091291" y="1451991"/>
            <a:ext cx="479298" cy="479298"/>
          </a:xfrm>
          <a:prstGeom prst="ellipse">
            <a:avLst/>
          </a:prstGeom>
          <a:solidFill>
            <a:schemeClr val="accent1">
              <a:alpha val="85000"/>
            </a:schemeClr>
          </a:solidFill>
          <a:ln/>
        </p:spPr>
        <p:txBody>
          <a:bodyPr/>
          <a:lstStyle/>
          <a:p>
            <a:endParaRPr lang="en-US"/>
          </a:p>
        </p:txBody>
      </p:sp>
      <p:sp>
        <p:nvSpPr>
          <p:cNvPr id="18" name="bead"/>
          <p:cNvSpPr/>
          <p:nvPr/>
        </p:nvSpPr>
        <p:spPr>
          <a:xfrm>
            <a:off x="8384667" y="2143887"/>
            <a:ext cx="253746" cy="253746"/>
          </a:xfrm>
          <a:prstGeom prst="ellipse">
            <a:avLst/>
          </a:prstGeom>
          <a:solidFill>
            <a:schemeClr val="accent1">
              <a:alpha val="25000"/>
            </a:schemeClr>
          </a:solidFill>
          <a:ln/>
        </p:spPr>
        <p:txBody>
          <a:bodyPr/>
          <a:lstStyle/>
          <a:p>
            <a:endParaRPr lang="en-US"/>
          </a:p>
        </p:txBody>
      </p:sp>
      <p:sp>
        <p:nvSpPr>
          <p:cNvPr id="19" name="bead"/>
          <p:cNvSpPr/>
          <p:nvPr/>
        </p:nvSpPr>
        <p:spPr>
          <a:xfrm>
            <a:off x="8863965" y="2059305"/>
            <a:ext cx="422910" cy="422910"/>
          </a:xfrm>
          <a:prstGeom prst="ellipse">
            <a:avLst/>
          </a:prstGeom>
          <a:solidFill>
            <a:schemeClr val="accent1">
              <a:alpha val="70000"/>
            </a:schemeClr>
          </a:solidFill>
          <a:ln/>
        </p:spPr>
        <p:txBody>
          <a:bodyPr/>
          <a:lstStyle/>
          <a:p>
            <a:endParaRPr lang="en-US"/>
          </a:p>
        </p:txBody>
      </p:sp>
      <p:sp>
        <p:nvSpPr>
          <p:cNvPr id="20" name="bead"/>
          <p:cNvSpPr/>
          <p:nvPr/>
        </p:nvSpPr>
        <p:spPr>
          <a:xfrm>
            <a:off x="9540621" y="2172081"/>
            <a:ext cx="197358" cy="197358"/>
          </a:xfrm>
          <a:prstGeom prst="ellipse">
            <a:avLst/>
          </a:prstGeom>
          <a:solidFill>
            <a:schemeClr val="accent1">
              <a:alpha val="35000"/>
            </a:schemeClr>
          </a:solidFill>
          <a:ln/>
        </p:spPr>
        <p:txBody>
          <a:bodyPr/>
          <a:lstStyle/>
          <a:p>
            <a:endParaRPr lang="en-US"/>
          </a:p>
        </p:txBody>
      </p:sp>
      <p:sp>
        <p:nvSpPr>
          <p:cNvPr id="21" name="bead"/>
          <p:cNvSpPr/>
          <p:nvPr/>
        </p:nvSpPr>
        <p:spPr>
          <a:xfrm>
            <a:off x="9963531" y="2031111"/>
            <a:ext cx="479298" cy="479298"/>
          </a:xfrm>
          <a:prstGeom prst="ellipse">
            <a:avLst/>
          </a:prstGeom>
          <a:solidFill>
            <a:schemeClr val="accent1">
              <a:alpha val="85000"/>
            </a:schemeClr>
          </a:solidFill>
          <a:ln/>
        </p:spPr>
        <p:txBody>
          <a:bodyPr/>
          <a:lstStyle/>
          <a:p>
            <a:endParaRPr lang="en-US"/>
          </a:p>
        </p:txBody>
      </p:sp>
      <p:sp>
        <p:nvSpPr>
          <p:cNvPr id="22" name="bead"/>
          <p:cNvSpPr/>
          <p:nvPr/>
        </p:nvSpPr>
        <p:spPr>
          <a:xfrm>
            <a:off x="10597896" y="2101596"/>
            <a:ext cx="338328" cy="338328"/>
          </a:xfrm>
          <a:prstGeom prst="ellipse">
            <a:avLst/>
          </a:prstGeom>
          <a:solidFill>
            <a:schemeClr val="accent1">
              <a:alpha val="45000"/>
            </a:schemeClr>
          </a:solidFill>
          <a:ln/>
        </p:spPr>
        <p:txBody>
          <a:bodyPr/>
          <a:lstStyle/>
          <a:p>
            <a:endParaRPr lang="en-US"/>
          </a:p>
        </p:txBody>
      </p:sp>
      <p:sp>
        <p:nvSpPr>
          <p:cNvPr id="23" name="bead"/>
          <p:cNvSpPr/>
          <p:nvPr/>
        </p:nvSpPr>
        <p:spPr>
          <a:xfrm>
            <a:off x="11077194" y="2017014"/>
            <a:ext cx="507492" cy="507492"/>
          </a:xfrm>
          <a:prstGeom prst="ellipse">
            <a:avLst/>
          </a:prstGeom>
          <a:solidFill>
            <a:schemeClr val="accent1"/>
          </a:solidFill>
          <a:ln/>
        </p:spPr>
        <p:txBody>
          <a:bodyPr/>
          <a:lstStyle/>
          <a:p>
            <a:endParaRPr lang="en-US"/>
          </a:p>
        </p:txBody>
      </p:sp>
      <p:sp>
        <p:nvSpPr>
          <p:cNvPr id="24" name="bead"/>
          <p:cNvSpPr/>
          <p:nvPr/>
        </p:nvSpPr>
        <p:spPr>
          <a:xfrm>
            <a:off x="8300085" y="2638425"/>
            <a:ext cx="422910" cy="422910"/>
          </a:xfrm>
          <a:prstGeom prst="ellipse">
            <a:avLst/>
          </a:prstGeom>
          <a:solidFill>
            <a:schemeClr val="accent1">
              <a:alpha val="70000"/>
            </a:schemeClr>
          </a:solidFill>
          <a:ln/>
        </p:spPr>
        <p:txBody>
          <a:bodyPr/>
          <a:lstStyle/>
          <a:p>
            <a:endParaRPr lang="en-US"/>
          </a:p>
        </p:txBody>
      </p:sp>
      <p:sp>
        <p:nvSpPr>
          <p:cNvPr id="25" name="bead"/>
          <p:cNvSpPr/>
          <p:nvPr/>
        </p:nvSpPr>
        <p:spPr>
          <a:xfrm>
            <a:off x="8821674" y="2596134"/>
            <a:ext cx="507492" cy="507492"/>
          </a:xfrm>
          <a:prstGeom prst="ellipse">
            <a:avLst/>
          </a:prstGeom>
          <a:solidFill>
            <a:schemeClr val="accent1"/>
          </a:solidFill>
          <a:ln/>
        </p:spPr>
        <p:txBody>
          <a:bodyPr/>
          <a:lstStyle/>
          <a:p>
            <a:endParaRPr lang="en-US"/>
          </a:p>
        </p:txBody>
      </p:sp>
      <p:sp>
        <p:nvSpPr>
          <p:cNvPr id="26" name="bead"/>
          <p:cNvSpPr/>
          <p:nvPr/>
        </p:nvSpPr>
        <p:spPr>
          <a:xfrm>
            <a:off x="9540621" y="2751201"/>
            <a:ext cx="197358" cy="197358"/>
          </a:xfrm>
          <a:prstGeom prst="ellipse">
            <a:avLst/>
          </a:prstGeom>
          <a:solidFill>
            <a:schemeClr val="accent1">
              <a:alpha val="35000"/>
            </a:schemeClr>
          </a:solidFill>
          <a:ln/>
        </p:spPr>
        <p:txBody>
          <a:bodyPr/>
          <a:lstStyle/>
          <a:p>
            <a:endParaRPr lang="en-US"/>
          </a:p>
        </p:txBody>
      </p:sp>
      <p:sp>
        <p:nvSpPr>
          <p:cNvPr id="27" name="bead"/>
          <p:cNvSpPr/>
          <p:nvPr/>
        </p:nvSpPr>
        <p:spPr>
          <a:xfrm>
            <a:off x="10005822" y="2652522"/>
            <a:ext cx="394716" cy="394716"/>
          </a:xfrm>
          <a:prstGeom prst="ellipse">
            <a:avLst/>
          </a:prstGeom>
          <a:solidFill>
            <a:schemeClr val="accent1">
              <a:alpha val="55000"/>
            </a:schemeClr>
          </a:solidFill>
          <a:ln/>
        </p:spPr>
        <p:txBody>
          <a:bodyPr/>
          <a:lstStyle/>
          <a:p>
            <a:endParaRPr lang="en-US"/>
          </a:p>
        </p:txBody>
      </p:sp>
      <p:sp>
        <p:nvSpPr>
          <p:cNvPr id="28" name="bead"/>
          <p:cNvSpPr/>
          <p:nvPr/>
        </p:nvSpPr>
        <p:spPr>
          <a:xfrm>
            <a:off x="10527411" y="2610231"/>
            <a:ext cx="479298" cy="479298"/>
          </a:xfrm>
          <a:prstGeom prst="ellipse">
            <a:avLst/>
          </a:prstGeom>
          <a:solidFill>
            <a:schemeClr val="accent1">
              <a:alpha val="85000"/>
            </a:schemeClr>
          </a:solidFill>
          <a:ln/>
        </p:spPr>
        <p:txBody>
          <a:bodyPr/>
          <a:lstStyle/>
          <a:p>
            <a:endParaRPr lang="en-US"/>
          </a:p>
        </p:txBody>
      </p:sp>
      <p:sp>
        <p:nvSpPr>
          <p:cNvPr id="29" name="bead"/>
          <p:cNvSpPr/>
          <p:nvPr/>
        </p:nvSpPr>
        <p:spPr>
          <a:xfrm>
            <a:off x="11204067" y="2723007"/>
            <a:ext cx="253746" cy="253746"/>
          </a:xfrm>
          <a:prstGeom prst="ellipse">
            <a:avLst/>
          </a:prstGeom>
          <a:solidFill>
            <a:schemeClr val="accent1">
              <a:alpha val="25000"/>
            </a:schemeClr>
          </a:solidFill>
          <a:ln/>
        </p:spPr>
        <p:txBody>
          <a:bodyPr/>
          <a:lstStyle/>
          <a:p>
            <a:endParaRPr lang="en-US"/>
          </a:p>
        </p:txBody>
      </p:sp>
      <p:sp>
        <p:nvSpPr>
          <p:cNvPr id="30" name="bead"/>
          <p:cNvSpPr/>
          <p:nvPr/>
        </p:nvSpPr>
        <p:spPr>
          <a:xfrm>
            <a:off x="8412861" y="3330321"/>
            <a:ext cx="197358" cy="197358"/>
          </a:xfrm>
          <a:prstGeom prst="ellipse">
            <a:avLst/>
          </a:prstGeom>
          <a:solidFill>
            <a:schemeClr val="accent1">
              <a:alpha val="35000"/>
            </a:schemeClr>
          </a:solidFill>
          <a:ln/>
        </p:spPr>
        <p:txBody>
          <a:bodyPr/>
          <a:lstStyle/>
          <a:p>
            <a:endParaRPr lang="en-US"/>
          </a:p>
        </p:txBody>
      </p:sp>
      <p:sp>
        <p:nvSpPr>
          <p:cNvPr id="31" name="bead"/>
          <p:cNvSpPr/>
          <p:nvPr/>
        </p:nvSpPr>
        <p:spPr>
          <a:xfrm>
            <a:off x="8976741" y="3330321"/>
            <a:ext cx="197358" cy="197358"/>
          </a:xfrm>
          <a:prstGeom prst="ellipse">
            <a:avLst/>
          </a:prstGeom>
          <a:solidFill>
            <a:schemeClr val="accent1">
              <a:alpha val="35000"/>
            </a:schemeClr>
          </a:solidFill>
          <a:ln/>
        </p:spPr>
        <p:txBody>
          <a:bodyPr/>
          <a:lstStyle/>
          <a:p>
            <a:endParaRPr lang="en-US"/>
          </a:p>
        </p:txBody>
      </p:sp>
      <p:sp>
        <p:nvSpPr>
          <p:cNvPr id="32" name="bead"/>
          <p:cNvSpPr/>
          <p:nvPr/>
        </p:nvSpPr>
        <p:spPr>
          <a:xfrm>
            <a:off x="9540621" y="3330321"/>
            <a:ext cx="197358" cy="197358"/>
          </a:xfrm>
          <a:prstGeom prst="ellipse">
            <a:avLst/>
          </a:prstGeom>
          <a:solidFill>
            <a:schemeClr val="accent1">
              <a:alpha val="35000"/>
            </a:schemeClr>
          </a:solidFill>
          <a:ln/>
        </p:spPr>
        <p:txBody>
          <a:bodyPr/>
          <a:lstStyle/>
          <a:p>
            <a:endParaRPr lang="en-US"/>
          </a:p>
        </p:txBody>
      </p:sp>
      <p:sp>
        <p:nvSpPr>
          <p:cNvPr id="33" name="bead"/>
          <p:cNvSpPr/>
          <p:nvPr/>
        </p:nvSpPr>
        <p:spPr>
          <a:xfrm>
            <a:off x="10104501" y="3330321"/>
            <a:ext cx="197358" cy="197358"/>
          </a:xfrm>
          <a:prstGeom prst="ellipse">
            <a:avLst/>
          </a:prstGeom>
          <a:solidFill>
            <a:schemeClr val="accent1">
              <a:alpha val="35000"/>
            </a:schemeClr>
          </a:solidFill>
          <a:ln/>
        </p:spPr>
        <p:txBody>
          <a:bodyPr/>
          <a:lstStyle/>
          <a:p>
            <a:endParaRPr lang="en-US"/>
          </a:p>
        </p:txBody>
      </p:sp>
      <p:sp>
        <p:nvSpPr>
          <p:cNvPr id="34" name="bead"/>
          <p:cNvSpPr/>
          <p:nvPr/>
        </p:nvSpPr>
        <p:spPr>
          <a:xfrm>
            <a:off x="10668381" y="3330321"/>
            <a:ext cx="197358" cy="197358"/>
          </a:xfrm>
          <a:prstGeom prst="ellipse">
            <a:avLst/>
          </a:prstGeom>
          <a:solidFill>
            <a:schemeClr val="accent1">
              <a:alpha val="35000"/>
            </a:schemeClr>
          </a:solidFill>
          <a:ln/>
        </p:spPr>
        <p:txBody>
          <a:bodyPr/>
          <a:lstStyle/>
          <a:p>
            <a:endParaRPr lang="en-US"/>
          </a:p>
        </p:txBody>
      </p:sp>
      <p:sp>
        <p:nvSpPr>
          <p:cNvPr id="35" name="bead"/>
          <p:cNvSpPr/>
          <p:nvPr/>
        </p:nvSpPr>
        <p:spPr>
          <a:xfrm>
            <a:off x="11232261" y="3330321"/>
            <a:ext cx="197358" cy="197358"/>
          </a:xfrm>
          <a:prstGeom prst="ellipse">
            <a:avLst/>
          </a:prstGeom>
          <a:solidFill>
            <a:schemeClr val="accent1">
              <a:alpha val="35000"/>
            </a:schemeClr>
          </a:solidFill>
          <a:ln/>
        </p:spPr>
        <p:txBody>
          <a:bodyPr/>
          <a:lstStyle/>
          <a:p>
            <a:endParaRPr lang="en-US"/>
          </a:p>
        </p:txBody>
      </p:sp>
      <p:sp>
        <p:nvSpPr>
          <p:cNvPr id="36" name="bead"/>
          <p:cNvSpPr/>
          <p:nvPr/>
        </p:nvSpPr>
        <p:spPr>
          <a:xfrm>
            <a:off x="8370570" y="3867150"/>
            <a:ext cx="281940" cy="281940"/>
          </a:xfrm>
          <a:prstGeom prst="ellipse">
            <a:avLst/>
          </a:prstGeom>
          <a:solidFill>
            <a:schemeClr val="accent2">
              <a:alpha val="85000"/>
            </a:schemeClr>
          </a:solidFill>
          <a:ln/>
        </p:spPr>
        <p:txBody>
          <a:bodyPr/>
          <a:lstStyle/>
          <a:p>
            <a:endParaRPr lang="en-US"/>
          </a:p>
        </p:txBody>
      </p:sp>
      <p:sp>
        <p:nvSpPr>
          <p:cNvPr id="37" name="bead"/>
          <p:cNvSpPr/>
          <p:nvPr/>
        </p:nvSpPr>
        <p:spPr>
          <a:xfrm>
            <a:off x="8996477" y="3929177"/>
            <a:ext cx="157886" cy="157886"/>
          </a:xfrm>
          <a:prstGeom prst="ellipse">
            <a:avLst/>
          </a:prstGeom>
          <a:solidFill>
            <a:schemeClr val="accent2">
              <a:alpha val="55000"/>
            </a:schemeClr>
          </a:solidFill>
          <a:ln/>
        </p:spPr>
        <p:txBody>
          <a:bodyPr/>
          <a:lstStyle/>
          <a:p>
            <a:endParaRPr lang="en-US"/>
          </a:p>
        </p:txBody>
      </p:sp>
      <p:sp>
        <p:nvSpPr>
          <p:cNvPr id="38" name="bead"/>
          <p:cNvSpPr/>
          <p:nvPr/>
        </p:nvSpPr>
        <p:spPr>
          <a:xfrm>
            <a:off x="9526524" y="3895344"/>
            <a:ext cx="225552" cy="225552"/>
          </a:xfrm>
          <a:prstGeom prst="ellipse">
            <a:avLst/>
          </a:prstGeom>
          <a:solidFill>
            <a:schemeClr val="accent2">
              <a:alpha val="35000"/>
            </a:schemeClr>
          </a:solidFill>
          <a:ln/>
        </p:spPr>
        <p:txBody>
          <a:bodyPr/>
          <a:lstStyle/>
          <a:p>
            <a:endParaRPr lang="en-US"/>
          </a:p>
        </p:txBody>
      </p:sp>
      <p:sp>
        <p:nvSpPr>
          <p:cNvPr id="39" name="bead"/>
          <p:cNvSpPr/>
          <p:nvPr/>
        </p:nvSpPr>
        <p:spPr>
          <a:xfrm>
            <a:off x="10076307" y="3881247"/>
            <a:ext cx="253746" cy="253746"/>
          </a:xfrm>
          <a:prstGeom prst="ellipse">
            <a:avLst/>
          </a:prstGeom>
          <a:solidFill>
            <a:schemeClr val="accent2"/>
          </a:solidFill>
          <a:ln/>
        </p:spPr>
        <p:txBody>
          <a:bodyPr/>
          <a:lstStyle/>
          <a:p>
            <a:endParaRPr lang="en-US"/>
          </a:p>
        </p:txBody>
      </p:sp>
      <p:sp>
        <p:nvSpPr>
          <p:cNvPr id="40" name="bead"/>
          <p:cNvSpPr/>
          <p:nvPr/>
        </p:nvSpPr>
        <p:spPr>
          <a:xfrm>
            <a:off x="10682478" y="3923538"/>
            <a:ext cx="169164" cy="169164"/>
          </a:xfrm>
          <a:prstGeom prst="ellipse">
            <a:avLst/>
          </a:prstGeom>
          <a:solidFill>
            <a:schemeClr val="accent2">
              <a:alpha val="70000"/>
            </a:schemeClr>
          </a:solidFill>
          <a:ln/>
        </p:spPr>
        <p:txBody>
          <a:bodyPr/>
          <a:lstStyle/>
          <a:p>
            <a:endParaRPr lang="en-US"/>
          </a:p>
        </p:txBody>
      </p:sp>
      <p:sp>
        <p:nvSpPr>
          <p:cNvPr id="41" name="bead"/>
          <p:cNvSpPr/>
          <p:nvPr/>
        </p:nvSpPr>
        <p:spPr>
          <a:xfrm>
            <a:off x="11223803" y="3900983"/>
            <a:ext cx="214274" cy="214274"/>
          </a:xfrm>
          <a:prstGeom prst="ellipse">
            <a:avLst/>
          </a:prstGeom>
          <a:solidFill>
            <a:schemeClr val="accent2">
              <a:alpha val="45000"/>
            </a:schemeClr>
          </a:solidFill>
          <a:ln/>
        </p:spPr>
        <p:txBody>
          <a:bodyPr/>
          <a:lstStyle/>
          <a:p>
            <a:endParaRPr lang="en-US"/>
          </a:p>
        </p:txBody>
      </p:sp>
      <p:sp>
        <p:nvSpPr>
          <p:cNvPr id="42" name="bead"/>
          <p:cNvSpPr/>
          <p:nvPr/>
        </p:nvSpPr>
        <p:spPr>
          <a:xfrm>
            <a:off x="8404403" y="4480103"/>
            <a:ext cx="214274" cy="214274"/>
          </a:xfrm>
          <a:prstGeom prst="ellipse">
            <a:avLst/>
          </a:prstGeom>
          <a:solidFill>
            <a:schemeClr val="accent2">
              <a:alpha val="45000"/>
            </a:schemeClr>
          </a:solidFill>
          <a:ln/>
        </p:spPr>
        <p:txBody>
          <a:bodyPr/>
          <a:lstStyle/>
          <a:p>
            <a:endParaRPr lang="en-US"/>
          </a:p>
        </p:txBody>
      </p:sp>
      <p:sp>
        <p:nvSpPr>
          <p:cNvPr id="43" name="bead"/>
          <p:cNvSpPr/>
          <p:nvPr/>
        </p:nvSpPr>
        <p:spPr>
          <a:xfrm>
            <a:off x="8934450" y="4446270"/>
            <a:ext cx="281940" cy="281940"/>
          </a:xfrm>
          <a:prstGeom prst="ellipse">
            <a:avLst/>
          </a:prstGeom>
          <a:solidFill>
            <a:schemeClr val="accent2">
              <a:alpha val="85000"/>
            </a:schemeClr>
          </a:solidFill>
          <a:ln/>
        </p:spPr>
        <p:txBody>
          <a:bodyPr/>
          <a:lstStyle/>
          <a:p>
            <a:endParaRPr lang="en-US"/>
          </a:p>
        </p:txBody>
      </p:sp>
      <p:sp>
        <p:nvSpPr>
          <p:cNvPr id="44" name="bead"/>
          <p:cNvSpPr/>
          <p:nvPr/>
        </p:nvSpPr>
        <p:spPr>
          <a:xfrm>
            <a:off x="9526524" y="4474464"/>
            <a:ext cx="225552" cy="225552"/>
          </a:xfrm>
          <a:prstGeom prst="ellipse">
            <a:avLst/>
          </a:prstGeom>
          <a:solidFill>
            <a:schemeClr val="accent2">
              <a:alpha val="35000"/>
            </a:schemeClr>
          </a:solidFill>
          <a:ln/>
        </p:spPr>
        <p:txBody>
          <a:bodyPr/>
          <a:lstStyle/>
          <a:p>
            <a:endParaRPr lang="en-US"/>
          </a:p>
        </p:txBody>
      </p:sp>
      <p:sp>
        <p:nvSpPr>
          <p:cNvPr id="45" name="bead"/>
          <p:cNvSpPr/>
          <p:nvPr/>
        </p:nvSpPr>
        <p:spPr>
          <a:xfrm>
            <a:off x="10118598" y="4502658"/>
            <a:ext cx="169164" cy="169164"/>
          </a:xfrm>
          <a:prstGeom prst="ellipse">
            <a:avLst/>
          </a:prstGeom>
          <a:solidFill>
            <a:schemeClr val="accent2">
              <a:alpha val="70000"/>
            </a:schemeClr>
          </a:solidFill>
          <a:ln/>
        </p:spPr>
        <p:txBody>
          <a:bodyPr/>
          <a:lstStyle/>
          <a:p>
            <a:endParaRPr lang="en-US"/>
          </a:p>
        </p:txBody>
      </p:sp>
      <p:sp>
        <p:nvSpPr>
          <p:cNvPr id="46" name="bead"/>
          <p:cNvSpPr/>
          <p:nvPr/>
        </p:nvSpPr>
        <p:spPr>
          <a:xfrm>
            <a:off x="10705033" y="4525213"/>
            <a:ext cx="124054" cy="124054"/>
          </a:xfrm>
          <a:prstGeom prst="ellipse">
            <a:avLst/>
          </a:prstGeom>
          <a:solidFill>
            <a:schemeClr val="accent2">
              <a:alpha val="25000"/>
            </a:schemeClr>
          </a:solidFill>
          <a:ln/>
        </p:spPr>
        <p:txBody>
          <a:bodyPr/>
          <a:lstStyle/>
          <a:p>
            <a:endParaRPr lang="en-US"/>
          </a:p>
        </p:txBody>
      </p:sp>
      <p:sp>
        <p:nvSpPr>
          <p:cNvPr id="47" name="bead"/>
          <p:cNvSpPr/>
          <p:nvPr/>
        </p:nvSpPr>
        <p:spPr>
          <a:xfrm>
            <a:off x="11251997" y="4508297"/>
            <a:ext cx="157886" cy="157886"/>
          </a:xfrm>
          <a:prstGeom prst="ellipse">
            <a:avLst/>
          </a:prstGeom>
          <a:solidFill>
            <a:schemeClr val="accent2">
              <a:alpha val="55000"/>
            </a:schemeClr>
          </a:solidFill>
          <a:ln/>
        </p:spPr>
        <p:txBody>
          <a:bodyPr/>
          <a:lstStyle/>
          <a:p>
            <a:endParaRPr lang="en-US"/>
          </a:p>
        </p:txBody>
      </p:sp>
      <p:sp>
        <p:nvSpPr>
          <p:cNvPr id="48" name="bead"/>
          <p:cNvSpPr/>
          <p:nvPr/>
        </p:nvSpPr>
        <p:spPr>
          <a:xfrm>
            <a:off x="8384667" y="5039487"/>
            <a:ext cx="253746" cy="253746"/>
          </a:xfrm>
          <a:prstGeom prst="ellipse">
            <a:avLst/>
          </a:prstGeom>
          <a:solidFill>
            <a:schemeClr val="accent2"/>
          </a:solidFill>
          <a:ln/>
        </p:spPr>
        <p:txBody>
          <a:bodyPr/>
          <a:lstStyle/>
          <a:p>
            <a:endParaRPr lang="en-US"/>
          </a:p>
        </p:txBody>
      </p:sp>
      <p:sp>
        <p:nvSpPr>
          <p:cNvPr id="49" name="bead"/>
          <p:cNvSpPr/>
          <p:nvPr/>
        </p:nvSpPr>
        <p:spPr>
          <a:xfrm>
            <a:off x="9013393" y="5104333"/>
            <a:ext cx="124054" cy="124054"/>
          </a:xfrm>
          <a:prstGeom prst="ellipse">
            <a:avLst/>
          </a:prstGeom>
          <a:solidFill>
            <a:schemeClr val="accent2">
              <a:alpha val="25000"/>
            </a:schemeClr>
          </a:solidFill>
          <a:ln/>
        </p:spPr>
        <p:txBody>
          <a:bodyPr/>
          <a:lstStyle/>
          <a:p>
            <a:endParaRPr lang="en-US"/>
          </a:p>
        </p:txBody>
      </p:sp>
      <p:sp>
        <p:nvSpPr>
          <p:cNvPr id="50" name="bead"/>
          <p:cNvSpPr/>
          <p:nvPr/>
        </p:nvSpPr>
        <p:spPr>
          <a:xfrm>
            <a:off x="9526524" y="5053584"/>
            <a:ext cx="225552" cy="225552"/>
          </a:xfrm>
          <a:prstGeom prst="ellipse">
            <a:avLst/>
          </a:prstGeom>
          <a:solidFill>
            <a:schemeClr val="accent2">
              <a:alpha val="35000"/>
            </a:schemeClr>
          </a:solidFill>
          <a:ln/>
        </p:spPr>
        <p:txBody>
          <a:bodyPr/>
          <a:lstStyle/>
          <a:p>
            <a:endParaRPr lang="en-US"/>
          </a:p>
        </p:txBody>
      </p:sp>
      <p:sp>
        <p:nvSpPr>
          <p:cNvPr id="51" name="bead"/>
          <p:cNvSpPr/>
          <p:nvPr/>
        </p:nvSpPr>
        <p:spPr>
          <a:xfrm>
            <a:off x="10096043" y="5059223"/>
            <a:ext cx="214274" cy="214274"/>
          </a:xfrm>
          <a:prstGeom prst="ellipse">
            <a:avLst/>
          </a:prstGeom>
          <a:solidFill>
            <a:schemeClr val="accent2">
              <a:alpha val="45000"/>
            </a:schemeClr>
          </a:solidFill>
          <a:ln/>
        </p:spPr>
        <p:txBody>
          <a:bodyPr/>
          <a:lstStyle/>
          <a:p>
            <a:endParaRPr lang="en-US"/>
          </a:p>
        </p:txBody>
      </p:sp>
      <p:sp>
        <p:nvSpPr>
          <p:cNvPr id="52" name="bead"/>
          <p:cNvSpPr/>
          <p:nvPr/>
        </p:nvSpPr>
        <p:spPr>
          <a:xfrm>
            <a:off x="10688117" y="5087417"/>
            <a:ext cx="157886" cy="157886"/>
          </a:xfrm>
          <a:prstGeom prst="ellipse">
            <a:avLst/>
          </a:prstGeom>
          <a:solidFill>
            <a:schemeClr val="accent2">
              <a:alpha val="55000"/>
            </a:schemeClr>
          </a:solidFill>
          <a:ln/>
        </p:spPr>
        <p:txBody>
          <a:bodyPr/>
          <a:lstStyle/>
          <a:p>
            <a:endParaRPr lang="en-US"/>
          </a:p>
        </p:txBody>
      </p:sp>
      <p:sp>
        <p:nvSpPr>
          <p:cNvPr id="53" name="bead"/>
          <p:cNvSpPr/>
          <p:nvPr/>
        </p:nvSpPr>
        <p:spPr>
          <a:xfrm>
            <a:off x="11246358" y="5081778"/>
            <a:ext cx="169164" cy="169164"/>
          </a:xfrm>
          <a:prstGeom prst="ellipse">
            <a:avLst/>
          </a:prstGeom>
          <a:solidFill>
            <a:schemeClr val="accent2">
              <a:alpha val="70000"/>
            </a:schemeClr>
          </a:solidFill>
          <a:ln/>
        </p:spPr>
        <p:txBody>
          <a:bodyPr/>
          <a:lstStyle/>
          <a:p>
            <a:endParaRPr lang="en-US"/>
          </a:p>
        </p:txBody>
      </p:sp>
      <p:sp>
        <p:nvSpPr>
          <p:cNvPr id="54" name="bead"/>
          <p:cNvSpPr/>
          <p:nvPr/>
        </p:nvSpPr>
        <p:spPr>
          <a:xfrm>
            <a:off x="8432597" y="5666537"/>
            <a:ext cx="157886" cy="157886"/>
          </a:xfrm>
          <a:prstGeom prst="ellipse">
            <a:avLst/>
          </a:prstGeom>
          <a:solidFill>
            <a:schemeClr val="accent2">
              <a:alpha val="55000"/>
            </a:schemeClr>
          </a:solidFill>
          <a:ln/>
        </p:spPr>
        <p:txBody>
          <a:bodyPr/>
          <a:lstStyle/>
          <a:p>
            <a:endParaRPr lang="en-US"/>
          </a:p>
        </p:txBody>
      </p:sp>
      <p:sp>
        <p:nvSpPr>
          <p:cNvPr id="55" name="bead"/>
          <p:cNvSpPr/>
          <p:nvPr/>
        </p:nvSpPr>
        <p:spPr>
          <a:xfrm>
            <a:off x="8968283" y="5638343"/>
            <a:ext cx="214274" cy="214274"/>
          </a:xfrm>
          <a:prstGeom prst="ellipse">
            <a:avLst/>
          </a:prstGeom>
          <a:solidFill>
            <a:schemeClr val="accent2">
              <a:alpha val="45000"/>
            </a:schemeClr>
          </a:solidFill>
          <a:ln/>
        </p:spPr>
        <p:txBody>
          <a:bodyPr/>
          <a:lstStyle/>
          <a:p>
            <a:endParaRPr lang="en-US"/>
          </a:p>
        </p:txBody>
      </p:sp>
      <p:sp>
        <p:nvSpPr>
          <p:cNvPr id="56" name="bead"/>
          <p:cNvSpPr/>
          <p:nvPr/>
        </p:nvSpPr>
        <p:spPr>
          <a:xfrm>
            <a:off x="9526524" y="5632704"/>
            <a:ext cx="225552" cy="225552"/>
          </a:xfrm>
          <a:prstGeom prst="ellipse">
            <a:avLst/>
          </a:prstGeom>
          <a:solidFill>
            <a:schemeClr val="accent2">
              <a:alpha val="35000"/>
            </a:schemeClr>
          </a:solidFill>
          <a:ln/>
        </p:spPr>
        <p:txBody>
          <a:bodyPr/>
          <a:lstStyle/>
          <a:p>
            <a:endParaRPr lang="en-US"/>
          </a:p>
        </p:txBody>
      </p:sp>
      <p:sp>
        <p:nvSpPr>
          <p:cNvPr id="57" name="bead"/>
          <p:cNvSpPr/>
          <p:nvPr/>
        </p:nvSpPr>
        <p:spPr>
          <a:xfrm>
            <a:off x="10141153" y="5683453"/>
            <a:ext cx="124054" cy="124054"/>
          </a:xfrm>
          <a:prstGeom prst="ellipse">
            <a:avLst/>
          </a:prstGeom>
          <a:solidFill>
            <a:schemeClr val="accent2">
              <a:alpha val="25000"/>
            </a:schemeClr>
          </a:solidFill>
          <a:ln/>
        </p:spPr>
        <p:txBody>
          <a:bodyPr/>
          <a:lstStyle/>
          <a:p>
            <a:endParaRPr lang="en-US"/>
          </a:p>
        </p:txBody>
      </p:sp>
      <p:sp>
        <p:nvSpPr>
          <p:cNvPr id="58" name="bead"/>
          <p:cNvSpPr/>
          <p:nvPr/>
        </p:nvSpPr>
        <p:spPr>
          <a:xfrm>
            <a:off x="10640187" y="5618607"/>
            <a:ext cx="253746" cy="253746"/>
          </a:xfrm>
          <a:prstGeom prst="ellipse">
            <a:avLst/>
          </a:prstGeom>
          <a:solidFill>
            <a:schemeClr val="accent2"/>
          </a:solidFill>
          <a:ln/>
        </p:spPr>
        <p:txBody>
          <a:bodyPr/>
          <a:lstStyle/>
          <a:p>
            <a:endParaRPr lang="en-US"/>
          </a:p>
        </p:txBody>
      </p:sp>
      <p:sp>
        <p:nvSpPr>
          <p:cNvPr id="59" name="bead"/>
          <p:cNvSpPr/>
          <p:nvPr/>
        </p:nvSpPr>
        <p:spPr>
          <a:xfrm>
            <a:off x="11189970" y="5604510"/>
            <a:ext cx="281940" cy="28194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Agenda and learning outcomes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Three modules, from how AI apps are built to how to pick the right model</a:t>
            </a:r>
            <a:endParaRPr lang="en-US" sz="1600" dirty="0"/>
          </a:p>
        </p:txBody>
      </p:sp>
      <p:sp>
        <p:nvSpPr>
          <p:cNvPr id="4" name="module-card"/>
          <p:cNvSpPr/>
          <p:nvPr/>
        </p:nvSpPr>
        <p:spPr>
          <a:xfrm>
            <a:off x="548640" y="1600200"/>
            <a:ext cx="3520440" cy="3520440"/>
          </a:xfrm>
          <a:prstGeom prst="roundRect">
            <a:avLst>
              <a:gd name="adj" fmla="val 2078"/>
            </a:avLst>
          </a:prstGeom>
          <a:solidFill>
            <a:schemeClr val="bg2"/>
          </a:solidFill>
          <a:ln/>
        </p:spPr>
        <p:txBody>
          <a:bodyPr/>
          <a:lstStyle/>
          <a:p>
            <a:endParaRPr lang="en-US"/>
          </a:p>
        </p:txBody>
      </p:sp>
      <p:sp>
        <p:nvSpPr>
          <p:cNvPr id="5" name="Text 3"/>
          <p:cNvSpPr txBox="1"/>
          <p:nvPr/>
        </p:nvSpPr>
        <p:spPr>
          <a:xfrm>
            <a:off x="82296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01</a:t>
            </a:r>
            <a:endParaRPr lang="en-US" sz="4000" dirty="0"/>
          </a:p>
        </p:txBody>
      </p:sp>
      <p:sp>
        <p:nvSpPr>
          <p:cNvPr id="6" name="icon-chip"/>
          <p:cNvSpPr/>
          <p:nvPr/>
        </p:nvSpPr>
        <p:spPr>
          <a:xfrm>
            <a:off x="3291840" y="1828800"/>
            <a:ext cx="566928" cy="566928"/>
          </a:xfrm>
          <a:prstGeom prst="ellipse">
            <a:avLst/>
          </a:prstGeom>
          <a:solidFill>
            <a:schemeClr val="tx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416564" y="1953524"/>
            <a:ext cx="317480" cy="317480"/>
          </a:xfrm>
          <a:prstGeom prst="rect">
            <a:avLst/>
          </a:prstGeom>
        </p:spPr>
      </p:pic>
      <p:sp>
        <p:nvSpPr>
          <p:cNvPr id="8" name="Text 5"/>
          <p:cNvSpPr txBox="1"/>
          <p:nvPr/>
        </p:nvSpPr>
        <p:spPr>
          <a:xfrm>
            <a:off x="82296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Build and deploy</a:t>
            </a:r>
            <a:endParaRPr lang="en-US" sz="2000" dirty="0"/>
          </a:p>
        </p:txBody>
      </p:sp>
      <p:sp>
        <p:nvSpPr>
          <p:cNvPr id="9" name="Text 6"/>
          <p:cNvSpPr txBox="1"/>
          <p:nvPr/>
        </p:nvSpPr>
        <p:spPr>
          <a:xfrm>
            <a:off x="82296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What makes AI 'enterprise'</a:t>
            </a:r>
            <a:endParaRPr lang="en-US" sz="1500" dirty="0"/>
          </a:p>
          <a:p>
            <a:pPr marL="342900" indent="-342900">
              <a:spcAft>
                <a:spcPts val="500"/>
              </a:spcAft>
              <a:buSzPct val="100000"/>
              <a:buChar char="•"/>
            </a:pPr>
            <a:r>
              <a:rPr lang="en-US" sz="1500" dirty="0">
                <a:solidFill>
                  <a:schemeClr val="tx2"/>
                </a:solidFill>
              </a:rPr>
              <a:t>Reference architecture</a:t>
            </a:r>
            <a:endParaRPr lang="en-US" sz="1500" dirty="0"/>
          </a:p>
          <a:p>
            <a:pPr marL="342900" indent="-342900">
              <a:spcAft>
                <a:spcPts val="500"/>
              </a:spcAft>
              <a:buSzPct val="100000"/>
              <a:buChar char="•"/>
            </a:pPr>
            <a:r>
              <a:rPr lang="en-US" sz="1500" dirty="0">
                <a:solidFill>
                  <a:schemeClr val="tx2"/>
                </a:solidFill>
              </a:rPr>
              <a:t>Lifecycle and adaptation patterns</a:t>
            </a:r>
            <a:endParaRPr lang="en-US" sz="1500" dirty="0"/>
          </a:p>
          <a:p>
            <a:pPr marL="342900" indent="-342900">
              <a:spcAft>
                <a:spcPts val="500"/>
              </a:spcAft>
              <a:buSzPct val="100000"/>
              <a:buChar char="•"/>
            </a:pPr>
            <a:r>
              <a:rPr lang="en-US" sz="1500" dirty="0">
                <a:solidFill>
                  <a:schemeClr val="tx2"/>
                </a:solidFill>
              </a:rPr>
              <a:t>Deployment options and LLMOps</a:t>
            </a:r>
            <a:endParaRPr lang="en-US" sz="1500" dirty="0"/>
          </a:p>
        </p:txBody>
      </p:sp>
      <p:sp>
        <p:nvSpPr>
          <p:cNvPr id="10" name="Text 7"/>
          <p:cNvSpPr txBox="1"/>
          <p:nvPr/>
        </p:nvSpPr>
        <p:spPr>
          <a:xfrm>
            <a:off x="82296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~45 min</a:t>
            </a:r>
            <a:endParaRPr lang="en-US" sz="1400" dirty="0"/>
          </a:p>
        </p:txBody>
      </p:sp>
      <p:sp>
        <p:nvSpPr>
          <p:cNvPr id="11" name="module-card"/>
          <p:cNvSpPr/>
          <p:nvPr/>
        </p:nvSpPr>
        <p:spPr>
          <a:xfrm>
            <a:off x="4297680" y="1600200"/>
            <a:ext cx="3520440" cy="3520440"/>
          </a:xfrm>
          <a:prstGeom prst="roundRect">
            <a:avLst>
              <a:gd name="adj" fmla="val 2078"/>
            </a:avLst>
          </a:prstGeom>
          <a:solidFill>
            <a:schemeClr val="bg2"/>
          </a:solidFill>
          <a:ln/>
        </p:spPr>
        <p:txBody>
          <a:bodyPr/>
          <a:lstStyle/>
          <a:p>
            <a:endParaRPr lang="en-US"/>
          </a:p>
        </p:txBody>
      </p:sp>
      <p:sp>
        <p:nvSpPr>
          <p:cNvPr id="12" name="Text 9"/>
          <p:cNvSpPr txBox="1"/>
          <p:nvPr/>
        </p:nvSpPr>
        <p:spPr>
          <a:xfrm>
            <a:off x="457200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02</a:t>
            </a:r>
            <a:endParaRPr lang="en-US" sz="4000" dirty="0"/>
          </a:p>
        </p:txBody>
      </p:sp>
      <p:sp>
        <p:nvSpPr>
          <p:cNvPr id="13" name="icon-chip"/>
          <p:cNvSpPr/>
          <p:nvPr/>
        </p:nvSpPr>
        <p:spPr>
          <a:xfrm>
            <a:off x="7040880" y="1828800"/>
            <a:ext cx="566928" cy="566928"/>
          </a:xfrm>
          <a:prstGeom prst="ellipse">
            <a:avLst/>
          </a:prstGeom>
          <a:solidFill>
            <a:schemeClr val="tx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7165604" y="1953524"/>
            <a:ext cx="317480" cy="317480"/>
          </a:xfrm>
          <a:prstGeom prst="rect">
            <a:avLst/>
          </a:prstGeom>
        </p:spPr>
      </p:pic>
      <p:sp>
        <p:nvSpPr>
          <p:cNvPr id="15" name="Text 11"/>
          <p:cNvSpPr txBox="1"/>
          <p:nvPr/>
        </p:nvSpPr>
        <p:spPr>
          <a:xfrm>
            <a:off x="457200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Understand the models</a:t>
            </a:r>
            <a:endParaRPr lang="en-US" sz="2000" dirty="0"/>
          </a:p>
        </p:txBody>
      </p:sp>
      <p:sp>
        <p:nvSpPr>
          <p:cNvPr id="16" name="Text 12"/>
          <p:cNvSpPr txBox="1"/>
          <p:nvPr/>
        </p:nvSpPr>
        <p:spPr>
          <a:xfrm>
            <a:off x="457200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How language models work</a:t>
            </a:r>
            <a:endParaRPr lang="en-US" sz="1500" dirty="0"/>
          </a:p>
          <a:p>
            <a:pPr marL="342900" indent="-342900">
              <a:spcAft>
                <a:spcPts val="500"/>
              </a:spcAft>
              <a:buSzPct val="100000"/>
              <a:buChar char="•"/>
            </a:pPr>
            <a:r>
              <a:rPr lang="en-US" sz="1500" dirty="0">
                <a:solidFill>
                  <a:schemeClr val="tx2"/>
                </a:solidFill>
              </a:rPr>
              <a:t>Large language models (LLMs)</a:t>
            </a:r>
            <a:endParaRPr lang="en-US" sz="1500" dirty="0"/>
          </a:p>
          <a:p>
            <a:pPr marL="342900" indent="-342900">
              <a:spcAft>
                <a:spcPts val="500"/>
              </a:spcAft>
              <a:buSzPct val="100000"/>
              <a:buChar char="•"/>
            </a:pPr>
            <a:r>
              <a:rPr lang="en-US" sz="1500" dirty="0">
                <a:solidFill>
                  <a:schemeClr val="tx2"/>
                </a:solidFill>
              </a:rPr>
              <a:t>Small language models (SLMs)</a:t>
            </a:r>
            <a:endParaRPr lang="en-US" sz="1500" dirty="0"/>
          </a:p>
        </p:txBody>
      </p:sp>
      <p:sp>
        <p:nvSpPr>
          <p:cNvPr id="17" name="Text 13"/>
          <p:cNvSpPr txBox="1"/>
          <p:nvPr/>
        </p:nvSpPr>
        <p:spPr>
          <a:xfrm>
            <a:off x="457200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~30 min</a:t>
            </a:r>
            <a:endParaRPr lang="en-US" sz="1400" dirty="0"/>
          </a:p>
        </p:txBody>
      </p:sp>
      <p:sp>
        <p:nvSpPr>
          <p:cNvPr id="18" name="module-card"/>
          <p:cNvSpPr/>
          <p:nvPr/>
        </p:nvSpPr>
        <p:spPr>
          <a:xfrm>
            <a:off x="8046720" y="1600200"/>
            <a:ext cx="3520440" cy="3520440"/>
          </a:xfrm>
          <a:prstGeom prst="roundRect">
            <a:avLst>
              <a:gd name="adj" fmla="val 2078"/>
            </a:avLst>
          </a:prstGeom>
          <a:solidFill>
            <a:schemeClr val="bg2"/>
          </a:solidFill>
          <a:ln/>
        </p:spPr>
        <p:txBody>
          <a:bodyPr/>
          <a:lstStyle/>
          <a:p>
            <a:endParaRPr lang="en-US"/>
          </a:p>
        </p:txBody>
      </p:sp>
      <p:sp>
        <p:nvSpPr>
          <p:cNvPr id="19" name="Text 15"/>
          <p:cNvSpPr txBox="1"/>
          <p:nvPr/>
        </p:nvSpPr>
        <p:spPr>
          <a:xfrm>
            <a:off x="832104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03</a:t>
            </a:r>
            <a:endParaRPr lang="en-US" sz="4000" dirty="0"/>
          </a:p>
        </p:txBody>
      </p:sp>
      <p:sp>
        <p:nvSpPr>
          <p:cNvPr id="20" name="icon-chip"/>
          <p:cNvSpPr/>
          <p:nvPr/>
        </p:nvSpPr>
        <p:spPr>
          <a:xfrm>
            <a:off x="10789920" y="1828800"/>
            <a:ext cx="566928" cy="566928"/>
          </a:xfrm>
          <a:prstGeom prst="ellipse">
            <a:avLst/>
          </a:prstGeom>
          <a:solidFill>
            <a:schemeClr val="tx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10914644" y="1953524"/>
            <a:ext cx="317480" cy="317480"/>
          </a:xfrm>
          <a:prstGeom prst="rect">
            <a:avLst/>
          </a:prstGeom>
        </p:spPr>
      </p:pic>
      <p:sp>
        <p:nvSpPr>
          <p:cNvPr id="22" name="Text 17"/>
          <p:cNvSpPr txBox="1"/>
          <p:nvPr/>
        </p:nvSpPr>
        <p:spPr>
          <a:xfrm>
            <a:off x="832104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Compare and choose</a:t>
            </a:r>
            <a:endParaRPr lang="en-US" sz="2000" dirty="0"/>
          </a:p>
        </p:txBody>
      </p:sp>
      <p:sp>
        <p:nvSpPr>
          <p:cNvPr id="23" name="Text 18"/>
          <p:cNvSpPr txBox="1"/>
          <p:nvPr/>
        </p:nvSpPr>
        <p:spPr>
          <a:xfrm>
            <a:off x="832104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Five-dimension comparison</a:t>
            </a:r>
            <a:endParaRPr lang="en-US" sz="1500" dirty="0"/>
          </a:p>
          <a:p>
            <a:pPr marL="342900" indent="-342900">
              <a:spcAft>
                <a:spcPts val="500"/>
              </a:spcAft>
              <a:buSzPct val="100000"/>
              <a:buChar char="•"/>
            </a:pPr>
            <a:r>
              <a:rPr lang="en-US" sz="1500" dirty="0">
                <a:solidFill>
                  <a:schemeClr val="tx2"/>
                </a:solidFill>
              </a:rPr>
              <a:t>Infrastructure, cost, latency</a:t>
            </a:r>
            <a:endParaRPr lang="en-US" sz="1500" dirty="0"/>
          </a:p>
          <a:p>
            <a:pPr marL="342900" indent="-342900">
              <a:spcAft>
                <a:spcPts val="500"/>
              </a:spcAft>
              <a:buSzPct val="100000"/>
              <a:buChar char="•"/>
            </a:pPr>
            <a:r>
              <a:rPr lang="en-US" sz="1500" dirty="0">
                <a:solidFill>
                  <a:schemeClr val="tx2"/>
                </a:solidFill>
              </a:rPr>
              <a:t>Business fit and hybrid routing</a:t>
            </a:r>
            <a:endParaRPr lang="en-US" sz="1500" dirty="0"/>
          </a:p>
        </p:txBody>
      </p:sp>
      <p:sp>
        <p:nvSpPr>
          <p:cNvPr id="24" name="Text 19"/>
          <p:cNvSpPr txBox="1"/>
          <p:nvPr/>
        </p:nvSpPr>
        <p:spPr>
          <a:xfrm>
            <a:off x="832104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~30 min</a:t>
            </a:r>
            <a:endParaRPr lang="en-US" sz="1400" dirty="0"/>
          </a:p>
        </p:txBody>
      </p:sp>
      <p:sp>
        <p:nvSpPr>
          <p:cNvPr id="25" name="callout"/>
          <p:cNvSpPr/>
          <p:nvPr/>
        </p:nvSpPr>
        <p:spPr>
          <a:xfrm>
            <a:off x="548640" y="5349240"/>
            <a:ext cx="11018520" cy="777240"/>
          </a:xfrm>
          <a:prstGeom prst="roundRect">
            <a:avLst>
              <a:gd name="adj" fmla="val 9412"/>
            </a:avLst>
          </a:prstGeom>
          <a:solidFill>
            <a:schemeClr val="tx1"/>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777240" y="5554980"/>
            <a:ext cx="365760" cy="365760"/>
          </a:xfrm>
          <a:prstGeom prst="rect">
            <a:avLst/>
          </a:prstGeom>
        </p:spPr>
      </p:pic>
      <p:sp>
        <p:nvSpPr>
          <p:cNvPr id="27" name="Text 21"/>
          <p:cNvSpPr txBox="1"/>
          <p:nvPr/>
        </p:nvSpPr>
        <p:spPr>
          <a:xfrm>
            <a:off x="1325880" y="5349240"/>
            <a:ext cx="10012680" cy="777240"/>
          </a:xfrm>
          <a:prstGeom prst="rect">
            <a:avLst/>
          </a:prstGeom>
          <a:noFill/>
          <a:ln/>
        </p:spPr>
        <p:txBody>
          <a:bodyPr wrap="square" lIns="0" tIns="0" rIns="0" bIns="0" rtlCol="0" anchor="ctr"/>
          <a:lstStyle/>
          <a:p>
            <a:pPr marL="0" indent="0">
              <a:buNone/>
            </a:pPr>
            <a:r>
              <a:rPr lang="en-US" sz="1500" b="1" dirty="0">
                <a:solidFill>
                  <a:schemeClr val="accent3"/>
                </a:solidFill>
              </a:rPr>
              <a:t>Outcome: </a:t>
            </a:r>
            <a:r>
              <a:rPr lang="en-US" sz="1500" dirty="0">
                <a:solidFill>
                  <a:schemeClr val="bg1"/>
                </a:solidFill>
              </a:rPr>
              <a:t>sketch a production AI architecture, explain LLMs and SLMs, and recommend LLM, SLM or hybrid for a real use case with justified trade-offs.</a:t>
            </a:r>
            <a:endParaRPr lang="en-US" sz="15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01</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How enterprise AI applications are built and deployed</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From a promising demo to a governed, observable production system</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Enterprise AI is a system, not just a model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Six requirements that separate a demo from a production application</a:t>
            </a:r>
            <a:endParaRPr lang="en-US" sz="1600" dirty="0"/>
          </a:p>
        </p:txBody>
      </p:sp>
      <p:sp>
        <p:nvSpPr>
          <p:cNvPr id="4" name="req-card"/>
          <p:cNvSpPr/>
          <p:nvPr/>
        </p:nvSpPr>
        <p:spPr>
          <a:xfrm>
            <a:off x="548640" y="1645920"/>
            <a:ext cx="3520440" cy="2057400"/>
          </a:xfrm>
          <a:prstGeom prst="roundRect">
            <a:avLst>
              <a:gd name="adj" fmla="val 3556"/>
            </a:avLst>
          </a:prstGeom>
          <a:solidFill>
            <a:schemeClr val="bg2"/>
          </a:solidFill>
          <a:ln/>
        </p:spPr>
        <p:txBody>
          <a:bodyPr/>
          <a:lstStyle/>
          <a:p>
            <a:endParaRPr lang="en-US"/>
          </a:p>
        </p:txBody>
      </p:sp>
      <p:sp>
        <p:nvSpPr>
          <p:cNvPr id="5" name="icon-chip"/>
          <p:cNvSpPr/>
          <p:nvPr/>
        </p:nvSpPr>
        <p:spPr>
          <a:xfrm>
            <a:off x="822960" y="1920240"/>
            <a:ext cx="566928" cy="566928"/>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7684" y="2044964"/>
            <a:ext cx="317480" cy="317480"/>
          </a:xfrm>
          <a:prstGeom prst="rect">
            <a:avLst/>
          </a:prstGeom>
        </p:spPr>
      </p:pic>
      <p:sp>
        <p:nvSpPr>
          <p:cNvPr id="7" name="Text 4"/>
          <p:cNvSpPr txBox="1"/>
          <p:nvPr/>
        </p:nvSpPr>
        <p:spPr>
          <a:xfrm>
            <a:off x="155448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Security and privacy</a:t>
            </a:r>
            <a:endParaRPr lang="en-US" sz="1800" dirty="0"/>
          </a:p>
        </p:txBody>
      </p:sp>
      <p:sp>
        <p:nvSpPr>
          <p:cNvPr id="8" name="Text 5"/>
          <p:cNvSpPr txBox="1"/>
          <p:nvPr/>
        </p:nvSpPr>
        <p:spPr>
          <a:xfrm>
            <a:off x="82296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Protect sensitive data, prompts and outputs; enforce identity and access control.</a:t>
            </a:r>
            <a:endParaRPr lang="en-US" sz="1500" dirty="0"/>
          </a:p>
        </p:txBody>
      </p:sp>
      <p:sp>
        <p:nvSpPr>
          <p:cNvPr id="9" name="req-card"/>
          <p:cNvSpPr/>
          <p:nvPr/>
        </p:nvSpPr>
        <p:spPr>
          <a:xfrm>
            <a:off x="4297680" y="1645920"/>
            <a:ext cx="3520440" cy="2057400"/>
          </a:xfrm>
          <a:prstGeom prst="roundRect">
            <a:avLst>
              <a:gd name="adj" fmla="val 3556"/>
            </a:avLst>
          </a:prstGeom>
          <a:solidFill>
            <a:schemeClr val="bg2"/>
          </a:solidFill>
          <a:ln/>
        </p:spPr>
        <p:txBody>
          <a:bodyPr/>
          <a:lstStyle/>
          <a:p>
            <a:endParaRPr lang="en-US"/>
          </a:p>
        </p:txBody>
      </p:sp>
      <p:sp>
        <p:nvSpPr>
          <p:cNvPr id="10" name="icon-chip"/>
          <p:cNvSpPr/>
          <p:nvPr/>
        </p:nvSpPr>
        <p:spPr>
          <a:xfrm>
            <a:off x="4572000" y="1920240"/>
            <a:ext cx="566928" cy="566928"/>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696724" y="2044964"/>
            <a:ext cx="317480" cy="317480"/>
          </a:xfrm>
          <a:prstGeom prst="rect">
            <a:avLst/>
          </a:prstGeom>
        </p:spPr>
      </p:pic>
      <p:sp>
        <p:nvSpPr>
          <p:cNvPr id="12" name="Text 8"/>
          <p:cNvSpPr txBox="1"/>
          <p:nvPr/>
        </p:nvSpPr>
        <p:spPr>
          <a:xfrm>
            <a:off x="530352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Integration</a:t>
            </a:r>
            <a:endParaRPr lang="en-US" sz="1800" dirty="0"/>
          </a:p>
        </p:txBody>
      </p:sp>
      <p:sp>
        <p:nvSpPr>
          <p:cNvPr id="13" name="Text 9"/>
          <p:cNvSpPr txBox="1"/>
          <p:nvPr/>
        </p:nvSpPr>
        <p:spPr>
          <a:xfrm>
            <a:off x="457200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Connect to ERP, CRM, document stores, ticketing and existing workflows.</a:t>
            </a:r>
            <a:endParaRPr lang="en-US" sz="1500" dirty="0"/>
          </a:p>
        </p:txBody>
      </p:sp>
      <p:sp>
        <p:nvSpPr>
          <p:cNvPr id="14" name="req-card"/>
          <p:cNvSpPr/>
          <p:nvPr/>
        </p:nvSpPr>
        <p:spPr>
          <a:xfrm>
            <a:off x="8046720" y="1645920"/>
            <a:ext cx="3520440" cy="2057400"/>
          </a:xfrm>
          <a:prstGeom prst="roundRect">
            <a:avLst>
              <a:gd name="adj" fmla="val 3556"/>
            </a:avLst>
          </a:prstGeom>
          <a:solidFill>
            <a:schemeClr val="bg2"/>
          </a:solidFill>
          <a:ln/>
        </p:spPr>
        <p:txBody>
          <a:bodyPr/>
          <a:lstStyle/>
          <a:p>
            <a:endParaRPr lang="en-US"/>
          </a:p>
        </p:txBody>
      </p:sp>
      <p:sp>
        <p:nvSpPr>
          <p:cNvPr id="15" name="icon-chip"/>
          <p:cNvSpPr/>
          <p:nvPr/>
        </p:nvSpPr>
        <p:spPr>
          <a:xfrm>
            <a:off x="8321040" y="1920240"/>
            <a:ext cx="566928" cy="566928"/>
          </a:xfrm>
          <a:prstGeom prst="ellipse">
            <a:avLst/>
          </a:prstGeom>
          <a:solidFill>
            <a:schemeClr val="accent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445764" y="2044964"/>
            <a:ext cx="317480" cy="317480"/>
          </a:xfrm>
          <a:prstGeom prst="rect">
            <a:avLst/>
          </a:prstGeom>
        </p:spPr>
      </p:pic>
      <p:sp>
        <p:nvSpPr>
          <p:cNvPr id="17" name="Text 12"/>
          <p:cNvSpPr txBox="1"/>
          <p:nvPr/>
        </p:nvSpPr>
        <p:spPr>
          <a:xfrm>
            <a:off x="905256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Governance and compliance</a:t>
            </a:r>
            <a:endParaRPr lang="en-US" sz="1800" dirty="0"/>
          </a:p>
        </p:txBody>
      </p:sp>
      <p:sp>
        <p:nvSpPr>
          <p:cNvPr id="18" name="Text 13"/>
          <p:cNvSpPr txBox="1"/>
          <p:nvPr/>
        </p:nvSpPr>
        <p:spPr>
          <a:xfrm>
            <a:off x="832104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Audit trails, model approval, responsible-AI and regulatory obligations.</a:t>
            </a:r>
            <a:endParaRPr lang="en-US" sz="1500" dirty="0"/>
          </a:p>
        </p:txBody>
      </p:sp>
      <p:sp>
        <p:nvSpPr>
          <p:cNvPr id="19" name="req-card"/>
          <p:cNvSpPr/>
          <p:nvPr/>
        </p:nvSpPr>
        <p:spPr>
          <a:xfrm>
            <a:off x="548640" y="3931920"/>
            <a:ext cx="3520440" cy="2057400"/>
          </a:xfrm>
          <a:prstGeom prst="roundRect">
            <a:avLst>
              <a:gd name="adj" fmla="val 3556"/>
            </a:avLst>
          </a:prstGeom>
          <a:solidFill>
            <a:schemeClr val="bg2"/>
          </a:solidFill>
          <a:ln/>
        </p:spPr>
        <p:txBody>
          <a:bodyPr/>
          <a:lstStyle/>
          <a:p>
            <a:endParaRPr lang="en-US"/>
          </a:p>
        </p:txBody>
      </p:sp>
      <p:sp>
        <p:nvSpPr>
          <p:cNvPr id="20" name="icon-chip"/>
          <p:cNvSpPr/>
          <p:nvPr/>
        </p:nvSpPr>
        <p:spPr>
          <a:xfrm>
            <a:off x="822960" y="4206240"/>
            <a:ext cx="566928" cy="566928"/>
          </a:xfrm>
          <a:prstGeom prst="ellipse">
            <a:avLst/>
          </a:prstGeom>
          <a:solidFill>
            <a:schemeClr val="accent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7684" y="4330964"/>
            <a:ext cx="317480" cy="317480"/>
          </a:xfrm>
          <a:prstGeom prst="rect">
            <a:avLst/>
          </a:prstGeom>
        </p:spPr>
      </p:pic>
      <p:sp>
        <p:nvSpPr>
          <p:cNvPr id="22" name="Text 16"/>
          <p:cNvSpPr txBox="1"/>
          <p:nvPr/>
        </p:nvSpPr>
        <p:spPr>
          <a:xfrm>
            <a:off x="155448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Reliability and scale</a:t>
            </a:r>
            <a:endParaRPr lang="en-US" sz="1800" dirty="0"/>
          </a:p>
        </p:txBody>
      </p:sp>
      <p:sp>
        <p:nvSpPr>
          <p:cNvPr id="23" name="Text 17"/>
          <p:cNvSpPr txBox="1"/>
          <p:nvPr/>
        </p:nvSpPr>
        <p:spPr>
          <a:xfrm>
            <a:off x="82296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Meet SLAs for latency and uptime under real, spiky enterprise load.</a:t>
            </a:r>
            <a:endParaRPr lang="en-US" sz="1500" dirty="0"/>
          </a:p>
        </p:txBody>
      </p:sp>
      <p:sp>
        <p:nvSpPr>
          <p:cNvPr id="24" name="req-card"/>
          <p:cNvSpPr/>
          <p:nvPr/>
        </p:nvSpPr>
        <p:spPr>
          <a:xfrm>
            <a:off x="4297680" y="3931920"/>
            <a:ext cx="3520440" cy="2057400"/>
          </a:xfrm>
          <a:prstGeom prst="roundRect">
            <a:avLst>
              <a:gd name="adj" fmla="val 3556"/>
            </a:avLst>
          </a:prstGeom>
          <a:solidFill>
            <a:schemeClr val="bg2"/>
          </a:solidFill>
          <a:ln/>
        </p:spPr>
        <p:txBody>
          <a:bodyPr/>
          <a:lstStyle/>
          <a:p>
            <a:endParaRPr lang="en-US"/>
          </a:p>
        </p:txBody>
      </p:sp>
      <p:sp>
        <p:nvSpPr>
          <p:cNvPr id="25" name="icon-chip"/>
          <p:cNvSpPr/>
          <p:nvPr/>
        </p:nvSpPr>
        <p:spPr>
          <a:xfrm>
            <a:off x="4572000" y="4206240"/>
            <a:ext cx="566928" cy="566928"/>
          </a:xfrm>
          <a:prstGeom prst="ellipse">
            <a:avLst/>
          </a:prstGeom>
          <a:solidFill>
            <a:schemeClr val="accent2"/>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696724" y="4330964"/>
            <a:ext cx="317480" cy="317480"/>
          </a:xfrm>
          <a:prstGeom prst="rect">
            <a:avLst/>
          </a:prstGeom>
        </p:spPr>
      </p:pic>
      <p:sp>
        <p:nvSpPr>
          <p:cNvPr id="27" name="Text 20"/>
          <p:cNvSpPr txBox="1"/>
          <p:nvPr/>
        </p:nvSpPr>
        <p:spPr>
          <a:xfrm>
            <a:off x="530352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Cost control</a:t>
            </a:r>
            <a:endParaRPr lang="en-US" sz="1800" dirty="0"/>
          </a:p>
        </p:txBody>
      </p:sp>
      <p:sp>
        <p:nvSpPr>
          <p:cNvPr id="28" name="Text 21"/>
          <p:cNvSpPr txBox="1"/>
          <p:nvPr/>
        </p:nvSpPr>
        <p:spPr>
          <a:xfrm>
            <a:off x="457200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Predictable unit economics per request, user or business transaction.</a:t>
            </a:r>
            <a:endParaRPr lang="en-US" sz="1500" dirty="0"/>
          </a:p>
        </p:txBody>
      </p:sp>
      <p:sp>
        <p:nvSpPr>
          <p:cNvPr id="29" name="req-card"/>
          <p:cNvSpPr/>
          <p:nvPr/>
        </p:nvSpPr>
        <p:spPr>
          <a:xfrm>
            <a:off x="8046720" y="3931920"/>
            <a:ext cx="3520440" cy="2057400"/>
          </a:xfrm>
          <a:prstGeom prst="roundRect">
            <a:avLst>
              <a:gd name="adj" fmla="val 3556"/>
            </a:avLst>
          </a:prstGeom>
          <a:solidFill>
            <a:schemeClr val="bg2"/>
          </a:solidFill>
          <a:ln/>
        </p:spPr>
        <p:txBody>
          <a:bodyPr/>
          <a:lstStyle/>
          <a:p>
            <a:endParaRPr lang="en-US"/>
          </a:p>
        </p:txBody>
      </p:sp>
      <p:sp>
        <p:nvSpPr>
          <p:cNvPr id="30" name="icon-chip"/>
          <p:cNvSpPr/>
          <p:nvPr/>
        </p:nvSpPr>
        <p:spPr>
          <a:xfrm>
            <a:off x="8321040" y="4206240"/>
            <a:ext cx="566928" cy="566928"/>
          </a:xfrm>
          <a:prstGeom prst="ellipse">
            <a:avLst/>
          </a:prstGeom>
          <a:solidFill>
            <a:schemeClr val="accent2"/>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445764" y="4330964"/>
            <a:ext cx="317480" cy="317480"/>
          </a:xfrm>
          <a:prstGeom prst="rect">
            <a:avLst/>
          </a:prstGeom>
        </p:spPr>
      </p:pic>
      <p:sp>
        <p:nvSpPr>
          <p:cNvPr id="32" name="Text 24"/>
          <p:cNvSpPr txBox="1"/>
          <p:nvPr/>
        </p:nvSpPr>
        <p:spPr>
          <a:xfrm>
            <a:off x="905256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Measurable quality</a:t>
            </a:r>
            <a:endParaRPr lang="en-US" sz="1800" dirty="0"/>
          </a:p>
        </p:txBody>
      </p:sp>
      <p:sp>
        <p:nvSpPr>
          <p:cNvPr id="33" name="Text 25"/>
          <p:cNvSpPr txBox="1"/>
          <p:nvPr/>
        </p:nvSpPr>
        <p:spPr>
          <a:xfrm>
            <a:off x="832104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Evaluation sets, accuracy targets and guardrails, not 'it looked good in the demo'.</a:t>
            </a:r>
            <a:endParaRPr lang="en-US" sz="15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Reference architecture: six layers around the model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model is one replaceable component inside an engineered request path</a:t>
            </a:r>
            <a:endParaRPr lang="en-US" sz="1600" dirty="0"/>
          </a:p>
        </p:txBody>
      </p:sp>
      <p:sp>
        <p:nvSpPr>
          <p:cNvPr id="4" name="layer-label"/>
          <p:cNvSpPr/>
          <p:nvPr/>
        </p:nvSpPr>
        <p:spPr>
          <a:xfrm>
            <a:off x="548640" y="1572768"/>
            <a:ext cx="2651760" cy="640080"/>
          </a:xfrm>
          <a:prstGeom prst="roundRect">
            <a:avLst>
              <a:gd name="adj" fmla="val 8571"/>
            </a:avLst>
          </a:prstGeom>
          <a:solidFill>
            <a:schemeClr val="accent3"/>
          </a:solidFill>
          <a:ln/>
        </p:spPr>
        <p:txBody>
          <a:bodyPr wrap="square" lIns="508" tIns="508" rIns="508" bIns="508" rtlCol="0" anchor="ctr"/>
          <a:lstStyle/>
          <a:p>
            <a:pPr marL="0" indent="0" algn="ctr">
              <a:buNone/>
            </a:pPr>
            <a:r>
              <a:rPr lang="en-US" sz="1500" b="1" dirty="0">
                <a:solidFill>
                  <a:schemeClr val="tx1"/>
                </a:solidFill>
              </a:rPr>
              <a:t>Experience</a:t>
            </a:r>
            <a:endParaRPr lang="en-US" sz="1500" dirty="0"/>
          </a:p>
        </p:txBody>
      </p:sp>
      <p:sp>
        <p:nvSpPr>
          <p:cNvPr id="5" name="layer-desc"/>
          <p:cNvSpPr/>
          <p:nvPr/>
        </p:nvSpPr>
        <p:spPr>
          <a:xfrm>
            <a:off x="3291840" y="1572768"/>
            <a:ext cx="5623560" cy="640080"/>
          </a:xfrm>
          <a:prstGeom prst="roundRect">
            <a:avLst>
              <a:gd name="adj" fmla="val 8571"/>
            </a:avLst>
          </a:prstGeom>
          <a:solidFill>
            <a:schemeClr val="bg2"/>
          </a:solidFill>
          <a:ln/>
        </p:spPr>
        <p:txBody>
          <a:bodyPr/>
          <a:lstStyle/>
          <a:p>
            <a:endParaRPr lang="en-US"/>
          </a:p>
        </p:txBody>
      </p:sp>
      <p:sp>
        <p:nvSpPr>
          <p:cNvPr id="6" name="Text 4"/>
          <p:cNvSpPr txBox="1"/>
          <p:nvPr/>
        </p:nvSpPr>
        <p:spPr>
          <a:xfrm>
            <a:off x="3474720" y="1572768"/>
            <a:ext cx="5349240" cy="640080"/>
          </a:xfrm>
          <a:prstGeom prst="rect">
            <a:avLst/>
          </a:prstGeom>
          <a:noFill/>
          <a:ln/>
        </p:spPr>
        <p:txBody>
          <a:bodyPr wrap="square" lIns="0" tIns="0" rIns="0" bIns="0" rtlCol="0" anchor="ctr"/>
          <a:lstStyle/>
          <a:p>
            <a:pPr marL="0" indent="0">
              <a:buNone/>
            </a:pPr>
            <a:r>
              <a:rPr lang="en-US" sz="1400" dirty="0">
                <a:solidFill>
                  <a:schemeClr val="tx2"/>
                </a:solidFill>
              </a:rPr>
              <a:t>Chat UI, copilots inside business apps, APIs, Teams / Slack, voice</a:t>
            </a:r>
            <a:endParaRPr lang="en-US" sz="1400" dirty="0"/>
          </a:p>
        </p:txBody>
      </p:sp>
      <p:sp>
        <p:nvSpPr>
          <p:cNvPr id="7" name="layer-label"/>
          <p:cNvSpPr/>
          <p:nvPr/>
        </p:nvSpPr>
        <p:spPr>
          <a:xfrm>
            <a:off x="548640" y="2331720"/>
            <a:ext cx="2651760" cy="640080"/>
          </a:xfrm>
          <a:prstGeom prst="roundRect">
            <a:avLst>
              <a:gd name="adj" fmla="val 8571"/>
            </a:avLst>
          </a:prstGeom>
          <a:solidFill>
            <a:schemeClr val="accent1"/>
          </a:solidFill>
          <a:ln/>
        </p:spPr>
        <p:txBody>
          <a:bodyPr wrap="square" lIns="508" tIns="508" rIns="508" bIns="508" rtlCol="0" anchor="ctr"/>
          <a:lstStyle/>
          <a:p>
            <a:pPr marL="0" indent="0" algn="ctr">
              <a:buNone/>
            </a:pPr>
            <a:r>
              <a:rPr lang="en-US" sz="1500" b="1" dirty="0">
                <a:solidFill>
                  <a:schemeClr val="bg1"/>
                </a:solidFill>
              </a:rPr>
              <a:t>Orchestration and agents</a:t>
            </a:r>
            <a:endParaRPr lang="en-US" sz="1500" dirty="0"/>
          </a:p>
        </p:txBody>
      </p:sp>
      <p:sp>
        <p:nvSpPr>
          <p:cNvPr id="8" name="layer-desc"/>
          <p:cNvSpPr/>
          <p:nvPr/>
        </p:nvSpPr>
        <p:spPr>
          <a:xfrm>
            <a:off x="3291840" y="2331720"/>
            <a:ext cx="5623560" cy="640080"/>
          </a:xfrm>
          <a:prstGeom prst="roundRect">
            <a:avLst>
              <a:gd name="adj" fmla="val 8571"/>
            </a:avLst>
          </a:prstGeom>
          <a:solidFill>
            <a:schemeClr val="bg2"/>
          </a:solidFill>
          <a:ln/>
        </p:spPr>
        <p:txBody>
          <a:bodyPr/>
          <a:lstStyle/>
          <a:p>
            <a:endParaRPr lang="en-US"/>
          </a:p>
        </p:txBody>
      </p:sp>
      <p:sp>
        <p:nvSpPr>
          <p:cNvPr id="9" name="Text 7"/>
          <p:cNvSpPr txBox="1"/>
          <p:nvPr/>
        </p:nvSpPr>
        <p:spPr>
          <a:xfrm>
            <a:off x="3474720" y="2331720"/>
            <a:ext cx="5349240" cy="640080"/>
          </a:xfrm>
          <a:prstGeom prst="rect">
            <a:avLst/>
          </a:prstGeom>
          <a:noFill/>
          <a:ln/>
        </p:spPr>
        <p:txBody>
          <a:bodyPr wrap="square" lIns="0" tIns="0" rIns="0" bIns="0" rtlCol="0" anchor="ctr"/>
          <a:lstStyle/>
          <a:p>
            <a:pPr marL="0" indent="0">
              <a:buNone/>
            </a:pPr>
            <a:r>
              <a:rPr lang="en-US" sz="1400" dirty="0">
                <a:solidFill>
                  <a:schemeClr val="tx2"/>
                </a:solidFill>
              </a:rPr>
              <a:t>Prompt templates, workflows, tool calling, memory  (LangChain, LlamaIndex, Semantic Kernel)</a:t>
            </a:r>
            <a:endParaRPr lang="en-US" sz="1400" dirty="0"/>
          </a:p>
        </p:txBody>
      </p:sp>
      <p:sp>
        <p:nvSpPr>
          <p:cNvPr id="10" name="layer-label"/>
          <p:cNvSpPr/>
          <p:nvPr/>
        </p:nvSpPr>
        <p:spPr>
          <a:xfrm>
            <a:off x="548640" y="3090672"/>
            <a:ext cx="2651760" cy="640080"/>
          </a:xfrm>
          <a:prstGeom prst="roundRect">
            <a:avLst>
              <a:gd name="adj" fmla="val 8571"/>
            </a:avLst>
          </a:prstGeom>
          <a:solidFill>
            <a:schemeClr val="accent6"/>
          </a:solidFill>
          <a:ln/>
        </p:spPr>
        <p:txBody>
          <a:bodyPr wrap="square" lIns="508" tIns="508" rIns="508" bIns="508" rtlCol="0" anchor="ctr"/>
          <a:lstStyle/>
          <a:p>
            <a:pPr marL="0" indent="0" algn="ctr">
              <a:buNone/>
            </a:pPr>
            <a:r>
              <a:rPr lang="en-US" sz="1500" b="1" dirty="0">
                <a:solidFill>
                  <a:schemeClr val="bg1"/>
                </a:solidFill>
              </a:rPr>
              <a:t>Guardrails</a:t>
            </a:r>
            <a:endParaRPr lang="en-US" sz="1500" dirty="0"/>
          </a:p>
        </p:txBody>
      </p:sp>
      <p:sp>
        <p:nvSpPr>
          <p:cNvPr id="11" name="layer-desc"/>
          <p:cNvSpPr/>
          <p:nvPr/>
        </p:nvSpPr>
        <p:spPr>
          <a:xfrm>
            <a:off x="3291840" y="3090672"/>
            <a:ext cx="5623560" cy="640080"/>
          </a:xfrm>
          <a:prstGeom prst="roundRect">
            <a:avLst>
              <a:gd name="adj" fmla="val 8571"/>
            </a:avLst>
          </a:prstGeom>
          <a:solidFill>
            <a:schemeClr val="bg2"/>
          </a:solidFill>
          <a:ln/>
        </p:spPr>
        <p:txBody>
          <a:bodyPr/>
          <a:lstStyle/>
          <a:p>
            <a:endParaRPr lang="en-US"/>
          </a:p>
        </p:txBody>
      </p:sp>
      <p:sp>
        <p:nvSpPr>
          <p:cNvPr id="12" name="Text 10"/>
          <p:cNvSpPr txBox="1"/>
          <p:nvPr/>
        </p:nvSpPr>
        <p:spPr>
          <a:xfrm>
            <a:off x="3474720" y="3090672"/>
            <a:ext cx="5349240" cy="640080"/>
          </a:xfrm>
          <a:prstGeom prst="rect">
            <a:avLst/>
          </a:prstGeom>
          <a:noFill/>
          <a:ln/>
        </p:spPr>
        <p:txBody>
          <a:bodyPr wrap="square" lIns="0" tIns="0" rIns="0" bIns="0" rtlCol="0" anchor="ctr"/>
          <a:lstStyle/>
          <a:p>
            <a:pPr marL="0" indent="0">
              <a:buNone/>
            </a:pPr>
            <a:r>
              <a:rPr lang="en-US" sz="1400" dirty="0">
                <a:solidFill>
                  <a:schemeClr val="tx2"/>
                </a:solidFill>
              </a:rPr>
              <a:t>Input/output filters, PII redaction, prompt-injection defence, policy checks</a:t>
            </a:r>
            <a:endParaRPr lang="en-US" sz="1400" dirty="0"/>
          </a:p>
        </p:txBody>
      </p:sp>
      <p:sp>
        <p:nvSpPr>
          <p:cNvPr id="13" name="layer-label"/>
          <p:cNvSpPr/>
          <p:nvPr/>
        </p:nvSpPr>
        <p:spPr>
          <a:xfrm>
            <a:off x="548640" y="3849624"/>
            <a:ext cx="2651760" cy="640080"/>
          </a:xfrm>
          <a:prstGeom prst="roundRect">
            <a:avLst>
              <a:gd name="adj" fmla="val 8571"/>
            </a:avLst>
          </a:prstGeom>
          <a:solidFill>
            <a:schemeClr val="tx1"/>
          </a:solidFill>
          <a:ln/>
        </p:spPr>
        <p:txBody>
          <a:bodyPr wrap="square" lIns="508" tIns="508" rIns="508" bIns="508" rtlCol="0" anchor="ctr"/>
          <a:lstStyle/>
          <a:p>
            <a:pPr marL="0" indent="0" algn="ctr">
              <a:buNone/>
            </a:pPr>
            <a:r>
              <a:rPr lang="en-US" sz="1500" b="1" dirty="0">
                <a:solidFill>
                  <a:schemeClr val="bg1"/>
                </a:solidFill>
              </a:rPr>
              <a:t>Model layer</a:t>
            </a:r>
            <a:endParaRPr lang="en-US" sz="1500" dirty="0"/>
          </a:p>
        </p:txBody>
      </p:sp>
      <p:sp>
        <p:nvSpPr>
          <p:cNvPr id="14" name="layer-desc"/>
          <p:cNvSpPr/>
          <p:nvPr/>
        </p:nvSpPr>
        <p:spPr>
          <a:xfrm>
            <a:off x="3291840" y="3849624"/>
            <a:ext cx="5623560" cy="640080"/>
          </a:xfrm>
          <a:prstGeom prst="roundRect">
            <a:avLst>
              <a:gd name="adj" fmla="val 8571"/>
            </a:avLst>
          </a:prstGeom>
          <a:solidFill>
            <a:schemeClr val="bg2"/>
          </a:solidFill>
          <a:ln/>
        </p:spPr>
        <p:txBody>
          <a:bodyPr/>
          <a:lstStyle/>
          <a:p>
            <a:endParaRPr lang="en-US"/>
          </a:p>
        </p:txBody>
      </p:sp>
      <p:sp>
        <p:nvSpPr>
          <p:cNvPr id="15" name="Text 13"/>
          <p:cNvSpPr txBox="1"/>
          <p:nvPr/>
        </p:nvSpPr>
        <p:spPr>
          <a:xfrm>
            <a:off x="3474720" y="3849624"/>
            <a:ext cx="5349240" cy="640080"/>
          </a:xfrm>
          <a:prstGeom prst="rect">
            <a:avLst/>
          </a:prstGeom>
          <a:noFill/>
          <a:ln/>
        </p:spPr>
        <p:txBody>
          <a:bodyPr wrap="square" lIns="0" tIns="0" rIns="0" bIns="0" rtlCol="0" anchor="ctr"/>
          <a:lstStyle/>
          <a:p>
            <a:pPr marL="0" indent="0">
              <a:buNone/>
            </a:pPr>
            <a:r>
              <a:rPr lang="en-US" sz="1400" dirty="0">
                <a:solidFill>
                  <a:schemeClr val="tx2"/>
                </a:solidFill>
              </a:rPr>
              <a:t>LLMs, SLMs, embedding models, rerankers, behind a model gateway / router</a:t>
            </a:r>
            <a:endParaRPr lang="en-US" sz="1400" dirty="0"/>
          </a:p>
        </p:txBody>
      </p:sp>
      <p:sp>
        <p:nvSpPr>
          <p:cNvPr id="16" name="layer-label"/>
          <p:cNvSpPr/>
          <p:nvPr/>
        </p:nvSpPr>
        <p:spPr>
          <a:xfrm>
            <a:off x="548640" y="4608576"/>
            <a:ext cx="2651760" cy="640080"/>
          </a:xfrm>
          <a:prstGeom prst="roundRect">
            <a:avLst>
              <a:gd name="adj" fmla="val 8571"/>
            </a:avLst>
          </a:prstGeom>
          <a:solidFill>
            <a:schemeClr val="accent2"/>
          </a:solidFill>
          <a:ln/>
        </p:spPr>
        <p:txBody>
          <a:bodyPr wrap="square" lIns="508" tIns="508" rIns="508" bIns="508" rtlCol="0" anchor="ctr"/>
          <a:lstStyle/>
          <a:p>
            <a:pPr marL="0" indent="0" algn="ctr">
              <a:buNone/>
            </a:pPr>
            <a:r>
              <a:rPr lang="en-US" sz="1500" b="1" dirty="0">
                <a:solidFill>
                  <a:schemeClr val="bg1"/>
                </a:solidFill>
              </a:rPr>
              <a:t>Data and knowledge</a:t>
            </a:r>
            <a:endParaRPr lang="en-US" sz="1500" dirty="0"/>
          </a:p>
        </p:txBody>
      </p:sp>
      <p:sp>
        <p:nvSpPr>
          <p:cNvPr id="17" name="layer-desc"/>
          <p:cNvSpPr/>
          <p:nvPr/>
        </p:nvSpPr>
        <p:spPr>
          <a:xfrm>
            <a:off x="3291840" y="4608576"/>
            <a:ext cx="5623560" cy="640080"/>
          </a:xfrm>
          <a:prstGeom prst="roundRect">
            <a:avLst>
              <a:gd name="adj" fmla="val 8571"/>
            </a:avLst>
          </a:prstGeom>
          <a:solidFill>
            <a:schemeClr val="bg2"/>
          </a:solidFill>
          <a:ln/>
        </p:spPr>
        <p:txBody>
          <a:bodyPr/>
          <a:lstStyle/>
          <a:p>
            <a:endParaRPr lang="en-US"/>
          </a:p>
        </p:txBody>
      </p:sp>
      <p:sp>
        <p:nvSpPr>
          <p:cNvPr id="18" name="Text 16"/>
          <p:cNvSpPr txBox="1"/>
          <p:nvPr/>
        </p:nvSpPr>
        <p:spPr>
          <a:xfrm>
            <a:off x="3474720" y="4608576"/>
            <a:ext cx="5349240" cy="640080"/>
          </a:xfrm>
          <a:prstGeom prst="rect">
            <a:avLst/>
          </a:prstGeom>
          <a:noFill/>
          <a:ln/>
        </p:spPr>
        <p:txBody>
          <a:bodyPr wrap="square" lIns="0" tIns="0" rIns="0" bIns="0" rtlCol="0" anchor="ctr"/>
          <a:lstStyle/>
          <a:p>
            <a:pPr marL="0" indent="0">
              <a:buNone/>
            </a:pPr>
            <a:r>
              <a:rPr lang="en-US" sz="1400" dirty="0">
                <a:solidFill>
                  <a:schemeClr val="tx2"/>
                </a:solidFill>
              </a:rPr>
              <a:t>Vector database, enterprise search, data lake, systems of record (ERP, CRM)</a:t>
            </a:r>
            <a:endParaRPr lang="en-US" sz="1400" dirty="0"/>
          </a:p>
        </p:txBody>
      </p:sp>
      <p:sp>
        <p:nvSpPr>
          <p:cNvPr id="19" name="layer-label"/>
          <p:cNvSpPr/>
          <p:nvPr/>
        </p:nvSpPr>
        <p:spPr>
          <a:xfrm>
            <a:off x="548640" y="5367528"/>
            <a:ext cx="2651760" cy="640080"/>
          </a:xfrm>
          <a:prstGeom prst="roundRect">
            <a:avLst>
              <a:gd name="adj" fmla="val 8571"/>
            </a:avLst>
          </a:prstGeom>
          <a:solidFill>
            <a:schemeClr val="tx2"/>
          </a:solidFill>
          <a:ln/>
        </p:spPr>
        <p:txBody>
          <a:bodyPr wrap="square" lIns="508" tIns="508" rIns="508" bIns="508" rtlCol="0" anchor="ctr"/>
          <a:lstStyle/>
          <a:p>
            <a:pPr marL="0" indent="0" algn="ctr">
              <a:buNone/>
            </a:pPr>
            <a:r>
              <a:rPr lang="en-US" sz="1500" b="1" dirty="0">
                <a:solidFill>
                  <a:schemeClr val="bg1"/>
                </a:solidFill>
              </a:rPr>
              <a:t>Infrastructure</a:t>
            </a:r>
            <a:endParaRPr lang="en-US" sz="1500" dirty="0"/>
          </a:p>
        </p:txBody>
      </p:sp>
      <p:sp>
        <p:nvSpPr>
          <p:cNvPr id="20" name="layer-desc"/>
          <p:cNvSpPr/>
          <p:nvPr/>
        </p:nvSpPr>
        <p:spPr>
          <a:xfrm>
            <a:off x="3291840" y="5367528"/>
            <a:ext cx="5623560" cy="640080"/>
          </a:xfrm>
          <a:prstGeom prst="roundRect">
            <a:avLst>
              <a:gd name="adj" fmla="val 8571"/>
            </a:avLst>
          </a:prstGeom>
          <a:solidFill>
            <a:schemeClr val="bg2"/>
          </a:solidFill>
          <a:ln/>
        </p:spPr>
        <p:txBody>
          <a:bodyPr/>
          <a:lstStyle/>
          <a:p>
            <a:endParaRPr lang="en-US"/>
          </a:p>
        </p:txBody>
      </p:sp>
      <p:sp>
        <p:nvSpPr>
          <p:cNvPr id="21" name="Text 19"/>
          <p:cNvSpPr txBox="1"/>
          <p:nvPr/>
        </p:nvSpPr>
        <p:spPr>
          <a:xfrm>
            <a:off x="3474720" y="5367528"/>
            <a:ext cx="5349240" cy="640080"/>
          </a:xfrm>
          <a:prstGeom prst="rect">
            <a:avLst/>
          </a:prstGeom>
          <a:noFill/>
          <a:ln/>
        </p:spPr>
        <p:txBody>
          <a:bodyPr wrap="square" lIns="0" tIns="0" rIns="0" bIns="0" rtlCol="0" anchor="ctr"/>
          <a:lstStyle/>
          <a:p>
            <a:pPr marL="0" indent="0">
              <a:buNone/>
            </a:pPr>
            <a:r>
              <a:rPr lang="en-US" sz="1400" dirty="0">
                <a:solidFill>
                  <a:schemeClr val="tx2"/>
                </a:solidFill>
              </a:rPr>
              <a:t>GPUs / CPUs, Kubernetes, cloud, on-premises data centre, edge devices</a:t>
            </a:r>
            <a:endParaRPr lang="en-US" sz="1400" dirty="0"/>
          </a:p>
        </p:txBody>
      </p:sp>
      <p:sp>
        <p:nvSpPr>
          <p:cNvPr id="22" name="pillar"/>
          <p:cNvSpPr/>
          <p:nvPr/>
        </p:nvSpPr>
        <p:spPr>
          <a:xfrm>
            <a:off x="9098280" y="1572768"/>
            <a:ext cx="1188720" cy="4434840"/>
          </a:xfrm>
          <a:prstGeom prst="roundRect">
            <a:avLst>
              <a:gd name="adj" fmla="val 6154"/>
            </a:avLst>
          </a:prstGeom>
          <a:solidFill>
            <a:schemeClr val="accent4"/>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9464040" y="1783080"/>
            <a:ext cx="457200" cy="457200"/>
          </a:xfrm>
          <a:prstGeom prst="rect">
            <a:avLst/>
          </a:prstGeom>
        </p:spPr>
      </p:pic>
      <p:sp>
        <p:nvSpPr>
          <p:cNvPr id="24" name="Text 21"/>
          <p:cNvSpPr txBox="1"/>
          <p:nvPr/>
        </p:nvSpPr>
        <p:spPr>
          <a:xfrm>
            <a:off x="9208008" y="2423160"/>
            <a:ext cx="969264" cy="1280160"/>
          </a:xfrm>
          <a:prstGeom prst="rect">
            <a:avLst/>
          </a:prstGeom>
          <a:noFill/>
          <a:ln/>
        </p:spPr>
        <p:txBody>
          <a:bodyPr wrap="square" lIns="0" tIns="0" rIns="0" bIns="0" rtlCol="0" anchor="t"/>
          <a:lstStyle/>
          <a:p>
            <a:pPr marL="0" indent="0" algn="ctr">
              <a:buNone/>
            </a:pPr>
            <a:r>
              <a:rPr lang="en-US" sz="1400" b="1" dirty="0">
                <a:solidFill>
                  <a:schemeClr val="bg1"/>
                </a:solidFill>
              </a:rPr>
              <a:t>Security and governance</a:t>
            </a:r>
            <a:endParaRPr lang="en-US" sz="1400" dirty="0"/>
          </a:p>
        </p:txBody>
      </p:sp>
      <p:sp>
        <p:nvSpPr>
          <p:cNvPr id="25" name="Text 22"/>
          <p:cNvSpPr txBox="1"/>
          <p:nvPr/>
        </p:nvSpPr>
        <p:spPr>
          <a:xfrm>
            <a:off x="9208008" y="3794760"/>
            <a:ext cx="969264" cy="2011680"/>
          </a:xfrm>
          <a:prstGeom prst="rect">
            <a:avLst/>
          </a:prstGeom>
          <a:noFill/>
          <a:ln/>
        </p:spPr>
        <p:txBody>
          <a:bodyPr wrap="square" lIns="0" tIns="0" rIns="0" bIns="0" rtlCol="0" anchor="t"/>
          <a:lstStyle/>
          <a:p>
            <a:pPr marL="0" indent="0" algn="ctr">
              <a:buNone/>
            </a:pPr>
            <a:r>
              <a:rPr lang="en-US" sz="1200" dirty="0">
                <a:solidFill>
                  <a:srgbClr val="E4E6EE"/>
                </a:solidFill>
              </a:rPr>
              <a:t>Identity, access, audit, model approval</a:t>
            </a:r>
            <a:endParaRPr lang="en-US" sz="1200" dirty="0"/>
          </a:p>
        </p:txBody>
      </p:sp>
      <p:sp>
        <p:nvSpPr>
          <p:cNvPr id="26" name="pillar"/>
          <p:cNvSpPr/>
          <p:nvPr/>
        </p:nvSpPr>
        <p:spPr>
          <a:xfrm>
            <a:off x="10378440" y="1572768"/>
            <a:ext cx="1188720" cy="4434840"/>
          </a:xfrm>
          <a:prstGeom prst="roundRect">
            <a:avLst>
              <a:gd name="adj" fmla="val 6154"/>
            </a:avLst>
          </a:prstGeom>
          <a:solidFill>
            <a:schemeClr val="tx1"/>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10744200" y="1783080"/>
            <a:ext cx="457200" cy="457200"/>
          </a:xfrm>
          <a:prstGeom prst="rect">
            <a:avLst/>
          </a:prstGeom>
        </p:spPr>
      </p:pic>
      <p:sp>
        <p:nvSpPr>
          <p:cNvPr id="28" name="Text 24"/>
          <p:cNvSpPr txBox="1"/>
          <p:nvPr/>
        </p:nvSpPr>
        <p:spPr>
          <a:xfrm>
            <a:off x="10488168" y="2423160"/>
            <a:ext cx="969264" cy="1280160"/>
          </a:xfrm>
          <a:prstGeom prst="rect">
            <a:avLst/>
          </a:prstGeom>
          <a:noFill/>
          <a:ln/>
        </p:spPr>
        <p:txBody>
          <a:bodyPr wrap="square" lIns="0" tIns="0" rIns="0" bIns="0" rtlCol="0" anchor="t"/>
          <a:lstStyle/>
          <a:p>
            <a:pPr marL="0" indent="0" algn="ctr">
              <a:buNone/>
            </a:pPr>
            <a:r>
              <a:rPr lang="en-US" sz="1400" b="1" dirty="0">
                <a:solidFill>
                  <a:schemeClr val="bg1"/>
                </a:solidFill>
              </a:rPr>
              <a:t>LLMOps and observability</a:t>
            </a:r>
            <a:endParaRPr lang="en-US" sz="1400" dirty="0"/>
          </a:p>
        </p:txBody>
      </p:sp>
      <p:sp>
        <p:nvSpPr>
          <p:cNvPr id="29" name="Text 25"/>
          <p:cNvSpPr txBox="1"/>
          <p:nvPr/>
        </p:nvSpPr>
        <p:spPr>
          <a:xfrm>
            <a:off x="10488168" y="3794760"/>
            <a:ext cx="969264" cy="2011680"/>
          </a:xfrm>
          <a:prstGeom prst="rect">
            <a:avLst/>
          </a:prstGeom>
          <a:noFill/>
          <a:ln/>
        </p:spPr>
        <p:txBody>
          <a:bodyPr wrap="square" lIns="0" tIns="0" rIns="0" bIns="0" rtlCol="0" anchor="t"/>
          <a:lstStyle/>
          <a:p>
            <a:pPr marL="0" indent="0" algn="ctr">
              <a:buNone/>
            </a:pPr>
            <a:r>
              <a:rPr lang="en-US" sz="1200" dirty="0">
                <a:solidFill>
                  <a:srgbClr val="E4E6EE"/>
                </a:solidFill>
              </a:rPr>
              <a:t>Evals, tracing, cost, drift, feedback</a:t>
            </a:r>
            <a:endParaRPr lang="en-US" sz="12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enterprise AI lifecycle is a loop, not a launch</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Seven stages; production feedback drives the next iteration</a:t>
            </a:r>
            <a:endParaRPr lang="en-US" sz="1600" dirty="0"/>
          </a:p>
        </p:txBody>
      </p:sp>
      <p:sp>
        <p:nvSpPr>
          <p:cNvPr id="4" name="step"/>
          <p:cNvSpPr/>
          <p:nvPr/>
        </p:nvSpPr>
        <p:spPr>
          <a:xfrm>
            <a:off x="859536" y="1737360"/>
            <a:ext cx="768096" cy="768096"/>
          </a:xfrm>
          <a:prstGeom prst="ellipse">
            <a:avLst/>
          </a:prstGeom>
          <a:solidFill>
            <a:schemeClr val="tx1"/>
          </a:solidFill>
          <a:ln/>
        </p:spPr>
        <p:txBody>
          <a:bodyPr/>
          <a:lstStyle/>
          <a:p>
            <a:endParaRPr lang="en-US"/>
          </a:p>
        </p:txBody>
      </p:sp>
      <p:sp>
        <p:nvSpPr>
          <p:cNvPr id="5" name="Text 3"/>
          <p:cNvSpPr txBox="1"/>
          <p:nvPr/>
        </p:nvSpPr>
        <p:spPr>
          <a:xfrm>
            <a:off x="859536"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Shape 4"/>
          <p:cNvSpPr/>
          <p:nvPr/>
        </p:nvSpPr>
        <p:spPr>
          <a:xfrm>
            <a:off x="1700784" y="2121408"/>
            <a:ext cx="658368" cy="914"/>
          </a:xfrm>
          <a:prstGeom prst="line">
            <a:avLst/>
          </a:prstGeom>
          <a:noFill/>
          <a:ln w="19050">
            <a:solidFill>
              <a:schemeClr val="accent5"/>
            </a:solidFill>
            <a:prstDash val="solid"/>
            <a:tailEnd type="triangle"/>
          </a:ln>
        </p:spPr>
        <p:txBody>
          <a:bodyPr/>
          <a:lstStyle/>
          <a:p>
            <a:endParaRPr lang="en-US"/>
          </a:p>
        </p:txBody>
      </p:sp>
      <p:sp>
        <p:nvSpPr>
          <p:cNvPr id="7" name="Text 5"/>
          <p:cNvSpPr txBox="1"/>
          <p:nvPr/>
        </p:nvSpPr>
        <p:spPr>
          <a:xfrm>
            <a:off x="548640"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Define use case</a:t>
            </a:r>
            <a:endParaRPr lang="en-US" sz="1600" dirty="0"/>
          </a:p>
        </p:txBody>
      </p:sp>
      <p:sp>
        <p:nvSpPr>
          <p:cNvPr id="8" name="Text 6"/>
          <p:cNvSpPr txBox="1"/>
          <p:nvPr/>
        </p:nvSpPr>
        <p:spPr>
          <a:xfrm>
            <a:off x="548640"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Business problem, users, KPI, risk level</a:t>
            </a:r>
            <a:endParaRPr lang="en-US" sz="1300" dirty="0"/>
          </a:p>
        </p:txBody>
      </p:sp>
      <p:sp>
        <p:nvSpPr>
          <p:cNvPr id="9" name="step"/>
          <p:cNvSpPr/>
          <p:nvPr/>
        </p:nvSpPr>
        <p:spPr>
          <a:xfrm>
            <a:off x="2432304" y="1737360"/>
            <a:ext cx="768096" cy="768096"/>
          </a:xfrm>
          <a:prstGeom prst="ellipse">
            <a:avLst/>
          </a:prstGeom>
          <a:solidFill>
            <a:schemeClr val="tx1"/>
          </a:solidFill>
          <a:ln/>
        </p:spPr>
        <p:txBody>
          <a:bodyPr/>
          <a:lstStyle/>
          <a:p>
            <a:endParaRPr lang="en-US"/>
          </a:p>
        </p:txBody>
      </p:sp>
      <p:sp>
        <p:nvSpPr>
          <p:cNvPr id="10" name="Text 8"/>
          <p:cNvSpPr txBox="1"/>
          <p:nvPr/>
        </p:nvSpPr>
        <p:spPr>
          <a:xfrm>
            <a:off x="2432304"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1" name="Shape 9"/>
          <p:cNvSpPr/>
          <p:nvPr/>
        </p:nvSpPr>
        <p:spPr>
          <a:xfrm>
            <a:off x="3273552" y="2121408"/>
            <a:ext cx="658368" cy="914"/>
          </a:xfrm>
          <a:prstGeom prst="line">
            <a:avLst/>
          </a:prstGeom>
          <a:noFill/>
          <a:ln w="19050">
            <a:solidFill>
              <a:schemeClr val="accent5"/>
            </a:solidFill>
            <a:prstDash val="solid"/>
            <a:tailEnd type="triangle"/>
          </a:ln>
        </p:spPr>
        <p:txBody>
          <a:bodyPr/>
          <a:lstStyle/>
          <a:p>
            <a:endParaRPr lang="en-US"/>
          </a:p>
        </p:txBody>
      </p:sp>
      <p:sp>
        <p:nvSpPr>
          <p:cNvPr id="12" name="Text 10"/>
          <p:cNvSpPr txBox="1"/>
          <p:nvPr/>
        </p:nvSpPr>
        <p:spPr>
          <a:xfrm>
            <a:off x="2121408"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Prepare data</a:t>
            </a:r>
            <a:endParaRPr lang="en-US" sz="1600" dirty="0"/>
          </a:p>
        </p:txBody>
      </p:sp>
      <p:sp>
        <p:nvSpPr>
          <p:cNvPr id="13" name="Text 11"/>
          <p:cNvSpPr txBox="1"/>
          <p:nvPr/>
        </p:nvSpPr>
        <p:spPr>
          <a:xfrm>
            <a:off x="2121408"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Sources, quality, access rights, eval set</a:t>
            </a:r>
            <a:endParaRPr lang="en-US" sz="1300" dirty="0"/>
          </a:p>
        </p:txBody>
      </p:sp>
      <p:sp>
        <p:nvSpPr>
          <p:cNvPr id="14" name="step"/>
          <p:cNvSpPr/>
          <p:nvPr/>
        </p:nvSpPr>
        <p:spPr>
          <a:xfrm>
            <a:off x="4005072" y="1737360"/>
            <a:ext cx="768096" cy="768096"/>
          </a:xfrm>
          <a:prstGeom prst="ellipse">
            <a:avLst/>
          </a:prstGeom>
          <a:solidFill>
            <a:schemeClr val="accent1"/>
          </a:solidFill>
          <a:ln/>
        </p:spPr>
        <p:txBody>
          <a:bodyPr/>
          <a:lstStyle/>
          <a:p>
            <a:endParaRPr lang="en-US"/>
          </a:p>
        </p:txBody>
      </p:sp>
      <p:sp>
        <p:nvSpPr>
          <p:cNvPr id="15" name="Text 13"/>
          <p:cNvSpPr txBox="1"/>
          <p:nvPr/>
        </p:nvSpPr>
        <p:spPr>
          <a:xfrm>
            <a:off x="4005072"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6" name="Shape 14"/>
          <p:cNvSpPr/>
          <p:nvPr/>
        </p:nvSpPr>
        <p:spPr>
          <a:xfrm>
            <a:off x="4846320" y="2121408"/>
            <a:ext cx="658368" cy="914"/>
          </a:xfrm>
          <a:prstGeom prst="line">
            <a:avLst/>
          </a:prstGeom>
          <a:noFill/>
          <a:ln w="19050">
            <a:solidFill>
              <a:schemeClr val="accent5"/>
            </a:solidFill>
            <a:prstDash val="solid"/>
            <a:tailEnd type="triangle"/>
          </a:ln>
        </p:spPr>
        <p:txBody>
          <a:bodyPr/>
          <a:lstStyle/>
          <a:p>
            <a:endParaRPr lang="en-US"/>
          </a:p>
        </p:txBody>
      </p:sp>
      <p:sp>
        <p:nvSpPr>
          <p:cNvPr id="17" name="Text 15"/>
          <p:cNvSpPr txBox="1"/>
          <p:nvPr/>
        </p:nvSpPr>
        <p:spPr>
          <a:xfrm>
            <a:off x="3694176"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Select model</a:t>
            </a:r>
            <a:endParaRPr lang="en-US" sz="1600" dirty="0"/>
          </a:p>
        </p:txBody>
      </p:sp>
      <p:sp>
        <p:nvSpPr>
          <p:cNvPr id="18" name="Text 16"/>
          <p:cNvSpPr txBox="1"/>
          <p:nvPr/>
        </p:nvSpPr>
        <p:spPr>
          <a:xfrm>
            <a:off x="3694176"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LLM, SLM or both; API or self-hosted</a:t>
            </a:r>
            <a:endParaRPr lang="en-US" sz="1300" dirty="0"/>
          </a:p>
        </p:txBody>
      </p:sp>
      <p:sp>
        <p:nvSpPr>
          <p:cNvPr id="19" name="step"/>
          <p:cNvSpPr/>
          <p:nvPr/>
        </p:nvSpPr>
        <p:spPr>
          <a:xfrm>
            <a:off x="5577840" y="1737360"/>
            <a:ext cx="768096" cy="768096"/>
          </a:xfrm>
          <a:prstGeom prst="ellipse">
            <a:avLst/>
          </a:prstGeom>
          <a:solidFill>
            <a:schemeClr val="tx1"/>
          </a:solidFill>
          <a:ln/>
        </p:spPr>
        <p:txBody>
          <a:bodyPr/>
          <a:lstStyle/>
          <a:p>
            <a:endParaRPr lang="en-US"/>
          </a:p>
        </p:txBody>
      </p:sp>
      <p:sp>
        <p:nvSpPr>
          <p:cNvPr id="20" name="Text 18"/>
          <p:cNvSpPr txBox="1"/>
          <p:nvPr/>
        </p:nvSpPr>
        <p:spPr>
          <a:xfrm>
            <a:off x="5577840"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21" name="Shape 19"/>
          <p:cNvSpPr/>
          <p:nvPr/>
        </p:nvSpPr>
        <p:spPr>
          <a:xfrm>
            <a:off x="6419088" y="2121408"/>
            <a:ext cx="658368" cy="914"/>
          </a:xfrm>
          <a:prstGeom prst="line">
            <a:avLst/>
          </a:prstGeom>
          <a:noFill/>
          <a:ln w="19050">
            <a:solidFill>
              <a:schemeClr val="accent5"/>
            </a:solidFill>
            <a:prstDash val="solid"/>
            <a:tailEnd type="triangle"/>
          </a:ln>
        </p:spPr>
        <p:txBody>
          <a:bodyPr/>
          <a:lstStyle/>
          <a:p>
            <a:endParaRPr lang="en-US"/>
          </a:p>
        </p:txBody>
      </p:sp>
      <p:sp>
        <p:nvSpPr>
          <p:cNvPr id="22" name="Text 20"/>
          <p:cNvSpPr txBox="1"/>
          <p:nvPr/>
        </p:nvSpPr>
        <p:spPr>
          <a:xfrm>
            <a:off x="5266944"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Adapt</a:t>
            </a:r>
            <a:endParaRPr lang="en-US" sz="1600" dirty="0"/>
          </a:p>
        </p:txBody>
      </p:sp>
      <p:sp>
        <p:nvSpPr>
          <p:cNvPr id="23" name="Text 21"/>
          <p:cNvSpPr txBox="1"/>
          <p:nvPr/>
        </p:nvSpPr>
        <p:spPr>
          <a:xfrm>
            <a:off x="5266944"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Prompting, RAG, fine-tuning, tools</a:t>
            </a:r>
            <a:endParaRPr lang="en-US" sz="1300" dirty="0"/>
          </a:p>
        </p:txBody>
      </p:sp>
      <p:sp>
        <p:nvSpPr>
          <p:cNvPr id="24" name="step"/>
          <p:cNvSpPr/>
          <p:nvPr/>
        </p:nvSpPr>
        <p:spPr>
          <a:xfrm>
            <a:off x="7150608" y="1737360"/>
            <a:ext cx="768096" cy="768096"/>
          </a:xfrm>
          <a:prstGeom prst="ellipse">
            <a:avLst/>
          </a:prstGeom>
          <a:solidFill>
            <a:schemeClr val="tx1"/>
          </a:solidFill>
          <a:ln/>
        </p:spPr>
        <p:txBody>
          <a:bodyPr/>
          <a:lstStyle/>
          <a:p>
            <a:endParaRPr lang="en-US"/>
          </a:p>
        </p:txBody>
      </p:sp>
      <p:sp>
        <p:nvSpPr>
          <p:cNvPr id="25" name="Text 23"/>
          <p:cNvSpPr txBox="1"/>
          <p:nvPr/>
        </p:nvSpPr>
        <p:spPr>
          <a:xfrm>
            <a:off x="7150608"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26" name="Shape 24"/>
          <p:cNvSpPr/>
          <p:nvPr/>
        </p:nvSpPr>
        <p:spPr>
          <a:xfrm>
            <a:off x="7991856" y="2121408"/>
            <a:ext cx="658368" cy="914"/>
          </a:xfrm>
          <a:prstGeom prst="line">
            <a:avLst/>
          </a:prstGeom>
          <a:noFill/>
          <a:ln w="19050">
            <a:solidFill>
              <a:schemeClr val="accent5"/>
            </a:solidFill>
            <a:prstDash val="solid"/>
            <a:tailEnd type="triangle"/>
          </a:ln>
        </p:spPr>
        <p:txBody>
          <a:bodyPr/>
          <a:lstStyle/>
          <a:p>
            <a:endParaRPr lang="en-US"/>
          </a:p>
        </p:txBody>
      </p:sp>
      <p:sp>
        <p:nvSpPr>
          <p:cNvPr id="27" name="Text 25"/>
          <p:cNvSpPr txBox="1"/>
          <p:nvPr/>
        </p:nvSpPr>
        <p:spPr>
          <a:xfrm>
            <a:off x="6839712"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Evaluate</a:t>
            </a:r>
            <a:endParaRPr lang="en-US" sz="1600" dirty="0"/>
          </a:p>
        </p:txBody>
      </p:sp>
      <p:sp>
        <p:nvSpPr>
          <p:cNvPr id="28" name="Text 26"/>
          <p:cNvSpPr txBox="1"/>
          <p:nvPr/>
        </p:nvSpPr>
        <p:spPr>
          <a:xfrm>
            <a:off x="6839712"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Accuracy, safety, red-teaming, cost</a:t>
            </a:r>
            <a:endParaRPr lang="en-US" sz="1300" dirty="0"/>
          </a:p>
        </p:txBody>
      </p:sp>
      <p:sp>
        <p:nvSpPr>
          <p:cNvPr id="29" name="step"/>
          <p:cNvSpPr/>
          <p:nvPr/>
        </p:nvSpPr>
        <p:spPr>
          <a:xfrm>
            <a:off x="8723376" y="1737360"/>
            <a:ext cx="768096" cy="768096"/>
          </a:xfrm>
          <a:prstGeom prst="ellipse">
            <a:avLst/>
          </a:prstGeom>
          <a:solidFill>
            <a:schemeClr val="tx1"/>
          </a:solidFill>
          <a:ln/>
        </p:spPr>
        <p:txBody>
          <a:bodyPr/>
          <a:lstStyle/>
          <a:p>
            <a:endParaRPr lang="en-US"/>
          </a:p>
        </p:txBody>
      </p:sp>
      <p:sp>
        <p:nvSpPr>
          <p:cNvPr id="30" name="Text 28"/>
          <p:cNvSpPr txBox="1"/>
          <p:nvPr/>
        </p:nvSpPr>
        <p:spPr>
          <a:xfrm>
            <a:off x="8723376"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6</a:t>
            </a:r>
            <a:endParaRPr lang="en-US" sz="2400" dirty="0"/>
          </a:p>
        </p:txBody>
      </p:sp>
      <p:sp>
        <p:nvSpPr>
          <p:cNvPr id="31" name="Shape 29"/>
          <p:cNvSpPr/>
          <p:nvPr/>
        </p:nvSpPr>
        <p:spPr>
          <a:xfrm>
            <a:off x="9564624" y="2121408"/>
            <a:ext cx="658368" cy="914"/>
          </a:xfrm>
          <a:prstGeom prst="line">
            <a:avLst/>
          </a:prstGeom>
          <a:noFill/>
          <a:ln w="19050">
            <a:solidFill>
              <a:schemeClr val="accent5"/>
            </a:solidFill>
            <a:prstDash val="solid"/>
            <a:tailEnd type="triangle"/>
          </a:ln>
        </p:spPr>
        <p:txBody>
          <a:bodyPr/>
          <a:lstStyle/>
          <a:p>
            <a:endParaRPr lang="en-US"/>
          </a:p>
        </p:txBody>
      </p:sp>
      <p:sp>
        <p:nvSpPr>
          <p:cNvPr id="32" name="Text 30"/>
          <p:cNvSpPr txBox="1"/>
          <p:nvPr/>
        </p:nvSpPr>
        <p:spPr>
          <a:xfrm>
            <a:off x="8412480"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Deploy</a:t>
            </a:r>
            <a:endParaRPr lang="en-US" sz="1600" dirty="0"/>
          </a:p>
        </p:txBody>
      </p:sp>
      <p:sp>
        <p:nvSpPr>
          <p:cNvPr id="33" name="Text 31"/>
          <p:cNvSpPr txBox="1"/>
          <p:nvPr/>
        </p:nvSpPr>
        <p:spPr>
          <a:xfrm>
            <a:off x="8412480"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Canary or A/B, gateway, SLOs, rollback</a:t>
            </a:r>
            <a:endParaRPr lang="en-US" sz="1300" dirty="0"/>
          </a:p>
        </p:txBody>
      </p:sp>
      <p:sp>
        <p:nvSpPr>
          <p:cNvPr id="34" name="step"/>
          <p:cNvSpPr/>
          <p:nvPr/>
        </p:nvSpPr>
        <p:spPr>
          <a:xfrm>
            <a:off x="10296144" y="1737360"/>
            <a:ext cx="768096" cy="768096"/>
          </a:xfrm>
          <a:prstGeom prst="ellipse">
            <a:avLst/>
          </a:prstGeom>
          <a:solidFill>
            <a:schemeClr val="tx1"/>
          </a:solidFill>
          <a:ln/>
        </p:spPr>
        <p:txBody>
          <a:bodyPr/>
          <a:lstStyle/>
          <a:p>
            <a:endParaRPr lang="en-US"/>
          </a:p>
        </p:txBody>
      </p:sp>
      <p:sp>
        <p:nvSpPr>
          <p:cNvPr id="35" name="Text 33"/>
          <p:cNvSpPr txBox="1"/>
          <p:nvPr/>
        </p:nvSpPr>
        <p:spPr>
          <a:xfrm>
            <a:off x="10296144"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7</a:t>
            </a:r>
            <a:endParaRPr lang="en-US" sz="2400" dirty="0"/>
          </a:p>
        </p:txBody>
      </p:sp>
      <p:sp>
        <p:nvSpPr>
          <p:cNvPr id="36" name="Text 34"/>
          <p:cNvSpPr txBox="1"/>
          <p:nvPr/>
        </p:nvSpPr>
        <p:spPr>
          <a:xfrm>
            <a:off x="9985248"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Monitor</a:t>
            </a:r>
            <a:endParaRPr lang="en-US" sz="1600" dirty="0"/>
          </a:p>
        </p:txBody>
      </p:sp>
      <p:sp>
        <p:nvSpPr>
          <p:cNvPr id="37" name="Text 35"/>
          <p:cNvSpPr txBox="1"/>
          <p:nvPr/>
        </p:nvSpPr>
        <p:spPr>
          <a:xfrm>
            <a:off x="9985248"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Quality, latency, cost, drift, feedback</a:t>
            </a:r>
            <a:endParaRPr lang="en-US" sz="1300" dirty="0"/>
          </a:p>
        </p:txBody>
      </p:sp>
      <p:sp>
        <p:nvSpPr>
          <p:cNvPr id="38" name="Shape 36"/>
          <p:cNvSpPr/>
          <p:nvPr/>
        </p:nvSpPr>
        <p:spPr>
          <a:xfrm>
            <a:off x="10680192" y="3977640"/>
            <a:ext cx="914" cy="320040"/>
          </a:xfrm>
          <a:prstGeom prst="line">
            <a:avLst/>
          </a:prstGeom>
          <a:noFill/>
          <a:ln w="25400">
            <a:solidFill>
              <a:schemeClr val="accent2"/>
            </a:solidFill>
            <a:prstDash val="solid"/>
          </a:ln>
        </p:spPr>
        <p:txBody>
          <a:bodyPr/>
          <a:lstStyle/>
          <a:p>
            <a:endParaRPr lang="en-US"/>
          </a:p>
        </p:txBody>
      </p:sp>
      <p:sp>
        <p:nvSpPr>
          <p:cNvPr id="39" name="Shape 37"/>
          <p:cNvSpPr/>
          <p:nvPr/>
        </p:nvSpPr>
        <p:spPr>
          <a:xfrm>
            <a:off x="1243584" y="4297680"/>
            <a:ext cx="9436608" cy="914"/>
          </a:xfrm>
          <a:prstGeom prst="line">
            <a:avLst/>
          </a:prstGeom>
          <a:noFill/>
          <a:ln w="25400">
            <a:solidFill>
              <a:schemeClr val="accent2"/>
            </a:solidFill>
            <a:prstDash val="solid"/>
          </a:ln>
        </p:spPr>
        <p:txBody>
          <a:bodyPr/>
          <a:lstStyle/>
          <a:p>
            <a:endParaRPr lang="en-US"/>
          </a:p>
        </p:txBody>
      </p:sp>
      <p:sp>
        <p:nvSpPr>
          <p:cNvPr id="40" name="Shape 38"/>
          <p:cNvSpPr/>
          <p:nvPr/>
        </p:nvSpPr>
        <p:spPr>
          <a:xfrm flipV="1">
            <a:off x="1243584" y="3977640"/>
            <a:ext cx="914" cy="320040"/>
          </a:xfrm>
          <a:prstGeom prst="line">
            <a:avLst/>
          </a:prstGeom>
          <a:noFill/>
          <a:ln w="25400">
            <a:solidFill>
              <a:schemeClr val="accent2"/>
            </a:solidFill>
            <a:prstDash val="solid"/>
            <a:tailEnd type="triangle"/>
          </a:ln>
        </p:spPr>
        <p:txBody>
          <a:bodyPr/>
          <a:lstStyle/>
          <a:p>
            <a:endParaRPr lang="en-US"/>
          </a:p>
        </p:txBody>
      </p:sp>
      <p:sp>
        <p:nvSpPr>
          <p:cNvPr id="41" name="Text 39"/>
          <p:cNvSpPr txBox="1"/>
          <p:nvPr/>
        </p:nvSpPr>
        <p:spPr>
          <a:xfrm>
            <a:off x="2286000" y="4389120"/>
            <a:ext cx="7589520" cy="320040"/>
          </a:xfrm>
          <a:prstGeom prst="rect">
            <a:avLst/>
          </a:prstGeom>
          <a:noFill/>
          <a:ln/>
        </p:spPr>
        <p:txBody>
          <a:bodyPr wrap="square" lIns="0" tIns="0" rIns="0" bIns="0" rtlCol="0" anchor="t"/>
          <a:lstStyle/>
          <a:p>
            <a:pPr marL="0" indent="0" algn="ctr">
              <a:buNone/>
            </a:pPr>
            <a:r>
              <a:rPr lang="en-US" sz="1400" i="1" dirty="0">
                <a:solidFill>
                  <a:schemeClr val="accent2"/>
                </a:solidFill>
              </a:rPr>
              <a:t>Feedback loop: failures and user ratings become new eval cases and training data</a:t>
            </a:r>
            <a:endParaRPr lang="en-US" sz="1400" dirty="0"/>
          </a:p>
        </p:txBody>
      </p:sp>
      <p:sp>
        <p:nvSpPr>
          <p:cNvPr id="42" name="Text 40"/>
          <p:cNvSpPr txBox="1"/>
          <p:nvPr/>
        </p:nvSpPr>
        <p:spPr>
          <a:xfrm>
            <a:off x="548640" y="4983480"/>
            <a:ext cx="36576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WHO IS INVOLVED</a:t>
            </a:r>
            <a:endParaRPr lang="en-US" sz="1200" dirty="0"/>
          </a:p>
        </p:txBody>
      </p:sp>
      <p:sp>
        <p:nvSpPr>
          <p:cNvPr id="43" name="role"/>
          <p:cNvSpPr/>
          <p:nvPr/>
        </p:nvSpPr>
        <p:spPr>
          <a:xfrm>
            <a:off x="548640" y="5349240"/>
            <a:ext cx="2084832" cy="777240"/>
          </a:xfrm>
          <a:prstGeom prst="roundRect">
            <a:avLst>
              <a:gd name="adj" fmla="val 7059"/>
            </a:avLst>
          </a:prstGeom>
          <a:solidFill>
            <a:schemeClr val="bg2"/>
          </a:solidFill>
          <a:ln/>
        </p:spPr>
        <p:txBody>
          <a:bodyPr/>
          <a:lstStyle/>
          <a:p>
            <a:endParaRPr lang="en-US"/>
          </a:p>
        </p:txBody>
      </p:sp>
      <p:sp>
        <p:nvSpPr>
          <p:cNvPr id="44" name="Text 42"/>
          <p:cNvSpPr txBox="1"/>
          <p:nvPr/>
        </p:nvSpPr>
        <p:spPr>
          <a:xfrm>
            <a:off x="685800"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Product owner</a:t>
            </a:r>
            <a:endParaRPr lang="en-US" sz="1400" dirty="0"/>
          </a:p>
          <a:p>
            <a:pPr marL="0" indent="0">
              <a:buNone/>
            </a:pPr>
            <a:r>
              <a:rPr lang="en-US" sz="1300" dirty="0">
                <a:solidFill>
                  <a:schemeClr val="tx2"/>
                </a:solidFill>
              </a:rPr>
              <a:t>value and KPI</a:t>
            </a:r>
            <a:endParaRPr lang="en-US" sz="1400" dirty="0"/>
          </a:p>
        </p:txBody>
      </p:sp>
      <p:sp>
        <p:nvSpPr>
          <p:cNvPr id="45" name="role"/>
          <p:cNvSpPr/>
          <p:nvPr/>
        </p:nvSpPr>
        <p:spPr>
          <a:xfrm>
            <a:off x="2770632" y="5349240"/>
            <a:ext cx="2084832" cy="777240"/>
          </a:xfrm>
          <a:prstGeom prst="roundRect">
            <a:avLst>
              <a:gd name="adj" fmla="val 7059"/>
            </a:avLst>
          </a:prstGeom>
          <a:solidFill>
            <a:schemeClr val="bg2"/>
          </a:solidFill>
          <a:ln/>
        </p:spPr>
        <p:txBody>
          <a:bodyPr/>
          <a:lstStyle/>
          <a:p>
            <a:endParaRPr lang="en-US"/>
          </a:p>
        </p:txBody>
      </p:sp>
      <p:sp>
        <p:nvSpPr>
          <p:cNvPr id="46" name="Text 44"/>
          <p:cNvSpPr txBox="1"/>
          <p:nvPr/>
        </p:nvSpPr>
        <p:spPr>
          <a:xfrm>
            <a:off x="2907792"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Data engineers</a:t>
            </a:r>
            <a:endParaRPr lang="en-US" sz="1400" dirty="0"/>
          </a:p>
          <a:p>
            <a:pPr marL="0" indent="0">
              <a:buNone/>
            </a:pPr>
            <a:r>
              <a:rPr lang="en-US" sz="1300" dirty="0">
                <a:solidFill>
                  <a:schemeClr val="tx2"/>
                </a:solidFill>
              </a:rPr>
              <a:t>pipelines, quality</a:t>
            </a:r>
            <a:endParaRPr lang="en-US" sz="1400" dirty="0"/>
          </a:p>
        </p:txBody>
      </p:sp>
      <p:sp>
        <p:nvSpPr>
          <p:cNvPr id="47" name="role"/>
          <p:cNvSpPr/>
          <p:nvPr/>
        </p:nvSpPr>
        <p:spPr>
          <a:xfrm>
            <a:off x="4992624" y="5349240"/>
            <a:ext cx="2084832" cy="777240"/>
          </a:xfrm>
          <a:prstGeom prst="roundRect">
            <a:avLst>
              <a:gd name="adj" fmla="val 7059"/>
            </a:avLst>
          </a:prstGeom>
          <a:solidFill>
            <a:schemeClr val="bg2"/>
          </a:solidFill>
          <a:ln/>
        </p:spPr>
        <p:txBody>
          <a:bodyPr/>
          <a:lstStyle/>
          <a:p>
            <a:endParaRPr lang="en-US"/>
          </a:p>
        </p:txBody>
      </p:sp>
      <p:sp>
        <p:nvSpPr>
          <p:cNvPr id="48" name="Text 46"/>
          <p:cNvSpPr txBox="1"/>
          <p:nvPr/>
        </p:nvSpPr>
        <p:spPr>
          <a:xfrm>
            <a:off x="5129784"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AI / ML engineers</a:t>
            </a:r>
            <a:endParaRPr lang="en-US" sz="1400" dirty="0"/>
          </a:p>
          <a:p>
            <a:pPr marL="0" indent="0">
              <a:buNone/>
            </a:pPr>
            <a:r>
              <a:rPr lang="en-US" sz="1300" dirty="0">
                <a:solidFill>
                  <a:schemeClr val="tx2"/>
                </a:solidFill>
              </a:rPr>
              <a:t>prompts, RAG, tuning</a:t>
            </a:r>
            <a:endParaRPr lang="en-US" sz="1400" dirty="0"/>
          </a:p>
        </p:txBody>
      </p:sp>
      <p:sp>
        <p:nvSpPr>
          <p:cNvPr id="49" name="role"/>
          <p:cNvSpPr/>
          <p:nvPr/>
        </p:nvSpPr>
        <p:spPr>
          <a:xfrm>
            <a:off x="7214616" y="5349240"/>
            <a:ext cx="2084832" cy="777240"/>
          </a:xfrm>
          <a:prstGeom prst="roundRect">
            <a:avLst>
              <a:gd name="adj" fmla="val 7059"/>
            </a:avLst>
          </a:prstGeom>
          <a:solidFill>
            <a:schemeClr val="bg2"/>
          </a:solidFill>
          <a:ln/>
        </p:spPr>
        <p:txBody>
          <a:bodyPr/>
          <a:lstStyle/>
          <a:p>
            <a:endParaRPr lang="en-US"/>
          </a:p>
        </p:txBody>
      </p:sp>
      <p:sp>
        <p:nvSpPr>
          <p:cNvPr id="50" name="Text 48"/>
          <p:cNvSpPr txBox="1"/>
          <p:nvPr/>
        </p:nvSpPr>
        <p:spPr>
          <a:xfrm>
            <a:off x="7351776"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Platform / DevOps</a:t>
            </a:r>
            <a:endParaRPr lang="en-US" sz="1400" dirty="0"/>
          </a:p>
          <a:p>
            <a:pPr marL="0" indent="0">
              <a:buNone/>
            </a:pPr>
            <a:r>
              <a:rPr lang="en-US" sz="1300" dirty="0">
                <a:solidFill>
                  <a:schemeClr val="tx2"/>
                </a:solidFill>
              </a:rPr>
              <a:t>deploy, scale, observe</a:t>
            </a:r>
            <a:endParaRPr lang="en-US" sz="1400" dirty="0"/>
          </a:p>
        </p:txBody>
      </p:sp>
      <p:sp>
        <p:nvSpPr>
          <p:cNvPr id="51" name="role"/>
          <p:cNvSpPr/>
          <p:nvPr/>
        </p:nvSpPr>
        <p:spPr>
          <a:xfrm>
            <a:off x="9436608" y="5349240"/>
            <a:ext cx="2084832" cy="777240"/>
          </a:xfrm>
          <a:prstGeom prst="roundRect">
            <a:avLst>
              <a:gd name="adj" fmla="val 7059"/>
            </a:avLst>
          </a:prstGeom>
          <a:solidFill>
            <a:schemeClr val="bg2"/>
          </a:solidFill>
          <a:ln/>
        </p:spPr>
        <p:txBody>
          <a:bodyPr/>
          <a:lstStyle/>
          <a:p>
            <a:endParaRPr lang="en-US"/>
          </a:p>
        </p:txBody>
      </p:sp>
      <p:sp>
        <p:nvSpPr>
          <p:cNvPr id="52" name="Text 50"/>
          <p:cNvSpPr txBox="1"/>
          <p:nvPr/>
        </p:nvSpPr>
        <p:spPr>
          <a:xfrm>
            <a:off x="9573768"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Security and legal</a:t>
            </a:r>
            <a:endParaRPr lang="en-US" sz="1400" dirty="0"/>
          </a:p>
          <a:p>
            <a:pPr marL="0" indent="0">
              <a:buNone/>
            </a:pPr>
            <a:r>
              <a:rPr lang="en-US" sz="1300" dirty="0">
                <a:solidFill>
                  <a:schemeClr val="tx2"/>
                </a:solidFill>
              </a:rPr>
              <a:t>risk and approval</a:t>
            </a:r>
            <a:endParaRPr lang="en-US" sz="1400" dirty="0"/>
          </a:p>
        </p:txBody>
      </p:sp>
      <p:sp>
        <p:nvSpPr>
          <p:cNvPr id="5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Four ways to adapt a model to enterprise needs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Start with the least invasive technique that closes the quality gap</a:t>
            </a:r>
            <a:endParaRPr lang="en-US" sz="1600" dirty="0"/>
          </a:p>
        </p:txBody>
      </p:sp>
      <p:sp>
        <p:nvSpPr>
          <p:cNvPr id="4" name="pattern-card"/>
          <p:cNvSpPr/>
          <p:nvPr/>
        </p:nvSpPr>
        <p:spPr>
          <a:xfrm>
            <a:off x="548640" y="1600200"/>
            <a:ext cx="2651760" cy="3703320"/>
          </a:xfrm>
          <a:prstGeom prst="roundRect">
            <a:avLst>
              <a:gd name="adj" fmla="val 2759"/>
            </a:avLst>
          </a:prstGeom>
          <a:solidFill>
            <a:schemeClr val="bg2"/>
          </a:solidFill>
          <a:ln/>
        </p:spPr>
        <p:txBody>
          <a:bodyPr/>
          <a:lstStyle/>
          <a:p>
            <a:endParaRPr lang="en-US"/>
          </a:p>
        </p:txBody>
      </p:sp>
      <p:sp>
        <p:nvSpPr>
          <p:cNvPr id="5" name="icon-chip"/>
          <p:cNvSpPr/>
          <p:nvPr/>
        </p:nvSpPr>
        <p:spPr>
          <a:xfrm>
            <a:off x="777240" y="1783080"/>
            <a:ext cx="566928" cy="566928"/>
          </a:xfrm>
          <a:prstGeom prst="ellipse">
            <a:avLst/>
          </a:prstGeom>
          <a:solidFill>
            <a:schemeClr val="accent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1964" y="1907804"/>
            <a:ext cx="317480" cy="317480"/>
          </a:xfrm>
          <a:prstGeom prst="rect">
            <a:avLst/>
          </a:prstGeom>
        </p:spPr>
      </p:pic>
      <p:sp>
        <p:nvSpPr>
          <p:cNvPr id="7" name="Text 4"/>
          <p:cNvSpPr txBox="1"/>
          <p:nvPr/>
        </p:nvSpPr>
        <p:spPr>
          <a:xfrm>
            <a:off x="777240"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Prompt engineering</a:t>
            </a:r>
            <a:endParaRPr lang="en-US" sz="1800" dirty="0"/>
          </a:p>
        </p:txBody>
      </p:sp>
      <p:sp>
        <p:nvSpPr>
          <p:cNvPr id="8" name="Text 5"/>
          <p:cNvSpPr txBox="1"/>
          <p:nvPr/>
        </p:nvSpPr>
        <p:spPr>
          <a:xfrm>
            <a:off x="777240"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Instructions, examples and output format in the prompt</a:t>
            </a:r>
            <a:endParaRPr lang="en-US" sz="1400" dirty="0"/>
          </a:p>
        </p:txBody>
      </p:sp>
      <p:sp>
        <p:nvSpPr>
          <p:cNvPr id="9" name="Text 6"/>
          <p:cNvSpPr txBox="1"/>
          <p:nvPr/>
        </p:nvSpPr>
        <p:spPr>
          <a:xfrm>
            <a:off x="777240"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Task is clear; the model already knows enough</a:t>
            </a:r>
            <a:endParaRPr lang="en-US" sz="1400" dirty="0"/>
          </a:p>
        </p:txBody>
      </p:sp>
      <p:sp>
        <p:nvSpPr>
          <p:cNvPr id="10" name="Text 7"/>
          <p:cNvSpPr txBox="1"/>
          <p:nvPr/>
        </p:nvSpPr>
        <p:spPr>
          <a:xfrm>
            <a:off x="777240"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11" name="Shape 8"/>
          <p:cNvSpPr/>
          <p:nvPr/>
        </p:nvSpPr>
        <p:spPr>
          <a:xfrm>
            <a:off x="1463040" y="4956048"/>
            <a:ext cx="164592" cy="164592"/>
          </a:xfrm>
          <a:prstGeom prst="ellipse">
            <a:avLst/>
          </a:prstGeom>
          <a:solidFill>
            <a:schemeClr val="accent3"/>
          </a:solidFill>
          <a:ln w="12700">
            <a:solidFill>
              <a:schemeClr val="accent3"/>
            </a:solidFill>
            <a:prstDash val="solid"/>
          </a:ln>
        </p:spPr>
        <p:txBody>
          <a:bodyPr/>
          <a:lstStyle/>
          <a:p>
            <a:endParaRPr lang="en-US"/>
          </a:p>
        </p:txBody>
      </p:sp>
      <p:sp>
        <p:nvSpPr>
          <p:cNvPr id="12" name="Shape 9"/>
          <p:cNvSpPr/>
          <p:nvPr/>
        </p:nvSpPr>
        <p:spPr>
          <a:xfrm>
            <a:off x="1700784"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3" name="Shape 10"/>
          <p:cNvSpPr/>
          <p:nvPr/>
        </p:nvSpPr>
        <p:spPr>
          <a:xfrm>
            <a:off x="1938528"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4" name="Shape 11"/>
          <p:cNvSpPr/>
          <p:nvPr/>
        </p:nvSpPr>
        <p:spPr>
          <a:xfrm>
            <a:off x="2176272"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5" name="pattern-card"/>
          <p:cNvSpPr/>
          <p:nvPr/>
        </p:nvSpPr>
        <p:spPr>
          <a:xfrm>
            <a:off x="3346704" y="1600200"/>
            <a:ext cx="2651760" cy="3703320"/>
          </a:xfrm>
          <a:prstGeom prst="roundRect">
            <a:avLst>
              <a:gd name="adj" fmla="val 2759"/>
            </a:avLst>
          </a:prstGeom>
          <a:solidFill>
            <a:schemeClr val="bg2"/>
          </a:solidFill>
          <a:ln/>
        </p:spPr>
        <p:txBody>
          <a:bodyPr/>
          <a:lstStyle/>
          <a:p>
            <a:endParaRPr lang="en-US"/>
          </a:p>
        </p:txBody>
      </p:sp>
      <p:sp>
        <p:nvSpPr>
          <p:cNvPr id="16" name="icon-chip"/>
          <p:cNvSpPr/>
          <p:nvPr/>
        </p:nvSpPr>
        <p:spPr>
          <a:xfrm>
            <a:off x="3575304" y="1783080"/>
            <a:ext cx="566928" cy="566928"/>
          </a:xfrm>
          <a:prstGeom prst="ellipse">
            <a:avLst/>
          </a:prstGeom>
          <a:solidFill>
            <a:schemeClr val="accent2"/>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3700028" y="1907804"/>
            <a:ext cx="317480" cy="317480"/>
          </a:xfrm>
          <a:prstGeom prst="rect">
            <a:avLst/>
          </a:prstGeom>
        </p:spPr>
      </p:pic>
      <p:sp>
        <p:nvSpPr>
          <p:cNvPr id="18" name="Text 14"/>
          <p:cNvSpPr txBox="1"/>
          <p:nvPr/>
        </p:nvSpPr>
        <p:spPr>
          <a:xfrm>
            <a:off x="3575304"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RAG</a:t>
            </a:r>
            <a:endParaRPr lang="en-US" sz="1800" dirty="0"/>
          </a:p>
        </p:txBody>
      </p:sp>
      <p:sp>
        <p:nvSpPr>
          <p:cNvPr id="19" name="Text 15"/>
          <p:cNvSpPr txBox="1"/>
          <p:nvPr/>
        </p:nvSpPr>
        <p:spPr>
          <a:xfrm>
            <a:off x="3575304"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Retrieves enterprise documents at query time and adds them to the prompt</a:t>
            </a:r>
            <a:endParaRPr lang="en-US" sz="1400" dirty="0"/>
          </a:p>
        </p:txBody>
      </p:sp>
      <p:sp>
        <p:nvSpPr>
          <p:cNvPr id="20" name="Text 16"/>
          <p:cNvSpPr txBox="1"/>
          <p:nvPr/>
        </p:nvSpPr>
        <p:spPr>
          <a:xfrm>
            <a:off x="3575304"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Answers need current, private or citable knowledge</a:t>
            </a:r>
            <a:endParaRPr lang="en-US" sz="1400" dirty="0"/>
          </a:p>
        </p:txBody>
      </p:sp>
      <p:sp>
        <p:nvSpPr>
          <p:cNvPr id="21" name="Text 17"/>
          <p:cNvSpPr txBox="1"/>
          <p:nvPr/>
        </p:nvSpPr>
        <p:spPr>
          <a:xfrm>
            <a:off x="3575304"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22" name="Shape 18"/>
          <p:cNvSpPr/>
          <p:nvPr/>
        </p:nvSpPr>
        <p:spPr>
          <a:xfrm>
            <a:off x="4261104" y="4956048"/>
            <a:ext cx="164592" cy="164592"/>
          </a:xfrm>
          <a:prstGeom prst="ellipse">
            <a:avLst/>
          </a:prstGeom>
          <a:solidFill>
            <a:schemeClr val="accent2"/>
          </a:solidFill>
          <a:ln w="12700">
            <a:solidFill>
              <a:schemeClr val="accent2"/>
            </a:solidFill>
            <a:prstDash val="solid"/>
          </a:ln>
        </p:spPr>
        <p:txBody>
          <a:bodyPr/>
          <a:lstStyle/>
          <a:p>
            <a:endParaRPr lang="en-US"/>
          </a:p>
        </p:txBody>
      </p:sp>
      <p:sp>
        <p:nvSpPr>
          <p:cNvPr id="23" name="Shape 19"/>
          <p:cNvSpPr/>
          <p:nvPr/>
        </p:nvSpPr>
        <p:spPr>
          <a:xfrm>
            <a:off x="4498848" y="4956048"/>
            <a:ext cx="164592" cy="164592"/>
          </a:xfrm>
          <a:prstGeom prst="ellipse">
            <a:avLst/>
          </a:prstGeom>
          <a:solidFill>
            <a:schemeClr val="accent2"/>
          </a:solidFill>
          <a:ln w="12700">
            <a:solidFill>
              <a:schemeClr val="accent2"/>
            </a:solidFill>
            <a:prstDash val="solid"/>
          </a:ln>
        </p:spPr>
        <p:txBody>
          <a:bodyPr/>
          <a:lstStyle/>
          <a:p>
            <a:endParaRPr lang="en-US"/>
          </a:p>
        </p:txBody>
      </p:sp>
      <p:sp>
        <p:nvSpPr>
          <p:cNvPr id="24" name="Shape 20"/>
          <p:cNvSpPr/>
          <p:nvPr/>
        </p:nvSpPr>
        <p:spPr>
          <a:xfrm>
            <a:off x="4736592" y="4956048"/>
            <a:ext cx="164592" cy="164592"/>
          </a:xfrm>
          <a:prstGeom prst="ellipse">
            <a:avLst/>
          </a:prstGeom>
          <a:solidFill>
            <a:schemeClr val="bg1"/>
          </a:solidFill>
          <a:ln w="12700">
            <a:solidFill>
              <a:schemeClr val="accent2"/>
            </a:solidFill>
            <a:prstDash val="solid"/>
          </a:ln>
        </p:spPr>
        <p:txBody>
          <a:bodyPr/>
          <a:lstStyle/>
          <a:p>
            <a:endParaRPr lang="en-US"/>
          </a:p>
        </p:txBody>
      </p:sp>
      <p:sp>
        <p:nvSpPr>
          <p:cNvPr id="25" name="Shape 21"/>
          <p:cNvSpPr/>
          <p:nvPr/>
        </p:nvSpPr>
        <p:spPr>
          <a:xfrm>
            <a:off x="4974336" y="4956048"/>
            <a:ext cx="164592" cy="164592"/>
          </a:xfrm>
          <a:prstGeom prst="ellipse">
            <a:avLst/>
          </a:prstGeom>
          <a:solidFill>
            <a:schemeClr val="bg1"/>
          </a:solidFill>
          <a:ln w="12700">
            <a:solidFill>
              <a:schemeClr val="accent2"/>
            </a:solidFill>
            <a:prstDash val="solid"/>
          </a:ln>
        </p:spPr>
        <p:txBody>
          <a:bodyPr/>
          <a:lstStyle/>
          <a:p>
            <a:endParaRPr lang="en-US"/>
          </a:p>
        </p:txBody>
      </p:sp>
      <p:sp>
        <p:nvSpPr>
          <p:cNvPr id="26" name="pattern-card"/>
          <p:cNvSpPr/>
          <p:nvPr/>
        </p:nvSpPr>
        <p:spPr>
          <a:xfrm>
            <a:off x="6144768" y="1600200"/>
            <a:ext cx="2651760" cy="3703320"/>
          </a:xfrm>
          <a:prstGeom prst="roundRect">
            <a:avLst>
              <a:gd name="adj" fmla="val 2759"/>
            </a:avLst>
          </a:prstGeom>
          <a:solidFill>
            <a:schemeClr val="bg2"/>
          </a:solidFill>
          <a:ln/>
        </p:spPr>
        <p:txBody>
          <a:bodyPr/>
          <a:lstStyle/>
          <a:p>
            <a:endParaRPr lang="en-US"/>
          </a:p>
        </p:txBody>
      </p:sp>
      <p:sp>
        <p:nvSpPr>
          <p:cNvPr id="27" name="icon-chip"/>
          <p:cNvSpPr/>
          <p:nvPr/>
        </p:nvSpPr>
        <p:spPr>
          <a:xfrm>
            <a:off x="6373368" y="1783080"/>
            <a:ext cx="566928" cy="566928"/>
          </a:xfrm>
          <a:prstGeom prst="ellipse">
            <a:avLst/>
          </a:prstGeom>
          <a:solidFill>
            <a:schemeClr val="accent1"/>
          </a:solidFill>
          <a:ln/>
        </p:spPr>
        <p:txBody>
          <a:bodyPr/>
          <a:lstStyle/>
          <a:p>
            <a:endParaRPr lang="en-US"/>
          </a:p>
        </p:txBody>
      </p:sp>
      <p:pic>
        <p:nvPicPr>
          <p:cNvPr id="28" name="Image 2" descr="preencoded.png"/>
          <p:cNvPicPr>
            <a:picLocks noChangeAspect="1"/>
          </p:cNvPicPr>
          <p:nvPr/>
        </p:nvPicPr>
        <p:blipFill>
          <a:blip r:embed="rId5"/>
          <a:stretch>
            <a:fillRect/>
          </a:stretch>
        </p:blipFill>
        <p:spPr>
          <a:xfrm>
            <a:off x="6498092" y="1907804"/>
            <a:ext cx="317480" cy="317480"/>
          </a:xfrm>
          <a:prstGeom prst="rect">
            <a:avLst/>
          </a:prstGeom>
        </p:spPr>
      </p:pic>
      <p:sp>
        <p:nvSpPr>
          <p:cNvPr id="29" name="Text 24"/>
          <p:cNvSpPr txBox="1"/>
          <p:nvPr/>
        </p:nvSpPr>
        <p:spPr>
          <a:xfrm>
            <a:off x="6373368"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Fine-tuning (LoRA / PEFT)</a:t>
            </a:r>
            <a:endParaRPr lang="en-US" sz="1800" dirty="0"/>
          </a:p>
        </p:txBody>
      </p:sp>
      <p:sp>
        <p:nvSpPr>
          <p:cNvPr id="30" name="Text 25"/>
          <p:cNvSpPr txBox="1"/>
          <p:nvPr/>
        </p:nvSpPr>
        <p:spPr>
          <a:xfrm>
            <a:off x="6373368"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Adjusts model weights on curated examples</a:t>
            </a:r>
            <a:endParaRPr lang="en-US" sz="1400" dirty="0"/>
          </a:p>
        </p:txBody>
      </p:sp>
      <p:sp>
        <p:nvSpPr>
          <p:cNvPr id="31" name="Text 26"/>
          <p:cNvSpPr txBox="1"/>
          <p:nvPr/>
        </p:nvSpPr>
        <p:spPr>
          <a:xfrm>
            <a:off x="6373368"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You need a consistent style or format, or a narrow task; or to make an SLM a specialist</a:t>
            </a:r>
            <a:endParaRPr lang="en-US" sz="1400" dirty="0"/>
          </a:p>
        </p:txBody>
      </p:sp>
      <p:sp>
        <p:nvSpPr>
          <p:cNvPr id="32" name="Text 27"/>
          <p:cNvSpPr txBox="1"/>
          <p:nvPr/>
        </p:nvSpPr>
        <p:spPr>
          <a:xfrm>
            <a:off x="6373368"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33" name="Shape 28"/>
          <p:cNvSpPr/>
          <p:nvPr/>
        </p:nvSpPr>
        <p:spPr>
          <a:xfrm>
            <a:off x="7059168"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4" name="Shape 29"/>
          <p:cNvSpPr/>
          <p:nvPr/>
        </p:nvSpPr>
        <p:spPr>
          <a:xfrm>
            <a:off x="7296912"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5" name="Shape 30"/>
          <p:cNvSpPr/>
          <p:nvPr/>
        </p:nvSpPr>
        <p:spPr>
          <a:xfrm>
            <a:off x="7534656"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6" name="Shape 31"/>
          <p:cNvSpPr/>
          <p:nvPr/>
        </p:nvSpPr>
        <p:spPr>
          <a:xfrm>
            <a:off x="7772400" y="4956048"/>
            <a:ext cx="164592" cy="164592"/>
          </a:xfrm>
          <a:prstGeom prst="ellipse">
            <a:avLst/>
          </a:prstGeom>
          <a:solidFill>
            <a:schemeClr val="bg1"/>
          </a:solidFill>
          <a:ln w="12700">
            <a:solidFill>
              <a:schemeClr val="accent1"/>
            </a:solidFill>
            <a:prstDash val="solid"/>
          </a:ln>
        </p:spPr>
        <p:txBody>
          <a:bodyPr/>
          <a:lstStyle/>
          <a:p>
            <a:endParaRPr lang="en-US"/>
          </a:p>
        </p:txBody>
      </p:sp>
      <p:sp>
        <p:nvSpPr>
          <p:cNvPr id="37" name="pattern-card"/>
          <p:cNvSpPr/>
          <p:nvPr/>
        </p:nvSpPr>
        <p:spPr>
          <a:xfrm>
            <a:off x="8942832" y="1600200"/>
            <a:ext cx="2651760" cy="3703320"/>
          </a:xfrm>
          <a:prstGeom prst="roundRect">
            <a:avLst>
              <a:gd name="adj" fmla="val 2759"/>
            </a:avLst>
          </a:prstGeom>
          <a:solidFill>
            <a:schemeClr val="bg2"/>
          </a:solidFill>
          <a:ln/>
        </p:spPr>
        <p:txBody>
          <a:bodyPr/>
          <a:lstStyle/>
          <a:p>
            <a:endParaRPr lang="en-US"/>
          </a:p>
        </p:txBody>
      </p:sp>
      <p:sp>
        <p:nvSpPr>
          <p:cNvPr id="38" name="icon-chip"/>
          <p:cNvSpPr/>
          <p:nvPr/>
        </p:nvSpPr>
        <p:spPr>
          <a:xfrm>
            <a:off x="9171432" y="1783080"/>
            <a:ext cx="566928" cy="566928"/>
          </a:xfrm>
          <a:prstGeom prst="ellipse">
            <a:avLst/>
          </a:prstGeom>
          <a:solidFill>
            <a:schemeClr val="accent4"/>
          </a:solidFill>
          <a:ln/>
        </p:spPr>
        <p:txBody>
          <a:bodyPr/>
          <a:lstStyle/>
          <a:p>
            <a:endParaRPr lang="en-US"/>
          </a:p>
        </p:txBody>
      </p:sp>
      <p:pic>
        <p:nvPicPr>
          <p:cNvPr id="39" name="Image 3" descr="preencoded.png"/>
          <p:cNvPicPr>
            <a:picLocks noChangeAspect="1"/>
          </p:cNvPicPr>
          <p:nvPr/>
        </p:nvPicPr>
        <p:blipFill>
          <a:blip r:embed="rId6"/>
          <a:stretch>
            <a:fillRect/>
          </a:stretch>
        </p:blipFill>
        <p:spPr>
          <a:xfrm>
            <a:off x="9296156" y="1907804"/>
            <a:ext cx="317480" cy="317480"/>
          </a:xfrm>
          <a:prstGeom prst="rect">
            <a:avLst/>
          </a:prstGeom>
        </p:spPr>
      </p:pic>
      <p:sp>
        <p:nvSpPr>
          <p:cNvPr id="40" name="Text 34"/>
          <p:cNvSpPr txBox="1"/>
          <p:nvPr/>
        </p:nvSpPr>
        <p:spPr>
          <a:xfrm>
            <a:off x="9171432"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Agents and tool use</a:t>
            </a:r>
            <a:endParaRPr lang="en-US" sz="1800" dirty="0"/>
          </a:p>
        </p:txBody>
      </p:sp>
      <p:sp>
        <p:nvSpPr>
          <p:cNvPr id="41" name="Text 35"/>
          <p:cNvSpPr txBox="1"/>
          <p:nvPr/>
        </p:nvSpPr>
        <p:spPr>
          <a:xfrm>
            <a:off x="9171432"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Model plans steps and calls APIs, databases and workflows</a:t>
            </a:r>
            <a:endParaRPr lang="en-US" sz="1400" dirty="0"/>
          </a:p>
        </p:txBody>
      </p:sp>
      <p:sp>
        <p:nvSpPr>
          <p:cNvPr id="42" name="Text 36"/>
          <p:cNvSpPr txBox="1"/>
          <p:nvPr/>
        </p:nvSpPr>
        <p:spPr>
          <a:xfrm>
            <a:off x="9171432"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The job is to act (create ticket, query ERP), not just answer</a:t>
            </a:r>
            <a:endParaRPr lang="en-US" sz="1400" dirty="0"/>
          </a:p>
        </p:txBody>
      </p:sp>
      <p:sp>
        <p:nvSpPr>
          <p:cNvPr id="43" name="Text 37"/>
          <p:cNvSpPr txBox="1"/>
          <p:nvPr/>
        </p:nvSpPr>
        <p:spPr>
          <a:xfrm>
            <a:off x="9171432"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44" name="Shape 38"/>
          <p:cNvSpPr/>
          <p:nvPr/>
        </p:nvSpPr>
        <p:spPr>
          <a:xfrm>
            <a:off x="9857232"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5" name="Shape 39"/>
          <p:cNvSpPr/>
          <p:nvPr/>
        </p:nvSpPr>
        <p:spPr>
          <a:xfrm>
            <a:off x="10094976"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6" name="Shape 40"/>
          <p:cNvSpPr/>
          <p:nvPr/>
        </p:nvSpPr>
        <p:spPr>
          <a:xfrm>
            <a:off x="10332720"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7" name="Shape 41"/>
          <p:cNvSpPr/>
          <p:nvPr/>
        </p:nvSpPr>
        <p:spPr>
          <a:xfrm>
            <a:off x="10570464" y="4956048"/>
            <a:ext cx="164592" cy="164592"/>
          </a:xfrm>
          <a:prstGeom prst="ellipse">
            <a:avLst/>
          </a:prstGeom>
          <a:solidFill>
            <a:schemeClr val="bg1"/>
          </a:solidFill>
          <a:ln w="12700">
            <a:solidFill>
              <a:schemeClr val="accent4"/>
            </a:solidFill>
            <a:prstDash val="solid"/>
          </a:ln>
        </p:spPr>
        <p:txBody>
          <a:bodyPr/>
          <a:lstStyle/>
          <a:p>
            <a:endParaRPr lang="en-US"/>
          </a:p>
        </p:txBody>
      </p:sp>
      <p:sp>
        <p:nvSpPr>
          <p:cNvPr id="48" name="callout"/>
          <p:cNvSpPr/>
          <p:nvPr/>
        </p:nvSpPr>
        <p:spPr>
          <a:xfrm>
            <a:off x="548640" y="5486400"/>
            <a:ext cx="11018520" cy="685800"/>
          </a:xfrm>
          <a:prstGeom prst="roundRect">
            <a:avLst>
              <a:gd name="adj" fmla="val 10667"/>
            </a:avLst>
          </a:prstGeom>
          <a:solidFill>
            <a:schemeClr val="tx1"/>
          </a:solidFill>
          <a:ln/>
        </p:spPr>
        <p:txBody>
          <a:bodyPr/>
          <a:lstStyle/>
          <a:p>
            <a:endParaRPr lang="en-US"/>
          </a:p>
        </p:txBody>
      </p:sp>
      <p:pic>
        <p:nvPicPr>
          <p:cNvPr id="49" name="Image 4" descr="preencoded.png"/>
          <p:cNvPicPr>
            <a:picLocks noChangeAspect="1"/>
          </p:cNvPicPr>
          <p:nvPr/>
        </p:nvPicPr>
        <p:blipFill>
          <a:blip r:embed="rId7"/>
          <a:stretch>
            <a:fillRect/>
          </a:stretch>
        </p:blipFill>
        <p:spPr>
          <a:xfrm>
            <a:off x="777240" y="5646420"/>
            <a:ext cx="365760" cy="365760"/>
          </a:xfrm>
          <a:prstGeom prst="rect">
            <a:avLst/>
          </a:prstGeom>
        </p:spPr>
      </p:pic>
      <p:sp>
        <p:nvSpPr>
          <p:cNvPr id="50" name="Text 43"/>
          <p:cNvSpPr txBox="1"/>
          <p:nvPr/>
        </p:nvSpPr>
        <p:spPr>
          <a:xfrm>
            <a:off x="1325880" y="5486400"/>
            <a:ext cx="10012680" cy="685800"/>
          </a:xfrm>
          <a:prstGeom prst="rect">
            <a:avLst/>
          </a:prstGeom>
          <a:noFill/>
          <a:ln/>
        </p:spPr>
        <p:txBody>
          <a:bodyPr wrap="square" lIns="0" tIns="0" rIns="0" bIns="0" rtlCol="0" anchor="ctr"/>
          <a:lstStyle/>
          <a:p>
            <a:pPr marL="0" indent="0">
              <a:buNone/>
            </a:pPr>
            <a:r>
              <a:rPr lang="en-US" sz="1400" b="1" dirty="0">
                <a:solidFill>
                  <a:schemeClr val="accent3"/>
                </a:solidFill>
              </a:rPr>
              <a:t>Rule of thumb: </a:t>
            </a:r>
            <a:r>
              <a:rPr lang="en-US" sz="1400" dirty="0">
                <a:solidFill>
                  <a:schemeClr val="bg1"/>
                </a:solidFill>
              </a:rPr>
              <a:t>prompting first, RAG for knowledge, fine-tuning for behaviour and format (not for facts), agents when the job is to take action.</a:t>
            </a:r>
            <a:endParaRPr lang="en-US" sz="1400" dirty="0"/>
          </a:p>
        </p:txBody>
      </p:sp>
      <p:sp>
        <p:nvSpPr>
          <p:cNvPr id="5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RAG: the most common enterprise pattern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Retrieval-augmented generation: ingest knowledge offline, ground every answer online</a:t>
            </a:r>
            <a:endParaRPr lang="en-US" sz="1600" dirty="0"/>
          </a:p>
        </p:txBody>
      </p:sp>
      <p:sp>
        <p:nvSpPr>
          <p:cNvPr id="4" name="lane"/>
          <p:cNvSpPr/>
          <p:nvPr/>
        </p:nvSpPr>
        <p:spPr>
          <a:xfrm>
            <a:off x="548640" y="1554480"/>
            <a:ext cx="11064240" cy="1600200"/>
          </a:xfrm>
          <a:prstGeom prst="roundRect">
            <a:avLst>
              <a:gd name="adj" fmla="val 4571"/>
            </a:avLst>
          </a:prstGeom>
          <a:solidFill>
            <a:schemeClr val="bg2"/>
          </a:solidFill>
          <a:ln/>
        </p:spPr>
        <p:txBody>
          <a:bodyPr/>
          <a:lstStyle/>
          <a:p>
            <a:endParaRPr lang="en-US"/>
          </a:p>
        </p:txBody>
      </p:sp>
      <p:sp>
        <p:nvSpPr>
          <p:cNvPr id="5" name="Text 3"/>
          <p:cNvSpPr txBox="1"/>
          <p:nvPr/>
        </p:nvSpPr>
        <p:spPr>
          <a:xfrm>
            <a:off x="731520" y="1664208"/>
            <a:ext cx="45720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INGEST  ·  OFFLINE / SCHEDULED</a:t>
            </a:r>
            <a:endParaRPr lang="en-US" sz="1200" dirty="0"/>
          </a:p>
        </p:txBody>
      </p:sp>
      <p:sp>
        <p:nvSpPr>
          <p:cNvPr id="6" name="lane"/>
          <p:cNvSpPr/>
          <p:nvPr/>
        </p:nvSpPr>
        <p:spPr>
          <a:xfrm>
            <a:off x="548640" y="3429000"/>
            <a:ext cx="11064240" cy="1600200"/>
          </a:xfrm>
          <a:prstGeom prst="roundRect">
            <a:avLst>
              <a:gd name="adj" fmla="val 4571"/>
            </a:avLst>
          </a:prstGeom>
          <a:solidFill>
            <a:schemeClr val="bg2"/>
          </a:solidFill>
          <a:ln/>
        </p:spPr>
        <p:txBody>
          <a:bodyPr/>
          <a:lstStyle/>
          <a:p>
            <a:endParaRPr lang="en-US"/>
          </a:p>
        </p:txBody>
      </p:sp>
      <p:sp>
        <p:nvSpPr>
          <p:cNvPr id="7" name="Text 5"/>
          <p:cNvSpPr txBox="1"/>
          <p:nvPr/>
        </p:nvSpPr>
        <p:spPr>
          <a:xfrm>
            <a:off x="731520" y="3538728"/>
            <a:ext cx="45720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QUERY  ·  ONLINE / PER REQUEST</a:t>
            </a:r>
            <a:endParaRPr lang="en-US" sz="1200" dirty="0"/>
          </a:p>
        </p:txBody>
      </p:sp>
      <p:sp>
        <p:nvSpPr>
          <p:cNvPr id="8" name="ingest-step"/>
          <p:cNvSpPr/>
          <p:nvPr/>
        </p:nvSpPr>
        <p:spPr>
          <a:xfrm>
            <a:off x="731520"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Enterprise documents</a:t>
            </a:r>
            <a:endParaRPr lang="en-US" sz="1300" dirty="0"/>
          </a:p>
        </p:txBody>
      </p:sp>
      <p:sp>
        <p:nvSpPr>
          <p:cNvPr id="9" name="Shape 7"/>
          <p:cNvSpPr/>
          <p:nvPr/>
        </p:nvSpPr>
        <p:spPr>
          <a:xfrm>
            <a:off x="2103120" y="2441448"/>
            <a:ext cx="146304" cy="914"/>
          </a:xfrm>
          <a:prstGeom prst="line">
            <a:avLst/>
          </a:prstGeom>
          <a:noFill/>
          <a:ln w="19050">
            <a:solidFill>
              <a:schemeClr val="accent2"/>
            </a:solidFill>
            <a:prstDash val="solid"/>
            <a:tailEnd type="triangle"/>
          </a:ln>
        </p:spPr>
        <p:txBody>
          <a:bodyPr/>
          <a:lstStyle/>
          <a:p>
            <a:endParaRPr lang="en-US"/>
          </a:p>
        </p:txBody>
      </p:sp>
      <p:sp>
        <p:nvSpPr>
          <p:cNvPr id="10" name="ingest-step"/>
          <p:cNvSpPr/>
          <p:nvPr/>
        </p:nvSpPr>
        <p:spPr>
          <a:xfrm>
            <a:off x="2267712"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Chunk and clean</a:t>
            </a:r>
            <a:endParaRPr lang="en-US" sz="1300" dirty="0"/>
          </a:p>
        </p:txBody>
      </p:sp>
      <p:sp>
        <p:nvSpPr>
          <p:cNvPr id="11" name="Shape 9"/>
          <p:cNvSpPr/>
          <p:nvPr/>
        </p:nvSpPr>
        <p:spPr>
          <a:xfrm>
            <a:off x="3639312" y="2441448"/>
            <a:ext cx="146304" cy="914"/>
          </a:xfrm>
          <a:prstGeom prst="line">
            <a:avLst/>
          </a:prstGeom>
          <a:noFill/>
          <a:ln w="19050">
            <a:solidFill>
              <a:schemeClr val="accent2"/>
            </a:solidFill>
            <a:prstDash val="solid"/>
            <a:tailEnd type="triangle"/>
          </a:ln>
        </p:spPr>
        <p:txBody>
          <a:bodyPr/>
          <a:lstStyle/>
          <a:p>
            <a:endParaRPr lang="en-US"/>
          </a:p>
        </p:txBody>
      </p:sp>
      <p:sp>
        <p:nvSpPr>
          <p:cNvPr id="12" name="ingest-step"/>
          <p:cNvSpPr/>
          <p:nvPr/>
        </p:nvSpPr>
        <p:spPr>
          <a:xfrm>
            <a:off x="3803904"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Embed + permissions</a:t>
            </a:r>
            <a:endParaRPr lang="en-US" sz="1300" dirty="0"/>
          </a:p>
        </p:txBody>
      </p:sp>
      <p:sp>
        <p:nvSpPr>
          <p:cNvPr id="13" name="Shape 11"/>
          <p:cNvSpPr/>
          <p:nvPr/>
        </p:nvSpPr>
        <p:spPr>
          <a:xfrm>
            <a:off x="5175504" y="2441448"/>
            <a:ext cx="146304" cy="914"/>
          </a:xfrm>
          <a:prstGeom prst="line">
            <a:avLst/>
          </a:prstGeom>
          <a:noFill/>
          <a:ln w="19050">
            <a:solidFill>
              <a:schemeClr val="accent2"/>
            </a:solidFill>
            <a:prstDash val="solid"/>
            <a:tailEnd type="triangle"/>
          </a:ln>
        </p:spPr>
        <p:txBody>
          <a:bodyPr/>
          <a:lstStyle/>
          <a:p>
            <a:endParaRPr lang="en-US"/>
          </a:p>
        </p:txBody>
      </p:sp>
      <p:sp>
        <p:nvSpPr>
          <p:cNvPr id="14" name="ingest-step"/>
          <p:cNvSpPr/>
          <p:nvPr/>
        </p:nvSpPr>
        <p:spPr>
          <a:xfrm>
            <a:off x="5340096" y="2011680"/>
            <a:ext cx="1353312" cy="868680"/>
          </a:xfrm>
          <a:prstGeom prst="roundRect">
            <a:avLst>
              <a:gd name="adj" fmla="val 6316"/>
            </a:avLst>
          </a:prstGeom>
          <a:solidFill>
            <a:schemeClr val="accent2"/>
          </a:solidFill>
          <a:ln/>
        </p:spPr>
        <p:txBody>
          <a:bodyPr wrap="square" lIns="508" tIns="508" rIns="508" bIns="508" rtlCol="0" anchor="ctr"/>
          <a:lstStyle/>
          <a:p>
            <a:pPr marL="0" indent="0" algn="ctr">
              <a:buNone/>
            </a:pPr>
            <a:r>
              <a:rPr lang="en-US" sz="1300" b="1" dirty="0">
                <a:solidFill>
                  <a:schemeClr val="bg1"/>
                </a:solidFill>
              </a:rPr>
              <a:t>Vector store</a:t>
            </a:r>
            <a:endParaRPr lang="en-US" sz="1300" dirty="0"/>
          </a:p>
        </p:txBody>
      </p:sp>
      <p:sp>
        <p:nvSpPr>
          <p:cNvPr id="15" name="callout"/>
          <p:cNvSpPr/>
          <p:nvPr/>
        </p:nvSpPr>
        <p:spPr>
          <a:xfrm>
            <a:off x="6876288" y="2011680"/>
            <a:ext cx="4425696" cy="868680"/>
          </a:xfrm>
          <a:prstGeom prst="roundRect">
            <a:avLst>
              <a:gd name="adj" fmla="val 8421"/>
            </a:avLst>
          </a:prstGeom>
          <a:solidFill>
            <a:schemeClr val="bg1"/>
          </a:solidFill>
          <a:ln/>
        </p:spPr>
        <p:txBody>
          <a:bodyPr/>
          <a:lstStyle/>
          <a:p>
            <a:endParaRPr lang="en-US"/>
          </a:p>
        </p:txBody>
      </p:sp>
      <p:sp>
        <p:nvSpPr>
          <p:cNvPr id="16" name="Text 14"/>
          <p:cNvSpPr txBox="1"/>
          <p:nvPr/>
        </p:nvSpPr>
        <p:spPr>
          <a:xfrm>
            <a:off x="7150608" y="2011680"/>
            <a:ext cx="3877056" cy="868680"/>
          </a:xfrm>
          <a:prstGeom prst="rect">
            <a:avLst/>
          </a:prstGeom>
          <a:noFill/>
          <a:ln/>
        </p:spPr>
        <p:txBody>
          <a:bodyPr wrap="square" lIns="0" tIns="0" rIns="0" bIns="0" rtlCol="0" anchor="ctr"/>
          <a:lstStyle/>
          <a:p>
            <a:pPr marL="0" indent="0">
              <a:buNone/>
            </a:pPr>
            <a:r>
              <a:rPr lang="en-US" sz="1400" dirty="0">
                <a:solidFill>
                  <a:schemeClr val="tx2"/>
                </a:solidFill>
              </a:rPr>
              <a:t>Re-index when content changes: no model retraining needed</a:t>
            </a:r>
            <a:endParaRPr lang="en-US" sz="1400" dirty="0"/>
          </a:p>
        </p:txBody>
      </p:sp>
      <p:sp>
        <p:nvSpPr>
          <p:cNvPr id="17" name="query-step"/>
          <p:cNvSpPr/>
          <p:nvPr/>
        </p:nvSpPr>
        <p:spPr>
          <a:xfrm>
            <a:off x="731520"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User question</a:t>
            </a:r>
            <a:endParaRPr lang="en-US" sz="1300" dirty="0"/>
          </a:p>
        </p:txBody>
      </p:sp>
      <p:sp>
        <p:nvSpPr>
          <p:cNvPr id="18" name="Shape 16"/>
          <p:cNvSpPr/>
          <p:nvPr/>
        </p:nvSpPr>
        <p:spPr>
          <a:xfrm>
            <a:off x="2103120" y="4315968"/>
            <a:ext cx="146304" cy="914"/>
          </a:xfrm>
          <a:prstGeom prst="line">
            <a:avLst/>
          </a:prstGeom>
          <a:noFill/>
          <a:ln w="19050">
            <a:solidFill>
              <a:schemeClr val="accent1"/>
            </a:solidFill>
            <a:prstDash val="solid"/>
            <a:tailEnd type="triangle"/>
          </a:ln>
        </p:spPr>
        <p:txBody>
          <a:bodyPr/>
          <a:lstStyle/>
          <a:p>
            <a:endParaRPr lang="en-US"/>
          </a:p>
        </p:txBody>
      </p:sp>
      <p:sp>
        <p:nvSpPr>
          <p:cNvPr id="19" name="query-step"/>
          <p:cNvSpPr/>
          <p:nvPr/>
        </p:nvSpPr>
        <p:spPr>
          <a:xfrm>
            <a:off x="2267712"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Embed query</a:t>
            </a:r>
            <a:endParaRPr lang="en-US" sz="1300" dirty="0"/>
          </a:p>
        </p:txBody>
      </p:sp>
      <p:sp>
        <p:nvSpPr>
          <p:cNvPr id="20" name="Shape 18"/>
          <p:cNvSpPr/>
          <p:nvPr/>
        </p:nvSpPr>
        <p:spPr>
          <a:xfrm>
            <a:off x="3639312" y="4315968"/>
            <a:ext cx="146304" cy="914"/>
          </a:xfrm>
          <a:prstGeom prst="line">
            <a:avLst/>
          </a:prstGeom>
          <a:noFill/>
          <a:ln w="19050">
            <a:solidFill>
              <a:schemeClr val="accent1"/>
            </a:solidFill>
            <a:prstDash val="solid"/>
            <a:tailEnd type="triangle"/>
          </a:ln>
        </p:spPr>
        <p:txBody>
          <a:bodyPr/>
          <a:lstStyle/>
          <a:p>
            <a:endParaRPr lang="en-US"/>
          </a:p>
        </p:txBody>
      </p:sp>
      <p:sp>
        <p:nvSpPr>
          <p:cNvPr id="21" name="query-step"/>
          <p:cNvSpPr/>
          <p:nvPr/>
        </p:nvSpPr>
        <p:spPr>
          <a:xfrm>
            <a:off x="3803904"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Retrieve top-k</a:t>
            </a:r>
            <a:endParaRPr lang="en-US" sz="1300" dirty="0"/>
          </a:p>
        </p:txBody>
      </p:sp>
      <p:sp>
        <p:nvSpPr>
          <p:cNvPr id="22" name="Shape 20"/>
          <p:cNvSpPr/>
          <p:nvPr/>
        </p:nvSpPr>
        <p:spPr>
          <a:xfrm>
            <a:off x="5175504" y="4315968"/>
            <a:ext cx="146304" cy="914"/>
          </a:xfrm>
          <a:prstGeom prst="line">
            <a:avLst/>
          </a:prstGeom>
          <a:noFill/>
          <a:ln w="19050">
            <a:solidFill>
              <a:schemeClr val="accent1"/>
            </a:solidFill>
            <a:prstDash val="solid"/>
            <a:tailEnd type="triangle"/>
          </a:ln>
        </p:spPr>
        <p:txBody>
          <a:bodyPr/>
          <a:lstStyle/>
          <a:p>
            <a:endParaRPr lang="en-US"/>
          </a:p>
        </p:txBody>
      </p:sp>
      <p:sp>
        <p:nvSpPr>
          <p:cNvPr id="23" name="query-step"/>
          <p:cNvSpPr/>
          <p:nvPr/>
        </p:nvSpPr>
        <p:spPr>
          <a:xfrm>
            <a:off x="5340096"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Build prompt</a:t>
            </a:r>
            <a:endParaRPr lang="en-US" sz="1300" dirty="0"/>
          </a:p>
        </p:txBody>
      </p:sp>
      <p:sp>
        <p:nvSpPr>
          <p:cNvPr id="24" name="Shape 22"/>
          <p:cNvSpPr/>
          <p:nvPr/>
        </p:nvSpPr>
        <p:spPr>
          <a:xfrm>
            <a:off x="6711696" y="4315968"/>
            <a:ext cx="146304" cy="914"/>
          </a:xfrm>
          <a:prstGeom prst="line">
            <a:avLst/>
          </a:prstGeom>
          <a:noFill/>
          <a:ln w="19050">
            <a:solidFill>
              <a:schemeClr val="accent1"/>
            </a:solidFill>
            <a:prstDash val="solid"/>
            <a:tailEnd type="triangle"/>
          </a:ln>
        </p:spPr>
        <p:txBody>
          <a:bodyPr/>
          <a:lstStyle/>
          <a:p>
            <a:endParaRPr lang="en-US"/>
          </a:p>
        </p:txBody>
      </p:sp>
      <p:sp>
        <p:nvSpPr>
          <p:cNvPr id="25" name="query-step"/>
          <p:cNvSpPr/>
          <p:nvPr/>
        </p:nvSpPr>
        <p:spPr>
          <a:xfrm>
            <a:off x="6876288" y="3886200"/>
            <a:ext cx="1353312" cy="868680"/>
          </a:xfrm>
          <a:prstGeom prst="roundRect">
            <a:avLst>
              <a:gd name="adj" fmla="val 6316"/>
            </a:avLst>
          </a:prstGeom>
          <a:solidFill>
            <a:schemeClr val="accent1"/>
          </a:solidFill>
          <a:ln/>
        </p:spPr>
        <p:txBody>
          <a:bodyPr wrap="square" lIns="508" tIns="508" rIns="508" bIns="508" rtlCol="0" anchor="ctr"/>
          <a:lstStyle/>
          <a:p>
            <a:pPr marL="0" indent="0" algn="ctr">
              <a:buNone/>
            </a:pPr>
            <a:r>
              <a:rPr lang="en-US" sz="1300" b="1" dirty="0">
                <a:solidFill>
                  <a:schemeClr val="bg1"/>
                </a:solidFill>
              </a:rPr>
              <a:t>LLM or SLM</a:t>
            </a:r>
            <a:endParaRPr lang="en-US" sz="1300" dirty="0"/>
          </a:p>
        </p:txBody>
      </p:sp>
      <p:sp>
        <p:nvSpPr>
          <p:cNvPr id="26" name="Shape 24"/>
          <p:cNvSpPr/>
          <p:nvPr/>
        </p:nvSpPr>
        <p:spPr>
          <a:xfrm>
            <a:off x="8247888" y="4315968"/>
            <a:ext cx="146304" cy="914"/>
          </a:xfrm>
          <a:prstGeom prst="line">
            <a:avLst/>
          </a:prstGeom>
          <a:noFill/>
          <a:ln w="19050">
            <a:solidFill>
              <a:schemeClr val="accent1"/>
            </a:solidFill>
            <a:prstDash val="solid"/>
            <a:tailEnd type="triangle"/>
          </a:ln>
        </p:spPr>
        <p:txBody>
          <a:bodyPr/>
          <a:lstStyle/>
          <a:p>
            <a:endParaRPr lang="en-US"/>
          </a:p>
        </p:txBody>
      </p:sp>
      <p:sp>
        <p:nvSpPr>
          <p:cNvPr id="27" name="query-step"/>
          <p:cNvSpPr/>
          <p:nvPr/>
        </p:nvSpPr>
        <p:spPr>
          <a:xfrm>
            <a:off x="8412480"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Guardrails</a:t>
            </a:r>
            <a:endParaRPr lang="en-US" sz="1300" dirty="0"/>
          </a:p>
        </p:txBody>
      </p:sp>
      <p:sp>
        <p:nvSpPr>
          <p:cNvPr id="28" name="Shape 26"/>
          <p:cNvSpPr/>
          <p:nvPr/>
        </p:nvSpPr>
        <p:spPr>
          <a:xfrm>
            <a:off x="9784080" y="4315968"/>
            <a:ext cx="146304" cy="914"/>
          </a:xfrm>
          <a:prstGeom prst="line">
            <a:avLst/>
          </a:prstGeom>
          <a:noFill/>
          <a:ln w="19050">
            <a:solidFill>
              <a:schemeClr val="accent1"/>
            </a:solidFill>
            <a:prstDash val="solid"/>
            <a:tailEnd type="triangle"/>
          </a:ln>
        </p:spPr>
        <p:txBody>
          <a:bodyPr/>
          <a:lstStyle/>
          <a:p>
            <a:endParaRPr lang="en-US"/>
          </a:p>
        </p:txBody>
      </p:sp>
      <p:sp>
        <p:nvSpPr>
          <p:cNvPr id="29" name="query-step"/>
          <p:cNvSpPr/>
          <p:nvPr/>
        </p:nvSpPr>
        <p:spPr>
          <a:xfrm>
            <a:off x="9948672"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Answer + citations</a:t>
            </a:r>
            <a:endParaRPr lang="en-US" sz="1300" dirty="0"/>
          </a:p>
        </p:txBody>
      </p:sp>
      <p:sp>
        <p:nvSpPr>
          <p:cNvPr id="30" name="Shape 28"/>
          <p:cNvSpPr/>
          <p:nvPr/>
        </p:nvSpPr>
        <p:spPr>
          <a:xfrm flipH="1">
            <a:off x="4754880" y="2898648"/>
            <a:ext cx="1261872" cy="969264"/>
          </a:xfrm>
          <a:prstGeom prst="line">
            <a:avLst/>
          </a:prstGeom>
          <a:noFill/>
          <a:ln w="25400">
            <a:solidFill>
              <a:schemeClr val="accent2"/>
            </a:solidFill>
            <a:prstDash val="solid"/>
            <a:tailEnd type="triangle"/>
          </a:ln>
        </p:spPr>
        <p:txBody>
          <a:bodyPr/>
          <a:lstStyle/>
          <a:p>
            <a:endParaRPr lang="en-US"/>
          </a:p>
        </p:txBody>
      </p:sp>
      <p:sp>
        <p:nvSpPr>
          <p:cNvPr id="31" name="Text 29"/>
          <p:cNvSpPr txBox="1"/>
          <p:nvPr/>
        </p:nvSpPr>
        <p:spPr>
          <a:xfrm>
            <a:off x="54864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Retrieval quality</a:t>
            </a:r>
            <a:endParaRPr lang="en-US" sz="1400" dirty="0"/>
          </a:p>
          <a:p>
            <a:pPr marL="0" indent="0">
              <a:buNone/>
            </a:pPr>
            <a:r>
              <a:rPr lang="en-US" sz="1400" dirty="0">
                <a:solidFill>
                  <a:schemeClr val="tx2"/>
                </a:solidFill>
              </a:rPr>
              <a:t>Chunking, hybrid search and reranking matter as much as the model</a:t>
            </a:r>
            <a:endParaRPr lang="en-US" sz="1400" dirty="0"/>
          </a:p>
        </p:txBody>
      </p:sp>
      <p:sp>
        <p:nvSpPr>
          <p:cNvPr id="32" name="Text 30"/>
          <p:cNvSpPr txBox="1"/>
          <p:nvPr/>
        </p:nvSpPr>
        <p:spPr>
          <a:xfrm>
            <a:off x="429768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Access control</a:t>
            </a:r>
            <a:endParaRPr lang="en-US" sz="1400" dirty="0"/>
          </a:p>
          <a:p>
            <a:pPr marL="0" indent="0">
              <a:buNone/>
            </a:pPr>
            <a:r>
              <a:rPr lang="en-US" sz="1400" dirty="0">
                <a:solidFill>
                  <a:schemeClr val="tx2"/>
                </a:solidFill>
              </a:rPr>
              <a:t>Filter results by the user's permissions before the model sees them</a:t>
            </a:r>
            <a:endParaRPr lang="en-US" sz="1400" dirty="0"/>
          </a:p>
        </p:txBody>
      </p:sp>
      <p:sp>
        <p:nvSpPr>
          <p:cNvPr id="33" name="Text 31"/>
          <p:cNvSpPr txBox="1"/>
          <p:nvPr/>
        </p:nvSpPr>
        <p:spPr>
          <a:xfrm>
            <a:off x="804672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Groundedness</a:t>
            </a:r>
            <a:endParaRPr lang="en-US" sz="1400" dirty="0"/>
          </a:p>
          <a:p>
            <a:pPr marL="0" indent="0">
              <a:buNone/>
            </a:pPr>
            <a:r>
              <a:rPr lang="en-US" sz="1400" dirty="0">
                <a:solidFill>
                  <a:schemeClr val="tx2"/>
                </a:solidFill>
              </a:rPr>
              <a:t>Evaluate whether answers are supported by retrieved sources</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Four deployment options trade convenience for control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same application can mix options, for example an API LLM plus a self-hosted SLM</a:t>
            </a:r>
            <a:endParaRPr lang="en-US" sz="1600" dirty="0"/>
          </a:p>
        </p:txBody>
      </p:sp>
      <p:sp>
        <p:nvSpPr>
          <p:cNvPr id="4" name="Shape 2"/>
          <p:cNvSpPr/>
          <p:nvPr/>
        </p:nvSpPr>
        <p:spPr>
          <a:xfrm>
            <a:off x="548640" y="1664208"/>
            <a:ext cx="11018520" cy="914"/>
          </a:xfrm>
          <a:prstGeom prst="line">
            <a:avLst/>
          </a:prstGeom>
          <a:noFill/>
          <a:ln w="19050">
            <a:solidFill>
              <a:schemeClr val="accent5"/>
            </a:solidFill>
            <a:prstDash val="solid"/>
            <a:tailEnd type="triangle"/>
          </a:ln>
        </p:spPr>
        <p:txBody>
          <a:bodyPr/>
          <a:lstStyle/>
          <a:p>
            <a:endParaRPr lang="en-US"/>
          </a:p>
        </p:txBody>
      </p:sp>
      <p:sp>
        <p:nvSpPr>
          <p:cNvPr id="5" name="Text 3"/>
          <p:cNvSpPr txBox="1"/>
          <p:nvPr/>
        </p:nvSpPr>
        <p:spPr>
          <a:xfrm>
            <a:off x="548640" y="1737360"/>
            <a:ext cx="3657600" cy="274320"/>
          </a:xfrm>
          <a:prstGeom prst="rect">
            <a:avLst/>
          </a:prstGeom>
          <a:noFill/>
          <a:ln/>
        </p:spPr>
        <p:txBody>
          <a:bodyPr wrap="square" lIns="0" tIns="0" rIns="0" bIns="0" rtlCol="0" anchor="t"/>
          <a:lstStyle/>
          <a:p>
            <a:pPr marL="0" indent="0">
              <a:buNone/>
            </a:pPr>
            <a:r>
              <a:rPr lang="en-US" sz="1200" b="1" dirty="0">
                <a:solidFill>
                  <a:schemeClr val="accent5"/>
                </a:solidFill>
              </a:rPr>
              <a:t>More convenience, faster start</a:t>
            </a:r>
            <a:endParaRPr lang="en-US" sz="1200" dirty="0"/>
          </a:p>
        </p:txBody>
      </p:sp>
      <p:sp>
        <p:nvSpPr>
          <p:cNvPr id="6" name="Text 4"/>
          <p:cNvSpPr txBox="1"/>
          <p:nvPr/>
        </p:nvSpPr>
        <p:spPr>
          <a:xfrm>
            <a:off x="7909560" y="1737360"/>
            <a:ext cx="3657600" cy="274320"/>
          </a:xfrm>
          <a:prstGeom prst="rect">
            <a:avLst/>
          </a:prstGeom>
          <a:noFill/>
          <a:ln/>
        </p:spPr>
        <p:txBody>
          <a:bodyPr wrap="square" lIns="0" tIns="0" rIns="0" bIns="0" rtlCol="0" anchor="t"/>
          <a:lstStyle/>
          <a:p>
            <a:pPr marL="0" indent="0" algn="r">
              <a:buNone/>
            </a:pPr>
            <a:r>
              <a:rPr lang="en-US" sz="1200" b="1" dirty="0">
                <a:solidFill>
                  <a:schemeClr val="accent5"/>
                </a:solidFill>
              </a:rPr>
              <a:t>More control, data stays in-house</a:t>
            </a:r>
            <a:endParaRPr lang="en-US" sz="1200" dirty="0"/>
          </a:p>
        </p:txBody>
      </p:sp>
      <p:sp>
        <p:nvSpPr>
          <p:cNvPr id="7" name="deploy-card"/>
          <p:cNvSpPr/>
          <p:nvPr/>
        </p:nvSpPr>
        <p:spPr>
          <a:xfrm>
            <a:off x="548640" y="2194560"/>
            <a:ext cx="2651760" cy="3977640"/>
          </a:xfrm>
          <a:prstGeom prst="roundRect">
            <a:avLst>
              <a:gd name="adj" fmla="val 2759"/>
            </a:avLst>
          </a:prstGeom>
          <a:solidFill>
            <a:schemeClr val="bg2"/>
          </a:solidFill>
          <a:ln/>
        </p:spPr>
        <p:txBody>
          <a:bodyPr/>
          <a:lstStyle/>
          <a:p>
            <a:endParaRPr lang="en-US"/>
          </a:p>
        </p:txBody>
      </p:sp>
      <p:sp>
        <p:nvSpPr>
          <p:cNvPr id="8" name="icon-chip"/>
          <p:cNvSpPr/>
          <p:nvPr/>
        </p:nvSpPr>
        <p:spPr>
          <a:xfrm>
            <a:off x="777240" y="2377440"/>
            <a:ext cx="566928" cy="566928"/>
          </a:xfrm>
          <a:prstGeom prst="ellipse">
            <a:avLst/>
          </a:prstGeom>
          <a:solidFill>
            <a:schemeClr val="accent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01964" y="2502164"/>
            <a:ext cx="317480" cy="317480"/>
          </a:xfrm>
          <a:prstGeom prst="rect">
            <a:avLst/>
          </a:prstGeom>
        </p:spPr>
      </p:pic>
      <p:sp>
        <p:nvSpPr>
          <p:cNvPr id="10" name="Text 7"/>
          <p:cNvSpPr txBox="1"/>
          <p:nvPr/>
        </p:nvSpPr>
        <p:spPr>
          <a:xfrm>
            <a:off x="1463040"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Hosted model API</a:t>
            </a:r>
            <a:endParaRPr lang="en-US" sz="1700" dirty="0"/>
          </a:p>
        </p:txBody>
      </p:sp>
      <p:sp>
        <p:nvSpPr>
          <p:cNvPr id="11" name="Text 8"/>
          <p:cNvSpPr txBox="1"/>
          <p:nvPr/>
        </p:nvSpPr>
        <p:spPr>
          <a:xfrm>
            <a:off x="777240"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OpenAI, Anthropic, Google Gemini APIs</a:t>
            </a:r>
            <a:endParaRPr lang="en-US" sz="1300" dirty="0"/>
          </a:p>
        </p:txBody>
      </p:sp>
      <p:sp>
        <p:nvSpPr>
          <p:cNvPr id="12" name="Text 9"/>
          <p:cNvSpPr txBox="1"/>
          <p:nvPr/>
        </p:nvSpPr>
        <p:spPr>
          <a:xfrm>
            <a:off x="777240"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Fastest to start</a:t>
            </a:r>
            <a:endParaRPr lang="en-US" sz="1400" dirty="0"/>
          </a:p>
          <a:p>
            <a:pPr marL="0" indent="0">
              <a:spcAft>
                <a:spcPts val="300"/>
              </a:spcAft>
              <a:buNone/>
            </a:pPr>
            <a:r>
              <a:rPr lang="en-US" sz="1400" b="1" dirty="0">
                <a:solidFill>
                  <a:schemeClr val="accent2"/>
                </a:solidFill>
              </a:rPr>
              <a:t>+  Frontier capability</a:t>
            </a:r>
            <a:endParaRPr lang="en-US" sz="1400" dirty="0"/>
          </a:p>
          <a:p>
            <a:pPr marL="0" indent="0">
              <a:spcAft>
                <a:spcPts val="300"/>
              </a:spcAft>
              <a:buNone/>
            </a:pPr>
            <a:r>
              <a:rPr lang="en-US" sz="1400" b="1" dirty="0">
                <a:solidFill>
                  <a:schemeClr val="accent2"/>
                </a:solidFill>
              </a:rPr>
              <a:t>+  Pay per token</a:t>
            </a:r>
            <a:endParaRPr lang="en-US" sz="1400" dirty="0"/>
          </a:p>
        </p:txBody>
      </p:sp>
      <p:sp>
        <p:nvSpPr>
          <p:cNvPr id="13" name="Text 10"/>
          <p:cNvSpPr txBox="1"/>
          <p:nvPr/>
        </p:nvSpPr>
        <p:spPr>
          <a:xfrm>
            <a:off x="777240"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Data leaves your boundary</a:t>
            </a:r>
            <a:endParaRPr lang="en-US" sz="1400" dirty="0"/>
          </a:p>
          <a:p>
            <a:pPr marL="0" indent="0">
              <a:spcAft>
                <a:spcPts val="300"/>
              </a:spcAft>
              <a:buNone/>
            </a:pPr>
            <a:r>
              <a:rPr lang="en-US" sz="1400" dirty="0">
                <a:solidFill>
                  <a:schemeClr val="accent6"/>
                </a:solidFill>
              </a:rPr>
              <a:t>–  Vendor rate limits</a:t>
            </a:r>
            <a:endParaRPr lang="en-US" sz="1400" dirty="0"/>
          </a:p>
        </p:txBody>
      </p:sp>
      <p:sp>
        <p:nvSpPr>
          <p:cNvPr id="14" name="deploy-card"/>
          <p:cNvSpPr/>
          <p:nvPr/>
        </p:nvSpPr>
        <p:spPr>
          <a:xfrm>
            <a:off x="3346704" y="2194560"/>
            <a:ext cx="2651760" cy="3977640"/>
          </a:xfrm>
          <a:prstGeom prst="roundRect">
            <a:avLst>
              <a:gd name="adj" fmla="val 2759"/>
            </a:avLst>
          </a:prstGeom>
          <a:solidFill>
            <a:schemeClr val="bg2"/>
          </a:solidFill>
          <a:ln/>
        </p:spPr>
        <p:txBody>
          <a:bodyPr/>
          <a:lstStyle/>
          <a:p>
            <a:endParaRPr lang="en-US"/>
          </a:p>
        </p:txBody>
      </p:sp>
      <p:sp>
        <p:nvSpPr>
          <p:cNvPr id="15" name="icon-chip"/>
          <p:cNvSpPr/>
          <p:nvPr/>
        </p:nvSpPr>
        <p:spPr>
          <a:xfrm>
            <a:off x="3575304" y="2377440"/>
            <a:ext cx="566928" cy="566928"/>
          </a:xfrm>
          <a:prstGeom prst="ellipse">
            <a:avLst/>
          </a:prstGeom>
          <a:solidFill>
            <a:schemeClr val="accent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3700028" y="2502164"/>
            <a:ext cx="317480" cy="317480"/>
          </a:xfrm>
          <a:prstGeom prst="rect">
            <a:avLst/>
          </a:prstGeom>
        </p:spPr>
      </p:pic>
      <p:sp>
        <p:nvSpPr>
          <p:cNvPr id="17" name="Text 13"/>
          <p:cNvSpPr txBox="1"/>
          <p:nvPr/>
        </p:nvSpPr>
        <p:spPr>
          <a:xfrm>
            <a:off x="4261104"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Cloud AI platform</a:t>
            </a:r>
            <a:endParaRPr lang="en-US" sz="1700" dirty="0"/>
          </a:p>
        </p:txBody>
      </p:sp>
      <p:sp>
        <p:nvSpPr>
          <p:cNvPr id="18" name="Text 14"/>
          <p:cNvSpPr txBox="1"/>
          <p:nvPr/>
        </p:nvSpPr>
        <p:spPr>
          <a:xfrm>
            <a:off x="3575304"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Azure AI Foundry, Amazon Bedrock, Google Vertex AI</a:t>
            </a:r>
            <a:endParaRPr lang="en-US" sz="1300" dirty="0"/>
          </a:p>
        </p:txBody>
      </p:sp>
      <p:sp>
        <p:nvSpPr>
          <p:cNvPr id="19" name="Text 15"/>
          <p:cNvSpPr txBox="1"/>
          <p:nvPr/>
        </p:nvSpPr>
        <p:spPr>
          <a:xfrm>
            <a:off x="3575304"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Enterprise security, VPC, SLAs</a:t>
            </a:r>
            <a:endParaRPr lang="en-US" sz="1400" dirty="0"/>
          </a:p>
          <a:p>
            <a:pPr marL="0" indent="0">
              <a:spcAft>
                <a:spcPts val="300"/>
              </a:spcAft>
              <a:buNone/>
            </a:pPr>
            <a:r>
              <a:rPr lang="en-US" sz="1400" b="1" dirty="0">
                <a:solidFill>
                  <a:schemeClr val="accent2"/>
                </a:solidFill>
              </a:rPr>
              <a:t>+  Choice of many models</a:t>
            </a:r>
            <a:endParaRPr lang="en-US" sz="1400" dirty="0"/>
          </a:p>
        </p:txBody>
      </p:sp>
      <p:sp>
        <p:nvSpPr>
          <p:cNvPr id="20" name="Text 16"/>
          <p:cNvSpPr txBox="1"/>
          <p:nvPr/>
        </p:nvSpPr>
        <p:spPr>
          <a:xfrm>
            <a:off x="3575304"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Cloud lock-in</a:t>
            </a:r>
            <a:endParaRPr lang="en-US" sz="1400" dirty="0"/>
          </a:p>
          <a:p>
            <a:pPr marL="0" indent="0">
              <a:spcAft>
                <a:spcPts val="300"/>
              </a:spcAft>
              <a:buNone/>
            </a:pPr>
            <a:r>
              <a:rPr lang="en-US" sz="1400" dirty="0">
                <a:solidFill>
                  <a:schemeClr val="accent6"/>
                </a:solidFill>
              </a:rPr>
              <a:t>–  Costs grow with usage</a:t>
            </a:r>
            <a:endParaRPr lang="en-US" sz="1400" dirty="0"/>
          </a:p>
        </p:txBody>
      </p:sp>
      <p:sp>
        <p:nvSpPr>
          <p:cNvPr id="21" name="deploy-card"/>
          <p:cNvSpPr/>
          <p:nvPr/>
        </p:nvSpPr>
        <p:spPr>
          <a:xfrm>
            <a:off x="6144768" y="2194560"/>
            <a:ext cx="2651760" cy="3977640"/>
          </a:xfrm>
          <a:prstGeom prst="roundRect">
            <a:avLst>
              <a:gd name="adj" fmla="val 2759"/>
            </a:avLst>
          </a:prstGeom>
          <a:solidFill>
            <a:schemeClr val="bg2"/>
          </a:solidFill>
          <a:ln/>
        </p:spPr>
        <p:txBody>
          <a:bodyPr/>
          <a:lstStyle/>
          <a:p>
            <a:endParaRPr lang="en-US"/>
          </a:p>
        </p:txBody>
      </p:sp>
      <p:sp>
        <p:nvSpPr>
          <p:cNvPr id="22" name="icon-chip"/>
          <p:cNvSpPr/>
          <p:nvPr/>
        </p:nvSpPr>
        <p:spPr>
          <a:xfrm>
            <a:off x="6373368" y="2377440"/>
            <a:ext cx="566928" cy="566928"/>
          </a:xfrm>
          <a:prstGeom prst="ellipse">
            <a:avLst/>
          </a:prstGeom>
          <a:solidFill>
            <a:schemeClr val="tx1"/>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6498092" y="2502164"/>
            <a:ext cx="317480" cy="317480"/>
          </a:xfrm>
          <a:prstGeom prst="rect">
            <a:avLst/>
          </a:prstGeom>
        </p:spPr>
      </p:pic>
      <p:sp>
        <p:nvSpPr>
          <p:cNvPr id="24" name="Text 19"/>
          <p:cNvSpPr txBox="1"/>
          <p:nvPr/>
        </p:nvSpPr>
        <p:spPr>
          <a:xfrm>
            <a:off x="7059168"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Self-hosted</a:t>
            </a:r>
            <a:endParaRPr lang="en-US" sz="1700" dirty="0"/>
          </a:p>
        </p:txBody>
      </p:sp>
      <p:sp>
        <p:nvSpPr>
          <p:cNvPr id="25" name="Text 20"/>
          <p:cNvSpPr txBox="1"/>
          <p:nvPr/>
        </p:nvSpPr>
        <p:spPr>
          <a:xfrm>
            <a:off x="6373368"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vLLM, NVIDIA NIM, TGI on Kubernetes with GPUs</a:t>
            </a:r>
            <a:endParaRPr lang="en-US" sz="1300" dirty="0"/>
          </a:p>
        </p:txBody>
      </p:sp>
      <p:sp>
        <p:nvSpPr>
          <p:cNvPr id="26" name="Text 21"/>
          <p:cNvSpPr txBox="1"/>
          <p:nvPr/>
        </p:nvSpPr>
        <p:spPr>
          <a:xfrm>
            <a:off x="6373368"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Full data and model control</a:t>
            </a:r>
            <a:endParaRPr lang="en-US" sz="1400" dirty="0"/>
          </a:p>
          <a:p>
            <a:pPr marL="0" indent="0">
              <a:spcAft>
                <a:spcPts val="300"/>
              </a:spcAft>
              <a:buNone/>
            </a:pPr>
            <a:r>
              <a:rPr lang="en-US" sz="1400" b="1" dirty="0">
                <a:solidFill>
                  <a:schemeClr val="accent2"/>
                </a:solidFill>
              </a:rPr>
              <a:t>+  Predictable cost at high volume</a:t>
            </a:r>
            <a:endParaRPr lang="en-US" sz="1400" dirty="0"/>
          </a:p>
        </p:txBody>
      </p:sp>
      <p:sp>
        <p:nvSpPr>
          <p:cNvPr id="27" name="Text 22"/>
          <p:cNvSpPr txBox="1"/>
          <p:nvPr/>
        </p:nvSpPr>
        <p:spPr>
          <a:xfrm>
            <a:off x="6373368"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GPU capacity and MLOps skills</a:t>
            </a:r>
            <a:endParaRPr lang="en-US" sz="1400" dirty="0"/>
          </a:p>
          <a:p>
            <a:pPr marL="0" indent="0">
              <a:spcAft>
                <a:spcPts val="300"/>
              </a:spcAft>
              <a:buNone/>
            </a:pPr>
            <a:r>
              <a:rPr lang="en-US" sz="1400" dirty="0">
                <a:solidFill>
                  <a:schemeClr val="accent6"/>
                </a:solidFill>
              </a:rPr>
              <a:t>–  You own patching and scaling</a:t>
            </a:r>
            <a:endParaRPr lang="en-US" sz="1400" dirty="0"/>
          </a:p>
        </p:txBody>
      </p:sp>
      <p:sp>
        <p:nvSpPr>
          <p:cNvPr id="28" name="deploy-card"/>
          <p:cNvSpPr/>
          <p:nvPr/>
        </p:nvSpPr>
        <p:spPr>
          <a:xfrm>
            <a:off x="8942832" y="2194560"/>
            <a:ext cx="2651760" cy="3977640"/>
          </a:xfrm>
          <a:prstGeom prst="roundRect">
            <a:avLst>
              <a:gd name="adj" fmla="val 2759"/>
            </a:avLst>
          </a:prstGeom>
          <a:solidFill>
            <a:schemeClr val="bg2"/>
          </a:solidFill>
          <a:ln/>
        </p:spPr>
        <p:txBody>
          <a:bodyPr/>
          <a:lstStyle/>
          <a:p>
            <a:endParaRPr lang="en-US"/>
          </a:p>
        </p:txBody>
      </p:sp>
      <p:sp>
        <p:nvSpPr>
          <p:cNvPr id="29" name="icon-chip"/>
          <p:cNvSpPr/>
          <p:nvPr/>
        </p:nvSpPr>
        <p:spPr>
          <a:xfrm>
            <a:off x="9171432" y="2377440"/>
            <a:ext cx="566928" cy="566928"/>
          </a:xfrm>
          <a:prstGeom prst="ellipse">
            <a:avLst/>
          </a:prstGeom>
          <a:solidFill>
            <a:schemeClr val="accent2"/>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9296156" y="2502164"/>
            <a:ext cx="317480" cy="317480"/>
          </a:xfrm>
          <a:prstGeom prst="rect">
            <a:avLst/>
          </a:prstGeom>
        </p:spPr>
      </p:pic>
      <p:sp>
        <p:nvSpPr>
          <p:cNvPr id="31" name="Text 25"/>
          <p:cNvSpPr txBox="1"/>
          <p:nvPr/>
        </p:nvSpPr>
        <p:spPr>
          <a:xfrm>
            <a:off x="9857232"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Edge / on-device</a:t>
            </a:r>
            <a:endParaRPr lang="en-US" sz="1700" dirty="0"/>
          </a:p>
        </p:txBody>
      </p:sp>
      <p:sp>
        <p:nvSpPr>
          <p:cNvPr id="32" name="Text 26"/>
          <p:cNvSpPr txBox="1"/>
          <p:nvPr/>
        </p:nvSpPr>
        <p:spPr>
          <a:xfrm>
            <a:off x="9171432"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Laptop NPU, mobile, factory gateway (Ollama, ONNX Runtime)</a:t>
            </a:r>
            <a:endParaRPr lang="en-US" sz="1300" dirty="0"/>
          </a:p>
        </p:txBody>
      </p:sp>
      <p:sp>
        <p:nvSpPr>
          <p:cNvPr id="33" name="Text 27"/>
          <p:cNvSpPr txBox="1"/>
          <p:nvPr/>
        </p:nvSpPr>
        <p:spPr>
          <a:xfrm>
            <a:off x="9171432"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Works offline</a:t>
            </a:r>
            <a:endParaRPr lang="en-US" sz="1400" dirty="0"/>
          </a:p>
          <a:p>
            <a:pPr marL="0" indent="0">
              <a:spcAft>
                <a:spcPts val="300"/>
              </a:spcAft>
              <a:buNone/>
            </a:pPr>
            <a:r>
              <a:rPr lang="en-US" sz="1400" b="1" dirty="0">
                <a:solidFill>
                  <a:schemeClr val="accent2"/>
                </a:solidFill>
              </a:rPr>
              <a:t>+  Lowest latency, max privacy</a:t>
            </a:r>
            <a:endParaRPr lang="en-US" sz="1400" dirty="0"/>
          </a:p>
        </p:txBody>
      </p:sp>
      <p:sp>
        <p:nvSpPr>
          <p:cNvPr id="34" name="Text 28"/>
          <p:cNvSpPr txBox="1"/>
          <p:nvPr/>
        </p:nvSpPr>
        <p:spPr>
          <a:xfrm>
            <a:off x="9171432"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Only small models fit</a:t>
            </a:r>
            <a:endParaRPr lang="en-US" sz="1400" dirty="0"/>
          </a:p>
          <a:p>
            <a:pPr marL="0" indent="0">
              <a:spcAft>
                <a:spcPts val="300"/>
              </a:spcAft>
              <a:buNone/>
            </a:pPr>
            <a:r>
              <a:rPr lang="en-US" sz="1400" dirty="0">
                <a:solidFill>
                  <a:schemeClr val="accent6"/>
                </a:solidFill>
              </a:rPr>
              <a:t>–  Fleet updates are harder</a:t>
            </a:r>
            <a:endParaRPr lang="en-US" sz="14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LLMOps: DevOps for prompts, models and evals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Treat prompts, eval sets and model versions as versioned, tested artefacts</a:t>
            </a:r>
            <a:endParaRPr lang="en-US" sz="1600" dirty="0"/>
          </a:p>
        </p:txBody>
      </p:sp>
      <p:sp>
        <p:nvSpPr>
          <p:cNvPr id="4" name="pipe-step"/>
          <p:cNvSpPr/>
          <p:nvPr/>
        </p:nvSpPr>
        <p:spPr>
          <a:xfrm>
            <a:off x="548640"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Commit</a:t>
            </a:r>
            <a:endParaRPr lang="en-US" sz="1500" dirty="0"/>
          </a:p>
        </p:txBody>
      </p:sp>
      <p:sp>
        <p:nvSpPr>
          <p:cNvPr id="5" name="Text 3"/>
          <p:cNvSpPr txBox="1"/>
          <p:nvPr/>
        </p:nvSpPr>
        <p:spPr>
          <a:xfrm>
            <a:off x="731520"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Prompts, code, RAG config, model version</a:t>
            </a:r>
            <a:endParaRPr lang="en-US" sz="1300" dirty="0"/>
          </a:p>
        </p:txBody>
      </p:sp>
      <p:sp>
        <p:nvSpPr>
          <p:cNvPr id="6" name="pipe-step"/>
          <p:cNvSpPr/>
          <p:nvPr/>
        </p:nvSpPr>
        <p:spPr>
          <a:xfrm>
            <a:off x="2404872"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Build and test</a:t>
            </a:r>
            <a:endParaRPr lang="en-US" sz="1500" dirty="0"/>
          </a:p>
        </p:txBody>
      </p:sp>
      <p:sp>
        <p:nvSpPr>
          <p:cNvPr id="7" name="Text 5"/>
          <p:cNvSpPr txBox="1"/>
          <p:nvPr/>
        </p:nvSpPr>
        <p:spPr>
          <a:xfrm>
            <a:off x="2587752"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Unit tests + automated eval suite</a:t>
            </a:r>
            <a:endParaRPr lang="en-US" sz="1300" dirty="0"/>
          </a:p>
        </p:txBody>
      </p:sp>
      <p:sp>
        <p:nvSpPr>
          <p:cNvPr id="8" name="pipe-step"/>
          <p:cNvSpPr/>
          <p:nvPr/>
        </p:nvSpPr>
        <p:spPr>
          <a:xfrm>
            <a:off x="4261104" y="1691640"/>
            <a:ext cx="1737360" cy="77724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Eval gate</a:t>
            </a:r>
            <a:endParaRPr lang="en-US" sz="1500" dirty="0"/>
          </a:p>
        </p:txBody>
      </p:sp>
      <p:sp>
        <p:nvSpPr>
          <p:cNvPr id="9" name="Text 7"/>
          <p:cNvSpPr txBox="1"/>
          <p:nvPr/>
        </p:nvSpPr>
        <p:spPr>
          <a:xfrm>
            <a:off x="4443984"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Quality, safety and cost thresholds</a:t>
            </a:r>
            <a:endParaRPr lang="en-US" sz="1300" dirty="0"/>
          </a:p>
        </p:txBody>
      </p:sp>
      <p:sp>
        <p:nvSpPr>
          <p:cNvPr id="10" name="pipe-step"/>
          <p:cNvSpPr/>
          <p:nvPr/>
        </p:nvSpPr>
        <p:spPr>
          <a:xfrm>
            <a:off x="6117336"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Deploy</a:t>
            </a:r>
            <a:endParaRPr lang="en-US" sz="1500" dirty="0"/>
          </a:p>
        </p:txBody>
      </p:sp>
      <p:sp>
        <p:nvSpPr>
          <p:cNvPr id="11" name="Text 9"/>
          <p:cNvSpPr txBox="1"/>
          <p:nvPr/>
        </p:nvSpPr>
        <p:spPr>
          <a:xfrm>
            <a:off x="6300216"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Canary / A-B via model gateway</a:t>
            </a:r>
            <a:endParaRPr lang="en-US" sz="1300" dirty="0"/>
          </a:p>
        </p:txBody>
      </p:sp>
      <p:sp>
        <p:nvSpPr>
          <p:cNvPr id="12" name="pipe-step"/>
          <p:cNvSpPr/>
          <p:nvPr/>
        </p:nvSpPr>
        <p:spPr>
          <a:xfrm>
            <a:off x="7973568"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Observe</a:t>
            </a:r>
            <a:endParaRPr lang="en-US" sz="1500" dirty="0"/>
          </a:p>
        </p:txBody>
      </p:sp>
      <p:sp>
        <p:nvSpPr>
          <p:cNvPr id="13" name="Text 11"/>
          <p:cNvSpPr txBox="1"/>
          <p:nvPr/>
        </p:nvSpPr>
        <p:spPr>
          <a:xfrm>
            <a:off x="8156448"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Traces, tokens, latency, cost, drift</a:t>
            </a:r>
            <a:endParaRPr lang="en-US" sz="1300" dirty="0"/>
          </a:p>
        </p:txBody>
      </p:sp>
      <p:sp>
        <p:nvSpPr>
          <p:cNvPr id="14" name="pipe-step"/>
          <p:cNvSpPr/>
          <p:nvPr/>
        </p:nvSpPr>
        <p:spPr>
          <a:xfrm>
            <a:off x="9829800"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Learn</a:t>
            </a:r>
            <a:endParaRPr lang="en-US" sz="1500" dirty="0"/>
          </a:p>
        </p:txBody>
      </p:sp>
      <p:sp>
        <p:nvSpPr>
          <p:cNvPr id="15" name="Text 13"/>
          <p:cNvSpPr txBox="1"/>
          <p:nvPr/>
        </p:nvSpPr>
        <p:spPr>
          <a:xfrm>
            <a:off x="10012680"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Failures become new eval cases</a:t>
            </a:r>
            <a:endParaRPr lang="en-US" sz="1300" dirty="0"/>
          </a:p>
        </p:txBody>
      </p:sp>
      <p:sp>
        <p:nvSpPr>
          <p:cNvPr id="16" name="Text 14"/>
          <p:cNvSpPr txBox="1"/>
          <p:nvPr/>
        </p:nvSpPr>
        <p:spPr>
          <a:xfrm>
            <a:off x="548640" y="3611880"/>
            <a:ext cx="54864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WHAT TO MONITOR IN PRODUCTION</a:t>
            </a:r>
            <a:endParaRPr lang="en-US" sz="1200" dirty="0"/>
          </a:p>
        </p:txBody>
      </p:sp>
      <p:sp>
        <p:nvSpPr>
          <p:cNvPr id="17" name="monitor-card"/>
          <p:cNvSpPr/>
          <p:nvPr/>
        </p:nvSpPr>
        <p:spPr>
          <a:xfrm>
            <a:off x="548640" y="3977640"/>
            <a:ext cx="2651760" cy="2194560"/>
          </a:xfrm>
          <a:prstGeom prst="roundRect">
            <a:avLst>
              <a:gd name="adj" fmla="val 3333"/>
            </a:avLst>
          </a:prstGeom>
          <a:solidFill>
            <a:schemeClr val="bg2"/>
          </a:solidFill>
          <a:ln/>
        </p:spPr>
        <p:txBody>
          <a:bodyPr/>
          <a:lstStyle/>
          <a:p>
            <a:endParaRPr lang="en-US"/>
          </a:p>
        </p:txBody>
      </p:sp>
      <p:sp>
        <p:nvSpPr>
          <p:cNvPr id="18" name="icon-chip"/>
          <p:cNvSpPr/>
          <p:nvPr/>
        </p:nvSpPr>
        <p:spPr>
          <a:xfrm>
            <a:off x="777240" y="4160520"/>
            <a:ext cx="502920" cy="502920"/>
          </a:xfrm>
          <a:prstGeom prst="ellipse">
            <a:avLst/>
          </a:prstGeom>
          <a:solidFill>
            <a:schemeClr val="accent2"/>
          </a:solidFill>
          <a:ln/>
        </p:spPr>
        <p:txBody>
          <a:bodyPr/>
          <a:lstStyle/>
          <a:p>
            <a:endParaRPr lang="en-US"/>
          </a:p>
        </p:txBody>
      </p:sp>
      <p:pic>
        <p:nvPicPr>
          <p:cNvPr id="19" name="Image 0" descr="preencoded.png"/>
          <p:cNvPicPr>
            <a:picLocks noChangeAspect="1"/>
          </p:cNvPicPr>
          <p:nvPr/>
        </p:nvPicPr>
        <p:blipFill>
          <a:blip r:embed="rId3"/>
          <a:stretch>
            <a:fillRect/>
          </a:stretch>
        </p:blipFill>
        <p:spPr>
          <a:xfrm>
            <a:off x="887882" y="4271162"/>
            <a:ext cx="281635" cy="281635"/>
          </a:xfrm>
          <a:prstGeom prst="rect">
            <a:avLst/>
          </a:prstGeom>
        </p:spPr>
      </p:pic>
      <p:sp>
        <p:nvSpPr>
          <p:cNvPr id="20" name="Text 17"/>
          <p:cNvSpPr txBox="1"/>
          <p:nvPr/>
        </p:nvSpPr>
        <p:spPr>
          <a:xfrm>
            <a:off x="1417320"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Quality</a:t>
            </a:r>
            <a:endParaRPr lang="en-US" sz="1700" dirty="0"/>
          </a:p>
        </p:txBody>
      </p:sp>
      <p:sp>
        <p:nvSpPr>
          <p:cNvPr id="21" name="Text 18"/>
          <p:cNvSpPr txBox="1"/>
          <p:nvPr/>
        </p:nvSpPr>
        <p:spPr>
          <a:xfrm>
            <a:off x="777240"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Task success / accuracy</a:t>
            </a:r>
            <a:endParaRPr lang="en-US" sz="1300" dirty="0"/>
          </a:p>
          <a:p>
            <a:pPr marL="342900" indent="-342900">
              <a:spcAft>
                <a:spcPts val="300"/>
              </a:spcAft>
              <a:buSzPct val="100000"/>
              <a:buChar char="•"/>
            </a:pPr>
            <a:r>
              <a:rPr lang="en-US" sz="1300" dirty="0">
                <a:solidFill>
                  <a:schemeClr val="tx2"/>
                </a:solidFill>
              </a:rPr>
              <a:t>Groundedness, hallucination rate</a:t>
            </a:r>
            <a:endParaRPr lang="en-US" sz="1300" dirty="0"/>
          </a:p>
          <a:p>
            <a:pPr marL="342900" indent="-342900">
              <a:spcAft>
                <a:spcPts val="300"/>
              </a:spcAft>
              <a:buSzPct val="100000"/>
              <a:buChar char="•"/>
            </a:pPr>
            <a:r>
              <a:rPr lang="en-US" sz="1300" dirty="0">
                <a:solidFill>
                  <a:schemeClr val="tx2"/>
                </a:solidFill>
              </a:rPr>
              <a:t>User feedback (thumbs, edits)</a:t>
            </a:r>
            <a:endParaRPr lang="en-US" sz="1300" dirty="0"/>
          </a:p>
        </p:txBody>
      </p:sp>
      <p:sp>
        <p:nvSpPr>
          <p:cNvPr id="22" name="monitor-card"/>
          <p:cNvSpPr/>
          <p:nvPr/>
        </p:nvSpPr>
        <p:spPr>
          <a:xfrm>
            <a:off x="3346704" y="3977640"/>
            <a:ext cx="2651760" cy="2194560"/>
          </a:xfrm>
          <a:prstGeom prst="roundRect">
            <a:avLst>
              <a:gd name="adj" fmla="val 3333"/>
            </a:avLst>
          </a:prstGeom>
          <a:solidFill>
            <a:schemeClr val="bg2"/>
          </a:solidFill>
          <a:ln/>
        </p:spPr>
        <p:txBody>
          <a:bodyPr/>
          <a:lstStyle/>
          <a:p>
            <a:endParaRPr lang="en-US"/>
          </a:p>
        </p:txBody>
      </p:sp>
      <p:sp>
        <p:nvSpPr>
          <p:cNvPr id="23" name="icon-chip"/>
          <p:cNvSpPr/>
          <p:nvPr/>
        </p:nvSpPr>
        <p:spPr>
          <a:xfrm>
            <a:off x="3575304" y="4160520"/>
            <a:ext cx="502920" cy="502920"/>
          </a:xfrm>
          <a:prstGeom prst="ellipse">
            <a:avLst/>
          </a:prstGeom>
          <a:solidFill>
            <a:schemeClr val="accent4"/>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3685946" y="4271162"/>
            <a:ext cx="281635" cy="281635"/>
          </a:xfrm>
          <a:prstGeom prst="rect">
            <a:avLst/>
          </a:prstGeom>
        </p:spPr>
      </p:pic>
      <p:sp>
        <p:nvSpPr>
          <p:cNvPr id="25" name="Text 21"/>
          <p:cNvSpPr txBox="1"/>
          <p:nvPr/>
        </p:nvSpPr>
        <p:spPr>
          <a:xfrm>
            <a:off x="4215384"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Performance</a:t>
            </a:r>
            <a:endParaRPr lang="en-US" sz="1700" dirty="0"/>
          </a:p>
        </p:txBody>
      </p:sp>
      <p:sp>
        <p:nvSpPr>
          <p:cNvPr id="26" name="Text 22"/>
          <p:cNvSpPr txBox="1"/>
          <p:nvPr/>
        </p:nvSpPr>
        <p:spPr>
          <a:xfrm>
            <a:off x="3575304"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Time to first token (TTFT)</a:t>
            </a:r>
            <a:endParaRPr lang="en-US" sz="1300" dirty="0"/>
          </a:p>
          <a:p>
            <a:pPr marL="342900" indent="-342900">
              <a:spcAft>
                <a:spcPts val="300"/>
              </a:spcAft>
              <a:buSzPct val="100000"/>
              <a:buChar char="•"/>
            </a:pPr>
            <a:r>
              <a:rPr lang="en-US" sz="1300" dirty="0">
                <a:solidFill>
                  <a:schemeClr val="tx2"/>
                </a:solidFill>
              </a:rPr>
              <a:t>Tokens per second, p95 latency</a:t>
            </a:r>
            <a:endParaRPr lang="en-US" sz="1300" dirty="0"/>
          </a:p>
          <a:p>
            <a:pPr marL="342900" indent="-342900">
              <a:spcAft>
                <a:spcPts val="300"/>
              </a:spcAft>
              <a:buSzPct val="100000"/>
              <a:buChar char="•"/>
            </a:pPr>
            <a:r>
              <a:rPr lang="en-US" sz="1300" dirty="0">
                <a:solidFill>
                  <a:schemeClr val="tx2"/>
                </a:solidFill>
              </a:rPr>
              <a:t>Error and timeout rate</a:t>
            </a:r>
            <a:endParaRPr lang="en-US" sz="1300" dirty="0"/>
          </a:p>
        </p:txBody>
      </p:sp>
      <p:sp>
        <p:nvSpPr>
          <p:cNvPr id="27" name="monitor-card"/>
          <p:cNvSpPr/>
          <p:nvPr/>
        </p:nvSpPr>
        <p:spPr>
          <a:xfrm>
            <a:off x="6144768" y="3977640"/>
            <a:ext cx="2651760" cy="2194560"/>
          </a:xfrm>
          <a:prstGeom prst="roundRect">
            <a:avLst>
              <a:gd name="adj" fmla="val 3333"/>
            </a:avLst>
          </a:prstGeom>
          <a:solidFill>
            <a:schemeClr val="bg2"/>
          </a:solidFill>
          <a:ln/>
        </p:spPr>
        <p:txBody>
          <a:bodyPr/>
          <a:lstStyle/>
          <a:p>
            <a:endParaRPr lang="en-US"/>
          </a:p>
        </p:txBody>
      </p:sp>
      <p:sp>
        <p:nvSpPr>
          <p:cNvPr id="28" name="icon-chip"/>
          <p:cNvSpPr/>
          <p:nvPr/>
        </p:nvSpPr>
        <p:spPr>
          <a:xfrm>
            <a:off x="6373368" y="4160520"/>
            <a:ext cx="502920" cy="502920"/>
          </a:xfrm>
          <a:prstGeom prst="ellipse">
            <a:avLst/>
          </a:prstGeom>
          <a:solidFill>
            <a:schemeClr val="accent1"/>
          </a:solidFill>
          <a:ln/>
        </p:spPr>
        <p:txBody>
          <a:bodyPr/>
          <a:lstStyle/>
          <a:p>
            <a:endParaRPr lang="en-US"/>
          </a:p>
        </p:txBody>
      </p:sp>
      <p:pic>
        <p:nvPicPr>
          <p:cNvPr id="29" name="Image 2" descr="preencoded.png"/>
          <p:cNvPicPr>
            <a:picLocks noChangeAspect="1"/>
          </p:cNvPicPr>
          <p:nvPr/>
        </p:nvPicPr>
        <p:blipFill>
          <a:blip r:embed="rId5"/>
          <a:stretch>
            <a:fillRect/>
          </a:stretch>
        </p:blipFill>
        <p:spPr>
          <a:xfrm>
            <a:off x="6484010" y="4271162"/>
            <a:ext cx="281635" cy="281635"/>
          </a:xfrm>
          <a:prstGeom prst="rect">
            <a:avLst/>
          </a:prstGeom>
        </p:spPr>
      </p:pic>
      <p:sp>
        <p:nvSpPr>
          <p:cNvPr id="30" name="Text 25"/>
          <p:cNvSpPr txBox="1"/>
          <p:nvPr/>
        </p:nvSpPr>
        <p:spPr>
          <a:xfrm>
            <a:off x="7013448"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Cost</a:t>
            </a:r>
            <a:endParaRPr lang="en-US" sz="1700" dirty="0"/>
          </a:p>
        </p:txBody>
      </p:sp>
      <p:sp>
        <p:nvSpPr>
          <p:cNvPr id="31" name="Text 26"/>
          <p:cNvSpPr txBox="1"/>
          <p:nvPr/>
        </p:nvSpPr>
        <p:spPr>
          <a:xfrm>
            <a:off x="6373368"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Tokens per request</a:t>
            </a:r>
            <a:endParaRPr lang="en-US" sz="1300" dirty="0"/>
          </a:p>
          <a:p>
            <a:pPr marL="342900" indent="-342900">
              <a:spcAft>
                <a:spcPts val="300"/>
              </a:spcAft>
              <a:buSzPct val="100000"/>
              <a:buChar char="•"/>
            </a:pPr>
            <a:r>
              <a:rPr lang="en-US" sz="1300" dirty="0">
                <a:solidFill>
                  <a:schemeClr val="tx2"/>
                </a:solidFill>
              </a:rPr>
              <a:t>Cost per conversation / task</a:t>
            </a:r>
            <a:endParaRPr lang="en-US" sz="1300" dirty="0"/>
          </a:p>
          <a:p>
            <a:pPr marL="342900" indent="-342900">
              <a:spcAft>
                <a:spcPts val="300"/>
              </a:spcAft>
              <a:buSzPct val="100000"/>
              <a:buChar char="•"/>
            </a:pPr>
            <a:r>
              <a:rPr lang="en-US" sz="1300" dirty="0">
                <a:solidFill>
                  <a:schemeClr val="tx2"/>
                </a:solidFill>
              </a:rPr>
              <a:t>GPU utilisation (self-hosted)</a:t>
            </a:r>
            <a:endParaRPr lang="en-US" sz="1300" dirty="0"/>
          </a:p>
        </p:txBody>
      </p:sp>
      <p:sp>
        <p:nvSpPr>
          <p:cNvPr id="32" name="monitor-card"/>
          <p:cNvSpPr/>
          <p:nvPr/>
        </p:nvSpPr>
        <p:spPr>
          <a:xfrm>
            <a:off x="8942832" y="3977640"/>
            <a:ext cx="2651760" cy="2194560"/>
          </a:xfrm>
          <a:prstGeom prst="roundRect">
            <a:avLst>
              <a:gd name="adj" fmla="val 3333"/>
            </a:avLst>
          </a:prstGeom>
          <a:solidFill>
            <a:schemeClr val="bg2"/>
          </a:solidFill>
          <a:ln/>
        </p:spPr>
        <p:txBody>
          <a:bodyPr/>
          <a:lstStyle/>
          <a:p>
            <a:endParaRPr lang="en-US"/>
          </a:p>
        </p:txBody>
      </p:sp>
      <p:sp>
        <p:nvSpPr>
          <p:cNvPr id="33" name="icon-chip"/>
          <p:cNvSpPr/>
          <p:nvPr/>
        </p:nvSpPr>
        <p:spPr>
          <a:xfrm>
            <a:off x="9171432" y="4160520"/>
            <a:ext cx="502920" cy="502920"/>
          </a:xfrm>
          <a:prstGeom prst="ellipse">
            <a:avLst/>
          </a:prstGeom>
          <a:solidFill>
            <a:schemeClr val="accent6"/>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9282074" y="4271162"/>
            <a:ext cx="281635" cy="281635"/>
          </a:xfrm>
          <a:prstGeom prst="rect">
            <a:avLst/>
          </a:prstGeom>
        </p:spPr>
      </p:pic>
      <p:sp>
        <p:nvSpPr>
          <p:cNvPr id="35" name="Text 29"/>
          <p:cNvSpPr txBox="1"/>
          <p:nvPr/>
        </p:nvSpPr>
        <p:spPr>
          <a:xfrm>
            <a:off x="9811512"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Safety</a:t>
            </a:r>
            <a:endParaRPr lang="en-US" sz="1700" dirty="0"/>
          </a:p>
        </p:txBody>
      </p:sp>
      <p:sp>
        <p:nvSpPr>
          <p:cNvPr id="36" name="Text 30"/>
          <p:cNvSpPr txBox="1"/>
          <p:nvPr/>
        </p:nvSpPr>
        <p:spPr>
          <a:xfrm>
            <a:off x="9171432"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Guardrail block rate</a:t>
            </a:r>
            <a:endParaRPr lang="en-US" sz="1300" dirty="0"/>
          </a:p>
          <a:p>
            <a:pPr marL="342900" indent="-342900">
              <a:spcAft>
                <a:spcPts val="300"/>
              </a:spcAft>
              <a:buSzPct val="100000"/>
              <a:buChar char="•"/>
            </a:pPr>
            <a:r>
              <a:rPr lang="en-US" sz="1300" dirty="0">
                <a:solidFill>
                  <a:schemeClr val="tx2"/>
                </a:solidFill>
              </a:rPr>
              <a:t>PII leakage, jailbreak attempts</a:t>
            </a:r>
            <a:endParaRPr lang="en-US" sz="1300" dirty="0"/>
          </a:p>
          <a:p>
            <a:pPr marL="342900" indent="-342900">
              <a:spcAft>
                <a:spcPts val="300"/>
              </a:spcAft>
              <a:buSzPct val="100000"/>
              <a:buChar char="•"/>
            </a:pPr>
            <a:r>
              <a:rPr lang="en-US" sz="1300" dirty="0">
                <a:solidFill>
                  <a:schemeClr val="tx2"/>
                </a:solidFill>
              </a:rPr>
              <a:t>Policy violations</a:t>
            </a:r>
            <a:endParaRPr lang="en-US" sz="13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02</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Understanding large and small language models</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Same core technology, very different scale, cost and deployment profile</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How a language model works: next-token prediction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LLMs and SLMs share this design; they differ in size, training data and training recipe</a:t>
            </a:r>
            <a:endParaRPr lang="en-US" sz="1600" dirty="0"/>
          </a:p>
        </p:txBody>
      </p:sp>
      <p:sp>
        <p:nvSpPr>
          <p:cNvPr id="4" name="lm-step"/>
          <p:cNvSpPr/>
          <p:nvPr/>
        </p:nvSpPr>
        <p:spPr>
          <a:xfrm>
            <a:off x="54864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Text</a:t>
            </a:r>
            <a:endParaRPr lang="en-US" sz="1400" dirty="0"/>
          </a:p>
        </p:txBody>
      </p:sp>
      <p:sp>
        <p:nvSpPr>
          <p:cNvPr id="5" name="Text 3"/>
          <p:cNvSpPr txBox="1"/>
          <p:nvPr/>
        </p:nvSpPr>
        <p:spPr>
          <a:xfrm>
            <a:off x="54864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"Summarise this contract"</a:t>
            </a:r>
            <a:endParaRPr lang="en-US" sz="1300" dirty="0"/>
          </a:p>
        </p:txBody>
      </p:sp>
      <p:sp>
        <p:nvSpPr>
          <p:cNvPr id="6" name="Shape 4"/>
          <p:cNvSpPr/>
          <p:nvPr/>
        </p:nvSpPr>
        <p:spPr>
          <a:xfrm>
            <a:off x="2258568" y="2057400"/>
            <a:ext cx="146304" cy="914"/>
          </a:xfrm>
          <a:prstGeom prst="line">
            <a:avLst/>
          </a:prstGeom>
          <a:noFill/>
          <a:ln w="19050">
            <a:solidFill>
              <a:schemeClr val="accent5"/>
            </a:solidFill>
            <a:prstDash val="solid"/>
            <a:tailEnd type="triangle"/>
          </a:ln>
        </p:spPr>
        <p:txBody>
          <a:bodyPr/>
          <a:lstStyle/>
          <a:p>
            <a:endParaRPr lang="en-US"/>
          </a:p>
        </p:txBody>
      </p:sp>
      <p:sp>
        <p:nvSpPr>
          <p:cNvPr id="7" name="lm-step"/>
          <p:cNvSpPr/>
          <p:nvPr/>
        </p:nvSpPr>
        <p:spPr>
          <a:xfrm>
            <a:off x="242316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Tokenizer</a:t>
            </a:r>
            <a:endParaRPr lang="en-US" sz="1400" dirty="0"/>
          </a:p>
        </p:txBody>
      </p:sp>
      <p:sp>
        <p:nvSpPr>
          <p:cNvPr id="8" name="Text 6"/>
          <p:cNvSpPr txBox="1"/>
          <p:nvPr/>
        </p:nvSpPr>
        <p:spPr>
          <a:xfrm>
            <a:off x="242316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Text to token IDs</a:t>
            </a:r>
            <a:endParaRPr lang="en-US" sz="1300" dirty="0"/>
          </a:p>
        </p:txBody>
      </p:sp>
      <p:sp>
        <p:nvSpPr>
          <p:cNvPr id="9" name="Shape 7"/>
          <p:cNvSpPr/>
          <p:nvPr/>
        </p:nvSpPr>
        <p:spPr>
          <a:xfrm>
            <a:off x="4133088" y="2057400"/>
            <a:ext cx="146304" cy="914"/>
          </a:xfrm>
          <a:prstGeom prst="line">
            <a:avLst/>
          </a:prstGeom>
          <a:noFill/>
          <a:ln w="19050">
            <a:solidFill>
              <a:schemeClr val="accent5"/>
            </a:solidFill>
            <a:prstDash val="solid"/>
            <a:tailEnd type="triangle"/>
          </a:ln>
        </p:spPr>
        <p:txBody>
          <a:bodyPr/>
          <a:lstStyle/>
          <a:p>
            <a:endParaRPr lang="en-US"/>
          </a:p>
        </p:txBody>
      </p:sp>
      <p:sp>
        <p:nvSpPr>
          <p:cNvPr id="10" name="lm-step"/>
          <p:cNvSpPr/>
          <p:nvPr/>
        </p:nvSpPr>
        <p:spPr>
          <a:xfrm>
            <a:off x="429768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Embeddings</a:t>
            </a:r>
            <a:endParaRPr lang="en-US" sz="1400" dirty="0"/>
          </a:p>
        </p:txBody>
      </p:sp>
      <p:sp>
        <p:nvSpPr>
          <p:cNvPr id="11" name="Text 9"/>
          <p:cNvSpPr txBox="1"/>
          <p:nvPr/>
        </p:nvSpPr>
        <p:spPr>
          <a:xfrm>
            <a:off x="429768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Tokens to vectors</a:t>
            </a:r>
            <a:endParaRPr lang="en-US" sz="1300" dirty="0"/>
          </a:p>
        </p:txBody>
      </p:sp>
      <p:sp>
        <p:nvSpPr>
          <p:cNvPr id="12" name="Shape 10"/>
          <p:cNvSpPr/>
          <p:nvPr/>
        </p:nvSpPr>
        <p:spPr>
          <a:xfrm>
            <a:off x="6007608" y="2057400"/>
            <a:ext cx="146304" cy="914"/>
          </a:xfrm>
          <a:prstGeom prst="line">
            <a:avLst/>
          </a:prstGeom>
          <a:noFill/>
          <a:ln w="19050">
            <a:solidFill>
              <a:schemeClr val="accent5"/>
            </a:solidFill>
            <a:prstDash val="solid"/>
            <a:tailEnd type="triangle"/>
          </a:ln>
        </p:spPr>
        <p:txBody>
          <a:bodyPr/>
          <a:lstStyle/>
          <a:p>
            <a:endParaRPr lang="en-US"/>
          </a:p>
        </p:txBody>
      </p:sp>
      <p:sp>
        <p:nvSpPr>
          <p:cNvPr id="13" name="lm-step"/>
          <p:cNvSpPr/>
          <p:nvPr/>
        </p:nvSpPr>
        <p:spPr>
          <a:xfrm>
            <a:off x="6172200" y="1645920"/>
            <a:ext cx="1691640" cy="822960"/>
          </a:xfrm>
          <a:prstGeom prst="roundRect">
            <a:avLst>
              <a:gd name="adj" fmla="val 6667"/>
            </a:avLst>
          </a:prstGeom>
          <a:solidFill>
            <a:schemeClr val="tx1"/>
          </a:solidFill>
          <a:ln/>
        </p:spPr>
        <p:txBody>
          <a:bodyPr wrap="square" lIns="508" tIns="508" rIns="508" bIns="508" rtlCol="0" anchor="ctr"/>
          <a:lstStyle/>
          <a:p>
            <a:pPr marL="0" indent="0" algn="ctr">
              <a:buNone/>
            </a:pPr>
            <a:r>
              <a:rPr lang="en-US" sz="1400" b="1" dirty="0">
                <a:solidFill>
                  <a:schemeClr val="bg1"/>
                </a:solidFill>
              </a:rPr>
              <a:t>Transformer layers × N</a:t>
            </a:r>
            <a:endParaRPr lang="en-US" sz="1400" dirty="0"/>
          </a:p>
        </p:txBody>
      </p:sp>
      <p:sp>
        <p:nvSpPr>
          <p:cNvPr id="14" name="Text 12"/>
          <p:cNvSpPr txBox="1"/>
          <p:nvPr/>
        </p:nvSpPr>
        <p:spPr>
          <a:xfrm>
            <a:off x="617220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Self-attention + feed-forward</a:t>
            </a:r>
            <a:endParaRPr lang="en-US" sz="1300" dirty="0"/>
          </a:p>
        </p:txBody>
      </p:sp>
      <p:sp>
        <p:nvSpPr>
          <p:cNvPr id="15" name="Shape 13"/>
          <p:cNvSpPr/>
          <p:nvPr/>
        </p:nvSpPr>
        <p:spPr>
          <a:xfrm>
            <a:off x="7882128" y="2057400"/>
            <a:ext cx="146304" cy="914"/>
          </a:xfrm>
          <a:prstGeom prst="line">
            <a:avLst/>
          </a:prstGeom>
          <a:noFill/>
          <a:ln w="19050">
            <a:solidFill>
              <a:schemeClr val="accent5"/>
            </a:solidFill>
            <a:prstDash val="solid"/>
            <a:tailEnd type="triangle"/>
          </a:ln>
        </p:spPr>
        <p:txBody>
          <a:bodyPr/>
          <a:lstStyle/>
          <a:p>
            <a:endParaRPr lang="en-US"/>
          </a:p>
        </p:txBody>
      </p:sp>
      <p:sp>
        <p:nvSpPr>
          <p:cNvPr id="16" name="lm-step"/>
          <p:cNvSpPr/>
          <p:nvPr/>
        </p:nvSpPr>
        <p:spPr>
          <a:xfrm>
            <a:off x="804672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Probabilities</a:t>
            </a:r>
            <a:endParaRPr lang="en-US" sz="1400" dirty="0"/>
          </a:p>
        </p:txBody>
      </p:sp>
      <p:sp>
        <p:nvSpPr>
          <p:cNvPr id="17" name="Text 15"/>
          <p:cNvSpPr txBox="1"/>
          <p:nvPr/>
        </p:nvSpPr>
        <p:spPr>
          <a:xfrm>
            <a:off x="804672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Score every possible next token</a:t>
            </a:r>
            <a:endParaRPr lang="en-US" sz="1300" dirty="0"/>
          </a:p>
        </p:txBody>
      </p:sp>
      <p:sp>
        <p:nvSpPr>
          <p:cNvPr id="18" name="Shape 16"/>
          <p:cNvSpPr/>
          <p:nvPr/>
        </p:nvSpPr>
        <p:spPr>
          <a:xfrm>
            <a:off x="9756648" y="2057400"/>
            <a:ext cx="146304" cy="914"/>
          </a:xfrm>
          <a:prstGeom prst="line">
            <a:avLst/>
          </a:prstGeom>
          <a:noFill/>
          <a:ln w="19050">
            <a:solidFill>
              <a:schemeClr val="accent5"/>
            </a:solidFill>
            <a:prstDash val="solid"/>
            <a:tailEnd type="triangle"/>
          </a:ln>
        </p:spPr>
        <p:txBody>
          <a:bodyPr/>
          <a:lstStyle/>
          <a:p>
            <a:endParaRPr lang="en-US"/>
          </a:p>
        </p:txBody>
      </p:sp>
      <p:sp>
        <p:nvSpPr>
          <p:cNvPr id="19" name="lm-step"/>
          <p:cNvSpPr/>
          <p:nvPr/>
        </p:nvSpPr>
        <p:spPr>
          <a:xfrm>
            <a:off x="992124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Next token</a:t>
            </a:r>
            <a:endParaRPr lang="en-US" sz="1400" dirty="0"/>
          </a:p>
        </p:txBody>
      </p:sp>
      <p:sp>
        <p:nvSpPr>
          <p:cNvPr id="20" name="Text 18"/>
          <p:cNvSpPr txBox="1"/>
          <p:nvPr/>
        </p:nvSpPr>
        <p:spPr>
          <a:xfrm>
            <a:off x="992124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Append and repeat</a:t>
            </a:r>
            <a:endParaRPr lang="en-US" sz="1300" dirty="0"/>
          </a:p>
        </p:txBody>
      </p:sp>
      <p:sp>
        <p:nvSpPr>
          <p:cNvPr id="21" name="Shape 19"/>
          <p:cNvSpPr/>
          <p:nvPr/>
        </p:nvSpPr>
        <p:spPr>
          <a:xfrm>
            <a:off x="10767060" y="3063240"/>
            <a:ext cx="914" cy="182880"/>
          </a:xfrm>
          <a:prstGeom prst="line">
            <a:avLst/>
          </a:prstGeom>
          <a:noFill/>
          <a:ln w="19050">
            <a:solidFill>
              <a:schemeClr val="accent1"/>
            </a:solidFill>
            <a:prstDash val="solid"/>
          </a:ln>
        </p:spPr>
        <p:txBody>
          <a:bodyPr/>
          <a:lstStyle/>
          <a:p>
            <a:endParaRPr lang="en-US"/>
          </a:p>
        </p:txBody>
      </p:sp>
      <p:sp>
        <p:nvSpPr>
          <p:cNvPr id="22" name="Shape 20"/>
          <p:cNvSpPr/>
          <p:nvPr/>
        </p:nvSpPr>
        <p:spPr>
          <a:xfrm>
            <a:off x="3268980" y="3246120"/>
            <a:ext cx="7498080" cy="914"/>
          </a:xfrm>
          <a:prstGeom prst="line">
            <a:avLst/>
          </a:prstGeom>
          <a:noFill/>
          <a:ln w="19050">
            <a:solidFill>
              <a:schemeClr val="accent1"/>
            </a:solidFill>
            <a:prstDash val="solid"/>
          </a:ln>
        </p:spPr>
        <p:txBody>
          <a:bodyPr/>
          <a:lstStyle/>
          <a:p>
            <a:endParaRPr lang="en-US"/>
          </a:p>
        </p:txBody>
      </p:sp>
      <p:sp>
        <p:nvSpPr>
          <p:cNvPr id="23" name="Shape 21"/>
          <p:cNvSpPr/>
          <p:nvPr/>
        </p:nvSpPr>
        <p:spPr>
          <a:xfrm flipV="1">
            <a:off x="3268980" y="3081528"/>
            <a:ext cx="914" cy="164592"/>
          </a:xfrm>
          <a:prstGeom prst="line">
            <a:avLst/>
          </a:prstGeom>
          <a:noFill/>
          <a:ln w="19050">
            <a:solidFill>
              <a:schemeClr val="accent1"/>
            </a:solidFill>
            <a:prstDash val="solid"/>
            <a:tailEnd type="triangle"/>
          </a:ln>
        </p:spPr>
        <p:txBody>
          <a:bodyPr/>
          <a:lstStyle/>
          <a:p>
            <a:endParaRPr lang="en-US"/>
          </a:p>
        </p:txBody>
      </p:sp>
      <p:sp>
        <p:nvSpPr>
          <p:cNvPr id="24" name="Text 22"/>
          <p:cNvSpPr txBox="1"/>
          <p:nvPr/>
        </p:nvSpPr>
        <p:spPr>
          <a:xfrm>
            <a:off x="5463540" y="3310128"/>
            <a:ext cx="4114800" cy="274320"/>
          </a:xfrm>
          <a:prstGeom prst="rect">
            <a:avLst/>
          </a:prstGeom>
          <a:noFill/>
          <a:ln/>
        </p:spPr>
        <p:txBody>
          <a:bodyPr wrap="square" lIns="0" tIns="0" rIns="0" bIns="0" rtlCol="0" anchor="t"/>
          <a:lstStyle/>
          <a:p>
            <a:pPr marL="0" indent="0" algn="ctr">
              <a:buNone/>
            </a:pPr>
            <a:r>
              <a:rPr lang="en-US" sz="1200" i="1" dirty="0">
                <a:solidFill>
                  <a:schemeClr val="accent1"/>
                </a:solidFill>
              </a:rPr>
              <a:t>Generation loop: one token at a time</a:t>
            </a:r>
            <a:endParaRPr lang="en-US" sz="1200" dirty="0"/>
          </a:p>
        </p:txBody>
      </p:sp>
      <p:sp>
        <p:nvSpPr>
          <p:cNvPr id="25" name="Text 23"/>
          <p:cNvSpPr txBox="1"/>
          <p:nvPr/>
        </p:nvSpPr>
        <p:spPr>
          <a:xfrm>
            <a:off x="548640" y="3794760"/>
            <a:ext cx="54864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HOW A MODEL IS TRAINED</a:t>
            </a:r>
            <a:endParaRPr lang="en-US" sz="1200" dirty="0"/>
          </a:p>
        </p:txBody>
      </p:sp>
      <p:sp>
        <p:nvSpPr>
          <p:cNvPr id="26" name="train-stage"/>
          <p:cNvSpPr/>
          <p:nvPr/>
        </p:nvSpPr>
        <p:spPr>
          <a:xfrm>
            <a:off x="548640" y="4160520"/>
            <a:ext cx="2377440" cy="2011680"/>
          </a:xfrm>
          <a:prstGeom prst="roundRect">
            <a:avLst>
              <a:gd name="adj" fmla="val 2727"/>
            </a:avLst>
          </a:prstGeom>
          <a:solidFill>
            <a:schemeClr val="bg2"/>
          </a:solidFill>
          <a:ln/>
        </p:spPr>
        <p:txBody>
          <a:bodyPr/>
          <a:lstStyle/>
          <a:p>
            <a:endParaRPr lang="en-US"/>
          </a:p>
        </p:txBody>
      </p:sp>
      <p:sp>
        <p:nvSpPr>
          <p:cNvPr id="27" name="Text 25"/>
          <p:cNvSpPr txBox="1"/>
          <p:nvPr/>
        </p:nvSpPr>
        <p:spPr>
          <a:xfrm>
            <a:off x="7315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1  Pre-training</a:t>
            </a:r>
            <a:endParaRPr lang="en-US" sz="1500" dirty="0"/>
          </a:p>
        </p:txBody>
      </p:sp>
      <p:sp>
        <p:nvSpPr>
          <p:cNvPr id="28" name="Text 26"/>
          <p:cNvSpPr txBox="1"/>
          <p:nvPr/>
        </p:nvSpPr>
        <p:spPr>
          <a:xfrm>
            <a:off x="7315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Learns language and world knowledge by predicting the next token over trillions of tokens. Most of the compute cost.</a:t>
            </a:r>
            <a:endParaRPr lang="en-US" sz="1300" dirty="0"/>
          </a:p>
        </p:txBody>
      </p:sp>
      <p:sp>
        <p:nvSpPr>
          <p:cNvPr id="29" name="train-stage"/>
          <p:cNvSpPr/>
          <p:nvPr/>
        </p:nvSpPr>
        <p:spPr>
          <a:xfrm>
            <a:off x="3063240" y="4160520"/>
            <a:ext cx="2377440" cy="2011680"/>
          </a:xfrm>
          <a:prstGeom prst="roundRect">
            <a:avLst>
              <a:gd name="adj" fmla="val 2727"/>
            </a:avLst>
          </a:prstGeom>
          <a:solidFill>
            <a:schemeClr val="bg2"/>
          </a:solidFill>
          <a:ln/>
        </p:spPr>
        <p:txBody>
          <a:bodyPr/>
          <a:lstStyle/>
          <a:p>
            <a:endParaRPr lang="en-US"/>
          </a:p>
        </p:txBody>
      </p:sp>
      <p:sp>
        <p:nvSpPr>
          <p:cNvPr id="30" name="Text 28"/>
          <p:cNvSpPr txBox="1"/>
          <p:nvPr/>
        </p:nvSpPr>
        <p:spPr>
          <a:xfrm>
            <a:off x="32461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2  Instruction tuning</a:t>
            </a:r>
            <a:endParaRPr lang="en-US" sz="1500" dirty="0"/>
          </a:p>
        </p:txBody>
      </p:sp>
      <p:sp>
        <p:nvSpPr>
          <p:cNvPr id="31" name="Text 29"/>
          <p:cNvSpPr txBox="1"/>
          <p:nvPr/>
        </p:nvSpPr>
        <p:spPr>
          <a:xfrm>
            <a:off x="32461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Supervised fine-tuning on prompt/response pairs so the model follows instructions.</a:t>
            </a:r>
            <a:endParaRPr lang="en-US" sz="1300" dirty="0"/>
          </a:p>
        </p:txBody>
      </p:sp>
      <p:sp>
        <p:nvSpPr>
          <p:cNvPr id="32" name="train-stage"/>
          <p:cNvSpPr/>
          <p:nvPr/>
        </p:nvSpPr>
        <p:spPr>
          <a:xfrm>
            <a:off x="5577840" y="4160520"/>
            <a:ext cx="2377440" cy="2011680"/>
          </a:xfrm>
          <a:prstGeom prst="roundRect">
            <a:avLst>
              <a:gd name="adj" fmla="val 2727"/>
            </a:avLst>
          </a:prstGeom>
          <a:solidFill>
            <a:schemeClr val="bg2"/>
          </a:solidFill>
          <a:ln/>
        </p:spPr>
        <p:txBody>
          <a:bodyPr/>
          <a:lstStyle/>
          <a:p>
            <a:endParaRPr lang="en-US"/>
          </a:p>
        </p:txBody>
      </p:sp>
      <p:sp>
        <p:nvSpPr>
          <p:cNvPr id="33" name="Text 31"/>
          <p:cNvSpPr txBox="1"/>
          <p:nvPr/>
        </p:nvSpPr>
        <p:spPr>
          <a:xfrm>
            <a:off x="57607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3  Alignment</a:t>
            </a:r>
            <a:endParaRPr lang="en-US" sz="1500" dirty="0"/>
          </a:p>
        </p:txBody>
      </p:sp>
      <p:sp>
        <p:nvSpPr>
          <p:cNvPr id="34" name="Text 32"/>
          <p:cNvSpPr txBox="1"/>
          <p:nvPr/>
        </p:nvSpPr>
        <p:spPr>
          <a:xfrm>
            <a:off x="57607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Preference training (RLHF, DPO) for helpful, safe behaviour.</a:t>
            </a:r>
            <a:endParaRPr lang="en-US" sz="1300" dirty="0"/>
          </a:p>
        </p:txBody>
      </p:sp>
      <p:sp>
        <p:nvSpPr>
          <p:cNvPr id="35" name="terms"/>
          <p:cNvSpPr/>
          <p:nvPr/>
        </p:nvSpPr>
        <p:spPr>
          <a:xfrm>
            <a:off x="8183880" y="3794760"/>
            <a:ext cx="3429000" cy="2377440"/>
          </a:xfrm>
          <a:prstGeom prst="roundRect">
            <a:avLst>
              <a:gd name="adj" fmla="val 3077"/>
            </a:avLst>
          </a:prstGeom>
          <a:solidFill>
            <a:schemeClr val="tx1"/>
          </a:solidFill>
          <a:ln/>
        </p:spPr>
        <p:txBody>
          <a:bodyPr/>
          <a:lstStyle/>
          <a:p>
            <a:endParaRPr lang="en-US"/>
          </a:p>
        </p:txBody>
      </p:sp>
      <p:sp>
        <p:nvSpPr>
          <p:cNvPr id="36" name="Text 34"/>
          <p:cNvSpPr txBox="1"/>
          <p:nvPr/>
        </p:nvSpPr>
        <p:spPr>
          <a:xfrm>
            <a:off x="8412480" y="3931920"/>
            <a:ext cx="27432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KEY TERMS</a:t>
            </a:r>
            <a:endParaRPr lang="en-US" sz="1200" dirty="0"/>
          </a:p>
        </p:txBody>
      </p:sp>
      <p:sp>
        <p:nvSpPr>
          <p:cNvPr id="37" name="Text 35"/>
          <p:cNvSpPr txBox="1"/>
          <p:nvPr/>
        </p:nvSpPr>
        <p:spPr>
          <a:xfrm>
            <a:off x="8412480" y="4297680"/>
            <a:ext cx="3017520" cy="17830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bg1"/>
                </a:solidFill>
              </a:rPr>
              <a:t>Parameters: </a:t>
            </a:r>
            <a:r>
              <a:rPr lang="en-US" sz="1300" dirty="0">
                <a:solidFill>
                  <a:schemeClr val="bg1"/>
                </a:solidFill>
              </a:rPr>
              <a:t>learned weights; the 'size' of a model (e.g. 8B = 8 billion)</a:t>
            </a:r>
            <a:endParaRPr lang="en-US" sz="1300" dirty="0"/>
          </a:p>
          <a:p>
            <a:pPr marL="342900" indent="-342900">
              <a:spcAft>
                <a:spcPts val="600"/>
              </a:spcAft>
              <a:buSzPct val="100000"/>
              <a:buChar char="•"/>
            </a:pPr>
            <a:r>
              <a:rPr lang="en-US" sz="1300" b="1" dirty="0">
                <a:solidFill>
                  <a:schemeClr val="bg1"/>
                </a:solidFill>
              </a:rPr>
              <a:t>Token: </a:t>
            </a:r>
            <a:r>
              <a:rPr lang="en-US" sz="1300" dirty="0">
                <a:solidFill>
                  <a:schemeClr val="bg1"/>
                </a:solidFill>
              </a:rPr>
              <a:t>a word piece, about 3/4 of an English word</a:t>
            </a:r>
            <a:endParaRPr lang="en-US" sz="1300" dirty="0"/>
          </a:p>
          <a:p>
            <a:pPr marL="342900" indent="-342900">
              <a:spcAft>
                <a:spcPts val="600"/>
              </a:spcAft>
              <a:buSzPct val="100000"/>
              <a:buChar char="•"/>
            </a:pPr>
            <a:r>
              <a:rPr lang="en-US" sz="1300" b="1" dirty="0">
                <a:solidFill>
                  <a:schemeClr val="bg1"/>
                </a:solidFill>
              </a:rPr>
              <a:t>Context window: </a:t>
            </a:r>
            <a:r>
              <a:rPr lang="en-US" sz="1300" dirty="0">
                <a:solidFill>
                  <a:schemeClr val="bg1"/>
                </a:solidFill>
              </a:rPr>
              <a:t>how many tokens the model can read at once</a:t>
            </a:r>
            <a:endParaRPr lang="en-US" sz="1300" dirty="0"/>
          </a:p>
        </p:txBody>
      </p:sp>
      <p:sp>
        <p:nvSpPr>
          <p:cNvPr id="3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Large language models: broad, general-purpose capability</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Typically tens of billions to hundreds of billions of parameters, or more</a:t>
            </a:r>
            <a:endParaRPr lang="en-US" sz="1600" dirty="0"/>
          </a:p>
        </p:txBody>
      </p:sp>
      <p:sp>
        <p:nvSpPr>
          <p:cNvPr id="4" name="llm-def"/>
          <p:cNvSpPr/>
          <p:nvPr/>
        </p:nvSpPr>
        <p:spPr>
          <a:xfrm>
            <a:off x="548640" y="1600200"/>
            <a:ext cx="5394960" cy="4572000"/>
          </a:xfrm>
          <a:prstGeom prst="roundRect">
            <a:avLst>
              <a:gd name="adj" fmla="val 1600"/>
            </a:avLst>
          </a:prstGeom>
          <a:solidFill>
            <a:schemeClr val="bg2"/>
          </a:solidFill>
          <a:ln/>
        </p:spPr>
        <p:txBody>
          <a:bodyPr/>
          <a:lstStyle/>
          <a:p>
            <a:endParaRPr lang="en-US"/>
          </a:p>
        </p:txBody>
      </p:sp>
      <p:sp>
        <p:nvSpPr>
          <p:cNvPr id="5" name="icon-chip"/>
          <p:cNvSpPr/>
          <p:nvPr/>
        </p:nvSpPr>
        <p:spPr>
          <a:xfrm>
            <a:off x="777240" y="1783080"/>
            <a:ext cx="640080" cy="64008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8058" y="1923898"/>
            <a:ext cx="358445" cy="358445"/>
          </a:xfrm>
          <a:prstGeom prst="rect">
            <a:avLst/>
          </a:prstGeom>
        </p:spPr>
      </p:pic>
      <p:sp>
        <p:nvSpPr>
          <p:cNvPr id="7" name="Text 4"/>
          <p:cNvSpPr txBox="1"/>
          <p:nvPr/>
        </p:nvSpPr>
        <p:spPr>
          <a:xfrm>
            <a:off x="1600200" y="1783080"/>
            <a:ext cx="4114800" cy="640080"/>
          </a:xfrm>
          <a:prstGeom prst="rect">
            <a:avLst/>
          </a:prstGeom>
          <a:noFill/>
          <a:ln/>
        </p:spPr>
        <p:txBody>
          <a:bodyPr wrap="square" lIns="0" tIns="0" rIns="0" bIns="0" rtlCol="0" anchor="ctr"/>
          <a:lstStyle/>
          <a:p>
            <a:pPr marL="0" indent="0">
              <a:buNone/>
            </a:pPr>
            <a:r>
              <a:rPr lang="en-US" sz="2000" b="1" dirty="0">
                <a:solidFill>
                  <a:schemeClr val="tx1"/>
                </a:solidFill>
              </a:rPr>
              <a:t>What defines an LLM</a:t>
            </a:r>
            <a:endParaRPr lang="en-US" sz="2000" dirty="0"/>
          </a:p>
        </p:txBody>
      </p:sp>
      <p:sp>
        <p:nvSpPr>
          <p:cNvPr id="8" name="Text 5"/>
          <p:cNvSpPr txBox="1"/>
          <p:nvPr/>
        </p:nvSpPr>
        <p:spPr>
          <a:xfrm>
            <a:off x="777240" y="260604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rPr>
              <a:t>Scale: </a:t>
            </a:r>
            <a:r>
              <a:rPr lang="en-US" sz="1500" dirty="0">
                <a:solidFill>
                  <a:schemeClr val="tx2"/>
                </a:solidFill>
              </a:rPr>
              <a:t>very large parameter counts, trained on trillions of tokens of broad data</a:t>
            </a:r>
            <a:endParaRPr lang="en-US" sz="1500" dirty="0"/>
          </a:p>
          <a:p>
            <a:pPr marL="342900" indent="-342900">
              <a:spcAft>
                <a:spcPts val="800"/>
              </a:spcAft>
              <a:buSzPct val="100000"/>
              <a:buChar char="•"/>
            </a:pPr>
            <a:r>
              <a:rPr lang="en-US" sz="1500" b="1" dirty="0">
                <a:solidFill>
                  <a:schemeClr val="tx2"/>
                </a:solidFill>
              </a:rPr>
              <a:t>Generalist: </a:t>
            </a:r>
            <a:r>
              <a:rPr lang="en-US" sz="1500" dirty="0">
                <a:solidFill>
                  <a:schemeClr val="tx2"/>
                </a:solidFill>
              </a:rPr>
              <a:t>strong at reasoning, writing, coding and multi-step tasks across domains</a:t>
            </a:r>
            <a:endParaRPr lang="en-US" sz="1500" dirty="0"/>
          </a:p>
          <a:p>
            <a:pPr marL="342900" indent="-342900">
              <a:spcAft>
                <a:spcPts val="800"/>
              </a:spcAft>
              <a:buSzPct val="100000"/>
              <a:buChar char="•"/>
            </a:pPr>
            <a:r>
              <a:rPr lang="en-US" sz="1500" b="1" dirty="0">
                <a:solidFill>
                  <a:schemeClr val="tx2"/>
                </a:solidFill>
              </a:rPr>
              <a:t>Few-shot learning: </a:t>
            </a:r>
            <a:r>
              <a:rPr lang="en-US" sz="1500" dirty="0">
                <a:solidFill>
                  <a:schemeClr val="tx2"/>
                </a:solidFill>
              </a:rPr>
              <a:t>handles new tasks from instructions alone, without training</a:t>
            </a:r>
            <a:endParaRPr lang="en-US" sz="1500" dirty="0"/>
          </a:p>
          <a:p>
            <a:pPr marL="342900" indent="-342900">
              <a:spcAft>
                <a:spcPts val="800"/>
              </a:spcAft>
              <a:buSzPct val="100000"/>
              <a:buChar char="•"/>
            </a:pPr>
            <a:r>
              <a:rPr lang="en-US" sz="1500" b="1" dirty="0">
                <a:solidFill>
                  <a:schemeClr val="tx2"/>
                </a:solidFill>
              </a:rPr>
              <a:t>Long context and multimodal: </a:t>
            </a:r>
            <a:r>
              <a:rPr lang="en-US" sz="1500" dirty="0">
                <a:solidFill>
                  <a:schemeClr val="tx2"/>
                </a:solidFill>
              </a:rPr>
              <a:t>many read long documents, images and audio</a:t>
            </a:r>
            <a:endParaRPr lang="en-US" sz="1500" dirty="0"/>
          </a:p>
          <a:p>
            <a:pPr marL="342900" indent="-342900">
              <a:spcAft>
                <a:spcPts val="800"/>
              </a:spcAft>
              <a:buSzPct val="100000"/>
              <a:buChar char="•"/>
            </a:pPr>
            <a:r>
              <a:rPr lang="en-US" sz="1500" b="1" dirty="0">
                <a:solidFill>
                  <a:schemeClr val="tx2"/>
                </a:solidFill>
              </a:rPr>
              <a:t>Heavy to serve: </a:t>
            </a:r>
            <a:r>
              <a:rPr lang="en-US" sz="1500" dirty="0">
                <a:solidFill>
                  <a:schemeClr val="tx2"/>
                </a:solidFill>
              </a:rPr>
              <a:t>needs multi-GPU servers or a provider API</a:t>
            </a:r>
            <a:endParaRPr lang="en-US" sz="1500" dirty="0"/>
          </a:p>
        </p:txBody>
      </p:sp>
      <p:sp>
        <p:nvSpPr>
          <p:cNvPr id="9" name="Text 6"/>
          <p:cNvSpPr txBox="1"/>
          <p:nvPr/>
        </p:nvSpPr>
        <p:spPr>
          <a:xfrm>
            <a:off x="6263640" y="1600200"/>
            <a:ext cx="27432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EXAMPLES</a:t>
            </a:r>
            <a:endParaRPr lang="en-US" sz="1200" dirty="0"/>
          </a:p>
        </p:txBody>
      </p:sp>
      <p:sp>
        <p:nvSpPr>
          <p:cNvPr id="10" name="llm-example"/>
          <p:cNvSpPr/>
          <p:nvPr/>
        </p:nvSpPr>
        <p:spPr>
          <a:xfrm>
            <a:off x="6263640" y="1965960"/>
            <a:ext cx="5349240" cy="1097280"/>
          </a:xfrm>
          <a:prstGeom prst="roundRect">
            <a:avLst>
              <a:gd name="adj" fmla="val 5000"/>
            </a:avLst>
          </a:prstGeom>
          <a:solidFill>
            <a:schemeClr val="bg1"/>
          </a:solidFill>
          <a:ln w="12700">
            <a:solidFill>
              <a:srgbClr val="F26B3A"/>
            </a:solidFill>
            <a:prstDash val="solid"/>
          </a:ln>
        </p:spPr>
        <p:txBody>
          <a:bodyPr/>
          <a:lstStyle/>
          <a:p>
            <a:endParaRPr lang="en-US"/>
          </a:p>
        </p:txBody>
      </p:sp>
      <p:sp>
        <p:nvSpPr>
          <p:cNvPr id="11" name="Text 8"/>
          <p:cNvSpPr txBox="1"/>
          <p:nvPr/>
        </p:nvSpPr>
        <p:spPr>
          <a:xfrm>
            <a:off x="6446520" y="1965960"/>
            <a:ext cx="5029200" cy="1097280"/>
          </a:xfrm>
          <a:prstGeom prst="rect">
            <a:avLst/>
          </a:prstGeom>
          <a:noFill/>
          <a:ln/>
        </p:spPr>
        <p:txBody>
          <a:bodyPr wrap="square" lIns="0" tIns="0" rIns="0" bIns="0" rtlCol="0" anchor="ctr"/>
          <a:lstStyle/>
          <a:p>
            <a:pPr marL="0" indent="0">
              <a:buNone/>
            </a:pPr>
            <a:r>
              <a:rPr lang="en-US" sz="1400" b="1" dirty="0">
                <a:solidFill>
                  <a:schemeClr val="accent1"/>
                </a:solidFill>
              </a:rPr>
              <a:t>Proprietary (API)</a:t>
            </a:r>
            <a:endParaRPr lang="en-US" sz="1400" dirty="0"/>
          </a:p>
          <a:p>
            <a:pPr marL="0" indent="0">
              <a:buNone/>
            </a:pPr>
            <a:r>
              <a:rPr lang="en-US" sz="1400" dirty="0">
                <a:solidFill>
                  <a:schemeClr val="tx1"/>
                </a:solidFill>
              </a:rPr>
              <a:t>OpenAI GPT, Anthropic Claude, Google Gemini families</a:t>
            </a:r>
            <a:endParaRPr lang="en-US" sz="1400" dirty="0"/>
          </a:p>
          <a:p>
            <a:pPr marL="0" indent="0">
              <a:buNone/>
            </a:pPr>
            <a:r>
              <a:rPr lang="en-US" sz="1200" i="1" dirty="0">
                <a:solidFill>
                  <a:schemeClr val="accent5"/>
                </a:solidFill>
              </a:rPr>
              <a:t>Sizes generally not disclosed</a:t>
            </a:r>
            <a:endParaRPr lang="en-US" sz="1400" dirty="0"/>
          </a:p>
        </p:txBody>
      </p:sp>
      <p:sp>
        <p:nvSpPr>
          <p:cNvPr id="12" name="llm-example"/>
          <p:cNvSpPr/>
          <p:nvPr/>
        </p:nvSpPr>
        <p:spPr>
          <a:xfrm>
            <a:off x="6263640" y="3200400"/>
            <a:ext cx="5349240" cy="1097280"/>
          </a:xfrm>
          <a:prstGeom prst="roundRect">
            <a:avLst>
              <a:gd name="adj" fmla="val 5000"/>
            </a:avLst>
          </a:prstGeom>
          <a:solidFill>
            <a:schemeClr val="bg1"/>
          </a:solidFill>
          <a:ln w="12700">
            <a:solidFill>
              <a:srgbClr val="F26B3A"/>
            </a:solidFill>
            <a:prstDash val="solid"/>
          </a:ln>
        </p:spPr>
        <p:txBody>
          <a:bodyPr/>
          <a:lstStyle/>
          <a:p>
            <a:endParaRPr lang="en-US"/>
          </a:p>
        </p:txBody>
      </p:sp>
      <p:sp>
        <p:nvSpPr>
          <p:cNvPr id="13" name="Text 10"/>
          <p:cNvSpPr txBox="1"/>
          <p:nvPr/>
        </p:nvSpPr>
        <p:spPr>
          <a:xfrm>
            <a:off x="6446520" y="3200400"/>
            <a:ext cx="5029200" cy="1097280"/>
          </a:xfrm>
          <a:prstGeom prst="rect">
            <a:avLst/>
          </a:prstGeom>
          <a:noFill/>
          <a:ln/>
        </p:spPr>
        <p:txBody>
          <a:bodyPr wrap="square" lIns="0" tIns="0" rIns="0" bIns="0" rtlCol="0" anchor="ctr"/>
          <a:lstStyle/>
          <a:p>
            <a:pPr marL="0" indent="0">
              <a:buNone/>
            </a:pPr>
            <a:r>
              <a:rPr lang="en-US" sz="1400" b="1" dirty="0">
                <a:solidFill>
                  <a:schemeClr val="accent1"/>
                </a:solidFill>
              </a:rPr>
              <a:t>Open-weight</a:t>
            </a:r>
            <a:endParaRPr lang="en-US" sz="1400" dirty="0"/>
          </a:p>
          <a:p>
            <a:pPr marL="0" indent="0">
              <a:buNone/>
            </a:pPr>
            <a:r>
              <a:rPr lang="en-US" sz="1400" dirty="0">
                <a:solidFill>
                  <a:schemeClr val="tx1"/>
                </a:solidFill>
              </a:rPr>
              <a:t>Llama 3.1 405B, DeepSeek-V3 (671B, mixture-of-experts), Mistral Large</a:t>
            </a:r>
            <a:endParaRPr lang="en-US" sz="1400" dirty="0"/>
          </a:p>
          <a:p>
            <a:pPr marL="0" indent="0">
              <a:buNone/>
            </a:pPr>
            <a:r>
              <a:rPr lang="en-US" sz="1200" i="1" dirty="0">
                <a:solidFill>
                  <a:schemeClr val="accent5"/>
                </a:solidFill>
              </a:rPr>
              <a:t>Can be self-hosted on large GPU clusters</a:t>
            </a:r>
            <a:endParaRPr lang="en-US" sz="1400" dirty="0"/>
          </a:p>
        </p:txBody>
      </p:sp>
      <p:sp>
        <p:nvSpPr>
          <p:cNvPr id="14" name="llm-pc"/>
          <p:cNvSpPr/>
          <p:nvPr/>
        </p:nvSpPr>
        <p:spPr>
          <a:xfrm>
            <a:off x="6263640" y="4526280"/>
            <a:ext cx="2606040" cy="1645920"/>
          </a:xfrm>
          <a:prstGeom prst="roundRect">
            <a:avLst>
              <a:gd name="adj" fmla="val 3333"/>
            </a:avLst>
          </a:prstGeom>
          <a:solidFill>
            <a:schemeClr val="bg2"/>
          </a:solidFill>
          <a:ln/>
        </p:spPr>
        <p:txBody>
          <a:bodyPr/>
          <a:lstStyle/>
          <a:p>
            <a:endParaRPr lang="en-US"/>
          </a:p>
        </p:txBody>
      </p:sp>
      <p:sp>
        <p:nvSpPr>
          <p:cNvPr id="15" name="Text 12"/>
          <p:cNvSpPr txBox="1"/>
          <p:nvPr/>
        </p:nvSpPr>
        <p:spPr>
          <a:xfrm>
            <a:off x="6446520" y="4617720"/>
            <a:ext cx="2286000" cy="320040"/>
          </a:xfrm>
          <a:prstGeom prst="rect">
            <a:avLst/>
          </a:prstGeom>
          <a:noFill/>
          <a:ln/>
        </p:spPr>
        <p:txBody>
          <a:bodyPr wrap="square" lIns="0" tIns="0" rIns="0" bIns="0" rtlCol="0" anchor="t"/>
          <a:lstStyle/>
          <a:p>
            <a:pPr marL="0" indent="0">
              <a:buNone/>
            </a:pPr>
            <a:r>
              <a:rPr lang="en-US" sz="1500" b="1" dirty="0">
                <a:solidFill>
                  <a:schemeClr val="accent2"/>
                </a:solidFill>
              </a:rPr>
              <a:t>Strengths</a:t>
            </a:r>
            <a:endParaRPr lang="en-US" sz="1500" dirty="0"/>
          </a:p>
        </p:txBody>
      </p:sp>
      <p:sp>
        <p:nvSpPr>
          <p:cNvPr id="16" name="Text 13"/>
          <p:cNvSpPr txBox="1"/>
          <p:nvPr/>
        </p:nvSpPr>
        <p:spPr>
          <a:xfrm>
            <a:off x="6446520" y="4983480"/>
            <a:ext cx="2286000" cy="11430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Complex reasoning, open-ended tasks</a:t>
            </a:r>
            <a:endParaRPr lang="en-US" sz="1300" dirty="0"/>
          </a:p>
          <a:p>
            <a:pPr marL="342900" indent="-342900">
              <a:spcAft>
                <a:spcPts val="400"/>
              </a:spcAft>
              <a:buSzPct val="100000"/>
              <a:buChar char="•"/>
            </a:pPr>
            <a:r>
              <a:rPr lang="en-US" sz="1300" dirty="0">
                <a:solidFill>
                  <a:schemeClr val="tx2"/>
                </a:solidFill>
              </a:rPr>
              <a:t>Best quality with no training</a:t>
            </a:r>
            <a:endParaRPr lang="en-US" sz="1300" dirty="0"/>
          </a:p>
        </p:txBody>
      </p:sp>
      <p:sp>
        <p:nvSpPr>
          <p:cNvPr id="17" name="llm-pc"/>
          <p:cNvSpPr/>
          <p:nvPr/>
        </p:nvSpPr>
        <p:spPr>
          <a:xfrm>
            <a:off x="9006840" y="4526280"/>
            <a:ext cx="2606040" cy="1645920"/>
          </a:xfrm>
          <a:prstGeom prst="roundRect">
            <a:avLst>
              <a:gd name="adj" fmla="val 3333"/>
            </a:avLst>
          </a:prstGeom>
          <a:solidFill>
            <a:schemeClr val="bg2"/>
          </a:solidFill>
          <a:ln/>
        </p:spPr>
        <p:txBody>
          <a:bodyPr/>
          <a:lstStyle/>
          <a:p>
            <a:endParaRPr lang="en-US"/>
          </a:p>
        </p:txBody>
      </p:sp>
      <p:sp>
        <p:nvSpPr>
          <p:cNvPr id="18" name="Text 15"/>
          <p:cNvSpPr txBox="1"/>
          <p:nvPr/>
        </p:nvSpPr>
        <p:spPr>
          <a:xfrm>
            <a:off x="9189720" y="4617720"/>
            <a:ext cx="2286000" cy="320040"/>
          </a:xfrm>
          <a:prstGeom prst="rect">
            <a:avLst/>
          </a:prstGeom>
          <a:noFill/>
          <a:ln/>
        </p:spPr>
        <p:txBody>
          <a:bodyPr wrap="square" lIns="0" tIns="0" rIns="0" bIns="0" rtlCol="0" anchor="t"/>
          <a:lstStyle/>
          <a:p>
            <a:pPr marL="0" indent="0">
              <a:buNone/>
            </a:pPr>
            <a:r>
              <a:rPr lang="en-US" sz="1500" b="1" dirty="0">
                <a:solidFill>
                  <a:schemeClr val="accent6"/>
                </a:solidFill>
              </a:rPr>
              <a:t>Limits</a:t>
            </a:r>
            <a:endParaRPr lang="en-US" sz="1500" dirty="0"/>
          </a:p>
        </p:txBody>
      </p:sp>
      <p:sp>
        <p:nvSpPr>
          <p:cNvPr id="19" name="Text 16"/>
          <p:cNvSpPr txBox="1"/>
          <p:nvPr/>
        </p:nvSpPr>
        <p:spPr>
          <a:xfrm>
            <a:off x="9189720" y="4983480"/>
            <a:ext cx="2286000" cy="11430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Higher cost and latency per request</a:t>
            </a:r>
            <a:endParaRPr lang="en-US" sz="1300" dirty="0"/>
          </a:p>
          <a:p>
            <a:pPr marL="342900" indent="-342900">
              <a:spcAft>
                <a:spcPts val="400"/>
              </a:spcAft>
              <a:buSzPct val="100000"/>
              <a:buChar char="•"/>
            </a:pPr>
            <a:r>
              <a:rPr lang="en-US" sz="1300" dirty="0">
                <a:solidFill>
                  <a:schemeClr val="tx2"/>
                </a:solidFill>
              </a:rPr>
              <a:t>Data often leaves your boundary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Small language models: focused, efficient and deployable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Typically around 0.5B to 10B parameters; there is no formal cut-off</a:t>
            </a:r>
            <a:endParaRPr lang="en-US" sz="1600" dirty="0"/>
          </a:p>
        </p:txBody>
      </p:sp>
      <p:sp>
        <p:nvSpPr>
          <p:cNvPr id="4" name="slm-def"/>
          <p:cNvSpPr/>
          <p:nvPr/>
        </p:nvSpPr>
        <p:spPr>
          <a:xfrm>
            <a:off x="548640" y="1600200"/>
            <a:ext cx="5394960" cy="4572000"/>
          </a:xfrm>
          <a:prstGeom prst="roundRect">
            <a:avLst>
              <a:gd name="adj" fmla="val 1600"/>
            </a:avLst>
          </a:prstGeom>
          <a:solidFill>
            <a:schemeClr val="bg2"/>
          </a:solidFill>
          <a:ln/>
        </p:spPr>
        <p:txBody>
          <a:bodyPr/>
          <a:lstStyle/>
          <a:p>
            <a:endParaRPr lang="en-US"/>
          </a:p>
        </p:txBody>
      </p:sp>
      <p:sp>
        <p:nvSpPr>
          <p:cNvPr id="5" name="icon-chip"/>
          <p:cNvSpPr/>
          <p:nvPr/>
        </p:nvSpPr>
        <p:spPr>
          <a:xfrm>
            <a:off x="777240" y="1783080"/>
            <a:ext cx="640080" cy="640080"/>
          </a:xfrm>
          <a:prstGeom prst="ellipse">
            <a:avLst/>
          </a:prstGeom>
          <a:solidFill>
            <a:schemeClr val="accent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8058" y="1923898"/>
            <a:ext cx="358445" cy="358445"/>
          </a:xfrm>
          <a:prstGeom prst="rect">
            <a:avLst/>
          </a:prstGeom>
        </p:spPr>
      </p:pic>
      <p:sp>
        <p:nvSpPr>
          <p:cNvPr id="7" name="Text 4"/>
          <p:cNvSpPr txBox="1"/>
          <p:nvPr/>
        </p:nvSpPr>
        <p:spPr>
          <a:xfrm>
            <a:off x="1600200" y="1783080"/>
            <a:ext cx="4114800" cy="640080"/>
          </a:xfrm>
          <a:prstGeom prst="rect">
            <a:avLst/>
          </a:prstGeom>
          <a:noFill/>
          <a:ln/>
        </p:spPr>
        <p:txBody>
          <a:bodyPr wrap="square" lIns="0" tIns="0" rIns="0" bIns="0" rtlCol="0" anchor="ctr"/>
          <a:lstStyle/>
          <a:p>
            <a:pPr marL="0" indent="0">
              <a:buNone/>
            </a:pPr>
            <a:r>
              <a:rPr lang="en-US" sz="2000" b="1" dirty="0">
                <a:solidFill>
                  <a:schemeClr val="tx1"/>
                </a:solidFill>
              </a:rPr>
              <a:t>What defines an SLM</a:t>
            </a:r>
            <a:endParaRPr lang="en-US" sz="2000" dirty="0"/>
          </a:p>
        </p:txBody>
      </p:sp>
      <p:sp>
        <p:nvSpPr>
          <p:cNvPr id="8" name="Text 5"/>
          <p:cNvSpPr txBox="1"/>
          <p:nvPr/>
        </p:nvSpPr>
        <p:spPr>
          <a:xfrm>
            <a:off x="777240" y="260604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rPr>
              <a:t>Compact: </a:t>
            </a:r>
            <a:r>
              <a:rPr lang="en-US" sz="1500" dirty="0">
                <a:solidFill>
                  <a:schemeClr val="tx2"/>
                </a:solidFill>
              </a:rPr>
              <a:t>fits on a single GPU, a CPU server, a laptop or even a phone</a:t>
            </a:r>
            <a:endParaRPr lang="en-US" sz="1500" dirty="0"/>
          </a:p>
          <a:p>
            <a:pPr marL="342900" indent="-342900">
              <a:spcAft>
                <a:spcPts val="800"/>
              </a:spcAft>
              <a:buSzPct val="100000"/>
              <a:buChar char="•"/>
            </a:pPr>
            <a:r>
              <a:rPr lang="en-US" sz="1500" b="1" dirty="0">
                <a:solidFill>
                  <a:schemeClr val="tx2"/>
                </a:solidFill>
              </a:rPr>
              <a:t>Fast and cheap: </a:t>
            </a:r>
            <a:r>
              <a:rPr lang="en-US" sz="1500" dirty="0">
                <a:solidFill>
                  <a:schemeClr val="tx2"/>
                </a:solidFill>
              </a:rPr>
              <a:t>fewer weights to read per token means quicker answers at lower cost</a:t>
            </a:r>
            <a:endParaRPr lang="en-US" sz="1500" dirty="0"/>
          </a:p>
          <a:p>
            <a:pPr marL="342900" indent="-342900">
              <a:spcAft>
                <a:spcPts val="800"/>
              </a:spcAft>
              <a:buSzPct val="100000"/>
              <a:buChar char="•"/>
            </a:pPr>
            <a:r>
              <a:rPr lang="en-US" sz="1500" b="1" dirty="0">
                <a:solidFill>
                  <a:schemeClr val="tx2"/>
                </a:solidFill>
              </a:rPr>
              <a:t>Specialist: </a:t>
            </a:r>
            <a:r>
              <a:rPr lang="en-US" sz="1500" dirty="0">
                <a:solidFill>
                  <a:schemeClr val="tx2"/>
                </a:solidFill>
              </a:rPr>
              <a:t>very strong on narrow, well-defined tasks, especially after fine-tuning</a:t>
            </a:r>
            <a:endParaRPr lang="en-US" sz="1500" dirty="0"/>
          </a:p>
          <a:p>
            <a:pPr marL="342900" indent="-342900">
              <a:spcAft>
                <a:spcPts val="800"/>
              </a:spcAft>
              <a:buSzPct val="100000"/>
              <a:buChar char="•"/>
            </a:pPr>
            <a:r>
              <a:rPr lang="en-US" sz="1500" b="1" dirty="0">
                <a:solidFill>
                  <a:schemeClr val="tx2"/>
                </a:solidFill>
              </a:rPr>
              <a:t>Private by design: </a:t>
            </a:r>
            <a:r>
              <a:rPr lang="en-US" sz="1500" dirty="0">
                <a:solidFill>
                  <a:schemeClr val="tx2"/>
                </a:solidFill>
              </a:rPr>
              <a:t>easy to run fully inside your own environment or offline</a:t>
            </a:r>
            <a:endParaRPr lang="en-US" sz="1500" dirty="0"/>
          </a:p>
          <a:p>
            <a:pPr marL="342900" indent="-342900">
              <a:spcAft>
                <a:spcPts val="800"/>
              </a:spcAft>
              <a:buSzPct val="100000"/>
              <a:buChar char="•"/>
            </a:pPr>
            <a:r>
              <a:rPr lang="en-US" sz="1500" b="1" dirty="0">
                <a:solidFill>
                  <a:schemeClr val="tx2"/>
                </a:solidFill>
              </a:rPr>
              <a:t>Limits: </a:t>
            </a:r>
            <a:r>
              <a:rPr lang="en-US" sz="1500" dirty="0">
                <a:solidFill>
                  <a:schemeClr val="tx2"/>
                </a:solidFill>
              </a:rPr>
              <a:t>weaker broad knowledge and multi-step reasoning; shorter context in some</a:t>
            </a:r>
            <a:endParaRPr lang="en-US" sz="1500" dirty="0"/>
          </a:p>
        </p:txBody>
      </p:sp>
      <p:sp>
        <p:nvSpPr>
          <p:cNvPr id="9" name="Text 6"/>
          <p:cNvSpPr txBox="1"/>
          <p:nvPr/>
        </p:nvSpPr>
        <p:spPr>
          <a:xfrm>
            <a:off x="6263640" y="1600200"/>
            <a:ext cx="36576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EXAMPLES (OPEN-WEIGHT)</a:t>
            </a:r>
            <a:endParaRPr lang="en-US" sz="1200" dirty="0"/>
          </a:p>
        </p:txBody>
      </p:sp>
      <p:sp>
        <p:nvSpPr>
          <p:cNvPr id="10" name="slm-example"/>
          <p:cNvSpPr/>
          <p:nvPr/>
        </p:nvSpPr>
        <p:spPr>
          <a:xfrm>
            <a:off x="6263640" y="196596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1" name="Text 8"/>
          <p:cNvSpPr txBox="1"/>
          <p:nvPr/>
        </p:nvSpPr>
        <p:spPr>
          <a:xfrm>
            <a:off x="6428232" y="196596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Microsoft Phi</a:t>
            </a:r>
            <a:endParaRPr lang="en-US" sz="1400" dirty="0"/>
          </a:p>
          <a:p>
            <a:pPr marL="0" indent="0">
              <a:buNone/>
            </a:pPr>
            <a:r>
              <a:rPr lang="en-US" sz="1300" dirty="0">
                <a:solidFill>
                  <a:schemeClr val="tx1"/>
                </a:solidFill>
              </a:rPr>
              <a:t>Phi-3-mini, Phi-4-mini (3.8B)</a:t>
            </a:r>
            <a:endParaRPr lang="en-US" sz="1400" dirty="0"/>
          </a:p>
        </p:txBody>
      </p:sp>
      <p:sp>
        <p:nvSpPr>
          <p:cNvPr id="12" name="slm-example"/>
          <p:cNvSpPr/>
          <p:nvPr/>
        </p:nvSpPr>
        <p:spPr>
          <a:xfrm>
            <a:off x="8983980" y="196596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3" name="Text 10"/>
          <p:cNvSpPr txBox="1"/>
          <p:nvPr/>
        </p:nvSpPr>
        <p:spPr>
          <a:xfrm>
            <a:off x="9148572" y="196596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Google Gemma</a:t>
            </a:r>
            <a:endParaRPr lang="en-US" sz="1400" dirty="0"/>
          </a:p>
          <a:p>
            <a:pPr marL="0" indent="0">
              <a:buNone/>
            </a:pPr>
            <a:r>
              <a:rPr lang="en-US" sz="1300" dirty="0">
                <a:solidFill>
                  <a:schemeClr val="tx1"/>
                </a:solidFill>
              </a:rPr>
              <a:t>Gemma 2 (2B, 9B)</a:t>
            </a:r>
            <a:endParaRPr lang="en-US" sz="1400" dirty="0"/>
          </a:p>
        </p:txBody>
      </p:sp>
      <p:sp>
        <p:nvSpPr>
          <p:cNvPr id="14" name="slm-example"/>
          <p:cNvSpPr/>
          <p:nvPr/>
        </p:nvSpPr>
        <p:spPr>
          <a:xfrm>
            <a:off x="6263640" y="283464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5" name="Text 12"/>
          <p:cNvSpPr txBox="1"/>
          <p:nvPr/>
        </p:nvSpPr>
        <p:spPr>
          <a:xfrm>
            <a:off x="6428232" y="283464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Meta Llama</a:t>
            </a:r>
            <a:endParaRPr lang="en-US" sz="1400" dirty="0"/>
          </a:p>
          <a:p>
            <a:pPr marL="0" indent="0">
              <a:buNone/>
            </a:pPr>
            <a:r>
              <a:rPr lang="en-US" sz="1300" dirty="0">
                <a:solidFill>
                  <a:schemeClr val="tx1"/>
                </a:solidFill>
              </a:rPr>
              <a:t>Llama 3.2 (1B, 3B), Llama 3.1 8B</a:t>
            </a:r>
            <a:endParaRPr lang="en-US" sz="1400" dirty="0"/>
          </a:p>
        </p:txBody>
      </p:sp>
      <p:sp>
        <p:nvSpPr>
          <p:cNvPr id="16" name="slm-example"/>
          <p:cNvSpPr/>
          <p:nvPr/>
        </p:nvSpPr>
        <p:spPr>
          <a:xfrm>
            <a:off x="8983980" y="283464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7" name="Text 14"/>
          <p:cNvSpPr txBox="1"/>
          <p:nvPr/>
        </p:nvSpPr>
        <p:spPr>
          <a:xfrm>
            <a:off x="9148572" y="283464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Mistral / Qwen</a:t>
            </a:r>
            <a:endParaRPr lang="en-US" sz="1400" dirty="0"/>
          </a:p>
          <a:p>
            <a:pPr marL="0" indent="0">
              <a:buNone/>
            </a:pPr>
            <a:r>
              <a:rPr lang="en-US" sz="1300" dirty="0">
                <a:solidFill>
                  <a:schemeClr val="tx1"/>
                </a:solidFill>
              </a:rPr>
              <a:t>Mistral 7B, Qwen2.5 (0.5B–7B)</a:t>
            </a:r>
            <a:endParaRPr lang="en-US" sz="1400" dirty="0"/>
          </a:p>
        </p:txBody>
      </p:sp>
      <p:sp>
        <p:nvSpPr>
          <p:cNvPr id="18" name="Text 15"/>
          <p:cNvSpPr txBox="1"/>
          <p:nvPr/>
        </p:nvSpPr>
        <p:spPr>
          <a:xfrm>
            <a:off x="6263640" y="3840480"/>
            <a:ext cx="45720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HOW SMALL MODELS GET GOOD</a:t>
            </a:r>
            <a:endParaRPr lang="en-US" sz="1200" dirty="0"/>
          </a:p>
        </p:txBody>
      </p:sp>
      <p:sp>
        <p:nvSpPr>
          <p:cNvPr id="19" name="slm-technique"/>
          <p:cNvSpPr/>
          <p:nvPr/>
        </p:nvSpPr>
        <p:spPr>
          <a:xfrm>
            <a:off x="6263640" y="4206240"/>
            <a:ext cx="2628900" cy="896112"/>
          </a:xfrm>
          <a:prstGeom prst="roundRect">
            <a:avLst>
              <a:gd name="adj" fmla="val 6122"/>
            </a:avLst>
          </a:prstGeom>
          <a:solidFill>
            <a:schemeClr val="bg2"/>
          </a:solidFill>
          <a:ln/>
        </p:spPr>
        <p:txBody>
          <a:bodyPr/>
          <a:lstStyle/>
          <a:p>
            <a:endParaRPr lang="en-US"/>
          </a:p>
        </p:txBody>
      </p:sp>
      <p:sp>
        <p:nvSpPr>
          <p:cNvPr id="20" name="Text 17"/>
          <p:cNvSpPr txBox="1"/>
          <p:nvPr/>
        </p:nvSpPr>
        <p:spPr>
          <a:xfrm>
            <a:off x="6428232" y="420624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Distillation</a:t>
            </a:r>
            <a:endParaRPr lang="en-US" sz="1400" dirty="0"/>
          </a:p>
          <a:p>
            <a:pPr marL="0" indent="0">
              <a:buNone/>
            </a:pPr>
            <a:r>
              <a:rPr lang="en-US" sz="1300" dirty="0">
                <a:solidFill>
                  <a:schemeClr val="tx2"/>
                </a:solidFill>
              </a:rPr>
              <a:t>learn from a larger 'teacher' model</a:t>
            </a:r>
            <a:endParaRPr lang="en-US" sz="1400" dirty="0"/>
          </a:p>
        </p:txBody>
      </p:sp>
      <p:sp>
        <p:nvSpPr>
          <p:cNvPr id="21" name="slm-technique"/>
          <p:cNvSpPr/>
          <p:nvPr/>
        </p:nvSpPr>
        <p:spPr>
          <a:xfrm>
            <a:off x="8983980" y="4206240"/>
            <a:ext cx="2628900" cy="896112"/>
          </a:xfrm>
          <a:prstGeom prst="roundRect">
            <a:avLst>
              <a:gd name="adj" fmla="val 6122"/>
            </a:avLst>
          </a:prstGeom>
          <a:solidFill>
            <a:schemeClr val="bg2"/>
          </a:solidFill>
          <a:ln/>
        </p:spPr>
        <p:txBody>
          <a:bodyPr/>
          <a:lstStyle/>
          <a:p>
            <a:endParaRPr lang="en-US"/>
          </a:p>
        </p:txBody>
      </p:sp>
      <p:sp>
        <p:nvSpPr>
          <p:cNvPr id="22" name="Text 19"/>
          <p:cNvSpPr txBox="1"/>
          <p:nvPr/>
        </p:nvSpPr>
        <p:spPr>
          <a:xfrm>
            <a:off x="9148572" y="420624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Curated data</a:t>
            </a:r>
            <a:endParaRPr lang="en-US" sz="1400" dirty="0"/>
          </a:p>
          <a:p>
            <a:pPr marL="0" indent="0">
              <a:buNone/>
            </a:pPr>
            <a:r>
              <a:rPr lang="en-US" sz="1300" dirty="0">
                <a:solidFill>
                  <a:schemeClr val="tx2"/>
                </a:solidFill>
              </a:rPr>
              <a:t>high-quality and synthetic training data</a:t>
            </a:r>
            <a:endParaRPr lang="en-US" sz="1400" dirty="0"/>
          </a:p>
        </p:txBody>
      </p:sp>
      <p:sp>
        <p:nvSpPr>
          <p:cNvPr id="23" name="slm-technique"/>
          <p:cNvSpPr/>
          <p:nvPr/>
        </p:nvSpPr>
        <p:spPr>
          <a:xfrm>
            <a:off x="6263640" y="5212080"/>
            <a:ext cx="2628900" cy="896112"/>
          </a:xfrm>
          <a:prstGeom prst="roundRect">
            <a:avLst>
              <a:gd name="adj" fmla="val 6122"/>
            </a:avLst>
          </a:prstGeom>
          <a:solidFill>
            <a:schemeClr val="bg2"/>
          </a:solidFill>
          <a:ln/>
        </p:spPr>
        <p:txBody>
          <a:bodyPr/>
          <a:lstStyle/>
          <a:p>
            <a:endParaRPr lang="en-US"/>
          </a:p>
        </p:txBody>
      </p:sp>
      <p:sp>
        <p:nvSpPr>
          <p:cNvPr id="24" name="Text 21"/>
          <p:cNvSpPr txBox="1"/>
          <p:nvPr/>
        </p:nvSpPr>
        <p:spPr>
          <a:xfrm>
            <a:off x="6428232" y="521208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Quantization</a:t>
            </a:r>
            <a:endParaRPr lang="en-US" sz="1400" dirty="0"/>
          </a:p>
          <a:p>
            <a:pPr marL="0" indent="0">
              <a:buNone/>
            </a:pPr>
            <a:r>
              <a:rPr lang="en-US" sz="1300" dirty="0">
                <a:solidFill>
                  <a:schemeClr val="tx2"/>
                </a:solidFill>
              </a:rPr>
              <a:t>store weights in 8 or 4 bits</a:t>
            </a:r>
            <a:endParaRPr lang="en-US" sz="1400" dirty="0"/>
          </a:p>
        </p:txBody>
      </p:sp>
      <p:sp>
        <p:nvSpPr>
          <p:cNvPr id="25" name="slm-technique"/>
          <p:cNvSpPr/>
          <p:nvPr/>
        </p:nvSpPr>
        <p:spPr>
          <a:xfrm>
            <a:off x="8983980" y="5212080"/>
            <a:ext cx="2628900" cy="896112"/>
          </a:xfrm>
          <a:prstGeom prst="roundRect">
            <a:avLst>
              <a:gd name="adj" fmla="val 6122"/>
            </a:avLst>
          </a:prstGeom>
          <a:solidFill>
            <a:schemeClr val="bg2"/>
          </a:solidFill>
          <a:ln/>
        </p:spPr>
        <p:txBody>
          <a:bodyPr/>
          <a:lstStyle/>
          <a:p>
            <a:endParaRPr lang="en-US"/>
          </a:p>
        </p:txBody>
      </p:sp>
      <p:sp>
        <p:nvSpPr>
          <p:cNvPr id="26" name="Text 23"/>
          <p:cNvSpPr txBox="1"/>
          <p:nvPr/>
        </p:nvSpPr>
        <p:spPr>
          <a:xfrm>
            <a:off x="9148572" y="521208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Fine-tuning</a:t>
            </a:r>
            <a:endParaRPr lang="en-US" sz="1400" dirty="0"/>
          </a:p>
          <a:p>
            <a:pPr marL="0" indent="0">
              <a:buNone/>
            </a:pPr>
            <a:r>
              <a:rPr lang="en-US" sz="1300" dirty="0">
                <a:solidFill>
                  <a:schemeClr val="tx2"/>
                </a:solidFill>
              </a:rPr>
              <a:t>specialise on your task with LoRA</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03</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LLM vs SLM:</a:t>
            </a:r>
            <a:endParaRPr lang="en-US" sz="3600" dirty="0"/>
          </a:p>
          <a:p>
            <a:pPr marL="0" indent="0" algn="l">
              <a:buNone/>
            </a:pPr>
            <a:r>
              <a:rPr lang="en-US" sz="3600" b="1" dirty="0">
                <a:solidFill>
                  <a:schemeClr val="bg1"/>
                </a:solidFill>
              </a:rPr>
              <a:t>choosing the right fit</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Capability, cost, latency, infrastructure and business fit, measured on your workload</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Side-by-side comparison across five dimensions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Directional tendencies; always validate on your own workload</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657600"/>
        </p:xfrm>
        <a:graphic>
          <a:graphicData uri="http://schemas.openxmlformats.org/drawingml/2006/table">
            <a:tbl>
              <a:tblPr/>
              <a:tblGrid>
                <a:gridCol w="192024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buNone/>
                      </a:pPr>
                      <a:r>
                        <a:rPr lang="en-US" sz="1500" b="1" dirty="0">
                          <a:solidFill>
                            <a:schemeClr val="bg1"/>
                          </a:solidFill>
                        </a:rPr>
                        <a:t>Dimension</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Large language model (LLM)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Small language model (SLM)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2"/>
                    </a:solidFill>
                  </a:tcPr>
                </a:tc>
                <a:tc>
                  <a:txBody>
                    <a:bodyPr/>
                    <a:lstStyle/>
                    <a:p>
                      <a:pPr marL="0" indent="0">
                        <a:buNone/>
                      </a:pPr>
                      <a:r>
                        <a:rPr lang="en-US" sz="1500" b="1" dirty="0">
                          <a:solidFill>
                            <a:schemeClr val="bg1"/>
                          </a:solidFill>
                        </a:rPr>
                        <a:t>Edge</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500" b="1" dirty="0">
                          <a:solidFill>
                            <a:schemeClr val="tx1"/>
                          </a:solidFill>
                        </a:rPr>
                        <a:t>Capability</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Broad knowledge, complex reasoning, open-ended and cross-domain tasks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Strong on narrow, well-defined tasks, especially when fine-tuned</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1"/>
                          </a:solidFill>
                        </a:rPr>
                        <a:t>LLM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buNone/>
                      </a:pPr>
                      <a:r>
                        <a:rPr lang="en-US" sz="1500" b="1" dirty="0">
                          <a:solidFill>
                            <a:schemeClr val="tx1"/>
                          </a:solidFill>
                        </a:rPr>
                        <a:t>Cost</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Higher per token; API spend or multi-GPU servers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Often an order of magnitude cheaper per token; single GPU or CPU</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500" b="1" dirty="0">
                          <a:solidFill>
                            <a:schemeClr val="tx1"/>
                          </a:solidFill>
                        </a:rPr>
                        <a:t>Latency</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Slower generation; more weights read per token</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Fast responses; suited to real-time and interactive use</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buNone/>
                      </a:pPr>
                      <a:r>
                        <a:rPr lang="en-US" sz="1500" b="1" dirty="0">
                          <a:solidFill>
                            <a:schemeClr val="tx1"/>
                          </a:solidFill>
                        </a:rPr>
                        <a:t>Infrastructure</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Large GPU memory, multi-GPU nodes, or a provider API</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One GPU, CPU, laptop or edge device; easy to self-host</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080">
                <a:tc>
                  <a:txBody>
                    <a:bodyPr/>
                    <a:lstStyle/>
                    <a:p>
                      <a:pPr marL="0" indent="0">
                        <a:buNone/>
                      </a:pPr>
                      <a:r>
                        <a:rPr lang="en-US" sz="1500" b="1" dirty="0">
                          <a:solidFill>
                            <a:schemeClr val="tx1"/>
                          </a:solidFill>
                        </a:rPr>
                        <a:t>Business fit</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Low-volume, high-value, varied tasks; quick prototyping</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High-volume, repetitive, private or offline tasks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2"/>
                          </a:solidFill>
                        </a:rPr>
                        <a:t>Depends</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callout"/>
          <p:cNvSpPr/>
          <p:nvPr/>
        </p:nvSpPr>
        <p:spPr>
          <a:xfrm>
            <a:off x="548640" y="5623560"/>
            <a:ext cx="11018520" cy="548640"/>
          </a:xfrm>
          <a:prstGeom prst="roundRect">
            <a:avLst>
              <a:gd name="adj" fmla="val 13333"/>
            </a:avLst>
          </a:prstGeom>
          <a:solidFill>
            <a:schemeClr val="tx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5715000"/>
            <a:ext cx="365760" cy="365760"/>
          </a:xfrm>
          <a:prstGeom prst="rect">
            <a:avLst/>
          </a:prstGeom>
        </p:spPr>
      </p:pic>
      <p:sp>
        <p:nvSpPr>
          <p:cNvPr id="7" name="Text 3"/>
          <p:cNvSpPr txBox="1"/>
          <p:nvPr/>
        </p:nvSpPr>
        <p:spPr>
          <a:xfrm>
            <a:off x="1325880" y="5623560"/>
            <a:ext cx="10012680" cy="548640"/>
          </a:xfrm>
          <a:prstGeom prst="rect">
            <a:avLst/>
          </a:prstGeom>
          <a:noFill/>
          <a:ln/>
        </p:spPr>
        <p:txBody>
          <a:bodyPr wrap="square" lIns="0" tIns="0" rIns="0" bIns="0" rtlCol="0" anchor="ctr"/>
          <a:lstStyle/>
          <a:p>
            <a:pPr marL="0" indent="0">
              <a:buNone/>
            </a:pPr>
            <a:r>
              <a:rPr lang="en-US" sz="1500" b="1" dirty="0">
                <a:solidFill>
                  <a:schemeClr val="accent3"/>
                </a:solidFill>
              </a:rPr>
              <a:t>No universal winner: </a:t>
            </a:r>
            <a:r>
              <a:rPr lang="en-US" sz="1500" dirty="0">
                <a:solidFill>
                  <a:schemeClr val="bg1"/>
                </a:solidFill>
              </a:rPr>
              <a:t>LLMs lead on breadth; SLMs lead on efficiency. Business fit decides.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Infrastructure needs grow with model size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GPU memory needed just to hold the model weights (GB), before KV cache and batching overhead</a:t>
            </a:r>
            <a:endParaRPr lang="en-US" sz="1600" dirty="0"/>
          </a:p>
        </p:txBody>
      </p:sp>
      <p:graphicFrame>
        <p:nvGraphicFramePr>
          <p:cNvPr id="4" name="Chart 0"/>
          <p:cNvGraphicFramePr/>
          <p:nvPr/>
        </p:nvGraphicFramePr>
        <p:xfrm>
          <a:off x="548640" y="1554480"/>
          <a:ext cx="67665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infra-fact"/>
          <p:cNvSpPr/>
          <p:nvPr/>
        </p:nvSpPr>
        <p:spPr>
          <a:xfrm>
            <a:off x="7589520" y="1600200"/>
            <a:ext cx="4023360" cy="1417320"/>
          </a:xfrm>
          <a:prstGeom prst="roundRect">
            <a:avLst>
              <a:gd name="adj" fmla="val 5161"/>
            </a:avLst>
          </a:prstGeom>
          <a:solidFill>
            <a:schemeClr val="bg2"/>
          </a:solidFill>
          <a:ln/>
        </p:spPr>
        <p:txBody>
          <a:bodyPr/>
          <a:lstStyle/>
          <a:p>
            <a:endParaRPr lang="en-US"/>
          </a:p>
        </p:txBody>
      </p:sp>
      <p:sp>
        <p:nvSpPr>
          <p:cNvPr id="6" name="icon-chip"/>
          <p:cNvSpPr/>
          <p:nvPr/>
        </p:nvSpPr>
        <p:spPr>
          <a:xfrm>
            <a:off x="7772400" y="1783080"/>
            <a:ext cx="502920" cy="502920"/>
          </a:xfrm>
          <a:prstGeom prst="ellipse">
            <a:avLst/>
          </a:prstGeom>
          <a:solidFill>
            <a:schemeClr val="tx1"/>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7883042" y="1893722"/>
            <a:ext cx="281635" cy="281635"/>
          </a:xfrm>
          <a:prstGeom prst="rect">
            <a:avLst/>
          </a:prstGeom>
        </p:spPr>
      </p:pic>
      <p:sp>
        <p:nvSpPr>
          <p:cNvPr id="8" name="Text 4"/>
          <p:cNvSpPr txBox="1"/>
          <p:nvPr/>
        </p:nvSpPr>
        <p:spPr>
          <a:xfrm>
            <a:off x="8412480" y="178308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Infrastructure</a:t>
            </a:r>
            <a:endParaRPr lang="en-US" sz="1600" dirty="0"/>
          </a:p>
        </p:txBody>
      </p:sp>
      <p:sp>
        <p:nvSpPr>
          <p:cNvPr id="9" name="Text 5"/>
          <p:cNvSpPr txBox="1"/>
          <p:nvPr/>
        </p:nvSpPr>
        <p:spPr>
          <a:xfrm>
            <a:off x="7772400" y="2331720"/>
            <a:ext cx="3703320" cy="658368"/>
          </a:xfrm>
          <a:prstGeom prst="rect">
            <a:avLst/>
          </a:prstGeom>
          <a:noFill/>
          <a:ln/>
        </p:spPr>
        <p:txBody>
          <a:bodyPr wrap="square" lIns="0" tIns="0" rIns="0" bIns="0" rtlCol="0" anchor="t"/>
          <a:lstStyle/>
          <a:p>
            <a:pPr marL="0" indent="0">
              <a:buNone/>
            </a:pPr>
            <a:r>
              <a:rPr lang="en-US" sz="1300" dirty="0">
                <a:solidFill>
                  <a:schemeClr val="tx2"/>
                </a:solidFill>
              </a:rPr>
              <a:t>GB ≈ params (B) × 2 at 16-bit, × 0.5 at 4-bit. 8B fits one GPU or a laptop; 405B needs a multi-GPU server.</a:t>
            </a:r>
            <a:endParaRPr lang="en-US" sz="1300" dirty="0"/>
          </a:p>
        </p:txBody>
      </p:sp>
      <p:sp>
        <p:nvSpPr>
          <p:cNvPr id="10" name="infra-fact"/>
          <p:cNvSpPr/>
          <p:nvPr/>
        </p:nvSpPr>
        <p:spPr>
          <a:xfrm>
            <a:off x="7589520" y="3154680"/>
            <a:ext cx="4023360" cy="1417320"/>
          </a:xfrm>
          <a:prstGeom prst="roundRect">
            <a:avLst>
              <a:gd name="adj" fmla="val 5161"/>
            </a:avLst>
          </a:prstGeom>
          <a:solidFill>
            <a:schemeClr val="bg2"/>
          </a:solidFill>
          <a:ln/>
        </p:spPr>
        <p:txBody>
          <a:bodyPr/>
          <a:lstStyle/>
          <a:p>
            <a:endParaRPr lang="en-US"/>
          </a:p>
        </p:txBody>
      </p:sp>
      <p:sp>
        <p:nvSpPr>
          <p:cNvPr id="11" name="icon-chip"/>
          <p:cNvSpPr/>
          <p:nvPr/>
        </p:nvSpPr>
        <p:spPr>
          <a:xfrm>
            <a:off x="7772400" y="3337560"/>
            <a:ext cx="502920" cy="502920"/>
          </a:xfrm>
          <a:prstGeom prst="ellipse">
            <a:avLst/>
          </a:prstGeom>
          <a:solidFill>
            <a:schemeClr val="accent4"/>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7883042" y="3448202"/>
            <a:ext cx="281635" cy="281635"/>
          </a:xfrm>
          <a:prstGeom prst="rect">
            <a:avLst/>
          </a:prstGeom>
        </p:spPr>
      </p:pic>
      <p:sp>
        <p:nvSpPr>
          <p:cNvPr id="13" name="Text 8"/>
          <p:cNvSpPr txBox="1"/>
          <p:nvPr/>
        </p:nvSpPr>
        <p:spPr>
          <a:xfrm>
            <a:off x="8412480" y="333756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Latency</a:t>
            </a:r>
            <a:endParaRPr lang="en-US" sz="1600" dirty="0"/>
          </a:p>
        </p:txBody>
      </p:sp>
      <p:sp>
        <p:nvSpPr>
          <p:cNvPr id="14" name="Text 9"/>
          <p:cNvSpPr txBox="1"/>
          <p:nvPr/>
        </p:nvSpPr>
        <p:spPr>
          <a:xfrm>
            <a:off x="7772400" y="3886200"/>
            <a:ext cx="3703320" cy="658368"/>
          </a:xfrm>
          <a:prstGeom prst="rect">
            <a:avLst/>
          </a:prstGeom>
          <a:noFill/>
          <a:ln/>
        </p:spPr>
        <p:txBody>
          <a:bodyPr wrap="square" lIns="0" tIns="0" rIns="0" bIns="0" rtlCol="0" anchor="t"/>
          <a:lstStyle/>
          <a:p>
            <a:pPr marL="0" indent="0">
              <a:buNone/>
            </a:pPr>
            <a:r>
              <a:rPr lang="en-US" sz="1300" dirty="0">
                <a:solidFill>
                  <a:schemeClr val="tx2"/>
                </a:solidFill>
              </a:rPr>
              <a:t>Every token reads the weights from memory: fewer bytes means faster output.</a:t>
            </a:r>
            <a:endParaRPr lang="en-US" sz="1300" dirty="0"/>
          </a:p>
        </p:txBody>
      </p:sp>
      <p:sp>
        <p:nvSpPr>
          <p:cNvPr id="15" name="infra-fact"/>
          <p:cNvSpPr/>
          <p:nvPr/>
        </p:nvSpPr>
        <p:spPr>
          <a:xfrm>
            <a:off x="7589520" y="4709160"/>
            <a:ext cx="4023360" cy="1417320"/>
          </a:xfrm>
          <a:prstGeom prst="roundRect">
            <a:avLst>
              <a:gd name="adj" fmla="val 5161"/>
            </a:avLst>
          </a:prstGeom>
          <a:solidFill>
            <a:schemeClr val="bg2"/>
          </a:solidFill>
          <a:ln/>
        </p:spPr>
        <p:txBody>
          <a:bodyPr/>
          <a:lstStyle/>
          <a:p>
            <a:endParaRPr lang="en-US"/>
          </a:p>
        </p:txBody>
      </p:sp>
      <p:sp>
        <p:nvSpPr>
          <p:cNvPr id="16" name="icon-chip"/>
          <p:cNvSpPr/>
          <p:nvPr/>
        </p:nvSpPr>
        <p:spPr>
          <a:xfrm>
            <a:off x="7772400" y="4892040"/>
            <a:ext cx="502920" cy="502920"/>
          </a:xfrm>
          <a:prstGeom prst="ellipse">
            <a:avLst/>
          </a:prstGeom>
          <a:solidFill>
            <a:schemeClr val="accent1"/>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7883042" y="5002682"/>
            <a:ext cx="281635" cy="281635"/>
          </a:xfrm>
          <a:prstGeom prst="rect">
            <a:avLst/>
          </a:prstGeom>
        </p:spPr>
      </p:pic>
      <p:sp>
        <p:nvSpPr>
          <p:cNvPr id="18" name="Text 12"/>
          <p:cNvSpPr txBox="1"/>
          <p:nvPr/>
        </p:nvSpPr>
        <p:spPr>
          <a:xfrm>
            <a:off x="8412480" y="489204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Cost</a:t>
            </a:r>
            <a:endParaRPr lang="en-US" sz="1600" dirty="0"/>
          </a:p>
        </p:txBody>
      </p:sp>
      <p:sp>
        <p:nvSpPr>
          <p:cNvPr id="19" name="Text 13"/>
          <p:cNvSpPr txBox="1"/>
          <p:nvPr/>
        </p:nvSpPr>
        <p:spPr>
          <a:xfrm>
            <a:off x="7772400" y="5440680"/>
            <a:ext cx="3703320" cy="658368"/>
          </a:xfrm>
          <a:prstGeom prst="rect">
            <a:avLst/>
          </a:prstGeom>
          <a:noFill/>
          <a:ln/>
        </p:spPr>
        <p:txBody>
          <a:bodyPr wrap="square" lIns="0" tIns="0" rIns="0" bIns="0" rtlCol="0" anchor="t"/>
          <a:lstStyle/>
          <a:p>
            <a:pPr marL="0" indent="0">
              <a:buNone/>
            </a:pPr>
            <a:r>
              <a:rPr lang="en-US" sz="1300" dirty="0">
                <a:solidFill>
                  <a:schemeClr val="tx2"/>
                </a:solidFill>
              </a:rPr>
              <a:t>Less hardware, more requests per GPU; small-model API prices are much lower.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Business fit: match the model to the job, and often use both</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Choose the smallest model that reliably passes your quality bar</a:t>
            </a:r>
            <a:endParaRPr lang="en-US" sz="1600" dirty="0"/>
          </a:p>
        </p:txBody>
      </p:sp>
      <p:sp>
        <p:nvSpPr>
          <p:cNvPr id="4" name="fit-card"/>
          <p:cNvSpPr/>
          <p:nvPr/>
        </p:nvSpPr>
        <p:spPr>
          <a:xfrm>
            <a:off x="548640" y="1600200"/>
            <a:ext cx="5852160" cy="2194560"/>
          </a:xfrm>
          <a:prstGeom prst="roundRect">
            <a:avLst>
              <a:gd name="adj" fmla="val 3333"/>
            </a:avLst>
          </a:prstGeom>
          <a:solidFill>
            <a:schemeClr val="bg2"/>
          </a:solidFill>
          <a:ln/>
        </p:spPr>
        <p:txBody>
          <a:bodyPr/>
          <a:lstStyle/>
          <a:p>
            <a:endParaRPr lang="en-US"/>
          </a:p>
        </p:txBody>
      </p:sp>
      <p:sp>
        <p:nvSpPr>
          <p:cNvPr id="5" name="icon-chip"/>
          <p:cNvSpPr/>
          <p:nvPr/>
        </p:nvSpPr>
        <p:spPr>
          <a:xfrm>
            <a:off x="777240" y="1783080"/>
            <a:ext cx="548640" cy="54864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7941" y="1903781"/>
            <a:ext cx="307238" cy="307238"/>
          </a:xfrm>
          <a:prstGeom prst="rect">
            <a:avLst/>
          </a:prstGeom>
        </p:spPr>
      </p:pic>
      <p:sp>
        <p:nvSpPr>
          <p:cNvPr id="7" name="Text 4"/>
          <p:cNvSpPr txBox="1"/>
          <p:nvPr/>
        </p:nvSpPr>
        <p:spPr>
          <a:xfrm>
            <a:off x="1508760" y="1783080"/>
            <a:ext cx="4663440" cy="548640"/>
          </a:xfrm>
          <a:prstGeom prst="rect">
            <a:avLst/>
          </a:prstGeom>
          <a:noFill/>
          <a:ln/>
        </p:spPr>
        <p:txBody>
          <a:bodyPr wrap="square" lIns="0" tIns="0" rIns="0" bIns="0" rtlCol="0" anchor="ctr"/>
          <a:lstStyle/>
          <a:p>
            <a:pPr marL="0" indent="0">
              <a:buNone/>
            </a:pPr>
            <a:r>
              <a:rPr lang="en-US" sz="1900" b="1" dirty="0">
                <a:solidFill>
                  <a:schemeClr val="accent1"/>
                </a:solidFill>
              </a:rPr>
              <a:t>Choose an LLM when…</a:t>
            </a:r>
            <a:endParaRPr lang="en-US" sz="1900" dirty="0"/>
          </a:p>
        </p:txBody>
      </p:sp>
      <p:sp>
        <p:nvSpPr>
          <p:cNvPr id="8" name="Text 5"/>
          <p:cNvSpPr txBox="1"/>
          <p:nvPr/>
        </p:nvSpPr>
        <p:spPr>
          <a:xfrm>
            <a:off x="777240" y="2423160"/>
            <a:ext cx="54406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Tasks are varied, open-ended or need multi-step reasoning</a:t>
            </a:r>
            <a:endParaRPr lang="en-US" sz="1400" dirty="0"/>
          </a:p>
          <a:p>
            <a:pPr marL="342900" indent="-342900">
              <a:spcAft>
                <a:spcPts val="400"/>
              </a:spcAft>
              <a:buSzPct val="100000"/>
              <a:buChar char="•"/>
            </a:pPr>
            <a:r>
              <a:rPr lang="en-US" sz="1400" dirty="0">
                <a:solidFill>
                  <a:schemeClr val="tx2"/>
                </a:solidFill>
              </a:rPr>
              <a:t>Volume is low to moderate but value per task is high</a:t>
            </a:r>
            <a:endParaRPr lang="en-US" sz="1400" dirty="0"/>
          </a:p>
          <a:p>
            <a:pPr marL="342900" indent="-342900">
              <a:spcAft>
                <a:spcPts val="400"/>
              </a:spcAft>
              <a:buSzPct val="100000"/>
              <a:buChar char="•"/>
            </a:pPr>
            <a:r>
              <a:rPr lang="en-US" sz="1400" dirty="0">
                <a:solidFill>
                  <a:schemeClr val="tx2"/>
                </a:solidFill>
              </a:rPr>
              <a:t>You have no training data and need results fast</a:t>
            </a:r>
            <a:endParaRPr lang="en-US" sz="1400" dirty="0"/>
          </a:p>
          <a:p>
            <a:pPr marL="342900" indent="-342900">
              <a:spcAft>
                <a:spcPts val="400"/>
              </a:spcAft>
              <a:buSzPct val="100000"/>
              <a:buChar char="•"/>
            </a:pPr>
            <a:r>
              <a:rPr lang="en-US" sz="1400" dirty="0">
                <a:solidFill>
                  <a:schemeClr val="tx2"/>
                </a:solidFill>
              </a:rPr>
              <a:t>Examples: strategy research, contract analysis, coding assistants</a:t>
            </a:r>
            <a:endParaRPr lang="en-US" sz="1400" dirty="0"/>
          </a:p>
        </p:txBody>
      </p:sp>
      <p:sp>
        <p:nvSpPr>
          <p:cNvPr id="9" name="fit-card"/>
          <p:cNvSpPr/>
          <p:nvPr/>
        </p:nvSpPr>
        <p:spPr>
          <a:xfrm>
            <a:off x="548640" y="3931920"/>
            <a:ext cx="5852160" cy="2194560"/>
          </a:xfrm>
          <a:prstGeom prst="roundRect">
            <a:avLst>
              <a:gd name="adj" fmla="val 3333"/>
            </a:avLst>
          </a:prstGeom>
          <a:solidFill>
            <a:schemeClr val="bg2"/>
          </a:solidFill>
          <a:ln/>
        </p:spPr>
        <p:txBody>
          <a:bodyPr/>
          <a:lstStyle/>
          <a:p>
            <a:endParaRPr lang="en-US"/>
          </a:p>
        </p:txBody>
      </p:sp>
      <p:sp>
        <p:nvSpPr>
          <p:cNvPr id="10" name="icon-chip"/>
          <p:cNvSpPr/>
          <p:nvPr/>
        </p:nvSpPr>
        <p:spPr>
          <a:xfrm>
            <a:off x="777240" y="4114800"/>
            <a:ext cx="548640" cy="548640"/>
          </a:xfrm>
          <a:prstGeom prst="ellipse">
            <a:avLst/>
          </a:prstGeom>
          <a:solidFill>
            <a:schemeClr val="accent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897941" y="4235501"/>
            <a:ext cx="307238" cy="307238"/>
          </a:xfrm>
          <a:prstGeom prst="rect">
            <a:avLst/>
          </a:prstGeom>
        </p:spPr>
      </p:pic>
      <p:sp>
        <p:nvSpPr>
          <p:cNvPr id="12" name="Text 8"/>
          <p:cNvSpPr txBox="1"/>
          <p:nvPr/>
        </p:nvSpPr>
        <p:spPr>
          <a:xfrm>
            <a:off x="1508760" y="4114800"/>
            <a:ext cx="4663440" cy="548640"/>
          </a:xfrm>
          <a:prstGeom prst="rect">
            <a:avLst/>
          </a:prstGeom>
          <a:noFill/>
          <a:ln/>
        </p:spPr>
        <p:txBody>
          <a:bodyPr wrap="square" lIns="0" tIns="0" rIns="0" bIns="0" rtlCol="0" anchor="ctr"/>
          <a:lstStyle/>
          <a:p>
            <a:pPr marL="0" indent="0">
              <a:buNone/>
            </a:pPr>
            <a:r>
              <a:rPr lang="en-US" sz="1900" b="1" dirty="0">
                <a:solidFill>
                  <a:schemeClr val="accent2"/>
                </a:solidFill>
              </a:rPr>
              <a:t>Choose an SLM when…</a:t>
            </a:r>
            <a:endParaRPr lang="en-US" sz="1900" dirty="0"/>
          </a:p>
        </p:txBody>
      </p:sp>
      <p:sp>
        <p:nvSpPr>
          <p:cNvPr id="13" name="Text 9"/>
          <p:cNvSpPr txBox="1"/>
          <p:nvPr/>
        </p:nvSpPr>
        <p:spPr>
          <a:xfrm>
            <a:off x="777240" y="4754880"/>
            <a:ext cx="54406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Tasks are narrow, repetitive and well defined</a:t>
            </a:r>
            <a:endParaRPr lang="en-US" sz="1400" dirty="0"/>
          </a:p>
          <a:p>
            <a:pPr marL="342900" indent="-342900">
              <a:spcAft>
                <a:spcPts val="400"/>
              </a:spcAft>
              <a:buSzPct val="100000"/>
              <a:buChar char="•"/>
            </a:pPr>
            <a:r>
              <a:rPr lang="en-US" sz="1400" dirty="0">
                <a:solidFill>
                  <a:schemeClr val="tx2"/>
                </a:solidFill>
              </a:rPr>
              <a:t>Volume is high and latency or cost targets are tight</a:t>
            </a:r>
            <a:endParaRPr lang="en-US" sz="1400" dirty="0"/>
          </a:p>
          <a:p>
            <a:pPr marL="342900" indent="-342900">
              <a:spcAft>
                <a:spcPts val="400"/>
              </a:spcAft>
              <a:buSzPct val="100000"/>
              <a:buChar char="•"/>
            </a:pPr>
            <a:r>
              <a:rPr lang="en-US" sz="1400" dirty="0">
                <a:solidFill>
                  <a:schemeClr val="tx2"/>
                </a:solidFill>
              </a:rPr>
              <a:t>Data must stay on-premises, on-device or offline</a:t>
            </a:r>
            <a:endParaRPr lang="en-US" sz="1400" dirty="0"/>
          </a:p>
          <a:p>
            <a:pPr marL="342900" indent="-342900">
              <a:spcAft>
                <a:spcPts val="400"/>
              </a:spcAft>
              <a:buSzPct val="100000"/>
              <a:buChar char="•"/>
            </a:pPr>
            <a:r>
              <a:rPr lang="en-US" sz="1400" dirty="0">
                <a:solidFill>
                  <a:schemeClr val="tx2"/>
                </a:solidFill>
              </a:rPr>
              <a:t>Examples: ticket triage, data extraction, field-service assistant</a:t>
            </a:r>
            <a:endParaRPr lang="en-US" sz="1400" dirty="0"/>
          </a:p>
        </p:txBody>
      </p:sp>
      <p:sp>
        <p:nvSpPr>
          <p:cNvPr id="14" name="router-panel"/>
          <p:cNvSpPr/>
          <p:nvPr/>
        </p:nvSpPr>
        <p:spPr>
          <a:xfrm>
            <a:off x="6675120" y="1600200"/>
            <a:ext cx="4937760" cy="4526280"/>
          </a:xfrm>
          <a:prstGeom prst="roundRect">
            <a:avLst>
              <a:gd name="adj" fmla="val 1616"/>
            </a:avLst>
          </a:prstGeom>
          <a:solidFill>
            <a:schemeClr val="tx1"/>
          </a:solidFill>
          <a:ln/>
        </p:spPr>
        <p:txBody>
          <a:bodyPr/>
          <a:lstStyle/>
          <a:p>
            <a:endParaRPr lang="en-US"/>
          </a:p>
        </p:txBody>
      </p:sp>
      <p:sp>
        <p:nvSpPr>
          <p:cNvPr id="15" name="Text 11"/>
          <p:cNvSpPr txBox="1"/>
          <p:nvPr/>
        </p:nvSpPr>
        <p:spPr>
          <a:xfrm>
            <a:off x="6903720" y="1783080"/>
            <a:ext cx="45720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HYBRID PATTERN: MODEL ROUTING</a:t>
            </a:r>
            <a:endParaRPr lang="en-US" sz="1200" dirty="0"/>
          </a:p>
        </p:txBody>
      </p:sp>
      <p:sp>
        <p:nvSpPr>
          <p:cNvPr id="16" name="router-step"/>
          <p:cNvSpPr/>
          <p:nvPr/>
        </p:nvSpPr>
        <p:spPr>
          <a:xfrm>
            <a:off x="6949440" y="2331720"/>
            <a:ext cx="1371600" cy="731520"/>
          </a:xfrm>
          <a:prstGeom prst="roundRect">
            <a:avLst>
              <a:gd name="adj" fmla="val 7500"/>
            </a:avLst>
          </a:prstGeom>
          <a:solidFill>
            <a:schemeClr val="bg1"/>
          </a:solidFill>
          <a:ln/>
        </p:spPr>
        <p:txBody>
          <a:bodyPr wrap="square" lIns="508" tIns="508" rIns="508" bIns="508" rtlCol="0" anchor="ctr"/>
          <a:lstStyle/>
          <a:p>
            <a:pPr marL="0" indent="0" algn="ctr">
              <a:buNone/>
            </a:pPr>
            <a:r>
              <a:rPr lang="en-US" sz="1400" b="1" dirty="0">
                <a:solidFill>
                  <a:schemeClr val="tx1"/>
                </a:solidFill>
              </a:rPr>
              <a:t>Request</a:t>
            </a:r>
            <a:endParaRPr lang="en-US" sz="1400" dirty="0"/>
          </a:p>
        </p:txBody>
      </p:sp>
      <p:sp>
        <p:nvSpPr>
          <p:cNvPr id="17" name="Shape 13"/>
          <p:cNvSpPr/>
          <p:nvPr/>
        </p:nvSpPr>
        <p:spPr>
          <a:xfrm>
            <a:off x="8339328" y="2697480"/>
            <a:ext cx="329184" cy="914"/>
          </a:xfrm>
          <a:prstGeom prst="line">
            <a:avLst/>
          </a:prstGeom>
          <a:noFill/>
          <a:ln w="19050">
            <a:solidFill>
              <a:srgbClr val="C5CAD6"/>
            </a:solidFill>
            <a:prstDash val="solid"/>
            <a:tailEnd type="triangle"/>
          </a:ln>
        </p:spPr>
        <p:txBody>
          <a:bodyPr/>
          <a:lstStyle/>
          <a:p>
            <a:endParaRPr lang="en-US"/>
          </a:p>
        </p:txBody>
      </p:sp>
      <p:sp>
        <p:nvSpPr>
          <p:cNvPr id="18" name="router-step"/>
          <p:cNvSpPr/>
          <p:nvPr/>
        </p:nvSpPr>
        <p:spPr>
          <a:xfrm>
            <a:off x="8686800" y="2240280"/>
            <a:ext cx="1463040" cy="914400"/>
          </a:xfrm>
          <a:prstGeom prst="roundRect">
            <a:avLst>
              <a:gd name="adj" fmla="val 6000"/>
            </a:avLst>
          </a:prstGeom>
          <a:solidFill>
            <a:schemeClr val="accent3"/>
          </a:solidFill>
          <a:ln/>
        </p:spPr>
        <p:txBody>
          <a:bodyPr wrap="square" lIns="508" tIns="508" rIns="508" bIns="508" rtlCol="0" anchor="ctr"/>
          <a:lstStyle/>
          <a:p>
            <a:pPr marL="0" indent="0" algn="ctr">
              <a:buNone/>
            </a:pPr>
            <a:r>
              <a:rPr lang="en-US" sz="1400" b="1" dirty="0">
                <a:solidFill>
                  <a:schemeClr val="tx1"/>
                </a:solidFill>
              </a:rPr>
              <a:t>Router</a:t>
            </a:r>
            <a:endParaRPr lang="en-US" sz="1400" dirty="0"/>
          </a:p>
        </p:txBody>
      </p:sp>
      <p:sp>
        <p:nvSpPr>
          <p:cNvPr id="19" name="Text 15"/>
          <p:cNvSpPr txBox="1"/>
          <p:nvPr/>
        </p:nvSpPr>
        <p:spPr>
          <a:xfrm>
            <a:off x="8549640" y="3200400"/>
            <a:ext cx="1737360" cy="274320"/>
          </a:xfrm>
          <a:prstGeom prst="rect">
            <a:avLst/>
          </a:prstGeom>
          <a:noFill/>
          <a:ln/>
        </p:spPr>
        <p:txBody>
          <a:bodyPr wrap="square" lIns="0" tIns="0" rIns="0" bIns="0" rtlCol="0" anchor="t"/>
          <a:lstStyle/>
          <a:p>
            <a:pPr marL="0" indent="0" algn="ctr">
              <a:buNone/>
            </a:pPr>
            <a:r>
              <a:rPr lang="en-US" sz="1200" dirty="0">
                <a:solidFill>
                  <a:srgbClr val="C5CAD6"/>
                </a:solidFill>
              </a:rPr>
              <a:t>classifier or rules</a:t>
            </a:r>
            <a:endParaRPr lang="en-US" sz="1200" dirty="0"/>
          </a:p>
        </p:txBody>
      </p:sp>
      <p:sp>
        <p:nvSpPr>
          <p:cNvPr id="20" name="Shape 16"/>
          <p:cNvSpPr/>
          <p:nvPr/>
        </p:nvSpPr>
        <p:spPr>
          <a:xfrm flipV="1">
            <a:off x="10168128" y="2103120"/>
            <a:ext cx="256032" cy="411480"/>
          </a:xfrm>
          <a:prstGeom prst="line">
            <a:avLst/>
          </a:prstGeom>
          <a:noFill/>
          <a:ln w="19050">
            <a:solidFill>
              <a:srgbClr val="C5CAD6"/>
            </a:solidFill>
            <a:prstDash val="solid"/>
            <a:tailEnd type="triangle"/>
          </a:ln>
        </p:spPr>
        <p:txBody>
          <a:bodyPr/>
          <a:lstStyle/>
          <a:p>
            <a:endParaRPr lang="en-US"/>
          </a:p>
        </p:txBody>
      </p:sp>
      <p:sp>
        <p:nvSpPr>
          <p:cNvPr id="21" name="Shape 17"/>
          <p:cNvSpPr/>
          <p:nvPr/>
        </p:nvSpPr>
        <p:spPr>
          <a:xfrm>
            <a:off x="10168128" y="2880360"/>
            <a:ext cx="256032" cy="457200"/>
          </a:xfrm>
          <a:prstGeom prst="line">
            <a:avLst/>
          </a:prstGeom>
          <a:noFill/>
          <a:ln w="19050">
            <a:solidFill>
              <a:srgbClr val="C5CAD6"/>
            </a:solidFill>
            <a:prstDash val="solid"/>
            <a:tailEnd type="triangle"/>
          </a:ln>
        </p:spPr>
        <p:txBody>
          <a:bodyPr/>
          <a:lstStyle/>
          <a:p>
            <a:endParaRPr lang="en-US"/>
          </a:p>
        </p:txBody>
      </p:sp>
      <p:sp>
        <p:nvSpPr>
          <p:cNvPr id="22" name="router-step"/>
          <p:cNvSpPr/>
          <p:nvPr/>
        </p:nvSpPr>
        <p:spPr>
          <a:xfrm>
            <a:off x="10424160" y="1783080"/>
            <a:ext cx="1005840" cy="640080"/>
          </a:xfrm>
          <a:prstGeom prst="roundRect">
            <a:avLst>
              <a:gd name="adj" fmla="val 8571"/>
            </a:avLst>
          </a:prstGeom>
          <a:solidFill>
            <a:schemeClr val="accent2"/>
          </a:solidFill>
          <a:ln/>
        </p:spPr>
        <p:txBody>
          <a:bodyPr wrap="square" lIns="508" tIns="508" rIns="508" bIns="508" rtlCol="0" anchor="ctr"/>
          <a:lstStyle/>
          <a:p>
            <a:pPr marL="0" indent="0" algn="ctr">
              <a:buNone/>
            </a:pPr>
            <a:r>
              <a:rPr lang="en-US" sz="1500" b="1" dirty="0">
                <a:solidFill>
                  <a:schemeClr val="bg1"/>
                </a:solidFill>
              </a:rPr>
              <a:t>SLM</a:t>
            </a:r>
            <a:endParaRPr lang="en-US" sz="1500" dirty="0"/>
          </a:p>
        </p:txBody>
      </p:sp>
      <p:sp>
        <p:nvSpPr>
          <p:cNvPr id="23" name="router-step"/>
          <p:cNvSpPr/>
          <p:nvPr/>
        </p:nvSpPr>
        <p:spPr>
          <a:xfrm>
            <a:off x="10424160" y="3017520"/>
            <a:ext cx="1005840" cy="640080"/>
          </a:xfrm>
          <a:prstGeom prst="roundRect">
            <a:avLst>
              <a:gd name="adj" fmla="val 8571"/>
            </a:avLst>
          </a:prstGeom>
          <a:solidFill>
            <a:schemeClr val="accent1"/>
          </a:solidFill>
          <a:ln/>
        </p:spPr>
        <p:txBody>
          <a:bodyPr wrap="square" lIns="508" tIns="508" rIns="508" bIns="508" rtlCol="0" anchor="ctr"/>
          <a:lstStyle/>
          <a:p>
            <a:pPr marL="0" indent="0" algn="ctr">
              <a:buNone/>
            </a:pPr>
            <a:r>
              <a:rPr lang="en-US" sz="1500" b="1" dirty="0">
                <a:solidFill>
                  <a:schemeClr val="bg1"/>
                </a:solidFill>
              </a:rPr>
              <a:t>LLM</a:t>
            </a:r>
            <a:endParaRPr lang="en-US" sz="1500" dirty="0"/>
          </a:p>
        </p:txBody>
      </p:sp>
      <p:sp>
        <p:nvSpPr>
          <p:cNvPr id="24" name="Text 20"/>
          <p:cNvSpPr txBox="1"/>
          <p:nvPr/>
        </p:nvSpPr>
        <p:spPr>
          <a:xfrm>
            <a:off x="6903720" y="3840480"/>
            <a:ext cx="4526280" cy="21945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bg1"/>
                </a:solidFill>
              </a:rPr>
              <a:t>Routine requests </a:t>
            </a:r>
            <a:r>
              <a:rPr lang="en-US" sz="1400" dirty="0">
                <a:solidFill>
                  <a:schemeClr val="bg1"/>
                </a:solidFill>
              </a:rPr>
              <a:t>go to a fast, cheap SLM</a:t>
            </a:r>
            <a:endParaRPr lang="en-US" sz="1400" dirty="0"/>
          </a:p>
          <a:p>
            <a:pPr marL="342900" indent="-342900">
              <a:spcAft>
                <a:spcPts val="600"/>
              </a:spcAft>
              <a:buSzPct val="100000"/>
              <a:buChar char="•"/>
            </a:pPr>
            <a:r>
              <a:rPr lang="en-US" sz="1400" b="1" dirty="0">
                <a:solidFill>
                  <a:schemeClr val="bg1"/>
                </a:solidFill>
              </a:rPr>
              <a:t>Complex or low-confidence </a:t>
            </a:r>
            <a:r>
              <a:rPr lang="en-US" sz="1400" dirty="0">
                <a:solidFill>
                  <a:schemeClr val="bg1"/>
                </a:solidFill>
              </a:rPr>
              <a:t>requests escalate to an LLM</a:t>
            </a:r>
            <a:endParaRPr lang="en-US" sz="1400" dirty="0"/>
          </a:p>
          <a:p>
            <a:pPr marL="342900" indent="-342900">
              <a:spcAft>
                <a:spcPts val="600"/>
              </a:spcAft>
              <a:buSzPct val="100000"/>
              <a:buChar char="•"/>
            </a:pPr>
            <a:r>
              <a:rPr lang="en-US" sz="1400" b="1" dirty="0">
                <a:solidFill>
                  <a:schemeClr val="bg1"/>
                </a:solidFill>
              </a:rPr>
              <a:t>Cascade: </a:t>
            </a:r>
            <a:r>
              <a:rPr lang="en-US" sz="1400" dirty="0">
                <a:solidFill>
                  <a:schemeClr val="bg1"/>
                </a:solidFill>
              </a:rPr>
              <a:t>try SLM first, escalate if a quality check fails</a:t>
            </a:r>
            <a:endParaRPr lang="en-US" sz="1400" dirty="0"/>
          </a:p>
          <a:p>
            <a:pPr marL="342900" indent="-342900">
              <a:spcAft>
                <a:spcPts val="600"/>
              </a:spcAft>
              <a:buSzPct val="100000"/>
              <a:buChar char="•"/>
            </a:pPr>
            <a:r>
              <a:rPr lang="en-US" sz="1400" b="1" dirty="0">
                <a:solidFill>
                  <a:schemeClr val="bg1"/>
                </a:solidFill>
              </a:rPr>
              <a:t>Measure </a:t>
            </a:r>
            <a:r>
              <a:rPr lang="en-US" sz="1400" dirty="0">
                <a:solidFill>
                  <a:schemeClr val="bg1"/>
                </a:solidFill>
              </a:rPr>
              <a:t>routing errors like any other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bg1"/>
                </a:solidFill>
              </a:rPr>
              <a:t>Key takeaways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3"/>
                </a:solidFill>
              </a:rPr>
              <a:t>Choose the smallest model that reliably meets the bar, and engineer the system around it</a:t>
            </a:r>
            <a:endParaRPr lang="en-US" sz="1600" dirty="0"/>
          </a:p>
        </p:txBody>
      </p:sp>
      <p:sp>
        <p:nvSpPr>
          <p:cNvPr id="4" name="takeaway-num"/>
          <p:cNvSpPr/>
          <p:nvPr/>
        </p:nvSpPr>
        <p:spPr>
          <a:xfrm>
            <a:off x="548640" y="1691640"/>
            <a:ext cx="685800" cy="685800"/>
          </a:xfrm>
          <a:prstGeom prst="ellipse">
            <a:avLst/>
          </a:prstGeom>
          <a:solidFill>
            <a:schemeClr val="accent1"/>
          </a:solidFill>
          <a:ln/>
        </p:spPr>
        <p:txBody>
          <a:bodyPr/>
          <a:lstStyle/>
          <a:p>
            <a:endParaRPr lang="en-US"/>
          </a:p>
        </p:txBody>
      </p:sp>
      <p:sp>
        <p:nvSpPr>
          <p:cNvPr id="5" name="Text 3"/>
          <p:cNvSpPr txBox="1"/>
          <p:nvPr/>
        </p:nvSpPr>
        <p:spPr>
          <a:xfrm>
            <a:off x="548640" y="169164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4"/>
          <p:cNvSpPr txBox="1"/>
          <p:nvPr/>
        </p:nvSpPr>
        <p:spPr>
          <a:xfrm>
            <a:off x="1463040" y="1645920"/>
            <a:ext cx="4389120" cy="411480"/>
          </a:xfrm>
          <a:prstGeom prst="rect">
            <a:avLst/>
          </a:prstGeom>
          <a:noFill/>
          <a:ln/>
        </p:spPr>
        <p:txBody>
          <a:bodyPr wrap="square" lIns="0" tIns="0" rIns="0" bIns="0" rtlCol="0" anchor="t"/>
          <a:lstStyle/>
          <a:p>
            <a:pPr marL="0" indent="0">
              <a:buNone/>
            </a:pPr>
            <a:r>
              <a:rPr lang="en-US" sz="1900" b="1" dirty="0">
                <a:solidFill>
                  <a:schemeClr val="bg1"/>
                </a:solidFill>
              </a:rPr>
              <a:t>The model is one component</a:t>
            </a:r>
            <a:endParaRPr lang="en-US" sz="1900" dirty="0"/>
          </a:p>
        </p:txBody>
      </p:sp>
      <p:sp>
        <p:nvSpPr>
          <p:cNvPr id="7" name="Text 5"/>
          <p:cNvSpPr txBox="1"/>
          <p:nvPr/>
        </p:nvSpPr>
        <p:spPr>
          <a:xfrm>
            <a:off x="1463040" y="2103120"/>
            <a:ext cx="4389120" cy="914400"/>
          </a:xfrm>
          <a:prstGeom prst="rect">
            <a:avLst/>
          </a:prstGeom>
          <a:noFill/>
          <a:ln/>
        </p:spPr>
        <p:txBody>
          <a:bodyPr wrap="square" lIns="0" tIns="0" rIns="0" bIns="0" rtlCol="0" anchor="t"/>
          <a:lstStyle/>
          <a:p>
            <a:pPr marL="0" indent="0">
              <a:buNone/>
            </a:pPr>
            <a:r>
              <a:rPr lang="en-US" sz="1500" dirty="0">
                <a:solidFill>
                  <a:srgbClr val="C5CAD6"/>
                </a:solidFill>
              </a:rPr>
              <a:t>Data, integration, guardrails, evaluation and LLMOps decide production success.</a:t>
            </a:r>
            <a:endParaRPr lang="en-US" sz="1500" dirty="0"/>
          </a:p>
        </p:txBody>
      </p:sp>
      <p:sp>
        <p:nvSpPr>
          <p:cNvPr id="8" name="takeaway-num"/>
          <p:cNvSpPr/>
          <p:nvPr/>
        </p:nvSpPr>
        <p:spPr>
          <a:xfrm>
            <a:off x="6126480" y="1691640"/>
            <a:ext cx="685800" cy="685800"/>
          </a:xfrm>
          <a:prstGeom prst="ellipse">
            <a:avLst/>
          </a:prstGeom>
          <a:solidFill>
            <a:schemeClr val="accent2"/>
          </a:solidFill>
          <a:ln/>
        </p:spPr>
        <p:txBody>
          <a:bodyPr/>
          <a:lstStyle/>
          <a:p>
            <a:endParaRPr lang="en-US"/>
          </a:p>
        </p:txBody>
      </p:sp>
      <p:sp>
        <p:nvSpPr>
          <p:cNvPr id="9" name="Text 7"/>
          <p:cNvSpPr txBox="1"/>
          <p:nvPr/>
        </p:nvSpPr>
        <p:spPr>
          <a:xfrm>
            <a:off x="6126480" y="169164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0" name="Text 8"/>
          <p:cNvSpPr txBox="1"/>
          <p:nvPr/>
        </p:nvSpPr>
        <p:spPr>
          <a:xfrm>
            <a:off x="7040880" y="1645920"/>
            <a:ext cx="4389120" cy="411480"/>
          </a:xfrm>
          <a:prstGeom prst="rect">
            <a:avLst/>
          </a:prstGeom>
          <a:noFill/>
          <a:ln/>
        </p:spPr>
        <p:txBody>
          <a:bodyPr wrap="square" lIns="0" tIns="0" rIns="0" bIns="0" rtlCol="0" anchor="t"/>
          <a:lstStyle/>
          <a:p>
            <a:pPr marL="0" indent="0">
              <a:buNone/>
            </a:pPr>
            <a:r>
              <a:rPr lang="en-US" sz="1900" b="1" dirty="0">
                <a:solidFill>
                  <a:schemeClr val="bg1"/>
                </a:solidFill>
              </a:rPr>
              <a:t>Same technology, different scale</a:t>
            </a:r>
            <a:endParaRPr lang="en-US" sz="1900" dirty="0"/>
          </a:p>
        </p:txBody>
      </p:sp>
      <p:sp>
        <p:nvSpPr>
          <p:cNvPr id="11" name="Text 9"/>
          <p:cNvSpPr txBox="1"/>
          <p:nvPr/>
        </p:nvSpPr>
        <p:spPr>
          <a:xfrm>
            <a:off x="7040880" y="2103120"/>
            <a:ext cx="4389120" cy="914400"/>
          </a:xfrm>
          <a:prstGeom prst="rect">
            <a:avLst/>
          </a:prstGeom>
          <a:noFill/>
          <a:ln/>
        </p:spPr>
        <p:txBody>
          <a:bodyPr wrap="square" lIns="0" tIns="0" rIns="0" bIns="0" rtlCol="0" anchor="t"/>
          <a:lstStyle/>
          <a:p>
            <a:pPr marL="0" indent="0">
              <a:buNone/>
            </a:pPr>
            <a:r>
              <a:rPr lang="en-US" sz="1500" dirty="0">
                <a:solidFill>
                  <a:srgbClr val="C5CAD6"/>
                </a:solidFill>
              </a:rPr>
              <a:t>LLMs and SLMs share the transformer design; size drives capability, cost and footprint.</a:t>
            </a:r>
            <a:endParaRPr lang="en-US" sz="1500" dirty="0"/>
          </a:p>
        </p:txBody>
      </p:sp>
      <p:sp>
        <p:nvSpPr>
          <p:cNvPr id="12" name="takeaway-num"/>
          <p:cNvSpPr/>
          <p:nvPr/>
        </p:nvSpPr>
        <p:spPr>
          <a:xfrm>
            <a:off x="548640" y="3383280"/>
            <a:ext cx="685800" cy="685800"/>
          </a:xfrm>
          <a:prstGeom prst="ellipse">
            <a:avLst/>
          </a:prstGeom>
          <a:solidFill>
            <a:schemeClr val="accent1"/>
          </a:solidFill>
          <a:ln/>
        </p:spPr>
        <p:txBody>
          <a:bodyPr/>
          <a:lstStyle/>
          <a:p>
            <a:endParaRPr lang="en-US"/>
          </a:p>
        </p:txBody>
      </p:sp>
      <p:sp>
        <p:nvSpPr>
          <p:cNvPr id="13" name="Text 11"/>
          <p:cNvSpPr txBox="1"/>
          <p:nvPr/>
        </p:nvSpPr>
        <p:spPr>
          <a:xfrm>
            <a:off x="548640" y="338328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4" name="Text 12"/>
          <p:cNvSpPr txBox="1"/>
          <p:nvPr/>
        </p:nvSpPr>
        <p:spPr>
          <a:xfrm>
            <a:off x="1463040" y="3337560"/>
            <a:ext cx="4389120" cy="411480"/>
          </a:xfrm>
          <a:prstGeom prst="rect">
            <a:avLst/>
          </a:prstGeom>
          <a:noFill/>
          <a:ln/>
        </p:spPr>
        <p:txBody>
          <a:bodyPr wrap="square" lIns="0" tIns="0" rIns="0" bIns="0" rtlCol="0" anchor="t"/>
          <a:lstStyle/>
          <a:p>
            <a:pPr marL="0" indent="0">
              <a:buNone/>
            </a:pPr>
            <a:r>
              <a:rPr lang="en-US" sz="1900" b="1" dirty="0">
                <a:solidFill>
                  <a:schemeClr val="bg1"/>
                </a:solidFill>
              </a:rPr>
              <a:t>Compare on five dimensions</a:t>
            </a:r>
            <a:endParaRPr lang="en-US" sz="1900" dirty="0"/>
          </a:p>
        </p:txBody>
      </p:sp>
      <p:sp>
        <p:nvSpPr>
          <p:cNvPr id="15" name="Text 13"/>
          <p:cNvSpPr txBox="1"/>
          <p:nvPr/>
        </p:nvSpPr>
        <p:spPr>
          <a:xfrm>
            <a:off x="1463040" y="3794760"/>
            <a:ext cx="4389120" cy="914400"/>
          </a:xfrm>
          <a:prstGeom prst="rect">
            <a:avLst/>
          </a:prstGeom>
          <a:noFill/>
          <a:ln/>
        </p:spPr>
        <p:txBody>
          <a:bodyPr wrap="square" lIns="0" tIns="0" rIns="0" bIns="0" rtlCol="0" anchor="t"/>
          <a:lstStyle/>
          <a:p>
            <a:pPr marL="0" indent="0">
              <a:buNone/>
            </a:pPr>
            <a:r>
              <a:rPr lang="en-US" sz="1500" dirty="0">
                <a:solidFill>
                  <a:srgbClr val="C5CAD6"/>
                </a:solidFill>
              </a:rPr>
              <a:t>Capability, cost, latency, infrastructure and business fit, measured on your workload.</a:t>
            </a:r>
            <a:endParaRPr lang="en-US" sz="1500" dirty="0"/>
          </a:p>
        </p:txBody>
      </p:sp>
      <p:sp>
        <p:nvSpPr>
          <p:cNvPr id="16" name="takeaway-num"/>
          <p:cNvSpPr/>
          <p:nvPr/>
        </p:nvSpPr>
        <p:spPr>
          <a:xfrm>
            <a:off x="6126480" y="3383280"/>
            <a:ext cx="685800" cy="685800"/>
          </a:xfrm>
          <a:prstGeom prst="ellipse">
            <a:avLst/>
          </a:prstGeom>
          <a:solidFill>
            <a:schemeClr val="accent2"/>
          </a:solidFill>
          <a:ln/>
        </p:spPr>
        <p:txBody>
          <a:bodyPr/>
          <a:lstStyle/>
          <a:p>
            <a:endParaRPr lang="en-US"/>
          </a:p>
        </p:txBody>
      </p:sp>
      <p:sp>
        <p:nvSpPr>
          <p:cNvPr id="17" name="Text 15"/>
          <p:cNvSpPr txBox="1"/>
          <p:nvPr/>
        </p:nvSpPr>
        <p:spPr>
          <a:xfrm>
            <a:off x="6126480" y="338328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8" name="Text 16"/>
          <p:cNvSpPr txBox="1"/>
          <p:nvPr/>
        </p:nvSpPr>
        <p:spPr>
          <a:xfrm>
            <a:off x="7040880" y="3337560"/>
            <a:ext cx="4389120" cy="411480"/>
          </a:xfrm>
          <a:prstGeom prst="rect">
            <a:avLst/>
          </a:prstGeom>
          <a:noFill/>
          <a:ln/>
        </p:spPr>
        <p:txBody>
          <a:bodyPr wrap="square" lIns="0" tIns="0" rIns="0" bIns="0" rtlCol="0" anchor="t"/>
          <a:lstStyle/>
          <a:p>
            <a:pPr marL="0" indent="0">
              <a:buNone/>
            </a:pPr>
            <a:r>
              <a:rPr lang="en-US" sz="1900" b="1" dirty="0">
                <a:solidFill>
                  <a:schemeClr val="bg1"/>
                </a:solidFill>
              </a:rPr>
              <a:t>Hybrid is often best</a:t>
            </a:r>
            <a:endParaRPr lang="en-US" sz="1900" dirty="0"/>
          </a:p>
        </p:txBody>
      </p:sp>
      <p:sp>
        <p:nvSpPr>
          <p:cNvPr id="19" name="Text 17"/>
          <p:cNvSpPr txBox="1"/>
          <p:nvPr/>
        </p:nvSpPr>
        <p:spPr>
          <a:xfrm>
            <a:off x="7040880" y="3794760"/>
            <a:ext cx="4389120" cy="914400"/>
          </a:xfrm>
          <a:prstGeom prst="rect">
            <a:avLst/>
          </a:prstGeom>
          <a:noFill/>
          <a:ln/>
        </p:spPr>
        <p:txBody>
          <a:bodyPr wrap="square" lIns="0" tIns="0" rIns="0" bIns="0" rtlCol="0" anchor="t"/>
          <a:lstStyle/>
          <a:p>
            <a:pPr marL="0" indent="0">
              <a:buNone/>
            </a:pPr>
            <a:r>
              <a:rPr lang="en-US" sz="1500" dirty="0">
                <a:solidFill>
                  <a:srgbClr val="C5CAD6"/>
                </a:solidFill>
              </a:rPr>
              <a:t>Route routine work to SLMs and escalate the long tail to LLMs through a gateway.</a:t>
            </a:r>
            <a:endParaRPr lang="en-US" sz="1500" dirty="0"/>
          </a:p>
        </p:txBody>
      </p:sp>
      <p:sp>
        <p:nvSpPr>
          <p:cNvPr id="20" name="callout"/>
          <p:cNvSpPr/>
          <p:nvPr/>
        </p:nvSpPr>
        <p:spPr>
          <a:xfrm>
            <a:off x="548640" y="5166360"/>
            <a:ext cx="11018520" cy="960120"/>
          </a:xfrm>
          <a:prstGeom prst="roundRect">
            <a:avLst>
              <a:gd name="adj" fmla="val 7619"/>
            </a:avLst>
          </a:prstGeom>
          <a:solidFill>
            <a:schemeClr val="accent3"/>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777240" y="5463540"/>
            <a:ext cx="365760" cy="365760"/>
          </a:xfrm>
          <a:prstGeom prst="rect">
            <a:avLst/>
          </a:prstGeom>
        </p:spPr>
      </p:pic>
      <p:sp>
        <p:nvSpPr>
          <p:cNvPr id="22" name="Text 19"/>
          <p:cNvSpPr txBox="1"/>
          <p:nvPr/>
        </p:nvSpPr>
        <p:spPr>
          <a:xfrm>
            <a:off x="1325880" y="5166360"/>
            <a:ext cx="10012680" cy="960120"/>
          </a:xfrm>
          <a:prstGeom prst="rect">
            <a:avLst/>
          </a:prstGeom>
          <a:noFill/>
          <a:ln/>
        </p:spPr>
        <p:txBody>
          <a:bodyPr wrap="square" lIns="0" tIns="0" rIns="0" bIns="0" rtlCol="0" anchor="ctr"/>
          <a:lstStyle/>
          <a:p>
            <a:pPr marL="0" indent="0">
              <a:buNone/>
            </a:pPr>
            <a:r>
              <a:rPr lang="en-US" sz="1700" b="1" dirty="0">
                <a:solidFill>
                  <a:schemeClr val="tx1"/>
                </a:solidFill>
              </a:rPr>
              <a:t>Discussion: </a:t>
            </a:r>
            <a:r>
              <a:rPr lang="en-US" sz="1700" dirty="0">
                <a:solidFill>
                  <a:schemeClr val="tx1"/>
                </a:solidFill>
              </a:rPr>
              <a:t>which of your use cases could run on an SLM today, and what eval would prove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96A8"/>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Enterprise AI Models">
  <a:themeElements>
    <a:clrScheme name="Enterprise AI Models">
      <a:dk1>
        <a:srgbClr val="171B26"/>
      </a:dk1>
      <a:lt1>
        <a:srgbClr val="FFFFFF"/>
      </a:lt1>
      <a:dk2>
        <a:srgbClr val="434A5C"/>
      </a:dk2>
      <a:lt2>
        <a:srgbClr val="F0F2F6"/>
      </a:lt2>
      <a:accent1>
        <a:srgbClr val="F26B3A"/>
      </a:accent1>
      <a:accent2>
        <a:srgbClr val="12968A"/>
      </a:accent2>
      <a:accent3>
        <a:srgbClr val="F2B33D"/>
      </a:accent3>
      <a:accent4>
        <a:srgbClr val="5B5BD6"/>
      </a:accent4>
      <a:accent5>
        <a:srgbClr val="6B7286"/>
      </a:accent5>
      <a:accent6>
        <a:srgbClr val="D94452"/>
      </a:accent6>
      <a:hlink>
        <a:srgbClr val="5B5BD6"/>
      </a:hlink>
      <a:folHlink>
        <a:srgbClr val="6B7286"/>
      </a:folHlink>
    </a:clrScheme>
    <a:fontScheme name="Enterprise AI Mode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5596</Words>
  <Application>Microsoft Office PowerPoint</Application>
  <PresentationFormat>Widescreen</PresentationFormat>
  <Paragraphs>402</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Enterprise AI Models</vt:lpstr>
      <vt:lpstr>Enterprise AI applications: LLMs vs SLMs</vt:lpstr>
      <vt:lpstr>Agenda and learning outcomes</vt:lpstr>
      <vt:lpstr>How enterprise AI applications are built and deployed</vt:lpstr>
      <vt:lpstr>Enterprise AI is a system, not just a model</vt:lpstr>
      <vt:lpstr>Reference architecture: six layers around the model</vt:lpstr>
      <vt:lpstr>The enterprise AI lifecycle is a loop, not a launch</vt:lpstr>
      <vt:lpstr>Four ways to adapt a model to enterprise needs</vt:lpstr>
      <vt:lpstr>RAG: the most common enterprise pattern</vt:lpstr>
      <vt:lpstr>Four deployment options trade convenience for control</vt:lpstr>
      <vt:lpstr>LLMOps: DevOps for prompts, models and evals</vt:lpstr>
      <vt:lpstr>Understanding large and small language models</vt:lpstr>
      <vt:lpstr>How a language model works: next-token prediction</vt:lpstr>
      <vt:lpstr>Large language models: broad, general-purpose capability</vt:lpstr>
      <vt:lpstr>Small language models: focused, efficient and deployable</vt:lpstr>
      <vt:lpstr>LLM vs SLM: choosing the right fit</vt:lpstr>
      <vt:lpstr>Side-by-side comparison across five dimensions</vt:lpstr>
      <vt:lpstr>Infrastructure needs grow with model size</vt:lpstr>
      <vt:lpstr>Business fit: match the model to the job, and often use both</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AI Applications: LLMs vs SLMs</dc:title>
  <dc:subject>PptxGenJS Presentation</dc:subject>
  <dc:creator>Corporate Technical Training</dc:creator>
  <cp:lastModifiedBy>Ramesh KHARAT</cp:lastModifiedBy>
  <cp:revision>1</cp:revision>
  <dcterms:created xsi:type="dcterms:W3CDTF">2026-10-05T02:29:59Z</dcterms:created>
  <dcterms:modified xsi:type="dcterms:W3CDTF">2026-10-05T03:17:49Z</dcterms:modified>
</cp:coreProperties>
</file>