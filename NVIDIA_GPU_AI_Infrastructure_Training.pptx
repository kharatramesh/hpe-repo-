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rts/chart3.xml" ContentType="application/vnd.openxmlformats-officedocument.drawingml.chart+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300" r:id="rId37"/>
    <p:sldId id="302" r:id="rId38"/>
    <p:sldId id="291" r:id="rId39"/>
    <p:sldId id="292" r:id="rId40"/>
    <p:sldId id="293" r:id="rId41"/>
    <p:sldId id="294" r:id="rId42"/>
    <p:sldId id="295" r:id="rId4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A99CD9C-A73E-A007-4CA0-5100690A7482}">
          <p14:sldIdLst>
            <p14:sldId id="256"/>
            <p14:sldId id="257"/>
            <p14:sldId id="258"/>
          </p14:sldIdLst>
        </p14:section>
        <p14:section name="Module 1 · GPU components" id="{428539FF-800B-F3BB-D561-B924A9885585}">
          <p14:sldIdLst>
            <p14:sldId id="259"/>
            <p14:sldId id="260"/>
            <p14:sldId id="261"/>
            <p14:sldId id="262"/>
            <p14:sldId id="263"/>
            <p14:sldId id="264"/>
            <p14:sldId id="265"/>
            <p14:sldId id="266"/>
            <p14:sldId id="267"/>
            <p14:sldId id="268"/>
            <p14:sldId id="269"/>
            <p14:sldId id="270"/>
          </p14:sldIdLst>
        </p14:section>
        <p14:section name="Module 2 · GPU types" id="{78DAB5EF-FE69-7F2C-DAA5-424999DFEC5F}">
          <p14:sldIdLst>
            <p14:sldId id="271"/>
            <p14:sldId id="272"/>
            <p14:sldId id="273"/>
            <p14:sldId id="274"/>
            <p14:sldId id="275"/>
            <p14:sldId id="276"/>
            <p14:sldId id="277"/>
            <p14:sldId id="278"/>
          </p14:sldIdLst>
        </p14:section>
        <p14:section name="Module 3 · AI infrastructure" id="{72ABA18D-821D-CFC6-C92B-2682D23FE3B1}">
          <p14:sldIdLst>
            <p14:sldId id="279"/>
            <p14:sldId id="280"/>
            <p14:sldId id="281"/>
            <p14:sldId id="282"/>
            <p14:sldId id="283"/>
            <p14:sldId id="284"/>
            <p14:sldId id="285"/>
            <p14:sldId id="286"/>
            <p14:sldId id="287"/>
            <p14:sldId id="288"/>
            <p14:sldId id="289"/>
            <p14:sldId id="290"/>
            <p14:sldId id="300"/>
            <p14:sldId id="302"/>
            <p14:sldId id="291"/>
            <p14:sldId id="292"/>
          </p14:sldIdLst>
        </p14:section>
        <p14:section name="Wrap-up" id="{B8C1B859-5A4D-AC90-AE34-4D0ABFFE4106}">
          <p14:sldIdLst>
            <p14:sldId id="293"/>
            <p14:sldId id="294"/>
            <p14:sldId id="29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5" d="100"/>
          <a:sy n="75" d="100"/>
        </p:scale>
        <p:origin x="62"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500" b="0" i="0" u="none" strike="noStrike">
                <a:solidFill>
                  <a:srgbClr val="111611"/>
                </a:solidFill>
                <a:latin typeface="+mn-lt"/>
              </a:defRPr>
            </a:pPr>
            <a:r>
              <a:rPr lang="en-US" sz="1500" b="0" i="0" u="none" strike="noStrike">
                <a:solidFill>
                  <a:srgbClr val="111611"/>
                </a:solidFill>
                <a:latin typeface="+mn-lt"/>
              </a:rPr>
              <a:t>Memory per GPU (GB)</a:t>
            </a:r>
          </a:p>
        </c:rich>
      </c:tx>
      <c:overlay val="0"/>
    </c:title>
    <c:autoTitleDeleted val="0"/>
    <c:plotArea>
      <c:layout/>
      <c:barChart>
        <c:barDir val="col"/>
        <c:grouping val="clustered"/>
        <c:varyColors val="0"/>
        <c:ser>
          <c:idx val="0"/>
          <c:order val="0"/>
          <c:tx>
            <c:strRef>
              <c:f>Sheet1!$B$1</c:f>
              <c:strCache>
                <c:ptCount val="1"/>
                <c:pt idx="0">
                  <c:v>Memory (GB)</c:v>
                </c:pt>
              </c:strCache>
            </c:strRef>
          </c:tx>
          <c:spPr>
            <a:solidFill>
              <a:srgbClr val="76B900"/>
            </a:solidFill>
            <a:effectLst/>
          </c:spPr>
          <c:invertIfNegative val="0"/>
          <c:dLbls>
            <c:numFmt formatCode="#,##0" sourceLinked="0"/>
            <c:spPr>
              <a:noFill/>
              <a:ln>
                <a:noFill/>
              </a:ln>
              <a:effectLst/>
            </c:spPr>
            <c:txPr>
              <a:bodyPr/>
              <a:lstStyle/>
              <a:p>
                <a:pPr>
                  <a:defRPr sz="1200" b="0" i="0" u="none" strike="noStrike">
                    <a:solidFill>
                      <a:srgbClr val="11161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V100</c:v>
                </c:pt>
                <c:pt idx="1">
                  <c:v>A100</c:v>
                </c:pt>
                <c:pt idx="2">
                  <c:v>H100</c:v>
                </c:pt>
                <c:pt idx="3">
                  <c:v>H200</c:v>
                </c:pt>
                <c:pt idx="4">
                  <c:v>B200</c:v>
                </c:pt>
                <c:pt idx="5">
                  <c:v>B300</c:v>
                </c:pt>
              </c:strCache>
            </c:strRef>
          </c:cat>
          <c:val>
            <c:numRef>
              <c:f>Sheet1!$B$2:$B$7</c:f>
              <c:numCache>
                <c:formatCode>General</c:formatCode>
                <c:ptCount val="6"/>
                <c:pt idx="0">
                  <c:v>32</c:v>
                </c:pt>
                <c:pt idx="1">
                  <c:v>80</c:v>
                </c:pt>
                <c:pt idx="2">
                  <c:v>80</c:v>
                </c:pt>
                <c:pt idx="3">
                  <c:v>141</c:v>
                </c:pt>
                <c:pt idx="4">
                  <c:v>180</c:v>
                </c:pt>
                <c:pt idx="5">
                  <c:v>288</c:v>
                </c:pt>
              </c:numCache>
            </c:numRef>
          </c:val>
          <c:extLst>
            <c:ext xmlns:c16="http://schemas.microsoft.com/office/drawing/2014/chart" uri="{C3380CC4-5D6E-409C-BE32-E72D297353CC}">
              <c16:uniqueId val="{00000000-AFBF-4100-8757-56FA8F748972}"/>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E4842"/>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1E6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570"/>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500" b="0" i="0" u="none" strike="noStrike">
                <a:solidFill>
                  <a:srgbClr val="111611"/>
                </a:solidFill>
                <a:latin typeface="+mn-lt"/>
              </a:defRPr>
            </a:pPr>
            <a:r>
              <a:rPr lang="en-US" sz="1500" b="0" i="0" u="none" strike="noStrike">
                <a:solidFill>
                  <a:srgbClr val="111611"/>
                </a:solidFill>
                <a:latin typeface="+mn-lt"/>
              </a:rPr>
              <a:t>Memory bandwidth per GPU (TB/s)</a:t>
            </a:r>
          </a:p>
        </c:rich>
      </c:tx>
      <c:overlay val="0"/>
    </c:title>
    <c:autoTitleDeleted val="0"/>
    <c:plotArea>
      <c:layout/>
      <c:barChart>
        <c:barDir val="col"/>
        <c:grouping val="clustered"/>
        <c:varyColors val="0"/>
        <c:ser>
          <c:idx val="0"/>
          <c:order val="0"/>
          <c:tx>
            <c:strRef>
              <c:f>Sheet1!$B$1</c:f>
              <c:strCache>
                <c:ptCount val="1"/>
                <c:pt idx="0">
                  <c:v>Bandwidth (TB/s)</c:v>
                </c:pt>
              </c:strCache>
            </c:strRef>
          </c:tx>
          <c:spPr>
            <a:solidFill>
              <a:srgbClr val="2D8FD5"/>
            </a:solidFill>
            <a:effectLst/>
          </c:spPr>
          <c:invertIfNegative val="0"/>
          <c:dLbls>
            <c:numFmt formatCode="0.0#" sourceLinked="0"/>
            <c:spPr>
              <a:noFill/>
              <a:ln>
                <a:noFill/>
              </a:ln>
              <a:effectLst/>
            </c:spPr>
            <c:txPr>
              <a:bodyPr/>
              <a:lstStyle/>
              <a:p>
                <a:pPr>
                  <a:defRPr sz="1200" b="0" i="0" u="none" strike="noStrike">
                    <a:solidFill>
                      <a:srgbClr val="11161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V100</c:v>
                </c:pt>
                <c:pt idx="1">
                  <c:v>A100</c:v>
                </c:pt>
                <c:pt idx="2">
                  <c:v>H100</c:v>
                </c:pt>
                <c:pt idx="3">
                  <c:v>H200</c:v>
                </c:pt>
                <c:pt idx="4">
                  <c:v>B200</c:v>
                </c:pt>
                <c:pt idx="5">
                  <c:v>B300</c:v>
                </c:pt>
              </c:strCache>
            </c:strRef>
          </c:cat>
          <c:val>
            <c:numRef>
              <c:f>Sheet1!$B$2:$B$7</c:f>
              <c:numCache>
                <c:formatCode>General</c:formatCode>
                <c:ptCount val="6"/>
                <c:pt idx="0">
                  <c:v>0.9</c:v>
                </c:pt>
                <c:pt idx="1">
                  <c:v>2</c:v>
                </c:pt>
                <c:pt idx="2">
                  <c:v>3.35</c:v>
                </c:pt>
                <c:pt idx="3">
                  <c:v>4.8</c:v>
                </c:pt>
                <c:pt idx="4">
                  <c:v>8</c:v>
                </c:pt>
                <c:pt idx="5">
                  <c:v>8</c:v>
                </c:pt>
              </c:numCache>
            </c:numRef>
          </c:val>
          <c:extLst>
            <c:ext xmlns:c16="http://schemas.microsoft.com/office/drawing/2014/chart" uri="{C3380CC4-5D6E-409C-BE32-E72D297353CC}">
              <c16:uniqueId val="{00000000-6F4F-438F-8E9A-639CA8FAD910}"/>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E4842"/>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1E6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570"/>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500" b="0" i="0" u="none" strike="noStrike">
                <a:solidFill>
                  <a:srgbClr val="111611"/>
                </a:solidFill>
                <a:latin typeface="+mn-lt"/>
              </a:defRPr>
            </a:pPr>
            <a:r>
              <a:rPr lang="en-US" sz="1500" b="0" i="0" u="none" strike="noStrike">
                <a:solidFill>
                  <a:srgbClr val="111611"/>
                </a:solidFill>
                <a:latin typeface="+mn-lt"/>
              </a:rPr>
              <a:t>Approximate power per rack (kW)</a:t>
            </a:r>
          </a:p>
        </c:rich>
      </c:tx>
      <c:overlay val="0"/>
    </c:title>
    <c:autoTitleDeleted val="0"/>
    <c:plotArea>
      <c:layout/>
      <c:barChart>
        <c:barDir val="bar"/>
        <c:grouping val="clustered"/>
        <c:varyColors val="0"/>
        <c:ser>
          <c:idx val="0"/>
          <c:order val="0"/>
          <c:tx>
            <c:strRef>
              <c:f>Sheet1!$B$1</c:f>
              <c:strCache>
                <c:ptCount val="1"/>
                <c:pt idx="0">
                  <c:v>kW per rack</c:v>
                </c:pt>
              </c:strCache>
            </c:strRef>
          </c:tx>
          <c:spPr>
            <a:solidFill>
              <a:srgbClr val="6B7570"/>
            </a:solidFill>
            <a:effectLst/>
          </c:spPr>
          <c:invertIfNegative val="0"/>
          <c:dPt>
            <c:idx val="0"/>
            <c:invertIfNegative val="0"/>
            <c:bubble3D val="0"/>
            <c:extLst>
              <c:ext xmlns:c16="http://schemas.microsoft.com/office/drawing/2014/chart" uri="{C3380CC4-5D6E-409C-BE32-E72D297353CC}">
                <c16:uniqueId val="{00000001-6B49-4E8F-BD03-EAD3A5C1A713}"/>
              </c:ext>
            </c:extLst>
          </c:dPt>
          <c:dPt>
            <c:idx val="1"/>
            <c:invertIfNegative val="0"/>
            <c:bubble3D val="0"/>
            <c:spPr>
              <a:solidFill>
                <a:srgbClr val="76B900"/>
              </a:solidFill>
              <a:effectLst/>
            </c:spPr>
            <c:extLst>
              <c:ext xmlns:c16="http://schemas.microsoft.com/office/drawing/2014/chart" uri="{C3380CC4-5D6E-409C-BE32-E72D297353CC}">
                <c16:uniqueId val="{00000003-6B49-4E8F-BD03-EAD3A5C1A713}"/>
              </c:ext>
            </c:extLst>
          </c:dPt>
          <c:dPt>
            <c:idx val="2"/>
            <c:invertIfNegative val="0"/>
            <c:bubble3D val="0"/>
            <c:spPr>
              <a:solidFill>
                <a:srgbClr val="76B900"/>
              </a:solidFill>
              <a:effectLst/>
            </c:spPr>
            <c:extLst>
              <c:ext xmlns:c16="http://schemas.microsoft.com/office/drawing/2014/chart" uri="{C3380CC4-5D6E-409C-BE32-E72D297353CC}">
                <c16:uniqueId val="{00000005-6B49-4E8F-BD03-EAD3A5C1A713}"/>
              </c:ext>
            </c:extLst>
          </c:dPt>
          <c:dPt>
            <c:idx val="3"/>
            <c:invertIfNegative val="0"/>
            <c:bubble3D val="0"/>
            <c:spPr>
              <a:solidFill>
                <a:srgbClr val="3D7A12"/>
              </a:solidFill>
              <a:effectLst/>
            </c:spPr>
            <c:extLst>
              <c:ext xmlns:c16="http://schemas.microsoft.com/office/drawing/2014/chart" uri="{C3380CC4-5D6E-409C-BE32-E72D297353CC}">
                <c16:uniqueId val="{00000007-6B49-4E8F-BD03-EAD3A5C1A713}"/>
              </c:ext>
            </c:extLst>
          </c:dPt>
          <c:dLbls>
            <c:numFmt formatCode="#,##0" sourceLinked="0"/>
            <c:spPr>
              <a:noFill/>
              <a:ln>
                <a:noFill/>
              </a:ln>
              <a:effectLst/>
            </c:spPr>
            <c:txPr>
              <a:bodyPr/>
              <a:lstStyle/>
              <a:p>
                <a:pPr>
                  <a:defRPr sz="1200" b="0" i="0" u="none" strike="noStrike">
                    <a:solidFill>
                      <a:srgbClr val="11161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Typical enterprise rack</c:v>
                </c:pt>
                <c:pt idx="1">
                  <c:v>4× HGX H100 servers</c:v>
                </c:pt>
                <c:pt idx="2">
                  <c:v>4× DGX B200</c:v>
                </c:pt>
                <c:pt idx="3">
                  <c:v>GB200 NVL72</c:v>
                </c:pt>
              </c:strCache>
            </c:strRef>
          </c:cat>
          <c:val>
            <c:numRef>
              <c:f>Sheet1!$B$2:$B$5</c:f>
              <c:numCache>
                <c:formatCode>General</c:formatCode>
                <c:ptCount val="4"/>
                <c:pt idx="0">
                  <c:v>10</c:v>
                </c:pt>
                <c:pt idx="1">
                  <c:v>41</c:v>
                </c:pt>
                <c:pt idx="2">
                  <c:v>57</c:v>
                </c:pt>
                <c:pt idx="3">
                  <c:v>120</c:v>
                </c:pt>
              </c:numCache>
            </c:numRef>
          </c:val>
          <c:extLst>
            <c:ext xmlns:c16="http://schemas.microsoft.com/office/drawing/2014/chart" uri="{C3380CC4-5D6E-409C-BE32-E72D297353CC}">
              <c16:uniqueId val="{00000008-6B49-4E8F-BD03-EAD3A5C1A713}"/>
            </c:ext>
          </c:extLst>
        </c:ser>
        <c:dLbls>
          <c:showLegendKey val="0"/>
          <c:showVal val="1"/>
          <c:showCatName val="0"/>
          <c:showSerName val="0"/>
          <c:showPercent val="0"/>
          <c:showBubbleSize val="0"/>
        </c:dLbls>
        <c:gapWidth val="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E4842"/>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t"/>
        <c:majorGridlines>
          <c:spPr>
            <a:ln w="9525" cap="flat">
              <a:solidFill>
                <a:srgbClr val="E1E6D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570"/>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6759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&amp; FRAMING (3 min)
Welcome participants. Introduce yourself and the goal of the session: by the end, everyone should be able to look at an NVIDIA GPU spec sheet or an AI cluster design and understand what each part does and why it matters for AI workloads.
Set expectations: this is a three-module session.
 Module 1 – what is physically inside a GPU (cores, memory, interconnects, board and software components).
 Module 2 – the GPU families and product types, and how to pick one for a workload.
 Module 3 – how GPUs are assembled into infrastructure for AI: servers, networks, storage, software, operations and facilities.
Icebreaker: ask the room "Who has used a GPU for AI – on a laptop, in the cloud, or in our data center?" and "Who has had a job fail with 'CUDA out of memory'?" Use the answers to calibrate depth.
Note: performance figures in this deck are approximate values from public NVIDIA datasheets and are given for comparison and teaching. Always check the current datasheet before quoting numbers to customers or using them in purchasing decisions.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(2 min)
Walk the three columns left to right and explain the logic: we go from the smallest unit (one GPU chip) outwards to the biggest (a data center full of them).
Module 1 is the vocabulary module – once people know what an SM, a Tensor Core, HBM and NVLink are, everything later makes sense.
Module 2 answers "which GPU?" – there are many product lines and the names are confusing; we will decode them.
Module 3 answers "how do we run AI on them at scale?" – it covers servers, networking, storage, software, sharing, sizing, monitoring and power.
Timing guidance: plan a 10-minute break between Module 2 and Module 3. Knowledge-check questions are at the end; you can also use them as spot checks after each module.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(2 min)
Read the objectives aloud and point out that they are action verbs: explain, tell apart, match, describe, size and operate. These are what the knowledge check at the end tests.
Audience note: the content works for infrastructure engineers, DevOps/platform engineers, solution architects and technical pre-sales. No CUDA programming is needed. Basic familiarity with servers, networking and containers helps in Module 3.
Ask participants to note one question they want answered by the end; collect these on a flip chart and revisit them in the Q&amp;A.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 INTRO (1 min)
Transition: "Before we compare products or design clusters, we need a shared vocabulary. In this module we open up the GPU and look at each component."
Key message for the module: AI performance is set by three things working together – compute (how many maths operations per second), memory (how fast data can be fed to the compute), and interconnect (how fast GPUs can talk to each other). Every component we look at belongs to one of these three groups. Ask learners to sort each component into one of them as we go.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CPU vs GPU (5 min)
Start with the design philosophy, because every later component follows from it.
CPU = latency-optimized. A server CPU has tens of large cores (e.g. 32–128). Each core has deep pipelines, branch prediction, out-of-order execution and big caches. The goal is to make ONE thread finish as quickly as possible. Ideal for operating systems, databases, business logic and branchy code.
GPU = throughput-optimized. A data center GPU has thousands of small cores (an H100 SXM has 16,896 FP32 CUDA cores across 132 SMs). Each core is simple. They run in groups of 32 threads called a "warp" and all threads in a warp execute the same instruction on different data – NVIDIA calls this SIMT (Single Instruction, Multiple Threads). Most of the chip area goes to arithmetic rather than control logic.
Why this matters for AI: a neural network layer is essentially Y = W·X + b – a large matrix multiplication. Multiplying a 4096×4096 matrix needs about 137 billion multiply-adds, and almost all of them are independent of each other. That is perfect for a GPU.
Analogy for the class: a CPU is a few expert chefs who can cook any complex dish quickly; a GPU is a stadium kitchen with thousands of cooks each making the same sandwich – it wins when you need 50,000 sandwiches.
Important: GPUs do not replace CPUs. Every GPU server still has CPUs that run the OS, feed data, launch GPU kernels and handle networking and storage.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GPU ANATOMY (6 min)
This is a simplified view of NVIDIA's Hopper GH100 chip, the silicon inside H100. Other generations follow the same pattern with different counts.
Walk the diagram from outside to inside:
1. Host interface (PCIe Gen5 x16): how the GPU connects to the server CPU. Commands, data copies and kernel launches come in here.
2. GigaThread engine: the global scheduler. A GPU program (a "kernel") is split into thread blocks; this engine assigns blocks to whichever SM is free.
3. GPCs – Graphics Processing Clusters. The die is divided into GPCs, each holding several TPCs (Texture Processing Clusters), and each TPC holds 2 SMs. Full GH100: 8 GPCs, 72 TPCs, 144 SMs. The shipping H100 SXM enables 132 SMs. Disabling a few SMs is normal practice because it improves manufacturing yield.
4. SMs – Streaming Multiprocessors – the small green squares. This is where the maths happens. Next slide goes inside one.
5. L2 cache – 50 MB on H100, shared by all SMs over a crossbar. It acts as a buffer between the SMs and HBM.
6. HBM – High Bandwidth Memory. The DRAM dies are stacked vertically and placed on the same package as the GPU die (2.5D packaging using CoWoS). That is how GPUs reach terabytes per second, versus about 0.3–0.5 TB/s for a dual-socket CPU's DDR5.
7. NVLink – 18 NVLink 4 links per H100 give 900 GB/s of total bidirectional GPU-to-GPU bandwidth.
8. Also on the die: copy engines (DMA), video decoders (NVDEC) and JPEG decoders (NVJPG), which help vision pipelines.
Teaching tip: ask "If an AI job is slow, which of these boxes could be the bottleneck?" Expected answers: SMs (compute-bound), HBM (memory-bound), NVLink/PCIe (communication-bound).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 AN SM (6 min)
Each SM is like a small processor of its own. In Hopper, an SM is split into 4 processing blocks (sub-partitions). Each block has:
• A warp scheduler and dispatch unit – picks one warp (32 threads) that is ready and issues its next instruction. Each SM can hold up to 64 resident warps (2,048 threads). When one warp waits for memory, the scheduler switches to another at no cost. This is how GPUs hide memory latency – through massive parallelism rather than big caches.
• A 64 KB slice of the register file (256 KB per SM = 65,536 32-bit registers). Registers are the fastest storage on the GPU.
• CUDA cores: 32 FP32 units, 16 INT32 units and 16 FP64 units per sub-partition (128 FP32 cores per SM). These run general maths: activations, normalization, indexing, and scientific FP64 code.
• One Tensor Core per sub-partition (4 per SM) – the AI workhorse, covered on the next slide.
• Load/store units and Special Function Units (SFUs: sin, cos, exp, reciprocal square root – used by softmax and GELU).
Shared across the SM: 256 KB of combined L1 data cache and shared memory (configurable, up to 228 KB as shared memory). Shared memory is a programmer-managed scratchpad – optimized kernels such as FlashAttention load tiles of data here once and reuse them many times, avoiding slow trips to HBM.
Hopper also added the Tensor Memory Accelerator (TMA), which copies large blocks of data between HBM and shared memory asynchronously, freeing threads to do maths. Blackwell continues this design and adds dedicated "Tensor Memory" for its 5th-generation Tensor Cores.
Key takeaway: GPU performance = many SMs × many warps in flight × keeping the Tensor Cores fed with data.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CORE TYPES (5 min)
CUDA cores: the general-purpose workers. One CUDA core does one floating-point or integer operation per clock (a fused multiply-add counts as 2 FLOPs). Much of a model's code that is NOT a big matrix multiply – activation functions, layer normalization, softmax, data augmentation, custom kernels – runs on CUDA cores.
Tensor Cores: introduced with Volta (V100) in 2017. Instead of one multiply per clock, a Tensor Core performs a whole small matrix multiply-accumulate (D = A×B + C) in one instruction. This is why an H100 delivers about 67 TFLOPS of plain FP32 on CUDA cores but about 990 TFLOPS of dense BF16/FP16 and about 1,979 TFLOPS of dense FP8 on Tensor Cores – an order of magnitude more. Frameworks like PyTorch use Tensor Cores automatically through cuBLAS and cuDNN when you use mixed precision (BF16/FP16) or TF32.
RT cores: introduced with Turing (2018). They accelerate ray tracing – testing whether light rays hit triangles in a 3D scene. They are not used for neural network maths. They matter for "visual computing + AI" workloads: Omniverse digital twins, rendering, synthetic data generation for robotics, and virtual workstations. That is why the L40S and RTX PRO GPUs have RT cores while the H100/H200/B200 training GPUs do not – they spend that silicon on more Tensor Cores and FP64.
Discussion question: "Why might a company choose an L40S over an H100 for a mixed rendering + inference farm?" (Answer: RT cores, graphics/display features, lower power, PCIe form factor, lower cost.)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PRECISION FORMATS (6 min)
This is one of the most important ideas in AI hardware: precision is a performance lever.
Walk the table:
• Volta: first Tensor Cores; FP16 multiply with FP32 accumulate. Introduced "mixed-precision training" – keep a master copy of the weights in FP32, compute in FP16.
• Turing: added INT8 and INT4 for inference. The T4 (70 W) became the cloud inference workhorse for years.
• Ampere: added TF32 – a 19-bit format with FP32's range and FP16-like precision. Frameworks can use it automatically, so FP32 code gets Tensor Core speed without changes. Also BF16 (FP32 range, less precision – now the standard training format), FP64 Tensor Cores for HPC, and 2:4 structured sparsity (up to 2x if half the weights are zero in a fixed pattern). Note: datasheet numbers quoted "with sparsity" are double the dense numbers – always compare dense with dense.
• Hopper: FP8 in two flavours – E4M3 (more precision, used in the forward pass) and E5M2 (more range, used for gradients). The Transformer Engine (hardware + software library) tracks value ranges per tensor and picks scaling factors so FP8 training keeps accuracy.
• Blackwell: FP6 and FP4 with "microscaling" – small blocks of values share a scale factor, which keeps 4-bit accuracy usable. NVFP4 is NVIDIA's own 4-bit format; Blackwell Ultra (B300) further boosts NVFP4 throughput.
Right panel: halving the bits halves memory and bandwidth per weight and roughly doubles Tensor Core throughput. A 70-billion-parameter model needs about 140 GB in BF16, 70 GB in FP8 and about 35 GB in FP4.
Caveat to teach: lower precision is not free – it may need calibration, quantization-aware training or validation against accuracy benchmarks. Training typically uses BF16/FP8; inference increasingly uses FP8/FP4.</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HIERARCHY (6 min)
Teach this as a pyramid: the closer storage is to the cores, the faster and smaller it is.
• Registers: 64K × 32-bit registers per SM (256 KB). Fastest; private to each thread.
• L1/shared memory: 256 KB per SM on H100. Shared memory is managed by the programmer and shared by the threads in a block.
• L2: 50 MB on H100, shared by all SMs. Blackwell increases L2 again.
• HBM: the "GPU memory" on the spec sheet – 80 GB HBM3 at 3.35 TB/s (H100 SXM), 141 GB HBM3e at 4.8 TB/s (H200), 180–192 GB at 8 TB/s (B200).
• Host memory: reached over PCIe Gen5 (about 64 GB/s each way) or, on Grace Hopper/Grace Blackwell superchips, over NVLink-C2C (900 GB/s total). Used for offloading optimizer states or KV cache, but much slower than HBM.
Key concept – arithmetic intensity = FLOPs per byte moved. An H100 can do about 1,000 dense BF16 TFLOPS but move only 3.35 TB/s, so a kernel needs roughly 300 FLOPs per byte to be compute-bound. Big training matrix multiplies reach that; many other operations do not.
LLM inference example: in the "decode" phase each new token needs every weight to be read once. A 70B model in FP8 is about 70 GB; at 3.35 TB/s that is about 48 reads per second, so at most about 48 tokens/s for a single stream on one H100 (batching helps because the same weights serve many users). This is why H200's larger, faster HBM gives big inference gains with the SAME compute as H100.
Takeaway: when comparing GPUs for inference, look at memory capacity and bandwidth first, not just TFLOPS.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HBM TRENDS (4 min)
Use the two charts to show the trend: from V100 (2017) to B300 (2025), memory per GPU grew about 9x (32 → 288 GB) and bandwidth about 9x (0.9 → 8 TB/s).
Why it grew so fast: model sizes went from hundreds of millions of parameters (BERT) to hundreds of billions or trillions. LLM inference also needs a KV cache that grows with context length and the number of concurrent users.
Points to make:
• H100 → H200: same Hopper compute, but 141 GB HBM3e at 4.8 TB/s instead of 80 GB at 3.35 TB/s. NVIDIA reported up to roughly 1.9x faster Llama-2-70B inference – a pure memory upgrade.
• B200 uses two reticle-sized dies joined by a 10 TB/s die-to-die link (NV-HBI), with 8 HBM3e stacks for 8 TB/s.
• B300 (Blackwell Ultra) moves to 12-high HBM3e stacks for 288 GB.
• Next: the Rubin generation is announced with HBM4.
HBM is also a major part of GPU cost and supply constraints – HBM and advanced packaging capacity (CoWoS) are often what limits how many GPUs can be built.
Reminder: these are approximate public figures for teaching. Exact usable memory can differ by SKU and system (e.g. B200 is listed at 180 GB usable in HGX/DGX B200).</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INTERCONNECTS (6 min)
Large models do not fit on one GPU, and training splits work across many GPUs. GPUs must constantly exchange data: gradients (all-reduce in data parallelism), activations (pipeline parallelism) and partial matrix results (tensor parallelism). The speed of these links often decides how well a job scales.
• PCIe Gen5 x16: about 64 GB/s each way, 128 GB/s total. Universal and fine for single-GPU inference or loosely coupled work. When GPUs talk over PCIe, traffic may cross CPU sockets, which adds latency.
• NVLink 4 (Hopper): 18 links × 50 GB/s = 900 GB/s total per GPU – about 7x PCIe Gen5.
• NVLink 5 (Blackwell): 1.8 TB/s per GPU. With NVLink Switch trays, 72 GPUs share one NVLink domain (GB200 NVL72) – the whole rack behaves like one giant GPU for tensor/expert parallelism.
• NVLink-C2C: chip-to-chip link between Grace CPU and the GPU at 900 GB/s, cache-coherent. The GPU can use the CPU's LPDDR5X memory as an extension of its own, much faster than PCIe.
NVSwitch (bottom panel): inside an HGX H100 baseboard, 4 NVSwitch chips connect all 8 GPUs so any GPU reaches any other at full 900 GB/s. HGX B200 uses 2 newer NVSwitch chips at 1.8 TB/s per GPU. NVSwitch also supports SHARP – doing reduction maths inside the switch to speed up all-reduce.
PCIe-card GPUs (e.g. H100 NVL, H200 NVL) can use NVLink bridges between 2 or 4 cards, but not a full NVSwitch fabric.
Practical tip: run "nvidia-smi topo -m" on a server to see whether GPU pairs connect via NVLink (NV#) or PCIe paths (PIX/PXB/PHB/SYS). We will come back to this in the operations slide.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 FACTORS (5 min)
PCIe card: a standard add-in card that fits into a normal server PCIe slot. Most are passively cooled (no fan on the card; the server's fans push air through). Power ranges from 72 W (L4, low-profile, single slot) to about 350–600 W (L40S, H100 NVL, H200 NVL, RTX PRO 6000 Blackwell Server Edition). Easiest to deploy in existing enterprise data centers. Some PCIe GPUs can be paired with NVLink bridges.
SXM module: a socketed module, not a slot card. SXM GPUs are mounted on an NVIDIA HGX baseboard (4 or 8 GPUs) together with NVSwitch chips. Higher power limits (700 W for H100/H200 SXM, about 1,000 W for B200, more for B300) allow higher clocks and full NVLink bandwidth. Server OEMs (Dell, HPE, Lenovo, Supermicro and others) build "HGX servers" around these baseboards; NVIDIA's own version is the DGX.
Superchip: Grace CPU (72 Arm Neoverse V2 cores, LPDDR5X memory) plus one GPU (GH200) or two GPUs (GB200) on one board, joined by NVLink-C2C. These are the building blocks of rack-scale systems like GB200 NVL72 and GB300 NVL72, which are liquid-cooled.
Decision guide for the class:
• Existing air-cooled racks, inference, VDI, mixed workloads → PCIe.
• Serious multi-GPU training or very large model serving → SXM / HGX.
• Frontier-scale training and real-time inference of trillion-parameter models → superchip / NVL72.</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BOARD-LEVEL COMPONENTS (5 min)
These are the "unglamorous" components that operations teams deal with every day.
Power delivery: voltage regulator modules (VRMs) on the board convert 12 V/48 V input into the low voltages the GPU core and HBM need. Modern GPUs change power draw very quickly, which stresses power supplies – facility design must account for this. Administrators can set power limits with nvidia-smi -pl; running slightly below maximum power often keeps most of the performance at better efficiency.
Thermal: data center PCIe GPUs are passive and need high server airflow. SXM GPUs at 700 W are still air-coolable; Blackwell-generation 1 kW+ parts, and especially NVL72 racks, use direct-to-chip liquid cooling. When a GPU gets too hot it throttles (lowers clocks) – a silent performance killer that shows up in DCGM metrics.
Firmware and GSP: the VBIOS initializes the board at power-on. Modern NVIDIA GPUs include a GPU System Processor (GSP) – a RISC-V microcontroller that runs firmware handling initialization and management tasks that used to run in the host driver. Firmware and driver versions must be managed together across the fleet.
Reliability and security: HBM has ECC; when memory cells go bad, the GPU can remap rows (visible in nvidia-smi -q). Hopper introduced confidential computing (encrypting data in use on the GPU), and Blackwell extends it with TEE-I/O support.
Telemetry: NVML is the C library under nvidia-smi; DCGM (Data Center GPU Manager) adds health checks, diagnostics (dcgmi diag) and a Prometheus exporter for Kubernetes. The server's BMC gives out-of-band power, temperature and inventory data.
MIG: introduced with A100. Hardware-level partitioning into up to 7 instances, each with dedicated SMs, L2 slices and memory. We cover sharing strategies in Module 3.</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SOFTWARE STACK (5 min)
Make the point that hardware alone is useless without software. NVIDIA's long lead comes largely from CUDA (released 2006) and the ecosystem built on it.
Walk bottom to top:
• Hardware.
• Driver and firmware: the kernel-mode driver, GSP firmware, the NVML management library, and Fabric Manager – a service required on NVSwitch systems (HGX/DGX) to configure the NVLink fabric. If Fabric Manager is not running on an HGX node, CUDA jobs will fail to start.
• CUDA toolkit: the compiler (nvcc), runtime and driver APIs, and the Nsight Systems/Compute profilers.
• CUDA-X libraries: cuBLAS (matrix maths), cuDNN (deep learning primitives), NCCL (collective communication across GPUs and nodes), TensorRT (inference optimization), CUTLASS (templates for custom matrix kernels), and RAPIDS cuDF (GPU dataframes).
• Frameworks: PyTorch, JAX and TensorFlow call these libraries; serving engines like vLLM, SGLang and TensorRT-LLM are optimized for LLM inference.
• Platforms: NeMo (building, customizing and aligning models), NIM (pre-packaged, optimized inference microservices), Triton Inference Server, and Dynamo (NVIDIA's distributed inference serving framework, introduced in 2025).
Right side – three operational lessons:
1. Compatibility: each CUDA release needs a minimum driver version. CUDA forward-compatibility packages and containers help, but standardize driver versions across the fleet.
2. NCCL performance decides scaling efficiency. Use nccl-tests (all_reduce_perf) to benchmark new clusters.
3. Use containers (NGC, or your own built on NGC base images) so applications carry their CUDA userspace and the host only needs the driver plus the NVIDIA Container Toolkit.
Many of these components are bundled and supported commercially as NVIDIA AI Enterprise.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INTRO (1 min)
Transition: "Now that we know what is inside a GPU, let's look at the different GPUs NVIDIA makes. There are two axes: the architecture generation (when it was designed and what features it has) and the market segment (data center, workstation, consumer, edge). A specific product sits at a crossing of those two axes."
Goal of the module: by the end, learners can look at any product name and place it, and can recommend a GPU class for a given workload.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TIMELINE (6 min)
Walk the timeline and give one headline per generation:
• Pascal (2016, P100): first GPU with HBM2 and NVLink – the start of the modern data center GPU.
• Volta (2017, V100): introduced Tensor Cores; the GPU that trained the first wave of transformers (BERT, GPT-2).
• Turing (2018, T4): INT8/INT4 inference and RT cores; T4 at 70 W became the standard cloud inference card.
• Ampere (2020, A100): TF32, BF16, structured sparsity, MIG and 3rd-gen NVLink. A100 trained GPT-3-era models and is still widely deployed.
• Hopper (2022, H100; H200 in 2024): FP8 with the Transformer Engine, 4th-gen NVLink, confidential computing. The GPU of the generative-AI boom.
• Ada Lovelace (2022): the graphics-plus-AI architecture – RTX 40 series, RTX 6000 Ada, L40S and L4. FP8 Tensor Cores and 3rd-gen RT cores, GDDR6 memory instead of HBM.
• Blackwell (2024, B200, GB200): two dies in one package (208 billion transistors), FP4, NVLink 5 and rack-scale NVL72. Blackwell also covers RTX 50 series and RTX PRO 6000 Blackwell.
• Blackwell Ultra (2025, B300, GB300): more HBM (288 GB) and faster attention and NVFP4.
• Rubin (2026): announced as the next generation with the Vera CPU, HBM4 and NVLink 6. Trainer note: check the current status of Rubin products before delivering, as availability changes quickly.
Point out the cadence: NVIDIA moved from roughly two-year to yearly updates. For infrastructure planners this means a cluster bought today will be 1–2 generations behind within its depreciation period – plan refresh cycles and mixed-generation fleets.
Fun fact for engagement: the Grace CPU and Hopper GPU together honor Rear Admiral Grace Hopper; Vera Rubin was the astronomer whose work provided evidence for dark matter.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FAMILIES (5 min)
Explain that one architecture (for example Blackwell) shows up in many segments with different chips, memory types, drivers and support terms.
Data center: built for 24/7 operation in servers – passive cooling, ECC memory, enterprise drivers, long-term support, virtualization (vGPU) and, on top parts, MIG and NVLink. Includes the training flagships (H100/H200/B200/B300) and "universal" PCIe GPUs like L40S, L4 and RTX PRO 6000 Blackwell Server Edition that handle inference, graphics and video.
Superchip / rack scale: Grace + GPU systems. Sold as complete racks (GB200 NVL72, GB300 NVL72) or as NVIDIA DGX systems.
Workstation (professional RTX, formerly "Quadro"): certified drivers for CAD/DCC applications, large memory (RTX PRO 6000 Blackwell has 96 GB GDDR7), ECC, multi-display. Increasingly used as desktop AI development machines. DGX Spark (GB10 superchip, 128 GB unified memory) and DGX Station (GB300) are desktop AI systems.
Consumer (GeForce): excellent price/performance for learning and experimentation – an RTX 5090 has 32 GB GDDR7. But see the later slide: GeForce licensing and features are not intended for data center deployment.
Edge / embedded: Jetson modules combine an Arm CPU and GPU in a small, low-power module for robots, drones, smart cameras and industrial systems. Jetson Orin delivers up to about 275 TOPS; Jetson Thor (Blackwell-based) targets humanoid robots. IGX is the industrial/medical-grade edge platform; DRIVE is automotive.
Ask: "Which segment fits our own use cases?" – most enterprises use data center GPUs in the core plus workstations for developers.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DECODING NAMES (5 min)
Product names look cryptic but follow a pattern. Use the GB200 NVL72 example:
• G = Grace (NVIDIA's Arm-based data center CPU).
• B = Blackwell GPU architecture.
• 200 = the tier/generation number. In the data center line, "100" was the first flagship of an architecture (A100, H100), "200" a step up (H200 = Hopper with HBM3e; GB200/B200 = first Blackwell parts) and "300" Blackwell Ultra (B300, GB300).
• NVL72 = 72 GPUs connected in a single NVLink domain (one rack).
Left table – architecture letters. "L" is the odd one: it stands for Ada Lovelace in data center products (L40S, L4, L40), because "A" was already used for Ampere. Small numbers mean smaller, lower-power cards (A2, L4 vs A100).
Right table – suffixes:
• SXM vs PCIe: same architecture, different package, power and interconnect (e.g. H100 SXM 700 W with NVSwitch vs H100 PCIe 350 W).
• "NVL" on a card (H100 NVL, H200 NVL) means a PCIe card designed to be paired with NVLink bridges – a common choice for LLM inference in standard servers.
• "NVL72" (or NVL36, NVL144) on a rack means the size of the NVLink domain. Note: NVIDIA has said the Rubin generation counts GPU dies rather than packages in names like "NVL144".
• Professional cards use "RTX PRO" (Blackwell) or "RTX ####" (Ada, e.g. RTX 6000 Ada). Consumer cards are "GeForce RTX ##90/80/70".
Exercise: show a few names and have the class decode them: H200 NVL, GH200, L40S, RTX PRO 6000 Blackwell, Jetson AGX Orin.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COMPARISON TABLE (6 min)
Walk down the table and highlight the pattern rather than every number.
• A100: no FP8; dense INT8 is about 624 TOPS, and dense BF16 about 312 TFLOPS. Still very common in existing clusters and clouds.
• H100 SXM: about 990 TFLOPS dense BF16 and about 1,979 TFLOPS dense FP8 (datasheet "3,958" includes sparsity). The 80 GB of memory can be tight for large models.
• H200: identical compute to H100 – the difference is 141 GB of HBM3e at 4.8 TB/s. Great upgrade for inference and long context.
• B200: about 2.25x H100 in dense FP8 per GPU, plus FP4 (about 9 PFLOPS dense). Around 1,000 W, so it needs data center planning (power and often liquid cooling). B300 (Blackwell Ultra) adds 288 GB HBM3e and higher FP4 performance.
• L40S: a "universal" PCIe card – no NVLink, GDDR6 instead of HBM, but strong FP8 and RT cores. Good for inference of models up to about 30–40B parameters (quantized), fine-tuning with LoRA, and graphics/Omniverse.
• L4: 72 W, single-slot, low-profile; fits almost any server. Excellent for video analytics (AV1 encode/decode), vision models and small LLMs.
Not in the table but worth naming: RTX PRO 6000 Blackwell Server Edition (96 GB GDDR7, PCIe) – the Blackwell successor to the L40S class.
Warning callout: sparsity doubles the headline number. Many vendor slides compare a sparse number with someone else's dense number. Always check the footnote.
Trainer note: these values are approximate public datasheet figures; refresh them before each delivery.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WORKLOAD MATRIX (6 min)
Teach the method first: identify the workload's bottleneck, then pick the GPU.
• Pre-training foundation models: needs maximum compute AND fast communication among thousands of GPUs. Rack-scale NVL72 or 8-GPU HGX nodes on a non-blocking InfiniBand/Spectrum-X fabric.
• Full fine-tuning of large models: memory for weights + gradients + optimizer states (about 16 bytes per parameter with Adam in mixed precision – see the sizing slide). Shard across 8 NVSwitch-connected GPUs.
• LoRA/QLoRA: only small adapter matrices are trained; the base model can be frozen and quantized. A single 48–96 GB card often suffices.
• High-volume LLM inference: decode is memory-bandwidth-bound and the KV cache grows with users × context length. H200/B200 memory is the main win; NVL72 helps very large models (e.g. mixture-of-experts) with tight latency targets.
• Cost-efficient inference: many enterprise models (embeddings, rerankers, 7–13B LLMs, vision) run well on L4/L40S class GPUs at a fraction of the cost and power.
• Graphics + AI: Omniverse, CAD visualization, virtual workstations, synthetic data – needs RT cores.
• Edge: power budgets of 10–130 W; Jetson modules.
Group exercise (5 min): give three scenarios and let teams pick a GPU and justify it:
1. A bank wants a 7B chatbot for 500 internal users.  (L4/L40S, or MIG slices on H100.)
2. A research lab will pre-train a 70B model from scratch.  (Many HGX H200/B200 nodes on InfiniBand.)
3. A factory wants defect detection on 20 production lines.  (Jetson Orin at the edge, L4 centrally.)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SUPERCHIPS &amp; NVL72 (6 min)
GB200 superchip: one Grace CPU and two B200 GPUs on one board, linked by NVLink-C2C at 900 GB/s. The CPU's LPDDR5X memory (up to 480 GB) is accessible to the GPUs coherently – useful for large KV caches or embedding tables. GH200 was the Hopper version: one Grace + one H100/H200-class GPU.
GB200 NVL72 rack: 18 compute trays (each with 2 GB200 superchips = 4 GPUs, 2 CPUs) and 9 NVLink Switch trays. Total 72 GPUs and 36 CPUs. Every GPU connects to every other at 1.8 TB/s through a copper NVLink "spine" at the back of the rack – about 130 TB/s total. The rack drawing shows the real layout: compute trays above and below the switch trays.
Why it matters: for very large models, especially mixture-of-experts LLMs, splitting the model over 72 GPUs on NVLink is far faster than over 8-GPU nodes connected by networking. NVIDIA positions NVL72 for real-time inference of trillion-parameter models and for large-scale training.
Trade-offs to stress for infrastructure people:
• About 120–132 kW per rack (vs 10–20 kW for a typical enterprise rack).
• Direct liquid cooling is required – coolant distribution units (CDUs), facility water loops.
• Very heavy racks (well over 1,000 kg) – check floor loading.
• It is bought and deployed as a complete rack-scale system, usually with vendor integration services.
GB300 NVL72 is the Blackwell Ultra version with more memory per GPU; Vera Rubin NVL144 is announced as the next step.</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CENTER vs WORKSTATION vs CONSUMER (4 min)
A common question: "An RTX 5090 is much cheaper per TFLOP – why not fill racks with them?"
Reasons:
1. Licensing: the GeForce driver licence terms do not permit data center deployment (with limited exceptions such as blockchain processing). This is a legal and compliance issue for enterprises.
2. Reliability: data center GPUs have ECC on memory, are validated for continuous operation, and are designed for server airflow. Consumer cards with large fans are not built for dense rack mounting.
3. Features: MIG, vGPU, NVLink/NVSwitch, confidential computing and enterprise management (DCGM features) are data center or professional features.
4. Memory: data center GPUs offer far more memory per GPU (80–288 GB HBM vs 16–32 GB GDDR7).
5. Support: enterprise support, long-term driver branches and multi-year availability.
Workstation (RTX PRO) cards sit in the middle: professional drivers, ECC, large memory (RTX PRO 6000 Blackwell: 96 GB) and – new with Blackwell – MIG support. Excellent for developer desktops and departmental AI.
Trainer tip: frame consumer GPUs positively – they are great for learning. Many attendees can practise CUDA and PyTorch on a laptop RTX GPU. Production belongs on data center GPUs.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3 INTRO (1 min)
Transition: "A GPU alone does nothing useful. In production, GPUs live inside servers, connected by several networks, fed by storage, scheduled by orchestration software, monitored by operations teams, and powered and cooled by facilities. NVIDIA calls the result an 'AI factory' – a data center whose output is intelligence (tokens)."
Key message: an AI cluster is only as fast as its weakest layer. A cluster of the latest GPUs with a slow network or storage system will waste expensive GPU time.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FACTORY LAYERS (5 min)
Walk the layers bottom-up (the order a data center is built):
1. Facilities: power and cooling are now the first constraint for many AI projects. Lead times for power capacity can be longer than for GPUs.
2. Compute: GPU servers or rack-scale systems, on-premises or in the cloud.
3. Networking: at least four logical networks (detailed shortly).
4. Storage: must deliver training data fast enough and absorb checkpoints.
5. Orchestration: shares GPUs among users and teams – Kubernetes for cloud-native and inference, Slurm for traditional HPC-style training, often both.
6. AI software platform: frameworks, model-building and inference serving tools.
7. Applications: what the business actually uses.
Right column: who typically owns each layer. Many projects struggle because these teams plan separately. Encourage a joint design – for example, the networking team needs to know the training topology, and the facilities team needs rack power figures before servers are ordered.
Ask the room: "Which layer is the bottleneck in our organisation today?" – common answers are power/cooling, GPU availability, and data pipelines.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 BUILDING BLOCKS (5 min)
• DGX: NVIDIA-built systems (e.g. DGX B200: 8 B200 GPUs, 2 x86 CPUs, networking, storage). Comes with DGX OS, Base Command Manager and NVIDIA enterprise support. NVIDIA publishes reference architectures – DGX BasePOD (smaller clusters, partner storage) and DGX SuperPOD (large, validated designs of scalable units).
• HGX: the GPU baseboard (8 SXM GPUs + NVSwitch) that server OEMs build into their own servers. Same GPU performance as DGX; you choose the vendor, CPUs, memory, NICs and support model. This is the most common way enterprises and clouds buy 8-GPU servers.
• MGX: a modular reference architecture that lets OEMs build many server types (1U to 4U, x86 or Grace, air or liquid cooled) from common parts. This is where PCIe GPU servers for enterprise AI, such as "RTX PRO servers" and L40S/H200 NVL systems, often come from.
• Cloud: all major clouds offer H100/H200/B200 and GB200 instances, plus L4/L40S for inference. Specialist GPU clouds also offer large clusters. NVIDIA DGX Cloud runs on partner clouds.
Discussion: on-prem vs cloud is covered on a later slide. For now emphasise that the GPU silicon is the same; what differs is integration effort, support model, flexibility and cost model (CapEx vs OpEx).</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8-GPU SERVER ANATOMY (6 min)
This is the standard building block of most AI clusters.
Top half – the GPU complex: 8 SXM GPUs on an HGX baseboard, fully connected through NVSwitch. Inside the box, GPU-to-GPU traffic never touches PCIe or the CPU.
Middle – PCIe switches: each GPU is paired with a network adapter (NIC) under the same PCIe switch. With GPUDirect RDMA, a GPU sends data straight to its NIC and across the network without copying through CPU memory.
Bottom:
• 2 CPUs (Intel Xeon, AMD EPYC, or Grace in Grace-based systems) with 2–4 TB of RAM. They run the OS, data loading, preprocessing and orchestration agents.
• 8 ConnectX-7 (400 Gb/s) or ConnectX-8 SuperNICs (800 Gb/s on Blackwell Ultra platforms) – one per GPU – for the compute (east-west) fabric. This 1:1 GPU-to-NIC ratio is a key design principle for training clusters.
• 2 BlueField-3 DPUs for the storage and in-band management network; they can also offload security and storage services.
• NVMe SSDs for the OS and a fast local cache for datasets and checkpoints.
• BMC for out-of-band management (power cycling, firmware, sensors).
DGX B200 figures (from the datasheet): 8 B200 GPUs, 1,440 GB HBM3e total, 72 PFLOPS FP8 training, 144 PFLOPS FP4 inference (with sparsity), about 14.3 kW maximum power. Note: one server now draws more power than an entire typical enterprise rack.</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NETWORKS (6 min)
1. Scale-up – NVLink/NVSwitch inside a node (8 GPUs) or a rack (NVL72). Highest bandwidth, lowest latency. Used for tensor parallelism and expert parallelism.
2. Scale-out compute fabric – the "east-west" or "backend" network connecting GPUs in different nodes. Carries all-reduce/all-gather traffic for data parallelism and pipeline parallelism. Two NVIDIA options:
 • InfiniBand (Quantum-2 NDR 400 Gb/s; Quantum-X800 at 800 Gb/s) – lossless, very low latency, SHARP in-network computing, the traditional choice for the largest training clusters.
 • Spectrum-X Ethernet (Spectrum-4 switches + SuperNICs) – Ethernet with RoCE, adaptive routing and congestion control tuned for AI. Attractive for organisations standardised on Ethernet.
 Design rules: one NIC per GPU, non-blocking (1:1) fat-tree or rail-optimized topology, and identical cable lengths and firmware.
3. Storage / front-end network – connects nodes to shared storage and to users/services. Often 2 × 200–400 Gb/s per node via BlueField-3 DPUs. Kept separate so checkpoint bursts don't slow down GPU collectives.
4. Management – in-band (OS provisioning, monitoring agents, Kubernetes control plane) and out-of-band (BMC/IPMI/Redfish). Low bandwidth but must be highly available.
Bottom callout:
• GPUDirect RDMA – NIC reads/writes GPU memory directly.
• SHARP – switches perform reduction maths inside the network, cutting all-reduce traffic.
• Adaptive routing and congestion control – spread flows across paths, avoid hotspots.
Warning: networking is often 10–20% of AI cluster cost but can decide whether expensive GPUs sit idle waiting for communication.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RAIL-OPTIMIZED TOPOLOGY (5 min)
Explain the diagram: each node has 8 GPUs and 8 NICs. NIC 0 of every node connects to leaf switch "Rail 0", NIC 1 to "Rail 1", and so on. The leaf switches then connect to every spine switch.
Why: in data-parallel and pipeline-parallel training, GPU n in one node mostly talks to GPU n in the other nodes (same rank in each NVLink group). With rail-optimized wiring that traffic stays within one leaf switch – one hop, lowest latency. Cross-rail traffic can first move over NVLink inside the node, then go out on the right rail (NCCL handles this automatically, called "PXN").
Scalable unit (SU): NVIDIA's DGX SuperPOD reference architecture builds clusters from SUs. For DGX H100/B200 SuperPODs an SU is 32 nodes (256 GPUs) with its own set of rail leaf switches. Multiple SUs connect through a spine layer (and a core layer for very large clusters) to reach thousands of GPUs while staying non-blocking.
GB200-based SuperPODs are built from NVL72 racks: each rack is its own 72-GPU NVLink domain, and racks connect over the InfiniBand or Spectrum-X scale-out fabric (8 racks = 576 GPUs per unit in NVIDIA's reference design).
Practical point: cabling is a major project – thousands of optical cables and transceivers. Validate with cable testers, then NCCL tests (all_reduce_perf) before handing the cluster to users.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STORAGE (5 min)
Walk the pipeline left to right:
• Data lake/object storage (S3-compatible) holds raw data, curated datasets, model artifacts – cheap and huge.
• High-performance parallel file system (Lustre, IBM Storage Scale/GPFS, WEKA, VAST, DDN, NetApp, Pure and others, many certified for DGX SuperPOD) delivers aggregate bandwidth to all nodes.
• Local NVMe on each node caches hot data and can stage checkpoints.
• GPUDirect Storage (GDS, part of Magnum IO) lets data move from NVMe or network storage directly into GPU memory using DMA, without bouncing through CPU memory. This reduces CPU load and latency.
The three requirements:
1. Read throughput: training jobs read data continuously. A rule of thumb in NVIDIA reference architectures is to plan for multiple GB/s per node for vision/multimodal workloads; LLM text training needs less read bandwidth but more checkpoint bandwidth.
2. Checkpoints: a 70B model with optimizer state is over 1 TB. Synchronous checkpoints pause training; faster storage or asynchronous/tiered checkpointing (to local NVMe first) reduces lost GPU time. Frequent checkpointing matters because at scale hardware failures happen daily.
3. Metadata: millions of small JPEGs or text files overwhelm metadata servers – pack them into larger shards.
For inference: storage matters for model loading (cold start of a 140 GB model) and RAG vector databases. Fast model loading improves autoscaling.</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SOFTWARE &amp; ORCHESTRATION (6 min)
Bottom layer – every GPU node needs: a supported Linux OS, the NVIDIA driver, Fabric Manager (on NVSwitch systems), the NVIDIA Container Toolkit (so containers can access GPUs), DCGM for health, and networking drivers (MOFED/DOCA) for InfiniBand/RoCE.
Kubernetes path:
• The NVIDIA GPU Operator automates the GPU software lifecycle on Kubernetes: driver containers, container toolkit, the device plugin (which advertises nvidia.com/gpu resources to the scheduler), GPU Feature Discovery (node labels like GPU model and memory), DCGM Exporter (Prometheus metrics), MIG Manager and validation.
• The Network Operator does the same for RDMA networking.
• Default Kubernetes scheduling is not GPU-aware enough for training (no gang scheduling, quotas or fair share), so teams add Run:ai (acquired by NVIDIA), Kueue or Volcano.
• Strong for inference (NIM, Triton, KServe), MLOps pipelines and multi-tenant platforms.
Slurm path:
• The traditional HPC scheduler; excellent for large multi-node training with gang scheduling (all GPUs start together) and topology-aware placement.
• Pyxis (a Slurm plugin) + Enroot run NGC containers without root.
• NVIDIA Base Command Manager provisions and manages clusters (both Slurm and Kubernetes).
Top layer – NVIDIA AI Enterprise: the supported software suite – NeMo for building and customizing models, NIM for optimized inference microservices, Triton and Dynamo for serving, TensorRT-LLM for optimized LLM engines, RAPIDS for data science.
Many organizations run both: Slurm for big training, Kubernetes for inference and services.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GPU SHARING (6 min)
GPUs are expensive; many inference services, notebooks and dev jobs use only a fraction of a GPU. Four ways to share:
1. MIG (Multi-Instance GPU) – A100, H100, H200, B200 and later (and RTX PRO Blackwell). The GPU is split in hardware into up to 7 instances, each with dedicated SMs, L2 cache slices, memory controllers and memory. Example H100 80 GB profiles: 1g.10gb (7 instances), 2g.20gb, 3g.40gb, 7g.80gb. Strong isolation and guaranteed performance – a noisy neighbour cannot slow you down. Downsides: fixed profile sizes, and reconfiguration requires the GPU to be idle. In Kubernetes, the GPU Operator's MIG Manager applies profiles; pods request e.g. nvidia.com/mig-1g.10gb.
2. Time-slicing – the device plugin advertises one GPU as N "replicas"; workloads take turns. Simple and works on any GPU, but there is no memory isolation (one job can use all memory and crash others) and no performance guarantee. Good for dev/test.
3. MPS (Multi-Process Service) – lets kernels from multiple processes run concurrently on the SMs, improving utilization for many small inference processes. Limited isolation; can set per-client SM and memory limits. Can be combined with MIG.
4. vGPU – NVIDIA's virtualization software (licensed) for VMware, Nutanix, Red Hat and others. Splits a GPU across VMs with time-sliced or MIG-backed profiles. Standard for VDI and virtualized enterprise environments.
Decision guide: production multi-tenant → MIG; dev → time-slicing; many tiny processes → MPS; VMs → vGPU.</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WORKLOAD MAPPING (5 min)
Use this table as a reference card – the class does not need to memorise it. Emphasise the contrasts:
• Pre-training is a "tightly coupled" workload: every step synchronises all GPUs, so one slow link or failed GPU slows or stops everything. Needs the best interconnect and network, gang scheduling, fast checkpointing and automatic job restart.
• Full fine-tuning is the same pattern at smaller scale – typically 1–8 nodes.
• LoRA/PEFT fits on a few GPUs and tolerates standard networking – ideal for enterprise teams adapting open models on their own data.
• Real-time inference is latency-sensitive and "loosely coupled": many independent replicas behind a load balancer, each replica using 1–8 GPUs. Key concerns: tokens/s, time-to-first-token, autoscaling, cold start (model loading speed). Serving engines (TensorRT-LLM, vLLM via NIM, Triton, Dynamo) use continuous batching and paged KV cache to raise throughput. Dynamo adds disaggregated serving – separating the prefill and decode phases onto different GPUs.
• Batch inference/embeddings: throughput-oriented; can use cheaper GPUs or MIG slices, and spot/preemptible capacity in the cloud.
• RAG: a system of services – embedding model, vector database, reranker and LLM – each sized separately.
Key message: many enterprises over-buy training infrastructure when most of their demand will be inference. Size for the workload mix.</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SIZING WORKED EXAMPLE (8 min) – the most practical slide of the module; go slowly and write on the whiteboard.
INFERENCE
1. Weights: parameters × bytes/parameter. 70B × 2 bytes (BF16) = 140 GB. Quantized to FP8: 70 GB. FP4/INT4: about 35 GB.
2. KV cache: for every token in every active conversation, the model stores a key and a value vector per layer. Formula: 2 (K and V) × layers × KV heads × head dimension × bytes per value. For Llama-3-70B: 2 × 80 × 8 × 128 × 2 bytes = 327,680 bytes ≈ 0.33 MB per token. (Grouped-query attention with only 8 KV heads keeps this small; older models without GQA need about 8x more.)
3. Concurrency: 32 users each with an 8K-token context = 262,144 tokens × 0.33 MB ≈ 86 GB.
4. Total: 70 GB (FP8 weights) + 86 GB (KV) ≈ 156 GB, plus runtime overhead → 2× H100 80 GB using tensor parallelism, or a single B200 (180 GB). An H200 (141 GB) would need fewer concurrent users or an FP8 KV cache.
Point out: the KV cache can be bigger than the model! Long context and many users drive memory needs. Techniques to reduce it: FP8 KV cache, paged attention, KV offload to CPU memory (helped by NVLink-C2C on Grace systems).
TRAINING
Mixed precision with the Adam optimizer needs about 16 bytes per parameter: BF16 weights (2) + BF16 gradients (2) + FP32 master weights (4) + Adam first and second moments in FP32 (8). 70B × 16 = 1.12 TB before activations. Sharded across GPUs with FSDP or DeepSpeed ZeRO-3, that needs at least 14 × 80 GB, in practice 16–32 GPUs to leave room for activations and a reasonable batch size.
QLoRA: base model frozen in 4-bit (~35 GB), train small adapters → fits on a single 80 GB GPU.
Exercise: ask participants to size an 8B model for 100 users at 4K context (8B FP16 = 16 GB; KV for Llama-3-8B ≈ 0.125 MB/token × 409,600 tokens ≈ 51 GB → 1× H100 80 GB, or L40S 48 GB with FP8 weights and FP8 KV cache).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MONITORING &amp; OPERATIONS (6 min)
Left – the metrics that matter (exported by DCGM Exporter to Prometheus/Grafana in Kubernetes, or collected by DCGM on Slurm clusters):
• Utilization: careful – "GPU utilization %" in nvidia-smi only means "a kernel was running", not how busy the SMs were. Use DCGM profiling metrics: SM activity (DCGM_FI_PROF_SM_ACTIVE) and Tensor Core activity (DCGM_FI_PROF_PIPE_TENSOR_ACTIVE) for real efficiency.
• Memory: framebuffer used vs total (OOM risk), and memory bandwidth utilization (DRAM active).
• Power and thermals: power draw vs limit and clock throttle reasons (thermal, power cap, HW slowdown). Throttled GPUs silently slow the whole training job.
• XID errors: error codes in the kernel log (dmesg) from the NVIDIA driver. Examples: XID 79 = GPU has fallen off the bus (hardware/PCIe issue); XID 48/63/64/94/95 relate to ECC/memory faults; XID 74 = NVLink error. Build alerting and runbooks for common XIDs.
• ECC and row remapping: rising uncorrectable errors or a pending row remap means the GPU needs a reset or RMA.
• Interconnect: NVLink/PCIe errors and throughput; InfiniBand port counters for the fabric.
Right – commands to demonstrate live if you have a GPU system:
• nvidia-smi – quick status.
• nvidia-smi topo -m – shows how GPUs and NICs connect (NV18 = 18 NVLinks; PIX/PXB = same PCIe switch; SYS = crosses CPU sockets).
• nvidia-smi -q -d ECC,ROW_REMAPPER – memory health.
• nvidia-smi mig -lgip – available MIG profiles.
• dcgmi diag -r 3 – extended health test (run before putting a node into production and after repairs).
• kubectl describe node – check that nvidia.com/gpu resources are advertised.
Operational practice: automated health checks before each job (pre-flight), drain and repair nodes that fail, and track GPU-hours used vs available as a business KPI.</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MONITORING &amp; OPERATIONS (6 min)
Left – the metrics that matter (exported by DCGM Exporter to Prometheus/Grafana in Kubernetes, or collected by DCGM on Slurm clusters):
• Utilization: careful – "GPU utilization %" in nvidia-smi only means "a kernel was running", not how busy the SMs were. Use DCGM profiling metrics: SM activity (DCGM_FI_PROF_SM_ACTIVE) and Tensor Core activity (DCGM_FI_PROF_PIPE_TENSOR_ACTIVE) for real efficiency.
• Memory: framebuffer used vs total (OOM risk), and memory bandwidth utilization (DRAM active).
• Power and thermals: power draw vs limit and clock throttle reasons (thermal, power cap, HW slowdown). Throttled GPUs silently slow the whole training job.
• XID errors: error codes in the kernel log (dmesg) from the NVIDIA driver. Examples: XID 79 = GPU has fallen off the bus (hardware/PCIe issue); XID 48/63/64/94/95 relate to ECC/memory faults; XID 74 = NVLink error. Build alerting and runbooks for common XIDs.
• ECC and row remapping: rising uncorrectable errors or a pending row remap means the GPU needs a reset or RMA.
• Interconnect: NVLink/PCIe errors and throughput; InfiniBand port counters for the fabric.
Right – commands to demonstrate live if you have a GPU system:
• nvidia-smi – quick status.
• nvidia-smi topo -m – shows how GPUs and NICs connect (NV18 = 18 NVLinks; PIX/PXB = same PCIe switch; SYS = crosses CPU sockets).
• nvidia-smi -q -d ECC,ROW_REMAPPER – memory health.
• nvidia-smi mig -lgip – available MIG profiles.
• dcgmi diag -r 3 – extended health test (run before putting a node into production and after repairs).
• kubectl describe node – check that nvidia.com/gpu resources are advertised.
Operational practice: automated health checks before each job (pre-flight), drain and repair nodes that fail, and track GPU-hours used vs available as a business KPI.</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MONITORING &amp; OPERATIONS (6 min)
Left – the metrics that matter (exported by DCGM Exporter to Prometheus/Grafana in Kubernetes, or collected by DCGM on Slurm clusters):
• Utilization: careful – "GPU utilization %" in nvidia-smi only means "a kernel was running", not how busy the SMs were. Use DCGM profiling metrics: SM activity (DCGM_FI_PROF_SM_ACTIVE) and Tensor Core activity (DCGM_FI_PROF_PIPE_TENSOR_ACTIVE) for real efficiency.
• Memory: framebuffer used vs total (OOM risk), and memory bandwidth utilization (DRAM active).
• Power and thermals: power draw vs limit and clock throttle reasons (thermal, power cap, HW slowdown). Throttled GPUs silently slow the whole training job.
• XID errors: error codes in the kernel log (dmesg) from the NVIDIA driver. Examples: XID 79 = GPU has fallen off the bus (hardware/PCIe issue); XID 48/63/64/94/95 relate to ECC/memory faults; XID 74 = NVLink error. Build alerting and runbooks for common XIDs.
• ECC and row remapping: rising uncorrectable errors or a pending row remap means the GPU needs a reset or RMA.
• Interconnect: NVLink/PCIe errors and throughput; InfiniBand port counters for the fabric.
Right – commands to demonstrate live if you have a GPU system:
• nvidia-smi – quick status.
• nvidia-smi topo -m – shows how GPUs and NICs connect (NV18 = 18 NVLinks; PIX/PXB = same PCIe switch; SYS = crosses CPU sockets).
• nvidia-smi -q -d ECC,ROW_REMAPPER – memory health.
• nvidia-smi mig -lgip – available MIG profiles.
• dcgmi diag -r 3 – extended health test (run before putting a node into production and after repairs).
• kubectl describe node – check that nvidia.com/gpu resources are advertised.
Operational practice: automated health checks before each job (pre-flight), drain and repair nodes that fail, and track GPU-hours used vs available as a business KPI.</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POWER &amp; COOLING (5 min)
The chart compares approximate rack power:
• A typical enterprise rack is designed for about 5–15 kW.
• Four HGX H100 servers (about 10.2 kW each) ≈ 41 kW – already beyond many existing data halls, which is why many sites put only 1–2 GPU servers per rack.
• Four DGX B200 (about 14.3 kW each) ≈ 57 kW.
• A GB200 NVL72 rack ≈ 120–132 kW, liquid-cooled.
(Networking switches add more.)
Cooling:
• Air cooling with hot/cold aisle containment and rear-door heat exchangers works up to roughly 30–40 kW per rack.
• Direct-to-chip liquid cooling uses cold plates on GPUs/CPUs with coolant distribution units (CDUs) connected to facility water. It removes most of the heat with liquid, which is much more efficient than air, and enables 100 kW+ racks. Some designs use warm-water cooling, which allows heat reuse and lowers PUE.
Planning checklist:
• Power capacity and redundancy – utility upgrades can take 12–36 months.
• Floor loading and rack weight.
• Electrical design for fast, large swings in GPU power draw during training.
• Sustainability: PUE, renewable energy, heat reuse.
Message for leadership: GPU procurement and facility readiness must be planned together – many organizations have received GPUs they could not power. Colocation providers offering high-density, liquid-cooled space and cloud GPUs are alternatives while facilities are upgraded.</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MODELS (4 min)
On-premises (or colocation): best total cost when GPUs are busy most of the time (a common rule of thumb is that above roughly 60–70% sustained utilization, owning becomes cheaper than renting over 3 years, but run your own TCO). Full control of data and performance. Requires capital, facility readiness, skilled staff and a refresh plan as new generations arrive yearly.
Cloud: instant access to the newest GPUs without facility work; pay as you go; managed Kubernetes, managed Slurm and model services. Costs grow quickly at constant high utilization; large GPU clusters may require reservations; moving large datasets out of the cloud has egress costs.
Hybrid: the most common enterprise pattern. Keep a steady base of on-prem GPUs for predictable workloads and sensitive data; use cloud for bursts, experiments and access to new GPU types. Make it work with portable tooling: containers from NGC, Kubernetes with the GPU Operator in both places, consistent identity and MLOps pipelines.
Discussion question: "Which model fits our organisation today, and what would change that answer?"</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(3 min)
Summarize by tying back to the three modules:
1. Every GPU discussion comes back to compute, memory and interconnect – diagnose the bottleneck before buying or tuning.
2. Tensor Cores and lower-precision formats are the main source of AI speed-ups across generations.
3. For inference especially, memory capacity and bandwidth matter more than peak TFLOPS.
4. There is no single "best GPU" – match the class to the workload and budget.
5. At scale, the cluster (NVLink domains, network fabric, storage, scheduler) is the computer.
6. Power, cooling, monitoring and sharing strategy decide whether expensive GPUs actually deliver value.
Revisit the questions collected on the flip chart at the start and check that each one has been answered.</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 ANSWER KEY (10 min)
Q1. CUDA cores do one scalar operation per clock (general-purpose maths); Tensor Cores do a whole small matrix multiply-accumulate per instruction. Tensor Cores do most of the work in LLM training (the matrix multiplications), giving roughly 10x or more the throughput of CUDA cores.
Q2. Memory: H200 has 141 GB HBM3e at 4.8 TB/s vs H100's 80 GB HBM3 at 3.35 TB/s. LLM token generation is memory-bandwidth-bound, and more capacity allows larger batches and KV caches, so throughput rises with the same Tensor Core compute.
Q3. G = Grace CPU, B = Blackwell GPU, 200 = tier/generation, NVL72 = 72 GPUs in a single NVLink domain (rack-scale, liquid-cooled, with 36 Grace CPUs).
Q4. QLoRA keeps the 4-bit base model at ~35 GB plus adapters and activations, so a single 80–96 GB GPU is enough: H100 / H100 NVL / H200, or RTX PRO 6000 Blackwell (96 GB); an L40S (48 GB) can work with care. No multi-node fabric is needed.
Q5. (1) Scale-up NVLink/NVSwitch – GPU-to-GPU inside a node/rack; (2) scale-out compute fabric (InfiniBand or Spectrum-X Ethernet) – collective communication between nodes; (3) storage/front-end – data, checkpoints, user access; (4) management – provisioning, monitoring, out-of-band BMC.
Q6. MIG – hardware partitions (up to 7 per GPU) with dedicated SMs, cache and memory, managed by the GPU Operator's MIG Manager in Kubernetes. Time-slicing would not give isolation or guarantees.
Scoring tip: 5–6 correct = ready for the next course level; under 4 = revisit Module 1 and the sizing slide.</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&amp; Q&amp;A (10 min)
Thank participants. Open the floor for questions; revisit any flip-chart questions not yet answered.
Point participants to the further reading:
• Architecture whitepapers (Hopper, Blackwell) for the full details on SMs, Tensor Cores and memory.
• DGX SuperPOD / BasePOD reference architectures for real cluster designs (network, storage, power numbers).
• GPU Operator and DCGM docs for Kubernetes and monitoring.
• CUDA C++ Programming Guide for those who want to understand how code maps to SMs and warps.
• Always use current datasheets for specifications – values in this deck are approximate and the product line changes quickly.
Suggested follow-up sessions: hands-on lab with the GPU Operator on Kubernetes, LLM inference optimization with NIM/TensorRT-LLM, and fine-tuning with NeMo.
Ask participants to complete the course feedback form.</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737360"/>
            <a:ext cx="6949440" cy="2194560"/>
          </a:xfrm>
          <a:prstGeom prst="rect">
            <a:avLst/>
          </a:prstGeom>
          <a:noFill/>
          <a:ln/>
        </p:spPr>
        <p:txBody>
          <a:bodyPr wrap="square" rtlCol="0"/>
          <a:lstStyle>
            <a:lvl1pPr marL="0" indent="0" algn="l">
              <a:buNone/>
              <a:defRPr lang="en-US" sz="4200" b="1" dirty="0">
                <a:solidFill>
                  <a:schemeClr val="bg1"/>
                </a:solidFill>
              </a:defRPr>
            </a:lvl1pPr>
          </a:lstStyle>
          <a:p>
            <a:pPr marL="0" indent="0" algn="l">
              <a:buNone/>
            </a:pPr>
            <a:endParaRPr lang="en-US" sz="4200" dirty="0"/>
          </a:p>
        </p:txBody>
      </p:sp>
      <p:sp>
        <p:nvSpPr>
          <p:cNvPr id="3" name="Text 0"/>
          <p:cNvSpPr>
            <a:spLocks noGrp="1"/>
          </p:cNvSpPr>
          <p:nvPr>
            <p:ph type="body" idx="101" hasCustomPrompt="1"/>
          </p:nvPr>
        </p:nvSpPr>
        <p:spPr>
          <a:xfrm>
            <a:off x="640080" y="4069080"/>
            <a:ext cx="6766560" cy="822960"/>
          </a:xfrm>
          <a:prstGeom prst="rect">
            <a:avLst/>
          </a:prstGeom>
          <a:noFill/>
          <a:ln/>
        </p:spPr>
        <p:txBody>
          <a:bodyPr wrap="square" rtlCol="0"/>
          <a:lstStyle>
            <a:lvl1pPr marL="0" indent="0">
              <a:buNone/>
              <a:defRPr lang="en-US" sz="1800" dirty="0">
                <a:solidFill>
                  <a:schemeClr val="accent1"/>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1463040"/>
            <a:ext cx="2743200" cy="1371600"/>
          </a:xfrm>
          <a:prstGeom prst="rect">
            <a:avLst/>
          </a:prstGeom>
          <a:noFill/>
          <a:ln/>
        </p:spPr>
        <p:txBody>
          <a:bodyPr wrap="square" rtlCol="0"/>
          <a:lstStyle>
            <a:lvl1pPr marL="0" indent="0">
              <a:buNone/>
              <a:defRPr lang="en-US" sz="8800" b="1" dirty="0">
                <a:solidFill>
                  <a:schemeClr val="accent1"/>
                </a:solidFill>
              </a:defRPr>
            </a:lvl1pPr>
          </a:lstStyle>
          <a:p>
            <a:pPr marL="0" indent="0">
              <a:buNone/>
            </a:pPr>
            <a:endParaRPr lang="en-US" sz="8800" dirty="0"/>
          </a:p>
        </p:txBody>
      </p:sp>
      <p:sp>
        <p:nvSpPr>
          <p:cNvPr id="3" name="Text 0"/>
          <p:cNvSpPr>
            <a:spLocks noGrp="1"/>
          </p:cNvSpPr>
          <p:nvPr>
            <p:ph type="title" idx="101" hasCustomPrompt="1"/>
          </p:nvPr>
        </p:nvSpPr>
        <p:spPr>
          <a:xfrm>
            <a:off x="640080" y="2743200"/>
            <a:ext cx="7498080" cy="137160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4" name="Text 0"/>
          <p:cNvSpPr>
            <a:spLocks noGrp="1"/>
          </p:cNvSpPr>
          <p:nvPr>
            <p:ph type="body" idx="102" hasCustomPrompt="1"/>
          </p:nvPr>
        </p:nvSpPr>
        <p:spPr>
          <a:xfrm>
            <a:off x="640080" y="4297680"/>
            <a:ext cx="6949440" cy="1280160"/>
          </a:xfrm>
          <a:prstGeom prst="rect">
            <a:avLst/>
          </a:prstGeom>
          <a:noFill/>
          <a:ln/>
        </p:spPr>
        <p:txBody>
          <a:bodyPr wrap="square" rtlCol="0"/>
          <a:lstStyle>
            <a:lvl1pPr marL="0" indent="0">
              <a:buNone/>
              <a:defRPr lang="en-US" sz="1800" dirty="0">
                <a:solidFill>
                  <a:srgbClr val="C9D3CC"/>
                </a:solidFill>
              </a:defRPr>
            </a:lvl1pPr>
          </a:lstStyle>
          <a:p>
            <a:pPr marL="0" indent="0">
              <a:buNone/>
            </a:pPr>
            <a:endParaRPr lang="en-US" sz="1800" dirty="0"/>
          </a:p>
        </p:txBody>
      </p:sp>
      <p:sp>
        <p:nvSpPr>
          <p:cNvPr id="5" name="Text 0"/>
          <p:cNvSpPr/>
          <p:nvPr/>
        </p:nvSpPr>
        <p:spPr>
          <a:xfrm>
            <a:off x="640080" y="6355080"/>
            <a:ext cx="7315200" cy="274320"/>
          </a:xfrm>
          <a:prstGeom prst="rect">
            <a:avLst/>
          </a:prstGeom>
          <a:noFill/>
          <a:ln/>
        </p:spPr>
        <p:txBody>
          <a:bodyPr wrap="square" lIns="0" tIns="0" rIns="0" bIns="0" rtlCol="0" anchor="ctr"/>
          <a:lstStyle/>
          <a:p>
            <a:pPr marL="0" indent="0">
              <a:buNone/>
            </a:pPr>
            <a:r>
              <a:rPr lang="en-US" sz="1000" dirty="0">
                <a:solidFill>
                  <a:srgbClr val="9AA59E"/>
                </a:solidFill>
              </a:rPr>
              <a:t>NVIDIA GPUs for AI  |  Corporate Technical Training</a:t>
            </a:r>
            <a:endParaRPr lang="en-US" sz="1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rtlCol="0"/>
          <a:lstStyle>
            <a:lvl1pPr marL="0" indent="0">
              <a:buNone/>
              <a:defRPr lang="en-US" sz="1600" dirty="0">
                <a:solidFill>
                  <a:schemeClr val="accent5"/>
                </a:solidFill>
              </a:defRPr>
            </a:lvl1pPr>
          </a:lstStyle>
          <a:p>
            <a:pPr marL="0" indent="0">
              <a:buNone/>
            </a:pPr>
            <a:endParaRPr lang="en-US" sz="1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chemeClr val="accent5"/>
                </a:solidFill>
              </a:rPr>
              <a:t>NVIDIA GPUs for AI  |  Corporate Technical Training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rtlCol="0"/>
          <a:lstStyle>
            <a:lvl1pPr marL="0" indent="0">
              <a:buNone/>
              <a:defRPr lang="en-US" sz="1600" dirty="0">
                <a:solidFill>
                  <a:schemeClr val="accent1"/>
                </a:solidFill>
              </a:defRPr>
            </a:lvl1pPr>
          </a:lstStyle>
          <a:p>
            <a:pPr marL="0" indent="0">
              <a:buNone/>
            </a:pPr>
            <a:endParaRPr lang="en-US" sz="1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9AA59E"/>
                </a:solidFill>
              </a:rPr>
              <a:t>NVIDIA GPUs for AI  |  Corporate Technical Training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59E"/>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chart" Target="../charts/char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18.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4.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4.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4.xml"/><Relationship Id="rId6" Type="http://schemas.openxmlformats.org/officeDocument/2006/relationships/image" Target="../media/image31.png"/><Relationship Id="rId5" Type="http://schemas.openxmlformats.org/officeDocument/2006/relationships/image" Target="../media/image25.png"/><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0.xml"/><Relationship Id="rId1" Type="http://schemas.openxmlformats.org/officeDocument/2006/relationships/slideLayout" Target="../slideLayouts/slideLayout4.xml"/><Relationship Id="rId5" Type="http://schemas.openxmlformats.org/officeDocument/2006/relationships/image" Target="../media/image24.png"/><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34.png"/><Relationship Id="rId7" Type="http://schemas.openxmlformats.org/officeDocument/2006/relationships/image" Target="../media/image13.png"/><Relationship Id="rId2" Type="http://schemas.openxmlformats.org/officeDocument/2006/relationships/notesSlide" Target="../notesSlides/notesSlide35.xml"/><Relationship Id="rId1" Type="http://schemas.openxmlformats.org/officeDocument/2006/relationships/slideLayout" Target="../slideLayouts/slideLayout4.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38.xml"/><Relationship Id="rId1" Type="http://schemas.openxmlformats.org/officeDocument/2006/relationships/slideLayout" Target="../slideLayouts/slideLayout4.xml"/><Relationship Id="rId5" Type="http://schemas.openxmlformats.org/officeDocument/2006/relationships/image" Target="../media/image37.png"/><Relationship Id="rId4" Type="http://schemas.openxmlformats.org/officeDocument/2006/relationships/image" Target="../media/image11.png"/></Relationships>
</file>

<file path=ppt/slides/_rels/slide3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9.xml"/><Relationship Id="rId1" Type="http://schemas.openxmlformats.org/officeDocument/2006/relationships/slideLayout" Target="../slideLayouts/slideLayout4.xml"/><Relationship Id="rId6" Type="http://schemas.openxmlformats.org/officeDocument/2006/relationships/image" Target="../media/image39.png"/><Relationship Id="rId5" Type="http://schemas.openxmlformats.org/officeDocument/2006/relationships/image" Target="../media/image33.png"/><Relationship Id="rId4" Type="http://schemas.openxmlformats.org/officeDocument/2006/relationships/image" Target="../media/image30.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097280"/>
            <a:ext cx="6400800" cy="365760"/>
          </a:xfrm>
          <a:prstGeom prst="rect">
            <a:avLst/>
          </a:prstGeom>
          <a:noFill/>
          <a:ln/>
        </p:spPr>
        <p:txBody>
          <a:bodyPr wrap="square" lIns="0" tIns="0" rIns="0" bIns="0" rtlCol="0" anchor="t"/>
          <a:lstStyle/>
          <a:p>
            <a:pPr marL="0" indent="0">
              <a:buNone/>
            </a:pPr>
            <a:r>
              <a:rPr lang="en-US" sz="1400" b="1" kern="0" spc="300" dirty="0">
                <a:solidFill>
                  <a:schemeClr val="accent1"/>
                </a:solidFill>
              </a:rPr>
              <a:t>CORPORATE TECHNICAL TRAINING</a:t>
            </a:r>
            <a:endParaRPr lang="en-US" sz="1400" dirty="0"/>
          </a:p>
        </p:txBody>
      </p:sp>
      <p:sp>
        <p:nvSpPr>
          <p:cNvPr id="3" name="Text 0"/>
          <p:cNvSpPr>
            <a:spLocks noGrp="1"/>
          </p:cNvSpPr>
          <p:nvPr>
            <p:ph type="title" idx="100" hasCustomPrompt="1"/>
          </p:nvPr>
        </p:nvSpPr>
        <p:spPr>
          <a:xfrm>
            <a:off x="640080" y="1737360"/>
            <a:ext cx="6949440" cy="2194560"/>
          </a:xfrm>
          <a:prstGeom prst="rect">
            <a:avLst/>
          </a:prstGeom>
          <a:noFill/>
          <a:ln/>
        </p:spPr>
        <p:txBody>
          <a:bodyPr wrap="square" lIns="0" tIns="0" rIns="0" bIns="0" rtlCol="0" anchor="t"/>
          <a:lstStyle/>
          <a:p>
            <a:pPr marL="0" indent="0" algn="l">
              <a:buNone/>
            </a:pPr>
            <a:r>
              <a:rPr lang="en-US" sz="4200" b="1" dirty="0">
                <a:solidFill>
                  <a:schemeClr val="bg1"/>
                </a:solidFill>
              </a:rPr>
              <a:t>NVIDIA GPUs for AI: Components, Types and Infrastructure</a:t>
            </a:r>
            <a:endParaRPr lang="en-US" sz="4200" dirty="0"/>
          </a:p>
        </p:txBody>
      </p:sp>
      <p:sp>
        <p:nvSpPr>
          <p:cNvPr id="4" name="Text 0"/>
          <p:cNvSpPr>
            <a:spLocks noGrp="1"/>
          </p:cNvSpPr>
          <p:nvPr>
            <p:ph type="body" idx="101" hasCustomPrompt="1"/>
          </p:nvPr>
        </p:nvSpPr>
        <p:spPr>
          <a:xfrm>
            <a:off x="640080" y="4069080"/>
            <a:ext cx="6766560" cy="822960"/>
          </a:xfrm>
          <a:prstGeom prst="rect">
            <a:avLst/>
          </a:prstGeom>
          <a:noFill/>
          <a:ln/>
        </p:spPr>
        <p:txBody>
          <a:bodyPr wrap="square" lIns="0" tIns="0" rIns="0" bIns="0" rtlCol="0" anchor="t"/>
          <a:lstStyle/>
          <a:p>
            <a:pPr marL="0" indent="0">
              <a:buNone/>
            </a:pPr>
            <a:r>
              <a:rPr lang="en-US" sz="1800" dirty="0">
                <a:solidFill>
                  <a:schemeClr val="accent1"/>
                </a:solidFill>
              </a:rPr>
              <a:t>From the silicon inside one GPU to the data center that runs AI workloads</a:t>
            </a:r>
            <a:endParaRPr lang="en-US" sz="1800" dirty="0"/>
          </a:p>
        </p:txBody>
      </p:sp>
      <p:sp>
        <p:nvSpPr>
          <p:cNvPr id="5" name="Text 3"/>
          <p:cNvSpPr txBox="1"/>
          <p:nvPr/>
        </p:nvSpPr>
        <p:spPr>
          <a:xfrm>
            <a:off x="640080" y="5989320"/>
            <a:ext cx="7315200" cy="365760"/>
          </a:xfrm>
          <a:prstGeom prst="rect">
            <a:avLst/>
          </a:prstGeom>
          <a:noFill/>
          <a:ln/>
        </p:spPr>
        <p:txBody>
          <a:bodyPr wrap="square" lIns="0" tIns="0" rIns="0" bIns="0" rtlCol="0" anchor="t"/>
          <a:lstStyle/>
          <a:p>
            <a:pPr marL="0" indent="0">
              <a:buNone/>
            </a:pPr>
            <a:r>
              <a:rPr lang="en-US" sz="1300" dirty="0">
                <a:solidFill>
                  <a:srgbClr val="9AA59E"/>
                </a:solidFill>
              </a:rPr>
              <a:t>Trainer edition  ·  Detailed speaker notes on every slide  ·  ~2.5 hours</a:t>
            </a:r>
            <a:endParaRPr lang="en-US" sz="1300" dirty="0"/>
          </a:p>
        </p:txBody>
      </p:sp>
      <p:sp>
        <p:nvSpPr>
          <p:cNvPr id="6" name="Shape 4"/>
          <p:cNvSpPr/>
          <p:nvPr/>
        </p:nvSpPr>
        <p:spPr>
          <a:xfrm>
            <a:off x="8321040" y="822960"/>
            <a:ext cx="457200" cy="481584"/>
          </a:xfrm>
          <a:prstGeom prst="roundRect">
            <a:avLst>
              <a:gd name="adj" fmla="val 8000"/>
            </a:avLst>
          </a:prstGeom>
          <a:solidFill>
            <a:schemeClr val="accent1"/>
          </a:solidFill>
          <a:ln/>
        </p:spPr>
        <p:txBody>
          <a:bodyPr/>
          <a:lstStyle/>
          <a:p>
            <a:endParaRPr lang="en-US"/>
          </a:p>
        </p:txBody>
      </p:sp>
      <p:sp>
        <p:nvSpPr>
          <p:cNvPr id="7" name="Shape 5"/>
          <p:cNvSpPr/>
          <p:nvPr/>
        </p:nvSpPr>
        <p:spPr>
          <a:xfrm>
            <a:off x="8887968" y="822960"/>
            <a:ext cx="457200" cy="481584"/>
          </a:xfrm>
          <a:prstGeom prst="roundRect">
            <a:avLst>
              <a:gd name="adj" fmla="val 8000"/>
            </a:avLst>
          </a:prstGeom>
          <a:solidFill>
            <a:schemeClr val="accent1">
              <a:alpha val="20000"/>
            </a:schemeClr>
          </a:solidFill>
          <a:ln/>
        </p:spPr>
        <p:txBody>
          <a:bodyPr/>
          <a:lstStyle/>
          <a:p>
            <a:endParaRPr lang="en-US"/>
          </a:p>
        </p:txBody>
      </p:sp>
      <p:sp>
        <p:nvSpPr>
          <p:cNvPr id="8" name="Shape 6"/>
          <p:cNvSpPr/>
          <p:nvPr/>
        </p:nvSpPr>
        <p:spPr>
          <a:xfrm>
            <a:off x="9454896" y="822960"/>
            <a:ext cx="457200" cy="481584"/>
          </a:xfrm>
          <a:prstGeom prst="roundRect">
            <a:avLst>
              <a:gd name="adj" fmla="val 8000"/>
            </a:avLst>
          </a:prstGeom>
          <a:solidFill>
            <a:schemeClr val="accent1">
              <a:alpha val="45000"/>
            </a:schemeClr>
          </a:solidFill>
          <a:ln/>
        </p:spPr>
        <p:txBody>
          <a:bodyPr/>
          <a:lstStyle/>
          <a:p>
            <a:endParaRPr lang="en-US"/>
          </a:p>
        </p:txBody>
      </p:sp>
      <p:sp>
        <p:nvSpPr>
          <p:cNvPr id="9" name="Shape 7"/>
          <p:cNvSpPr/>
          <p:nvPr/>
        </p:nvSpPr>
        <p:spPr>
          <a:xfrm>
            <a:off x="10021824" y="822960"/>
            <a:ext cx="457200" cy="481584"/>
          </a:xfrm>
          <a:prstGeom prst="roundRect">
            <a:avLst>
              <a:gd name="adj" fmla="val 8000"/>
            </a:avLst>
          </a:prstGeom>
          <a:solidFill>
            <a:schemeClr val="accent1">
              <a:alpha val="75000"/>
            </a:schemeClr>
          </a:solidFill>
          <a:ln/>
        </p:spPr>
        <p:txBody>
          <a:bodyPr/>
          <a:lstStyle/>
          <a:p>
            <a:endParaRPr lang="en-US"/>
          </a:p>
        </p:txBody>
      </p:sp>
      <p:sp>
        <p:nvSpPr>
          <p:cNvPr id="10" name="Shape 8"/>
          <p:cNvSpPr/>
          <p:nvPr/>
        </p:nvSpPr>
        <p:spPr>
          <a:xfrm>
            <a:off x="10588752" y="822960"/>
            <a:ext cx="457200" cy="481584"/>
          </a:xfrm>
          <a:prstGeom prst="roundRect">
            <a:avLst>
              <a:gd name="adj" fmla="val 8000"/>
            </a:avLst>
          </a:prstGeom>
          <a:solidFill>
            <a:schemeClr val="accent1"/>
          </a:solidFill>
          <a:ln/>
        </p:spPr>
        <p:txBody>
          <a:bodyPr/>
          <a:lstStyle/>
          <a:p>
            <a:endParaRPr lang="en-US"/>
          </a:p>
        </p:txBody>
      </p:sp>
      <p:sp>
        <p:nvSpPr>
          <p:cNvPr id="11" name="Shape 9"/>
          <p:cNvSpPr/>
          <p:nvPr/>
        </p:nvSpPr>
        <p:spPr>
          <a:xfrm>
            <a:off x="11155680" y="822960"/>
            <a:ext cx="457200" cy="481584"/>
          </a:xfrm>
          <a:prstGeom prst="roundRect">
            <a:avLst>
              <a:gd name="adj" fmla="val 8000"/>
            </a:avLst>
          </a:prstGeom>
          <a:solidFill>
            <a:schemeClr val="accent1">
              <a:alpha val="20000"/>
            </a:schemeClr>
          </a:solidFill>
          <a:ln/>
        </p:spPr>
        <p:txBody>
          <a:bodyPr/>
          <a:lstStyle/>
          <a:p>
            <a:endParaRPr lang="en-US"/>
          </a:p>
        </p:txBody>
      </p:sp>
      <p:sp>
        <p:nvSpPr>
          <p:cNvPr id="12" name="Shape 10"/>
          <p:cNvSpPr/>
          <p:nvPr/>
        </p:nvSpPr>
        <p:spPr>
          <a:xfrm>
            <a:off x="8321040" y="1414272"/>
            <a:ext cx="457200" cy="481584"/>
          </a:xfrm>
          <a:prstGeom prst="roundRect">
            <a:avLst>
              <a:gd name="adj" fmla="val 8000"/>
            </a:avLst>
          </a:prstGeom>
          <a:solidFill>
            <a:schemeClr val="accent1">
              <a:alpha val="20000"/>
            </a:schemeClr>
          </a:solidFill>
          <a:ln/>
        </p:spPr>
        <p:txBody>
          <a:bodyPr/>
          <a:lstStyle/>
          <a:p>
            <a:endParaRPr lang="en-US"/>
          </a:p>
        </p:txBody>
      </p:sp>
      <p:sp>
        <p:nvSpPr>
          <p:cNvPr id="13" name="Shape 11"/>
          <p:cNvSpPr/>
          <p:nvPr/>
        </p:nvSpPr>
        <p:spPr>
          <a:xfrm>
            <a:off x="8887968" y="1414272"/>
            <a:ext cx="457200" cy="481584"/>
          </a:xfrm>
          <a:prstGeom prst="roundRect">
            <a:avLst>
              <a:gd name="adj" fmla="val 8000"/>
            </a:avLst>
          </a:prstGeom>
          <a:solidFill>
            <a:schemeClr val="accent1">
              <a:alpha val="20000"/>
            </a:schemeClr>
          </a:solidFill>
          <a:ln/>
        </p:spPr>
        <p:txBody>
          <a:bodyPr/>
          <a:lstStyle/>
          <a:p>
            <a:endParaRPr lang="en-US"/>
          </a:p>
        </p:txBody>
      </p:sp>
      <p:sp>
        <p:nvSpPr>
          <p:cNvPr id="14" name="Shape 12"/>
          <p:cNvSpPr/>
          <p:nvPr/>
        </p:nvSpPr>
        <p:spPr>
          <a:xfrm>
            <a:off x="9454896" y="1414272"/>
            <a:ext cx="457200" cy="481584"/>
          </a:xfrm>
          <a:prstGeom prst="roundRect">
            <a:avLst>
              <a:gd name="adj" fmla="val 8000"/>
            </a:avLst>
          </a:prstGeom>
          <a:solidFill>
            <a:schemeClr val="accent1">
              <a:alpha val="20000"/>
            </a:schemeClr>
          </a:solidFill>
          <a:ln/>
        </p:spPr>
        <p:txBody>
          <a:bodyPr/>
          <a:lstStyle/>
          <a:p>
            <a:endParaRPr lang="en-US"/>
          </a:p>
        </p:txBody>
      </p:sp>
      <p:sp>
        <p:nvSpPr>
          <p:cNvPr id="15" name="Shape 13"/>
          <p:cNvSpPr/>
          <p:nvPr/>
        </p:nvSpPr>
        <p:spPr>
          <a:xfrm>
            <a:off x="10021824" y="1414272"/>
            <a:ext cx="457200" cy="481584"/>
          </a:xfrm>
          <a:prstGeom prst="roundRect">
            <a:avLst>
              <a:gd name="adj" fmla="val 8000"/>
            </a:avLst>
          </a:prstGeom>
          <a:solidFill>
            <a:schemeClr val="accent1">
              <a:alpha val="20000"/>
            </a:schemeClr>
          </a:solidFill>
          <a:ln/>
        </p:spPr>
        <p:txBody>
          <a:bodyPr/>
          <a:lstStyle/>
          <a:p>
            <a:endParaRPr lang="en-US"/>
          </a:p>
        </p:txBody>
      </p:sp>
      <p:sp>
        <p:nvSpPr>
          <p:cNvPr id="16" name="Shape 14"/>
          <p:cNvSpPr/>
          <p:nvPr/>
        </p:nvSpPr>
        <p:spPr>
          <a:xfrm>
            <a:off x="10588752" y="1414272"/>
            <a:ext cx="457200" cy="481584"/>
          </a:xfrm>
          <a:prstGeom prst="roundRect">
            <a:avLst>
              <a:gd name="adj" fmla="val 8000"/>
            </a:avLst>
          </a:prstGeom>
          <a:solidFill>
            <a:schemeClr val="accent1">
              <a:alpha val="20000"/>
            </a:schemeClr>
          </a:solidFill>
          <a:ln/>
        </p:spPr>
        <p:txBody>
          <a:bodyPr/>
          <a:lstStyle/>
          <a:p>
            <a:endParaRPr lang="en-US"/>
          </a:p>
        </p:txBody>
      </p:sp>
      <p:sp>
        <p:nvSpPr>
          <p:cNvPr id="17" name="Shape 15"/>
          <p:cNvSpPr/>
          <p:nvPr/>
        </p:nvSpPr>
        <p:spPr>
          <a:xfrm>
            <a:off x="11155680" y="1414272"/>
            <a:ext cx="457200" cy="481584"/>
          </a:xfrm>
          <a:prstGeom prst="roundRect">
            <a:avLst>
              <a:gd name="adj" fmla="val 8000"/>
            </a:avLst>
          </a:prstGeom>
          <a:solidFill>
            <a:schemeClr val="accent1">
              <a:alpha val="20000"/>
            </a:schemeClr>
          </a:solidFill>
          <a:ln/>
        </p:spPr>
        <p:txBody>
          <a:bodyPr/>
          <a:lstStyle/>
          <a:p>
            <a:endParaRPr lang="en-US"/>
          </a:p>
        </p:txBody>
      </p:sp>
      <p:sp>
        <p:nvSpPr>
          <p:cNvPr id="18" name="Shape 16"/>
          <p:cNvSpPr/>
          <p:nvPr/>
        </p:nvSpPr>
        <p:spPr>
          <a:xfrm>
            <a:off x="8321040" y="2005584"/>
            <a:ext cx="457200" cy="481584"/>
          </a:xfrm>
          <a:prstGeom prst="roundRect">
            <a:avLst>
              <a:gd name="adj" fmla="val 8000"/>
            </a:avLst>
          </a:prstGeom>
          <a:solidFill>
            <a:schemeClr val="accent1">
              <a:alpha val="45000"/>
            </a:schemeClr>
          </a:solidFill>
          <a:ln/>
        </p:spPr>
        <p:txBody>
          <a:bodyPr/>
          <a:lstStyle/>
          <a:p>
            <a:endParaRPr lang="en-US"/>
          </a:p>
        </p:txBody>
      </p:sp>
      <p:sp>
        <p:nvSpPr>
          <p:cNvPr id="19" name="Shape 17"/>
          <p:cNvSpPr/>
          <p:nvPr/>
        </p:nvSpPr>
        <p:spPr>
          <a:xfrm>
            <a:off x="8887968" y="2005584"/>
            <a:ext cx="457200" cy="481584"/>
          </a:xfrm>
          <a:prstGeom prst="roundRect">
            <a:avLst>
              <a:gd name="adj" fmla="val 8000"/>
            </a:avLst>
          </a:prstGeom>
          <a:solidFill>
            <a:schemeClr val="accent1">
              <a:alpha val="20000"/>
            </a:schemeClr>
          </a:solidFill>
          <a:ln/>
        </p:spPr>
        <p:txBody>
          <a:bodyPr/>
          <a:lstStyle/>
          <a:p>
            <a:endParaRPr lang="en-US"/>
          </a:p>
        </p:txBody>
      </p:sp>
      <p:sp>
        <p:nvSpPr>
          <p:cNvPr id="20" name="Shape 18"/>
          <p:cNvSpPr/>
          <p:nvPr/>
        </p:nvSpPr>
        <p:spPr>
          <a:xfrm>
            <a:off x="9454896" y="2005584"/>
            <a:ext cx="457200" cy="481584"/>
          </a:xfrm>
          <a:prstGeom prst="roundRect">
            <a:avLst>
              <a:gd name="adj" fmla="val 8000"/>
            </a:avLst>
          </a:prstGeom>
          <a:solidFill>
            <a:schemeClr val="accent1"/>
          </a:solidFill>
          <a:ln/>
        </p:spPr>
        <p:txBody>
          <a:bodyPr/>
          <a:lstStyle/>
          <a:p>
            <a:endParaRPr lang="en-US"/>
          </a:p>
        </p:txBody>
      </p:sp>
      <p:sp>
        <p:nvSpPr>
          <p:cNvPr id="21" name="Shape 19"/>
          <p:cNvSpPr/>
          <p:nvPr/>
        </p:nvSpPr>
        <p:spPr>
          <a:xfrm>
            <a:off x="10021824" y="2005584"/>
            <a:ext cx="457200" cy="481584"/>
          </a:xfrm>
          <a:prstGeom prst="roundRect">
            <a:avLst>
              <a:gd name="adj" fmla="val 8000"/>
            </a:avLst>
          </a:prstGeom>
          <a:solidFill>
            <a:schemeClr val="accent1">
              <a:alpha val="75000"/>
            </a:schemeClr>
          </a:solidFill>
          <a:ln/>
        </p:spPr>
        <p:txBody>
          <a:bodyPr/>
          <a:lstStyle/>
          <a:p>
            <a:endParaRPr lang="en-US"/>
          </a:p>
        </p:txBody>
      </p:sp>
      <p:sp>
        <p:nvSpPr>
          <p:cNvPr id="22" name="Shape 20"/>
          <p:cNvSpPr/>
          <p:nvPr/>
        </p:nvSpPr>
        <p:spPr>
          <a:xfrm>
            <a:off x="10588752" y="2005584"/>
            <a:ext cx="457200" cy="481584"/>
          </a:xfrm>
          <a:prstGeom prst="roundRect">
            <a:avLst>
              <a:gd name="adj" fmla="val 8000"/>
            </a:avLst>
          </a:prstGeom>
          <a:solidFill>
            <a:schemeClr val="accent1">
              <a:alpha val="45000"/>
            </a:schemeClr>
          </a:solidFill>
          <a:ln/>
        </p:spPr>
        <p:txBody>
          <a:bodyPr/>
          <a:lstStyle/>
          <a:p>
            <a:endParaRPr lang="en-US"/>
          </a:p>
        </p:txBody>
      </p:sp>
      <p:sp>
        <p:nvSpPr>
          <p:cNvPr id="23" name="Shape 21"/>
          <p:cNvSpPr/>
          <p:nvPr/>
        </p:nvSpPr>
        <p:spPr>
          <a:xfrm>
            <a:off x="11155680" y="2005584"/>
            <a:ext cx="457200" cy="481584"/>
          </a:xfrm>
          <a:prstGeom prst="roundRect">
            <a:avLst>
              <a:gd name="adj" fmla="val 8000"/>
            </a:avLst>
          </a:prstGeom>
          <a:solidFill>
            <a:schemeClr val="accent1">
              <a:alpha val="20000"/>
            </a:schemeClr>
          </a:solidFill>
          <a:ln/>
        </p:spPr>
        <p:txBody>
          <a:bodyPr/>
          <a:lstStyle/>
          <a:p>
            <a:endParaRPr lang="en-US"/>
          </a:p>
        </p:txBody>
      </p:sp>
      <p:sp>
        <p:nvSpPr>
          <p:cNvPr id="24" name="Shape 22"/>
          <p:cNvSpPr/>
          <p:nvPr/>
        </p:nvSpPr>
        <p:spPr>
          <a:xfrm>
            <a:off x="8321040" y="2596896"/>
            <a:ext cx="457200" cy="481584"/>
          </a:xfrm>
          <a:prstGeom prst="roundRect">
            <a:avLst>
              <a:gd name="adj" fmla="val 8000"/>
            </a:avLst>
          </a:prstGeom>
          <a:solidFill>
            <a:schemeClr val="accent1">
              <a:alpha val="75000"/>
            </a:schemeClr>
          </a:solidFill>
          <a:ln/>
        </p:spPr>
        <p:txBody>
          <a:bodyPr/>
          <a:lstStyle/>
          <a:p>
            <a:endParaRPr lang="en-US"/>
          </a:p>
        </p:txBody>
      </p:sp>
      <p:sp>
        <p:nvSpPr>
          <p:cNvPr id="25" name="Shape 23"/>
          <p:cNvSpPr/>
          <p:nvPr/>
        </p:nvSpPr>
        <p:spPr>
          <a:xfrm>
            <a:off x="8887968" y="2596896"/>
            <a:ext cx="457200" cy="481584"/>
          </a:xfrm>
          <a:prstGeom prst="roundRect">
            <a:avLst>
              <a:gd name="adj" fmla="val 8000"/>
            </a:avLst>
          </a:prstGeom>
          <a:solidFill>
            <a:schemeClr val="accent1">
              <a:alpha val="20000"/>
            </a:schemeClr>
          </a:solidFill>
          <a:ln/>
        </p:spPr>
        <p:txBody>
          <a:bodyPr/>
          <a:lstStyle/>
          <a:p>
            <a:endParaRPr lang="en-US"/>
          </a:p>
        </p:txBody>
      </p:sp>
      <p:sp>
        <p:nvSpPr>
          <p:cNvPr id="26" name="Shape 24"/>
          <p:cNvSpPr/>
          <p:nvPr/>
        </p:nvSpPr>
        <p:spPr>
          <a:xfrm>
            <a:off x="9454896" y="2596896"/>
            <a:ext cx="457200" cy="481584"/>
          </a:xfrm>
          <a:prstGeom prst="roundRect">
            <a:avLst>
              <a:gd name="adj" fmla="val 8000"/>
            </a:avLst>
          </a:prstGeom>
          <a:solidFill>
            <a:schemeClr val="accent1">
              <a:alpha val="75000"/>
            </a:schemeClr>
          </a:solidFill>
          <a:ln/>
        </p:spPr>
        <p:txBody>
          <a:bodyPr/>
          <a:lstStyle/>
          <a:p>
            <a:endParaRPr lang="en-US"/>
          </a:p>
        </p:txBody>
      </p:sp>
      <p:sp>
        <p:nvSpPr>
          <p:cNvPr id="27" name="Shape 25"/>
          <p:cNvSpPr/>
          <p:nvPr/>
        </p:nvSpPr>
        <p:spPr>
          <a:xfrm>
            <a:off x="10021824" y="2596896"/>
            <a:ext cx="457200" cy="481584"/>
          </a:xfrm>
          <a:prstGeom prst="roundRect">
            <a:avLst>
              <a:gd name="adj" fmla="val 8000"/>
            </a:avLst>
          </a:prstGeom>
          <a:solidFill>
            <a:schemeClr val="accent1">
              <a:alpha val="20000"/>
            </a:schemeClr>
          </a:solidFill>
          <a:ln/>
        </p:spPr>
        <p:txBody>
          <a:bodyPr/>
          <a:lstStyle/>
          <a:p>
            <a:endParaRPr lang="en-US"/>
          </a:p>
        </p:txBody>
      </p:sp>
      <p:sp>
        <p:nvSpPr>
          <p:cNvPr id="28" name="Shape 26"/>
          <p:cNvSpPr/>
          <p:nvPr/>
        </p:nvSpPr>
        <p:spPr>
          <a:xfrm>
            <a:off x="10588752" y="2596896"/>
            <a:ext cx="457200" cy="481584"/>
          </a:xfrm>
          <a:prstGeom prst="roundRect">
            <a:avLst>
              <a:gd name="adj" fmla="val 8000"/>
            </a:avLst>
          </a:prstGeom>
          <a:solidFill>
            <a:schemeClr val="accent1">
              <a:alpha val="75000"/>
            </a:schemeClr>
          </a:solidFill>
          <a:ln/>
        </p:spPr>
        <p:txBody>
          <a:bodyPr/>
          <a:lstStyle/>
          <a:p>
            <a:endParaRPr lang="en-US"/>
          </a:p>
        </p:txBody>
      </p:sp>
      <p:sp>
        <p:nvSpPr>
          <p:cNvPr id="29" name="Shape 27"/>
          <p:cNvSpPr/>
          <p:nvPr/>
        </p:nvSpPr>
        <p:spPr>
          <a:xfrm>
            <a:off x="11155680" y="2596896"/>
            <a:ext cx="457200" cy="481584"/>
          </a:xfrm>
          <a:prstGeom prst="roundRect">
            <a:avLst>
              <a:gd name="adj" fmla="val 8000"/>
            </a:avLst>
          </a:prstGeom>
          <a:solidFill>
            <a:schemeClr val="accent1">
              <a:alpha val="20000"/>
            </a:schemeClr>
          </a:solidFill>
          <a:ln/>
        </p:spPr>
        <p:txBody>
          <a:bodyPr/>
          <a:lstStyle/>
          <a:p>
            <a:endParaRPr lang="en-US"/>
          </a:p>
        </p:txBody>
      </p:sp>
      <p:sp>
        <p:nvSpPr>
          <p:cNvPr id="30" name="Shape 28"/>
          <p:cNvSpPr/>
          <p:nvPr/>
        </p:nvSpPr>
        <p:spPr>
          <a:xfrm>
            <a:off x="8321040" y="3188208"/>
            <a:ext cx="457200" cy="481584"/>
          </a:xfrm>
          <a:prstGeom prst="roundRect">
            <a:avLst>
              <a:gd name="adj" fmla="val 8000"/>
            </a:avLst>
          </a:prstGeom>
          <a:solidFill>
            <a:schemeClr val="accent1"/>
          </a:solidFill>
          <a:ln/>
        </p:spPr>
        <p:txBody>
          <a:bodyPr/>
          <a:lstStyle/>
          <a:p>
            <a:endParaRPr lang="en-US"/>
          </a:p>
        </p:txBody>
      </p:sp>
      <p:sp>
        <p:nvSpPr>
          <p:cNvPr id="31" name="Shape 29"/>
          <p:cNvSpPr/>
          <p:nvPr/>
        </p:nvSpPr>
        <p:spPr>
          <a:xfrm>
            <a:off x="8887968" y="3188208"/>
            <a:ext cx="457200" cy="481584"/>
          </a:xfrm>
          <a:prstGeom prst="roundRect">
            <a:avLst>
              <a:gd name="adj" fmla="val 8000"/>
            </a:avLst>
          </a:prstGeom>
          <a:solidFill>
            <a:schemeClr val="accent1">
              <a:alpha val="20000"/>
            </a:schemeClr>
          </a:solidFill>
          <a:ln/>
        </p:spPr>
        <p:txBody>
          <a:bodyPr/>
          <a:lstStyle/>
          <a:p>
            <a:endParaRPr lang="en-US"/>
          </a:p>
        </p:txBody>
      </p:sp>
      <p:sp>
        <p:nvSpPr>
          <p:cNvPr id="32" name="Shape 30"/>
          <p:cNvSpPr/>
          <p:nvPr/>
        </p:nvSpPr>
        <p:spPr>
          <a:xfrm>
            <a:off x="9454896" y="3188208"/>
            <a:ext cx="457200" cy="481584"/>
          </a:xfrm>
          <a:prstGeom prst="roundRect">
            <a:avLst>
              <a:gd name="adj" fmla="val 8000"/>
            </a:avLst>
          </a:prstGeom>
          <a:solidFill>
            <a:schemeClr val="accent1">
              <a:alpha val="45000"/>
            </a:schemeClr>
          </a:solidFill>
          <a:ln/>
        </p:spPr>
        <p:txBody>
          <a:bodyPr/>
          <a:lstStyle/>
          <a:p>
            <a:endParaRPr lang="en-US"/>
          </a:p>
        </p:txBody>
      </p:sp>
      <p:sp>
        <p:nvSpPr>
          <p:cNvPr id="33" name="Shape 31"/>
          <p:cNvSpPr/>
          <p:nvPr/>
        </p:nvSpPr>
        <p:spPr>
          <a:xfrm>
            <a:off x="10021824" y="3188208"/>
            <a:ext cx="457200" cy="481584"/>
          </a:xfrm>
          <a:prstGeom prst="roundRect">
            <a:avLst>
              <a:gd name="adj" fmla="val 8000"/>
            </a:avLst>
          </a:prstGeom>
          <a:solidFill>
            <a:schemeClr val="accent1">
              <a:alpha val="75000"/>
            </a:schemeClr>
          </a:solidFill>
          <a:ln/>
        </p:spPr>
        <p:txBody>
          <a:bodyPr/>
          <a:lstStyle/>
          <a:p>
            <a:endParaRPr lang="en-US"/>
          </a:p>
        </p:txBody>
      </p:sp>
      <p:sp>
        <p:nvSpPr>
          <p:cNvPr id="34" name="Shape 32"/>
          <p:cNvSpPr/>
          <p:nvPr/>
        </p:nvSpPr>
        <p:spPr>
          <a:xfrm>
            <a:off x="10588752" y="3188208"/>
            <a:ext cx="457200" cy="481584"/>
          </a:xfrm>
          <a:prstGeom prst="roundRect">
            <a:avLst>
              <a:gd name="adj" fmla="val 8000"/>
            </a:avLst>
          </a:prstGeom>
          <a:solidFill>
            <a:schemeClr val="accent1"/>
          </a:solidFill>
          <a:ln/>
        </p:spPr>
        <p:txBody>
          <a:bodyPr/>
          <a:lstStyle/>
          <a:p>
            <a:endParaRPr lang="en-US"/>
          </a:p>
        </p:txBody>
      </p:sp>
      <p:sp>
        <p:nvSpPr>
          <p:cNvPr id="35" name="Shape 33"/>
          <p:cNvSpPr/>
          <p:nvPr/>
        </p:nvSpPr>
        <p:spPr>
          <a:xfrm>
            <a:off x="11155680" y="3188208"/>
            <a:ext cx="457200" cy="481584"/>
          </a:xfrm>
          <a:prstGeom prst="roundRect">
            <a:avLst>
              <a:gd name="adj" fmla="val 8000"/>
            </a:avLst>
          </a:prstGeom>
          <a:solidFill>
            <a:schemeClr val="accent1">
              <a:alpha val="20000"/>
            </a:schemeClr>
          </a:solidFill>
          <a:ln/>
        </p:spPr>
        <p:txBody>
          <a:bodyPr/>
          <a:lstStyle/>
          <a:p>
            <a:endParaRPr lang="en-US"/>
          </a:p>
        </p:txBody>
      </p:sp>
      <p:sp>
        <p:nvSpPr>
          <p:cNvPr id="36" name="Shape 34"/>
          <p:cNvSpPr/>
          <p:nvPr/>
        </p:nvSpPr>
        <p:spPr>
          <a:xfrm>
            <a:off x="8321040" y="3779520"/>
            <a:ext cx="457200" cy="481584"/>
          </a:xfrm>
          <a:prstGeom prst="roundRect">
            <a:avLst>
              <a:gd name="adj" fmla="val 8000"/>
            </a:avLst>
          </a:prstGeom>
          <a:solidFill>
            <a:schemeClr val="accent1">
              <a:alpha val="20000"/>
            </a:schemeClr>
          </a:solidFill>
          <a:ln/>
        </p:spPr>
        <p:txBody>
          <a:bodyPr/>
          <a:lstStyle/>
          <a:p>
            <a:endParaRPr lang="en-US"/>
          </a:p>
        </p:txBody>
      </p:sp>
      <p:sp>
        <p:nvSpPr>
          <p:cNvPr id="37" name="Shape 35"/>
          <p:cNvSpPr/>
          <p:nvPr/>
        </p:nvSpPr>
        <p:spPr>
          <a:xfrm>
            <a:off x="8887968" y="3779520"/>
            <a:ext cx="457200" cy="481584"/>
          </a:xfrm>
          <a:prstGeom prst="roundRect">
            <a:avLst>
              <a:gd name="adj" fmla="val 8000"/>
            </a:avLst>
          </a:prstGeom>
          <a:solidFill>
            <a:schemeClr val="accent1">
              <a:alpha val="20000"/>
            </a:schemeClr>
          </a:solidFill>
          <a:ln/>
        </p:spPr>
        <p:txBody>
          <a:bodyPr/>
          <a:lstStyle/>
          <a:p>
            <a:endParaRPr lang="en-US"/>
          </a:p>
        </p:txBody>
      </p:sp>
      <p:sp>
        <p:nvSpPr>
          <p:cNvPr id="38" name="Shape 36"/>
          <p:cNvSpPr/>
          <p:nvPr/>
        </p:nvSpPr>
        <p:spPr>
          <a:xfrm>
            <a:off x="9454896" y="3779520"/>
            <a:ext cx="457200" cy="481584"/>
          </a:xfrm>
          <a:prstGeom prst="roundRect">
            <a:avLst>
              <a:gd name="adj" fmla="val 8000"/>
            </a:avLst>
          </a:prstGeom>
          <a:solidFill>
            <a:schemeClr val="accent1">
              <a:alpha val="20000"/>
            </a:schemeClr>
          </a:solidFill>
          <a:ln/>
        </p:spPr>
        <p:txBody>
          <a:bodyPr/>
          <a:lstStyle/>
          <a:p>
            <a:endParaRPr lang="en-US"/>
          </a:p>
        </p:txBody>
      </p:sp>
      <p:sp>
        <p:nvSpPr>
          <p:cNvPr id="39" name="Shape 37"/>
          <p:cNvSpPr/>
          <p:nvPr/>
        </p:nvSpPr>
        <p:spPr>
          <a:xfrm>
            <a:off x="10021824" y="3779520"/>
            <a:ext cx="457200" cy="481584"/>
          </a:xfrm>
          <a:prstGeom prst="roundRect">
            <a:avLst>
              <a:gd name="adj" fmla="val 8000"/>
            </a:avLst>
          </a:prstGeom>
          <a:solidFill>
            <a:schemeClr val="accent1">
              <a:alpha val="20000"/>
            </a:schemeClr>
          </a:solidFill>
          <a:ln/>
        </p:spPr>
        <p:txBody>
          <a:bodyPr/>
          <a:lstStyle/>
          <a:p>
            <a:endParaRPr lang="en-US"/>
          </a:p>
        </p:txBody>
      </p:sp>
      <p:sp>
        <p:nvSpPr>
          <p:cNvPr id="40" name="Shape 38"/>
          <p:cNvSpPr/>
          <p:nvPr/>
        </p:nvSpPr>
        <p:spPr>
          <a:xfrm>
            <a:off x="10588752" y="3779520"/>
            <a:ext cx="457200" cy="481584"/>
          </a:xfrm>
          <a:prstGeom prst="roundRect">
            <a:avLst>
              <a:gd name="adj" fmla="val 8000"/>
            </a:avLst>
          </a:prstGeom>
          <a:solidFill>
            <a:schemeClr val="accent1">
              <a:alpha val="20000"/>
            </a:schemeClr>
          </a:solidFill>
          <a:ln/>
        </p:spPr>
        <p:txBody>
          <a:bodyPr/>
          <a:lstStyle/>
          <a:p>
            <a:endParaRPr lang="en-US"/>
          </a:p>
        </p:txBody>
      </p:sp>
      <p:sp>
        <p:nvSpPr>
          <p:cNvPr id="41" name="Shape 39"/>
          <p:cNvSpPr/>
          <p:nvPr/>
        </p:nvSpPr>
        <p:spPr>
          <a:xfrm>
            <a:off x="11155680" y="3779520"/>
            <a:ext cx="457200" cy="481584"/>
          </a:xfrm>
          <a:prstGeom prst="roundRect">
            <a:avLst>
              <a:gd name="adj" fmla="val 8000"/>
            </a:avLst>
          </a:prstGeom>
          <a:solidFill>
            <a:schemeClr val="accent1">
              <a:alpha val="20000"/>
            </a:schemeClr>
          </a:solidFill>
          <a:ln/>
        </p:spPr>
        <p:txBody>
          <a:bodyPr/>
          <a:lstStyle/>
          <a:p>
            <a:endParaRPr lang="en-US"/>
          </a:p>
        </p:txBody>
      </p:sp>
      <p:sp>
        <p:nvSpPr>
          <p:cNvPr id="42" name="Shape 40"/>
          <p:cNvSpPr/>
          <p:nvPr/>
        </p:nvSpPr>
        <p:spPr>
          <a:xfrm>
            <a:off x="8321040" y="4370832"/>
            <a:ext cx="457200" cy="481584"/>
          </a:xfrm>
          <a:prstGeom prst="roundRect">
            <a:avLst>
              <a:gd name="adj" fmla="val 8000"/>
            </a:avLst>
          </a:prstGeom>
          <a:solidFill>
            <a:schemeClr val="accent1">
              <a:alpha val="45000"/>
            </a:schemeClr>
          </a:solidFill>
          <a:ln/>
        </p:spPr>
        <p:txBody>
          <a:bodyPr/>
          <a:lstStyle/>
          <a:p>
            <a:endParaRPr lang="en-US"/>
          </a:p>
        </p:txBody>
      </p:sp>
      <p:sp>
        <p:nvSpPr>
          <p:cNvPr id="43" name="Shape 41"/>
          <p:cNvSpPr/>
          <p:nvPr/>
        </p:nvSpPr>
        <p:spPr>
          <a:xfrm>
            <a:off x="8887968" y="4370832"/>
            <a:ext cx="457200" cy="481584"/>
          </a:xfrm>
          <a:prstGeom prst="roundRect">
            <a:avLst>
              <a:gd name="adj" fmla="val 8000"/>
            </a:avLst>
          </a:prstGeom>
          <a:solidFill>
            <a:schemeClr val="accent1">
              <a:alpha val="20000"/>
            </a:schemeClr>
          </a:solidFill>
          <a:ln/>
        </p:spPr>
        <p:txBody>
          <a:bodyPr/>
          <a:lstStyle/>
          <a:p>
            <a:endParaRPr lang="en-US"/>
          </a:p>
        </p:txBody>
      </p:sp>
      <p:sp>
        <p:nvSpPr>
          <p:cNvPr id="44" name="Shape 42"/>
          <p:cNvSpPr/>
          <p:nvPr/>
        </p:nvSpPr>
        <p:spPr>
          <a:xfrm>
            <a:off x="9454896" y="4370832"/>
            <a:ext cx="457200" cy="481584"/>
          </a:xfrm>
          <a:prstGeom prst="roundRect">
            <a:avLst>
              <a:gd name="adj" fmla="val 8000"/>
            </a:avLst>
          </a:prstGeom>
          <a:solidFill>
            <a:schemeClr val="accent1"/>
          </a:solidFill>
          <a:ln/>
        </p:spPr>
        <p:txBody>
          <a:bodyPr/>
          <a:lstStyle/>
          <a:p>
            <a:endParaRPr lang="en-US"/>
          </a:p>
        </p:txBody>
      </p:sp>
      <p:sp>
        <p:nvSpPr>
          <p:cNvPr id="45" name="Shape 43"/>
          <p:cNvSpPr/>
          <p:nvPr/>
        </p:nvSpPr>
        <p:spPr>
          <a:xfrm>
            <a:off x="10021824" y="4370832"/>
            <a:ext cx="457200" cy="481584"/>
          </a:xfrm>
          <a:prstGeom prst="roundRect">
            <a:avLst>
              <a:gd name="adj" fmla="val 8000"/>
            </a:avLst>
          </a:prstGeom>
          <a:solidFill>
            <a:schemeClr val="accent1">
              <a:alpha val="75000"/>
            </a:schemeClr>
          </a:solidFill>
          <a:ln/>
        </p:spPr>
        <p:txBody>
          <a:bodyPr/>
          <a:lstStyle/>
          <a:p>
            <a:endParaRPr lang="en-US"/>
          </a:p>
        </p:txBody>
      </p:sp>
      <p:sp>
        <p:nvSpPr>
          <p:cNvPr id="46" name="Shape 44"/>
          <p:cNvSpPr/>
          <p:nvPr/>
        </p:nvSpPr>
        <p:spPr>
          <a:xfrm>
            <a:off x="10588752" y="4370832"/>
            <a:ext cx="457200" cy="481584"/>
          </a:xfrm>
          <a:prstGeom prst="roundRect">
            <a:avLst>
              <a:gd name="adj" fmla="val 8000"/>
            </a:avLst>
          </a:prstGeom>
          <a:solidFill>
            <a:schemeClr val="accent1">
              <a:alpha val="45000"/>
            </a:schemeClr>
          </a:solidFill>
          <a:ln/>
        </p:spPr>
        <p:txBody>
          <a:bodyPr/>
          <a:lstStyle/>
          <a:p>
            <a:endParaRPr lang="en-US"/>
          </a:p>
        </p:txBody>
      </p:sp>
      <p:sp>
        <p:nvSpPr>
          <p:cNvPr id="47" name="Shape 45"/>
          <p:cNvSpPr/>
          <p:nvPr/>
        </p:nvSpPr>
        <p:spPr>
          <a:xfrm>
            <a:off x="11155680" y="4370832"/>
            <a:ext cx="457200" cy="481584"/>
          </a:xfrm>
          <a:prstGeom prst="roundRect">
            <a:avLst>
              <a:gd name="adj" fmla="val 8000"/>
            </a:avLst>
          </a:prstGeom>
          <a:solidFill>
            <a:schemeClr val="accent1">
              <a:alpha val="20000"/>
            </a:schemeClr>
          </a:solidFill>
          <a:ln/>
        </p:spPr>
        <p:txBody>
          <a:bodyPr/>
          <a:lstStyle/>
          <a:p>
            <a:endParaRPr lang="en-US"/>
          </a:p>
        </p:txBody>
      </p:sp>
      <p:sp>
        <p:nvSpPr>
          <p:cNvPr id="48" name="Shape 46"/>
          <p:cNvSpPr/>
          <p:nvPr/>
        </p:nvSpPr>
        <p:spPr>
          <a:xfrm>
            <a:off x="8321040" y="4962144"/>
            <a:ext cx="457200" cy="481584"/>
          </a:xfrm>
          <a:prstGeom prst="roundRect">
            <a:avLst>
              <a:gd name="adj" fmla="val 8000"/>
            </a:avLst>
          </a:prstGeom>
          <a:solidFill>
            <a:schemeClr val="accent1">
              <a:alpha val="75000"/>
            </a:schemeClr>
          </a:solidFill>
          <a:ln/>
        </p:spPr>
        <p:txBody>
          <a:bodyPr/>
          <a:lstStyle/>
          <a:p>
            <a:endParaRPr lang="en-US"/>
          </a:p>
        </p:txBody>
      </p:sp>
      <p:sp>
        <p:nvSpPr>
          <p:cNvPr id="49" name="Shape 47"/>
          <p:cNvSpPr/>
          <p:nvPr/>
        </p:nvSpPr>
        <p:spPr>
          <a:xfrm>
            <a:off x="8887968" y="4962144"/>
            <a:ext cx="457200" cy="481584"/>
          </a:xfrm>
          <a:prstGeom prst="roundRect">
            <a:avLst>
              <a:gd name="adj" fmla="val 8000"/>
            </a:avLst>
          </a:prstGeom>
          <a:solidFill>
            <a:schemeClr val="accent1">
              <a:alpha val="20000"/>
            </a:schemeClr>
          </a:solidFill>
          <a:ln/>
        </p:spPr>
        <p:txBody>
          <a:bodyPr/>
          <a:lstStyle/>
          <a:p>
            <a:endParaRPr lang="en-US"/>
          </a:p>
        </p:txBody>
      </p:sp>
      <p:sp>
        <p:nvSpPr>
          <p:cNvPr id="50" name="Shape 48"/>
          <p:cNvSpPr/>
          <p:nvPr/>
        </p:nvSpPr>
        <p:spPr>
          <a:xfrm>
            <a:off x="9454896" y="4962144"/>
            <a:ext cx="457200" cy="481584"/>
          </a:xfrm>
          <a:prstGeom prst="roundRect">
            <a:avLst>
              <a:gd name="adj" fmla="val 8000"/>
            </a:avLst>
          </a:prstGeom>
          <a:solidFill>
            <a:schemeClr val="accent1">
              <a:alpha val="75000"/>
            </a:schemeClr>
          </a:solidFill>
          <a:ln/>
        </p:spPr>
        <p:txBody>
          <a:bodyPr/>
          <a:lstStyle/>
          <a:p>
            <a:endParaRPr lang="en-US"/>
          </a:p>
        </p:txBody>
      </p:sp>
      <p:sp>
        <p:nvSpPr>
          <p:cNvPr id="51" name="Shape 49"/>
          <p:cNvSpPr/>
          <p:nvPr/>
        </p:nvSpPr>
        <p:spPr>
          <a:xfrm>
            <a:off x="10021824" y="4962144"/>
            <a:ext cx="457200" cy="481584"/>
          </a:xfrm>
          <a:prstGeom prst="roundRect">
            <a:avLst>
              <a:gd name="adj" fmla="val 8000"/>
            </a:avLst>
          </a:prstGeom>
          <a:solidFill>
            <a:schemeClr val="accent1">
              <a:alpha val="20000"/>
            </a:schemeClr>
          </a:solidFill>
          <a:ln/>
        </p:spPr>
        <p:txBody>
          <a:bodyPr/>
          <a:lstStyle/>
          <a:p>
            <a:endParaRPr lang="en-US"/>
          </a:p>
        </p:txBody>
      </p:sp>
      <p:sp>
        <p:nvSpPr>
          <p:cNvPr id="52" name="Shape 50"/>
          <p:cNvSpPr/>
          <p:nvPr/>
        </p:nvSpPr>
        <p:spPr>
          <a:xfrm>
            <a:off x="10588752" y="4962144"/>
            <a:ext cx="457200" cy="481584"/>
          </a:xfrm>
          <a:prstGeom prst="roundRect">
            <a:avLst>
              <a:gd name="adj" fmla="val 8000"/>
            </a:avLst>
          </a:prstGeom>
          <a:solidFill>
            <a:schemeClr val="accent1">
              <a:alpha val="75000"/>
            </a:schemeClr>
          </a:solidFill>
          <a:ln/>
        </p:spPr>
        <p:txBody>
          <a:bodyPr/>
          <a:lstStyle/>
          <a:p>
            <a:endParaRPr lang="en-US"/>
          </a:p>
        </p:txBody>
      </p:sp>
      <p:sp>
        <p:nvSpPr>
          <p:cNvPr id="53" name="Shape 51"/>
          <p:cNvSpPr/>
          <p:nvPr/>
        </p:nvSpPr>
        <p:spPr>
          <a:xfrm>
            <a:off x="11155680" y="4962144"/>
            <a:ext cx="457200" cy="481584"/>
          </a:xfrm>
          <a:prstGeom prst="roundRect">
            <a:avLst>
              <a:gd name="adj" fmla="val 8000"/>
            </a:avLst>
          </a:prstGeom>
          <a:solidFill>
            <a:schemeClr val="accent1">
              <a:alpha val="20000"/>
            </a:schemeClr>
          </a:solidFill>
          <a:ln/>
        </p:spPr>
        <p:txBody>
          <a:bodyPr/>
          <a:lstStyle/>
          <a:p>
            <a:endParaRPr lang="en-US"/>
          </a:p>
        </p:txBody>
      </p:sp>
      <p:sp>
        <p:nvSpPr>
          <p:cNvPr id="54" name="Shape 52"/>
          <p:cNvSpPr/>
          <p:nvPr/>
        </p:nvSpPr>
        <p:spPr>
          <a:xfrm>
            <a:off x="8321040" y="5553456"/>
            <a:ext cx="457200" cy="481584"/>
          </a:xfrm>
          <a:prstGeom prst="roundRect">
            <a:avLst>
              <a:gd name="adj" fmla="val 8000"/>
            </a:avLst>
          </a:prstGeom>
          <a:solidFill>
            <a:schemeClr val="accent1"/>
          </a:solidFill>
          <a:ln/>
        </p:spPr>
        <p:txBody>
          <a:bodyPr/>
          <a:lstStyle/>
          <a:p>
            <a:endParaRPr lang="en-US"/>
          </a:p>
        </p:txBody>
      </p:sp>
      <p:sp>
        <p:nvSpPr>
          <p:cNvPr id="55" name="Shape 53"/>
          <p:cNvSpPr/>
          <p:nvPr/>
        </p:nvSpPr>
        <p:spPr>
          <a:xfrm>
            <a:off x="8887968" y="5553456"/>
            <a:ext cx="457200" cy="481584"/>
          </a:xfrm>
          <a:prstGeom prst="roundRect">
            <a:avLst>
              <a:gd name="adj" fmla="val 8000"/>
            </a:avLst>
          </a:prstGeom>
          <a:solidFill>
            <a:schemeClr val="accent1">
              <a:alpha val="20000"/>
            </a:schemeClr>
          </a:solidFill>
          <a:ln/>
        </p:spPr>
        <p:txBody>
          <a:bodyPr/>
          <a:lstStyle/>
          <a:p>
            <a:endParaRPr lang="en-US"/>
          </a:p>
        </p:txBody>
      </p:sp>
      <p:sp>
        <p:nvSpPr>
          <p:cNvPr id="56" name="Shape 54"/>
          <p:cNvSpPr/>
          <p:nvPr/>
        </p:nvSpPr>
        <p:spPr>
          <a:xfrm>
            <a:off x="9454896" y="5553456"/>
            <a:ext cx="457200" cy="481584"/>
          </a:xfrm>
          <a:prstGeom prst="roundRect">
            <a:avLst>
              <a:gd name="adj" fmla="val 8000"/>
            </a:avLst>
          </a:prstGeom>
          <a:solidFill>
            <a:schemeClr val="accent1">
              <a:alpha val="45000"/>
            </a:schemeClr>
          </a:solidFill>
          <a:ln/>
        </p:spPr>
        <p:txBody>
          <a:bodyPr/>
          <a:lstStyle/>
          <a:p>
            <a:endParaRPr lang="en-US"/>
          </a:p>
        </p:txBody>
      </p:sp>
      <p:sp>
        <p:nvSpPr>
          <p:cNvPr id="57" name="Shape 55"/>
          <p:cNvSpPr/>
          <p:nvPr/>
        </p:nvSpPr>
        <p:spPr>
          <a:xfrm>
            <a:off x="10021824" y="5553456"/>
            <a:ext cx="457200" cy="481584"/>
          </a:xfrm>
          <a:prstGeom prst="roundRect">
            <a:avLst>
              <a:gd name="adj" fmla="val 8000"/>
            </a:avLst>
          </a:prstGeom>
          <a:solidFill>
            <a:schemeClr val="accent1">
              <a:alpha val="75000"/>
            </a:schemeClr>
          </a:solidFill>
          <a:ln/>
        </p:spPr>
        <p:txBody>
          <a:bodyPr/>
          <a:lstStyle/>
          <a:p>
            <a:endParaRPr lang="en-US"/>
          </a:p>
        </p:txBody>
      </p:sp>
      <p:sp>
        <p:nvSpPr>
          <p:cNvPr id="58" name="Shape 56"/>
          <p:cNvSpPr/>
          <p:nvPr/>
        </p:nvSpPr>
        <p:spPr>
          <a:xfrm>
            <a:off x="10588752" y="5553456"/>
            <a:ext cx="457200" cy="481584"/>
          </a:xfrm>
          <a:prstGeom prst="roundRect">
            <a:avLst>
              <a:gd name="adj" fmla="val 8000"/>
            </a:avLst>
          </a:prstGeom>
          <a:solidFill>
            <a:schemeClr val="accent1"/>
          </a:solidFill>
          <a:ln/>
        </p:spPr>
        <p:txBody>
          <a:bodyPr/>
          <a:lstStyle/>
          <a:p>
            <a:endParaRPr lang="en-US"/>
          </a:p>
        </p:txBody>
      </p:sp>
      <p:sp>
        <p:nvSpPr>
          <p:cNvPr id="59" name="Shape 57"/>
          <p:cNvSpPr/>
          <p:nvPr/>
        </p:nvSpPr>
        <p:spPr>
          <a:xfrm>
            <a:off x="11155680" y="5553456"/>
            <a:ext cx="457200" cy="481584"/>
          </a:xfrm>
          <a:prstGeom prst="roundRect">
            <a:avLst>
              <a:gd name="adj" fmla="val 8000"/>
            </a:avLst>
          </a:prstGeom>
          <a:solidFill>
            <a:schemeClr val="accent1">
              <a:alpha val="20000"/>
            </a:schemeClr>
          </a:solidFill>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Agenda</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Three modules, each building on the one before</a:t>
            </a:r>
            <a:endParaRPr lang="en-US" sz="1600" dirty="0"/>
          </a:p>
        </p:txBody>
      </p:sp>
      <p:sp>
        <p:nvSpPr>
          <p:cNvPr id="4" name="Shape 2"/>
          <p:cNvSpPr/>
          <p:nvPr/>
        </p:nvSpPr>
        <p:spPr>
          <a:xfrm>
            <a:off x="548640" y="1645920"/>
            <a:ext cx="3566160" cy="4526280"/>
          </a:xfrm>
          <a:prstGeom prst="roundRect">
            <a:avLst>
              <a:gd name="adj" fmla="val 2051"/>
            </a:avLst>
          </a:prstGeom>
          <a:solidFill>
            <a:schemeClr val="bg2"/>
          </a:solidFill>
          <a:ln/>
        </p:spPr>
        <p:txBody>
          <a:bodyPr/>
          <a:lstStyle/>
          <a:p>
            <a:endParaRPr lang="en-US"/>
          </a:p>
        </p:txBody>
      </p:sp>
      <p:sp>
        <p:nvSpPr>
          <p:cNvPr id="5" name="Text 3"/>
          <p:cNvSpPr txBox="1"/>
          <p:nvPr/>
        </p:nvSpPr>
        <p:spPr>
          <a:xfrm>
            <a:off x="822960" y="1828800"/>
            <a:ext cx="1371600" cy="731520"/>
          </a:xfrm>
          <a:prstGeom prst="rect">
            <a:avLst/>
          </a:prstGeom>
          <a:noFill/>
          <a:ln/>
        </p:spPr>
        <p:txBody>
          <a:bodyPr wrap="square" lIns="0" tIns="0" rIns="0" bIns="0" rtlCol="0" anchor="t"/>
          <a:lstStyle/>
          <a:p>
            <a:pPr marL="0" indent="0">
              <a:buNone/>
            </a:pPr>
            <a:r>
              <a:rPr lang="en-US" sz="4400" b="1" dirty="0">
                <a:solidFill>
                  <a:schemeClr val="accent2"/>
                </a:solidFill>
                <a:latin typeface="Arial" pitchFamily="34" charset="0"/>
                <a:ea typeface="Arial" pitchFamily="34" charset="-122"/>
                <a:cs typeface="Arial" pitchFamily="34" charset="-120"/>
              </a:rPr>
              <a:t>01</a:t>
            </a:r>
            <a:endParaRPr lang="en-US" sz="4400" dirty="0"/>
          </a:p>
        </p:txBody>
      </p:sp>
      <p:sp>
        <p:nvSpPr>
          <p:cNvPr id="6" name="Shape 4"/>
          <p:cNvSpPr/>
          <p:nvPr/>
        </p:nvSpPr>
        <p:spPr>
          <a:xfrm>
            <a:off x="3291840" y="1874520"/>
            <a:ext cx="594360" cy="594360"/>
          </a:xfrm>
          <a:prstGeom prst="ellipse">
            <a:avLst/>
          </a:prstGeom>
          <a:solidFill>
            <a:schemeClr val="accent1"/>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3422599" y="2005279"/>
            <a:ext cx="332842" cy="332842"/>
          </a:xfrm>
          <a:prstGeom prst="rect">
            <a:avLst/>
          </a:prstGeom>
        </p:spPr>
      </p:pic>
      <p:sp>
        <p:nvSpPr>
          <p:cNvPr id="8" name="Text 5"/>
          <p:cNvSpPr txBox="1"/>
          <p:nvPr/>
        </p:nvSpPr>
        <p:spPr>
          <a:xfrm>
            <a:off x="822960" y="2651760"/>
            <a:ext cx="3017520" cy="685800"/>
          </a:xfrm>
          <a:prstGeom prst="rect">
            <a:avLst/>
          </a:prstGeom>
          <a:noFill/>
          <a:ln/>
        </p:spPr>
        <p:txBody>
          <a:bodyPr wrap="square" lIns="0" tIns="0" rIns="0" bIns="0" rtlCol="0" anchor="t"/>
          <a:lstStyle/>
          <a:p>
            <a:pPr marL="0" indent="0">
              <a:buNone/>
            </a:pPr>
            <a:r>
              <a:rPr lang="en-US" sz="2000" b="1" dirty="0">
                <a:solidFill>
                  <a:schemeClr val="tx1"/>
                </a:solidFill>
              </a:rPr>
              <a:t>NVIDIA GPU components</a:t>
            </a:r>
            <a:endParaRPr lang="en-US" sz="2000" dirty="0"/>
          </a:p>
        </p:txBody>
      </p:sp>
      <p:sp>
        <p:nvSpPr>
          <p:cNvPr id="9" name="Text 6"/>
          <p:cNvSpPr txBox="1"/>
          <p:nvPr/>
        </p:nvSpPr>
        <p:spPr>
          <a:xfrm>
            <a:off x="822960" y="3383280"/>
            <a:ext cx="3108960" cy="219456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2"/>
                </a:solidFill>
              </a:rPr>
              <a:t>CPU vs GPU design philosophy</a:t>
            </a:r>
            <a:endParaRPr lang="en-US" sz="1500" dirty="0"/>
          </a:p>
          <a:p>
            <a:pPr marL="342900" indent="-342900">
              <a:spcAft>
                <a:spcPts val="500"/>
              </a:spcAft>
              <a:buSzPct val="100000"/>
              <a:buChar char="•"/>
            </a:pPr>
            <a:r>
              <a:rPr lang="en-US" sz="1500" dirty="0">
                <a:solidFill>
                  <a:schemeClr val="tx2"/>
                </a:solidFill>
              </a:rPr>
              <a:t>GPC, SM, CUDA, Tensor and RT cores</a:t>
            </a:r>
            <a:endParaRPr lang="en-US" sz="1500" dirty="0"/>
          </a:p>
          <a:p>
            <a:pPr marL="342900" indent="-342900">
              <a:spcAft>
                <a:spcPts val="500"/>
              </a:spcAft>
              <a:buSzPct val="100000"/>
              <a:buChar char="•"/>
            </a:pPr>
            <a:r>
              <a:rPr lang="en-US" sz="1500" dirty="0">
                <a:solidFill>
                  <a:schemeClr val="tx2"/>
                </a:solidFill>
              </a:rPr>
              <a:t>Memory hierarchy and HBM</a:t>
            </a:r>
            <a:endParaRPr lang="en-US" sz="1500" dirty="0"/>
          </a:p>
          <a:p>
            <a:pPr marL="342900" indent="-342900">
              <a:spcAft>
                <a:spcPts val="500"/>
              </a:spcAft>
              <a:buSzPct val="100000"/>
              <a:buChar char="•"/>
            </a:pPr>
            <a:r>
              <a:rPr lang="en-US" sz="1500" dirty="0">
                <a:solidFill>
                  <a:schemeClr val="tx2"/>
                </a:solidFill>
              </a:rPr>
              <a:t>NVLink, NVSwitch, PCIe, form factors</a:t>
            </a:r>
            <a:endParaRPr lang="en-US" sz="1500" dirty="0"/>
          </a:p>
          <a:p>
            <a:pPr marL="342900" indent="-342900">
              <a:spcAft>
                <a:spcPts val="500"/>
              </a:spcAft>
              <a:buSzPct val="100000"/>
              <a:buChar char="•"/>
            </a:pPr>
            <a:r>
              <a:rPr lang="en-US" sz="1500" dirty="0">
                <a:solidFill>
                  <a:schemeClr val="tx2"/>
                </a:solidFill>
              </a:rPr>
              <a:t>Board, firmware and software stack</a:t>
            </a:r>
            <a:endParaRPr lang="en-US" sz="1500" dirty="0"/>
          </a:p>
        </p:txBody>
      </p:sp>
      <p:sp>
        <p:nvSpPr>
          <p:cNvPr id="10" name="Text 7"/>
          <p:cNvSpPr txBox="1"/>
          <p:nvPr/>
        </p:nvSpPr>
        <p:spPr>
          <a:xfrm>
            <a:off x="822960" y="5669280"/>
            <a:ext cx="3017520" cy="320040"/>
          </a:xfrm>
          <a:prstGeom prst="rect">
            <a:avLst/>
          </a:prstGeom>
          <a:noFill/>
          <a:ln/>
        </p:spPr>
        <p:txBody>
          <a:bodyPr wrap="square" lIns="0" tIns="0" rIns="0" bIns="0" rtlCol="0" anchor="t"/>
          <a:lstStyle/>
          <a:p>
            <a:pPr marL="0" indent="0">
              <a:buNone/>
            </a:pPr>
            <a:r>
              <a:rPr lang="en-US" sz="1400" b="1" dirty="0">
                <a:solidFill>
                  <a:schemeClr val="accent2"/>
                </a:solidFill>
              </a:rPr>
              <a:t>~55 min</a:t>
            </a:r>
            <a:endParaRPr lang="en-US" sz="1400" dirty="0"/>
          </a:p>
        </p:txBody>
      </p:sp>
      <p:sp>
        <p:nvSpPr>
          <p:cNvPr id="11" name="Shape 8"/>
          <p:cNvSpPr/>
          <p:nvPr/>
        </p:nvSpPr>
        <p:spPr>
          <a:xfrm>
            <a:off x="4297680" y="1645920"/>
            <a:ext cx="3566160" cy="4526280"/>
          </a:xfrm>
          <a:prstGeom prst="roundRect">
            <a:avLst>
              <a:gd name="adj" fmla="val 2051"/>
            </a:avLst>
          </a:prstGeom>
          <a:solidFill>
            <a:schemeClr val="bg2"/>
          </a:solidFill>
          <a:ln/>
        </p:spPr>
        <p:txBody>
          <a:bodyPr/>
          <a:lstStyle/>
          <a:p>
            <a:endParaRPr lang="en-US"/>
          </a:p>
        </p:txBody>
      </p:sp>
      <p:sp>
        <p:nvSpPr>
          <p:cNvPr id="12" name="Text 9"/>
          <p:cNvSpPr txBox="1"/>
          <p:nvPr/>
        </p:nvSpPr>
        <p:spPr>
          <a:xfrm>
            <a:off x="4572000" y="1828800"/>
            <a:ext cx="1371600" cy="731520"/>
          </a:xfrm>
          <a:prstGeom prst="rect">
            <a:avLst/>
          </a:prstGeom>
          <a:noFill/>
          <a:ln/>
        </p:spPr>
        <p:txBody>
          <a:bodyPr wrap="square" lIns="0" tIns="0" rIns="0" bIns="0" rtlCol="0" anchor="t"/>
          <a:lstStyle/>
          <a:p>
            <a:pPr marL="0" indent="0">
              <a:buNone/>
            </a:pPr>
            <a:r>
              <a:rPr lang="en-US" sz="4400" b="1" dirty="0">
                <a:solidFill>
                  <a:schemeClr val="accent2"/>
                </a:solidFill>
                <a:latin typeface="Arial" pitchFamily="34" charset="0"/>
                <a:ea typeface="Arial" pitchFamily="34" charset="-122"/>
                <a:cs typeface="Arial" pitchFamily="34" charset="-120"/>
              </a:rPr>
              <a:t>02</a:t>
            </a:r>
            <a:endParaRPr lang="en-US" sz="4400" dirty="0"/>
          </a:p>
        </p:txBody>
      </p:sp>
      <p:sp>
        <p:nvSpPr>
          <p:cNvPr id="13" name="Shape 10"/>
          <p:cNvSpPr/>
          <p:nvPr/>
        </p:nvSpPr>
        <p:spPr>
          <a:xfrm>
            <a:off x="7040880" y="1874520"/>
            <a:ext cx="594360" cy="594360"/>
          </a:xfrm>
          <a:prstGeom prst="ellipse">
            <a:avLst/>
          </a:prstGeom>
          <a:solidFill>
            <a:schemeClr val="accent1"/>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7171639" y="2005279"/>
            <a:ext cx="332842" cy="332842"/>
          </a:xfrm>
          <a:prstGeom prst="rect">
            <a:avLst/>
          </a:prstGeom>
        </p:spPr>
      </p:pic>
      <p:sp>
        <p:nvSpPr>
          <p:cNvPr id="15" name="Text 11"/>
          <p:cNvSpPr txBox="1"/>
          <p:nvPr/>
        </p:nvSpPr>
        <p:spPr>
          <a:xfrm>
            <a:off x="4572000" y="2651760"/>
            <a:ext cx="3017520" cy="685800"/>
          </a:xfrm>
          <a:prstGeom prst="rect">
            <a:avLst/>
          </a:prstGeom>
          <a:noFill/>
          <a:ln/>
        </p:spPr>
        <p:txBody>
          <a:bodyPr wrap="square" lIns="0" tIns="0" rIns="0" bIns="0" rtlCol="0" anchor="t"/>
          <a:lstStyle/>
          <a:p>
            <a:pPr marL="0" indent="0">
              <a:buNone/>
            </a:pPr>
            <a:r>
              <a:rPr lang="en-US" sz="2000" b="1" dirty="0">
                <a:solidFill>
                  <a:schemeClr val="tx1"/>
                </a:solidFill>
              </a:rPr>
              <a:t>NVIDIA GPU types</a:t>
            </a:r>
            <a:endParaRPr lang="en-US" sz="2000" dirty="0"/>
          </a:p>
        </p:txBody>
      </p:sp>
      <p:sp>
        <p:nvSpPr>
          <p:cNvPr id="16" name="Text 12"/>
          <p:cNvSpPr txBox="1"/>
          <p:nvPr/>
        </p:nvSpPr>
        <p:spPr>
          <a:xfrm>
            <a:off x="4572000" y="3383280"/>
            <a:ext cx="3108960" cy="219456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2"/>
                </a:solidFill>
              </a:rPr>
              <a:t>Architecture generations, Pascal to Rubin</a:t>
            </a:r>
            <a:endParaRPr lang="en-US" sz="1500" dirty="0"/>
          </a:p>
          <a:p>
            <a:pPr marL="342900" indent="-342900">
              <a:spcAft>
                <a:spcPts val="500"/>
              </a:spcAft>
              <a:buSzPct val="100000"/>
              <a:buChar char="•"/>
            </a:pPr>
            <a:r>
              <a:rPr lang="en-US" sz="1500" dirty="0">
                <a:solidFill>
                  <a:schemeClr val="tx2"/>
                </a:solidFill>
              </a:rPr>
              <a:t>Product families by segment</a:t>
            </a:r>
            <a:endParaRPr lang="en-US" sz="1500" dirty="0"/>
          </a:p>
          <a:p>
            <a:pPr marL="342900" indent="-342900">
              <a:spcAft>
                <a:spcPts val="500"/>
              </a:spcAft>
              <a:buSzPct val="100000"/>
              <a:buChar char="•"/>
            </a:pPr>
            <a:r>
              <a:rPr lang="en-US" sz="1500" dirty="0">
                <a:solidFill>
                  <a:schemeClr val="tx2"/>
                </a:solidFill>
              </a:rPr>
              <a:t>Decoding product names</a:t>
            </a:r>
            <a:endParaRPr lang="en-US" sz="1500" dirty="0"/>
          </a:p>
          <a:p>
            <a:pPr marL="342900" indent="-342900">
              <a:spcAft>
                <a:spcPts val="500"/>
              </a:spcAft>
              <a:buSzPct val="100000"/>
              <a:buChar char="•"/>
            </a:pPr>
            <a:r>
              <a:rPr lang="en-US" sz="1500" dirty="0">
                <a:solidFill>
                  <a:schemeClr val="tx2"/>
                </a:solidFill>
              </a:rPr>
              <a:t>Data center GPU comparison</a:t>
            </a:r>
            <a:endParaRPr lang="en-US" sz="1500" dirty="0"/>
          </a:p>
          <a:p>
            <a:pPr marL="342900" indent="-342900">
              <a:spcAft>
                <a:spcPts val="500"/>
              </a:spcAft>
              <a:buSzPct val="100000"/>
              <a:buChar char="•"/>
            </a:pPr>
            <a:r>
              <a:rPr lang="en-US" sz="1500" dirty="0">
                <a:solidFill>
                  <a:schemeClr val="tx2"/>
                </a:solidFill>
              </a:rPr>
              <a:t>Matching GPUs to workloads</a:t>
            </a:r>
            <a:endParaRPr lang="en-US" sz="1500" dirty="0"/>
          </a:p>
        </p:txBody>
      </p:sp>
      <p:sp>
        <p:nvSpPr>
          <p:cNvPr id="17" name="Text 13"/>
          <p:cNvSpPr txBox="1"/>
          <p:nvPr/>
        </p:nvSpPr>
        <p:spPr>
          <a:xfrm>
            <a:off x="4572000" y="5669280"/>
            <a:ext cx="3017520" cy="320040"/>
          </a:xfrm>
          <a:prstGeom prst="rect">
            <a:avLst/>
          </a:prstGeom>
          <a:noFill/>
          <a:ln/>
        </p:spPr>
        <p:txBody>
          <a:bodyPr wrap="square" lIns="0" tIns="0" rIns="0" bIns="0" rtlCol="0" anchor="t"/>
          <a:lstStyle/>
          <a:p>
            <a:pPr marL="0" indent="0">
              <a:buNone/>
            </a:pPr>
            <a:r>
              <a:rPr lang="en-US" sz="1400" b="1" dirty="0">
                <a:solidFill>
                  <a:schemeClr val="accent2"/>
                </a:solidFill>
              </a:rPr>
              <a:t>~40 min</a:t>
            </a:r>
            <a:endParaRPr lang="en-US" sz="1400" dirty="0"/>
          </a:p>
        </p:txBody>
      </p:sp>
      <p:sp>
        <p:nvSpPr>
          <p:cNvPr id="18" name="Shape 14"/>
          <p:cNvSpPr/>
          <p:nvPr/>
        </p:nvSpPr>
        <p:spPr>
          <a:xfrm>
            <a:off x="8046720" y="1645920"/>
            <a:ext cx="3566160" cy="4526280"/>
          </a:xfrm>
          <a:prstGeom prst="roundRect">
            <a:avLst>
              <a:gd name="adj" fmla="val 2051"/>
            </a:avLst>
          </a:prstGeom>
          <a:solidFill>
            <a:schemeClr val="bg2"/>
          </a:solidFill>
          <a:ln/>
        </p:spPr>
        <p:txBody>
          <a:bodyPr/>
          <a:lstStyle/>
          <a:p>
            <a:endParaRPr lang="en-US"/>
          </a:p>
        </p:txBody>
      </p:sp>
      <p:sp>
        <p:nvSpPr>
          <p:cNvPr id="19" name="Text 15"/>
          <p:cNvSpPr txBox="1"/>
          <p:nvPr/>
        </p:nvSpPr>
        <p:spPr>
          <a:xfrm>
            <a:off x="8321040" y="1828800"/>
            <a:ext cx="1371600" cy="731520"/>
          </a:xfrm>
          <a:prstGeom prst="rect">
            <a:avLst/>
          </a:prstGeom>
          <a:noFill/>
          <a:ln/>
        </p:spPr>
        <p:txBody>
          <a:bodyPr wrap="square" lIns="0" tIns="0" rIns="0" bIns="0" rtlCol="0" anchor="t"/>
          <a:lstStyle/>
          <a:p>
            <a:pPr marL="0" indent="0">
              <a:buNone/>
            </a:pPr>
            <a:r>
              <a:rPr lang="en-US" sz="4400" b="1" dirty="0">
                <a:solidFill>
                  <a:schemeClr val="accent2"/>
                </a:solidFill>
                <a:latin typeface="Arial" pitchFamily="34" charset="0"/>
                <a:ea typeface="Arial" pitchFamily="34" charset="-122"/>
                <a:cs typeface="Arial" pitchFamily="34" charset="-120"/>
              </a:rPr>
              <a:t>03</a:t>
            </a:r>
            <a:endParaRPr lang="en-US" sz="4400" dirty="0"/>
          </a:p>
        </p:txBody>
      </p:sp>
      <p:sp>
        <p:nvSpPr>
          <p:cNvPr id="20" name="Shape 16"/>
          <p:cNvSpPr/>
          <p:nvPr/>
        </p:nvSpPr>
        <p:spPr>
          <a:xfrm>
            <a:off x="10789920" y="1874520"/>
            <a:ext cx="594360" cy="594360"/>
          </a:xfrm>
          <a:prstGeom prst="ellipse">
            <a:avLst/>
          </a:prstGeom>
          <a:solidFill>
            <a:schemeClr val="accent1"/>
          </a:solidFill>
          <a:ln/>
        </p:spPr>
        <p:txBody>
          <a:bodyPr/>
          <a:lstStyle/>
          <a:p>
            <a:endParaRPr lang="en-US"/>
          </a:p>
        </p:txBody>
      </p:sp>
      <p:pic>
        <p:nvPicPr>
          <p:cNvPr id="21" name="Image 2" descr="preencoded.png"/>
          <p:cNvPicPr>
            <a:picLocks noChangeAspect="1"/>
          </p:cNvPicPr>
          <p:nvPr/>
        </p:nvPicPr>
        <p:blipFill>
          <a:blip r:embed="rId5"/>
          <a:stretch>
            <a:fillRect/>
          </a:stretch>
        </p:blipFill>
        <p:spPr>
          <a:xfrm>
            <a:off x="10920679" y="2005279"/>
            <a:ext cx="332842" cy="332842"/>
          </a:xfrm>
          <a:prstGeom prst="rect">
            <a:avLst/>
          </a:prstGeom>
        </p:spPr>
      </p:pic>
      <p:sp>
        <p:nvSpPr>
          <p:cNvPr id="22" name="Text 17"/>
          <p:cNvSpPr txBox="1"/>
          <p:nvPr/>
        </p:nvSpPr>
        <p:spPr>
          <a:xfrm>
            <a:off x="8321040" y="2651760"/>
            <a:ext cx="3017520" cy="685800"/>
          </a:xfrm>
          <a:prstGeom prst="rect">
            <a:avLst/>
          </a:prstGeom>
          <a:noFill/>
          <a:ln/>
        </p:spPr>
        <p:txBody>
          <a:bodyPr wrap="square" lIns="0" tIns="0" rIns="0" bIns="0" rtlCol="0" anchor="t"/>
          <a:lstStyle/>
          <a:p>
            <a:pPr marL="0" indent="0">
              <a:buNone/>
            </a:pPr>
            <a:r>
              <a:rPr lang="en-US" sz="2000" b="1" dirty="0">
                <a:solidFill>
                  <a:schemeClr val="tx1"/>
                </a:solidFill>
              </a:rPr>
              <a:t>GPU infrastructure for AI</a:t>
            </a:r>
            <a:endParaRPr lang="en-US" sz="2000" dirty="0"/>
          </a:p>
        </p:txBody>
      </p:sp>
      <p:sp>
        <p:nvSpPr>
          <p:cNvPr id="23" name="Text 18"/>
          <p:cNvSpPr txBox="1"/>
          <p:nvPr/>
        </p:nvSpPr>
        <p:spPr>
          <a:xfrm>
            <a:off x="8321040" y="3383280"/>
            <a:ext cx="3108960" cy="219456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2"/>
                </a:solidFill>
              </a:rPr>
              <a:t>The AI factory stack</a:t>
            </a:r>
            <a:endParaRPr lang="en-US" sz="1500" dirty="0"/>
          </a:p>
          <a:p>
            <a:pPr marL="342900" indent="-342900">
              <a:spcAft>
                <a:spcPts val="500"/>
              </a:spcAft>
              <a:buSzPct val="100000"/>
              <a:buChar char="•"/>
            </a:pPr>
            <a:r>
              <a:rPr lang="en-US" sz="1500" dirty="0">
                <a:solidFill>
                  <a:schemeClr val="tx2"/>
                </a:solidFill>
              </a:rPr>
              <a:t>DGX, HGX, MGX and cloud</a:t>
            </a:r>
            <a:endParaRPr lang="en-US" sz="1500" dirty="0"/>
          </a:p>
          <a:p>
            <a:pPr marL="342900" indent="-342900">
              <a:spcAft>
                <a:spcPts val="500"/>
              </a:spcAft>
              <a:buSzPct val="100000"/>
              <a:buChar char="•"/>
            </a:pPr>
            <a:r>
              <a:rPr lang="en-US" sz="1500" dirty="0">
                <a:solidFill>
                  <a:schemeClr val="tx2"/>
                </a:solidFill>
              </a:rPr>
              <a:t>Networking, storage, software</a:t>
            </a:r>
            <a:endParaRPr lang="en-US" sz="1500" dirty="0"/>
          </a:p>
          <a:p>
            <a:pPr marL="342900" indent="-342900">
              <a:spcAft>
                <a:spcPts val="500"/>
              </a:spcAft>
              <a:buSzPct val="100000"/>
              <a:buChar char="•"/>
            </a:pPr>
            <a:r>
              <a:rPr lang="en-US" sz="1500" dirty="0">
                <a:solidFill>
                  <a:schemeClr val="tx2"/>
                </a:solidFill>
              </a:rPr>
              <a:t>GPU sharing, sizing, monitoring</a:t>
            </a:r>
            <a:endParaRPr lang="en-US" sz="1500" dirty="0"/>
          </a:p>
          <a:p>
            <a:pPr marL="342900" indent="-342900">
              <a:spcAft>
                <a:spcPts val="500"/>
              </a:spcAft>
              <a:buSzPct val="100000"/>
              <a:buChar char="•"/>
            </a:pPr>
            <a:r>
              <a:rPr lang="en-US" sz="1500" dirty="0">
                <a:solidFill>
                  <a:schemeClr val="tx2"/>
                </a:solidFill>
              </a:rPr>
              <a:t>Power, cooling, deployment models</a:t>
            </a:r>
            <a:endParaRPr lang="en-US" sz="1500" dirty="0"/>
          </a:p>
        </p:txBody>
      </p:sp>
      <p:sp>
        <p:nvSpPr>
          <p:cNvPr id="24" name="Text 19"/>
          <p:cNvSpPr txBox="1"/>
          <p:nvPr/>
        </p:nvSpPr>
        <p:spPr>
          <a:xfrm>
            <a:off x="8321040" y="5669280"/>
            <a:ext cx="3017520" cy="320040"/>
          </a:xfrm>
          <a:prstGeom prst="rect">
            <a:avLst/>
          </a:prstGeom>
          <a:noFill/>
          <a:ln/>
        </p:spPr>
        <p:txBody>
          <a:bodyPr wrap="square" lIns="0" tIns="0" rIns="0" bIns="0" rtlCol="0" anchor="t"/>
          <a:lstStyle/>
          <a:p>
            <a:pPr marL="0" indent="0">
              <a:buNone/>
            </a:pPr>
            <a:r>
              <a:rPr lang="en-US" sz="1400" b="1" dirty="0">
                <a:solidFill>
                  <a:schemeClr val="accent2"/>
                </a:solidFill>
              </a:rPr>
              <a:t>~55 min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Learning objectives</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By the end of this session participants will be able to:</a:t>
            </a:r>
            <a:endParaRPr lang="en-US" sz="1600" dirty="0"/>
          </a:p>
        </p:txBody>
      </p:sp>
      <p:sp>
        <p:nvSpPr>
          <p:cNvPr id="4" name="Shape 2"/>
          <p:cNvSpPr/>
          <p:nvPr/>
        </p:nvSpPr>
        <p:spPr>
          <a:xfrm>
            <a:off x="548640" y="1691640"/>
            <a:ext cx="566928" cy="566928"/>
          </a:xfrm>
          <a:prstGeom prst="ellipse">
            <a:avLst/>
          </a:prstGeom>
          <a:solidFill>
            <a:schemeClr val="accent1"/>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673364" y="1816364"/>
            <a:ext cx="317480" cy="317480"/>
          </a:xfrm>
          <a:prstGeom prst="rect">
            <a:avLst/>
          </a:prstGeom>
        </p:spPr>
      </p:pic>
      <p:sp>
        <p:nvSpPr>
          <p:cNvPr id="6" name="Text 3"/>
          <p:cNvSpPr txBox="1"/>
          <p:nvPr/>
        </p:nvSpPr>
        <p:spPr>
          <a:xfrm>
            <a:off x="1325880" y="1645920"/>
            <a:ext cx="4572000" cy="685800"/>
          </a:xfrm>
          <a:prstGeom prst="rect">
            <a:avLst/>
          </a:prstGeom>
          <a:noFill/>
          <a:ln/>
        </p:spPr>
        <p:txBody>
          <a:bodyPr wrap="square" lIns="0" tIns="0" rIns="0" bIns="0" rtlCol="0" anchor="ctr"/>
          <a:lstStyle/>
          <a:p>
            <a:pPr marL="0" indent="0">
              <a:buNone/>
            </a:pPr>
            <a:r>
              <a:rPr lang="en-US" sz="1800" b="1" dirty="0">
                <a:solidFill>
                  <a:schemeClr val="tx1"/>
                </a:solidFill>
              </a:rPr>
              <a:t>Explain the components of a GPU</a:t>
            </a:r>
            <a:endParaRPr lang="en-US" sz="1800" dirty="0"/>
          </a:p>
        </p:txBody>
      </p:sp>
      <p:sp>
        <p:nvSpPr>
          <p:cNvPr id="7" name="Text 4"/>
          <p:cNvSpPr txBox="1"/>
          <p:nvPr/>
        </p:nvSpPr>
        <p:spPr>
          <a:xfrm>
            <a:off x="5943600" y="1645920"/>
            <a:ext cx="5669280" cy="685800"/>
          </a:xfrm>
          <a:prstGeom prst="rect">
            <a:avLst/>
          </a:prstGeom>
          <a:noFill/>
          <a:ln/>
        </p:spPr>
        <p:txBody>
          <a:bodyPr wrap="square" lIns="0" tIns="0" rIns="0" bIns="0" rtlCol="0" anchor="ctr"/>
          <a:lstStyle/>
          <a:p>
            <a:pPr marL="0" indent="0">
              <a:buNone/>
            </a:pPr>
            <a:r>
              <a:rPr lang="en-US" sz="1500" dirty="0">
                <a:solidFill>
                  <a:schemeClr val="tx2"/>
                </a:solidFill>
              </a:rPr>
              <a:t>Describe SMs, CUDA and Tensor Cores, the memory hierarchy and interconnects, and what each one does for AI.</a:t>
            </a:r>
            <a:endParaRPr lang="en-US" sz="1500" dirty="0"/>
          </a:p>
        </p:txBody>
      </p:sp>
      <p:sp>
        <p:nvSpPr>
          <p:cNvPr id="8" name="Shape 5"/>
          <p:cNvSpPr/>
          <p:nvPr/>
        </p:nvSpPr>
        <p:spPr>
          <a:xfrm>
            <a:off x="548640" y="2606040"/>
            <a:ext cx="566928" cy="566928"/>
          </a:xfrm>
          <a:prstGeom prst="ellipse">
            <a:avLst/>
          </a:prstGeom>
          <a:solidFill>
            <a:schemeClr val="accent1"/>
          </a:solidFill>
          <a:ln/>
        </p:spPr>
        <p:txBody>
          <a:bodyPr/>
          <a:lstStyle/>
          <a:p>
            <a:endParaRPr lang="en-US"/>
          </a:p>
        </p:txBody>
      </p:sp>
      <p:pic>
        <p:nvPicPr>
          <p:cNvPr id="9" name="Image 1" descr="preencoded.png"/>
          <p:cNvPicPr>
            <a:picLocks noChangeAspect="1"/>
          </p:cNvPicPr>
          <p:nvPr/>
        </p:nvPicPr>
        <p:blipFill>
          <a:blip r:embed="rId4"/>
          <a:stretch>
            <a:fillRect/>
          </a:stretch>
        </p:blipFill>
        <p:spPr>
          <a:xfrm>
            <a:off x="673364" y="2730764"/>
            <a:ext cx="317480" cy="317480"/>
          </a:xfrm>
          <a:prstGeom prst="rect">
            <a:avLst/>
          </a:prstGeom>
        </p:spPr>
      </p:pic>
      <p:sp>
        <p:nvSpPr>
          <p:cNvPr id="10" name="Text 6"/>
          <p:cNvSpPr txBox="1"/>
          <p:nvPr/>
        </p:nvSpPr>
        <p:spPr>
          <a:xfrm>
            <a:off x="1325880" y="2560320"/>
            <a:ext cx="4572000" cy="685800"/>
          </a:xfrm>
          <a:prstGeom prst="rect">
            <a:avLst/>
          </a:prstGeom>
          <a:noFill/>
          <a:ln/>
        </p:spPr>
        <p:txBody>
          <a:bodyPr wrap="square" lIns="0" tIns="0" rIns="0" bIns="0" rtlCol="0" anchor="ctr"/>
          <a:lstStyle/>
          <a:p>
            <a:pPr marL="0" indent="0">
              <a:buNone/>
            </a:pPr>
            <a:r>
              <a:rPr lang="en-US" sz="1800" b="1" dirty="0">
                <a:solidFill>
                  <a:schemeClr val="tx1"/>
                </a:solidFill>
              </a:rPr>
              <a:t>Tell the GPU families apart</a:t>
            </a:r>
            <a:endParaRPr lang="en-US" sz="1800" dirty="0"/>
          </a:p>
        </p:txBody>
      </p:sp>
      <p:sp>
        <p:nvSpPr>
          <p:cNvPr id="11" name="Text 7"/>
          <p:cNvSpPr txBox="1"/>
          <p:nvPr/>
        </p:nvSpPr>
        <p:spPr>
          <a:xfrm>
            <a:off x="5943600" y="2560320"/>
            <a:ext cx="5669280" cy="685800"/>
          </a:xfrm>
          <a:prstGeom prst="rect">
            <a:avLst/>
          </a:prstGeom>
          <a:noFill/>
          <a:ln/>
        </p:spPr>
        <p:txBody>
          <a:bodyPr wrap="square" lIns="0" tIns="0" rIns="0" bIns="0" rtlCol="0" anchor="ctr"/>
          <a:lstStyle/>
          <a:p>
            <a:pPr marL="0" indent="0">
              <a:buNone/>
            </a:pPr>
            <a:r>
              <a:rPr lang="en-US" sz="1500" dirty="0">
                <a:solidFill>
                  <a:schemeClr val="tx2"/>
                </a:solidFill>
              </a:rPr>
              <a:t>Place any NVIDIA GPU in its architecture and segment, and read a product name like GB200 NVL72.</a:t>
            </a:r>
            <a:endParaRPr lang="en-US" sz="1500" dirty="0"/>
          </a:p>
        </p:txBody>
      </p:sp>
      <p:sp>
        <p:nvSpPr>
          <p:cNvPr id="12" name="Shape 8"/>
          <p:cNvSpPr/>
          <p:nvPr/>
        </p:nvSpPr>
        <p:spPr>
          <a:xfrm>
            <a:off x="548640" y="3520440"/>
            <a:ext cx="566928" cy="566928"/>
          </a:xfrm>
          <a:prstGeom prst="ellipse">
            <a:avLst/>
          </a:prstGeom>
          <a:solidFill>
            <a:schemeClr val="accent1"/>
          </a:solidFill>
          <a:ln/>
        </p:spPr>
        <p:txBody>
          <a:bodyPr/>
          <a:lstStyle/>
          <a:p>
            <a:endParaRPr lang="en-US"/>
          </a:p>
        </p:txBody>
      </p:sp>
      <p:pic>
        <p:nvPicPr>
          <p:cNvPr id="13" name="Image 2" descr="preencoded.png"/>
          <p:cNvPicPr>
            <a:picLocks noChangeAspect="1"/>
          </p:cNvPicPr>
          <p:nvPr/>
        </p:nvPicPr>
        <p:blipFill>
          <a:blip r:embed="rId5"/>
          <a:stretch>
            <a:fillRect/>
          </a:stretch>
        </p:blipFill>
        <p:spPr>
          <a:xfrm>
            <a:off x="673364" y="3645164"/>
            <a:ext cx="317480" cy="317480"/>
          </a:xfrm>
          <a:prstGeom prst="rect">
            <a:avLst/>
          </a:prstGeom>
        </p:spPr>
      </p:pic>
      <p:sp>
        <p:nvSpPr>
          <p:cNvPr id="14" name="Text 9"/>
          <p:cNvSpPr txBox="1"/>
          <p:nvPr/>
        </p:nvSpPr>
        <p:spPr>
          <a:xfrm>
            <a:off x="1325880" y="3474720"/>
            <a:ext cx="4572000" cy="685800"/>
          </a:xfrm>
          <a:prstGeom prst="rect">
            <a:avLst/>
          </a:prstGeom>
          <a:noFill/>
          <a:ln/>
        </p:spPr>
        <p:txBody>
          <a:bodyPr wrap="square" lIns="0" tIns="0" rIns="0" bIns="0" rtlCol="0" anchor="ctr"/>
          <a:lstStyle/>
          <a:p>
            <a:pPr marL="0" indent="0">
              <a:buNone/>
            </a:pPr>
            <a:r>
              <a:rPr lang="en-US" sz="1800" b="1" dirty="0">
                <a:solidFill>
                  <a:schemeClr val="tx1"/>
                </a:solidFill>
              </a:rPr>
              <a:t>Match GPUs to workloads</a:t>
            </a:r>
            <a:endParaRPr lang="en-US" sz="1800" dirty="0"/>
          </a:p>
        </p:txBody>
      </p:sp>
      <p:sp>
        <p:nvSpPr>
          <p:cNvPr id="15" name="Text 10"/>
          <p:cNvSpPr txBox="1"/>
          <p:nvPr/>
        </p:nvSpPr>
        <p:spPr>
          <a:xfrm>
            <a:off x="5943600" y="3474720"/>
            <a:ext cx="5669280" cy="685800"/>
          </a:xfrm>
          <a:prstGeom prst="rect">
            <a:avLst/>
          </a:prstGeom>
          <a:noFill/>
          <a:ln/>
        </p:spPr>
        <p:txBody>
          <a:bodyPr wrap="square" lIns="0" tIns="0" rIns="0" bIns="0" rtlCol="0" anchor="ctr"/>
          <a:lstStyle/>
          <a:p>
            <a:pPr marL="0" indent="0">
              <a:buNone/>
            </a:pPr>
            <a:r>
              <a:rPr lang="en-US" sz="1500" dirty="0">
                <a:solidFill>
                  <a:schemeClr val="tx2"/>
                </a:solidFill>
              </a:rPr>
              <a:t>Choose a suitable GPU class for training, fine-tuning, inference, graphics or edge use cases.</a:t>
            </a:r>
            <a:endParaRPr lang="en-US" sz="1500" dirty="0"/>
          </a:p>
        </p:txBody>
      </p:sp>
      <p:sp>
        <p:nvSpPr>
          <p:cNvPr id="16" name="Shape 11"/>
          <p:cNvSpPr/>
          <p:nvPr/>
        </p:nvSpPr>
        <p:spPr>
          <a:xfrm>
            <a:off x="548640" y="4434840"/>
            <a:ext cx="566928" cy="566928"/>
          </a:xfrm>
          <a:prstGeom prst="ellipse">
            <a:avLst/>
          </a:prstGeom>
          <a:solidFill>
            <a:schemeClr val="accent1"/>
          </a:solidFill>
          <a:ln/>
        </p:spPr>
        <p:txBody>
          <a:bodyPr/>
          <a:lstStyle/>
          <a:p>
            <a:endParaRPr lang="en-US"/>
          </a:p>
        </p:txBody>
      </p:sp>
      <p:pic>
        <p:nvPicPr>
          <p:cNvPr id="17" name="Image 3" descr="preencoded.png"/>
          <p:cNvPicPr>
            <a:picLocks noChangeAspect="1"/>
          </p:cNvPicPr>
          <p:nvPr/>
        </p:nvPicPr>
        <p:blipFill>
          <a:blip r:embed="rId6"/>
          <a:stretch>
            <a:fillRect/>
          </a:stretch>
        </p:blipFill>
        <p:spPr>
          <a:xfrm>
            <a:off x="673364" y="4559564"/>
            <a:ext cx="317480" cy="317480"/>
          </a:xfrm>
          <a:prstGeom prst="rect">
            <a:avLst/>
          </a:prstGeom>
        </p:spPr>
      </p:pic>
      <p:sp>
        <p:nvSpPr>
          <p:cNvPr id="18" name="Text 12"/>
          <p:cNvSpPr txBox="1"/>
          <p:nvPr/>
        </p:nvSpPr>
        <p:spPr>
          <a:xfrm>
            <a:off x="1325880" y="4389120"/>
            <a:ext cx="4572000" cy="685800"/>
          </a:xfrm>
          <a:prstGeom prst="rect">
            <a:avLst/>
          </a:prstGeom>
          <a:noFill/>
          <a:ln/>
        </p:spPr>
        <p:txBody>
          <a:bodyPr wrap="square" lIns="0" tIns="0" rIns="0" bIns="0" rtlCol="0" anchor="ctr"/>
          <a:lstStyle/>
          <a:p>
            <a:pPr marL="0" indent="0">
              <a:buNone/>
            </a:pPr>
            <a:r>
              <a:rPr lang="en-US" sz="1800" b="1" dirty="0">
                <a:solidFill>
                  <a:schemeClr val="tx1"/>
                </a:solidFill>
              </a:rPr>
              <a:t>Describe an AI infrastructure stack</a:t>
            </a:r>
            <a:endParaRPr lang="en-US" sz="1800" dirty="0"/>
          </a:p>
        </p:txBody>
      </p:sp>
      <p:sp>
        <p:nvSpPr>
          <p:cNvPr id="19" name="Text 13"/>
          <p:cNvSpPr txBox="1"/>
          <p:nvPr/>
        </p:nvSpPr>
        <p:spPr>
          <a:xfrm>
            <a:off x="5943600" y="4389120"/>
            <a:ext cx="5669280" cy="685800"/>
          </a:xfrm>
          <a:prstGeom prst="rect">
            <a:avLst/>
          </a:prstGeom>
          <a:noFill/>
          <a:ln/>
        </p:spPr>
        <p:txBody>
          <a:bodyPr wrap="square" lIns="0" tIns="0" rIns="0" bIns="0" rtlCol="0" anchor="ctr"/>
          <a:lstStyle/>
          <a:p>
            <a:pPr marL="0" indent="0">
              <a:buNone/>
            </a:pPr>
            <a:r>
              <a:rPr lang="en-US" sz="1500" dirty="0">
                <a:solidFill>
                  <a:schemeClr val="tx2"/>
                </a:solidFill>
              </a:rPr>
              <a:t>Explain how servers, fabrics, storage, orchestration and facilities fit together.</a:t>
            </a:r>
            <a:endParaRPr lang="en-US" sz="1500" dirty="0"/>
          </a:p>
        </p:txBody>
      </p:sp>
      <p:sp>
        <p:nvSpPr>
          <p:cNvPr id="20" name="Shape 14"/>
          <p:cNvSpPr/>
          <p:nvPr/>
        </p:nvSpPr>
        <p:spPr>
          <a:xfrm>
            <a:off x="548640" y="5349240"/>
            <a:ext cx="566928" cy="566928"/>
          </a:xfrm>
          <a:prstGeom prst="ellipse">
            <a:avLst/>
          </a:prstGeom>
          <a:solidFill>
            <a:schemeClr val="accent1"/>
          </a:solidFill>
          <a:ln/>
        </p:spPr>
        <p:txBody>
          <a:bodyPr/>
          <a:lstStyle/>
          <a:p>
            <a:endParaRPr lang="en-US"/>
          </a:p>
        </p:txBody>
      </p:sp>
      <p:pic>
        <p:nvPicPr>
          <p:cNvPr id="21" name="Image 4" descr="preencoded.png"/>
          <p:cNvPicPr>
            <a:picLocks noChangeAspect="1"/>
          </p:cNvPicPr>
          <p:nvPr/>
        </p:nvPicPr>
        <p:blipFill>
          <a:blip r:embed="rId7"/>
          <a:stretch>
            <a:fillRect/>
          </a:stretch>
        </p:blipFill>
        <p:spPr>
          <a:xfrm>
            <a:off x="673364" y="5473964"/>
            <a:ext cx="317480" cy="317480"/>
          </a:xfrm>
          <a:prstGeom prst="rect">
            <a:avLst/>
          </a:prstGeom>
        </p:spPr>
      </p:pic>
      <p:sp>
        <p:nvSpPr>
          <p:cNvPr id="22" name="Text 15"/>
          <p:cNvSpPr txBox="1"/>
          <p:nvPr/>
        </p:nvSpPr>
        <p:spPr>
          <a:xfrm>
            <a:off x="1325880" y="5303520"/>
            <a:ext cx="4572000" cy="685800"/>
          </a:xfrm>
          <a:prstGeom prst="rect">
            <a:avLst/>
          </a:prstGeom>
          <a:noFill/>
          <a:ln/>
        </p:spPr>
        <p:txBody>
          <a:bodyPr wrap="square" lIns="0" tIns="0" rIns="0" bIns="0" rtlCol="0" anchor="ctr"/>
          <a:lstStyle/>
          <a:p>
            <a:pPr marL="0" indent="0">
              <a:buNone/>
            </a:pPr>
            <a:r>
              <a:rPr lang="en-US" sz="1800" b="1" dirty="0">
                <a:solidFill>
                  <a:schemeClr val="tx1"/>
                </a:solidFill>
              </a:rPr>
              <a:t>Size and operate GPU capacity</a:t>
            </a:r>
            <a:endParaRPr lang="en-US" sz="1800" dirty="0"/>
          </a:p>
        </p:txBody>
      </p:sp>
      <p:sp>
        <p:nvSpPr>
          <p:cNvPr id="23" name="Text 16"/>
          <p:cNvSpPr txBox="1"/>
          <p:nvPr/>
        </p:nvSpPr>
        <p:spPr>
          <a:xfrm>
            <a:off x="5943600" y="5303520"/>
            <a:ext cx="5669280" cy="685800"/>
          </a:xfrm>
          <a:prstGeom prst="rect">
            <a:avLst/>
          </a:prstGeom>
          <a:noFill/>
          <a:ln/>
        </p:spPr>
        <p:txBody>
          <a:bodyPr wrap="square" lIns="0" tIns="0" rIns="0" bIns="0" rtlCol="0" anchor="ctr"/>
          <a:lstStyle/>
          <a:p>
            <a:pPr marL="0" indent="0">
              <a:buNone/>
            </a:pPr>
            <a:r>
              <a:rPr lang="en-US" sz="1500" dirty="0">
                <a:solidFill>
                  <a:schemeClr val="tx2"/>
                </a:solidFill>
              </a:rPr>
              <a:t>Estimate GPU memory for an LLM, pick a sharing strategy and know which health metrics to watch.</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1463040"/>
            <a:ext cx="2743200" cy="1371600"/>
          </a:xfrm>
          <a:prstGeom prst="rect">
            <a:avLst/>
          </a:prstGeom>
          <a:noFill/>
          <a:ln/>
        </p:spPr>
        <p:txBody>
          <a:bodyPr wrap="square" lIns="0" tIns="0" rIns="0" bIns="0" rtlCol="0" anchor="t"/>
          <a:lstStyle/>
          <a:p>
            <a:pPr marL="0" indent="0">
              <a:buNone/>
            </a:pPr>
            <a:r>
              <a:rPr lang="en-US" sz="8800" b="1" dirty="0">
                <a:solidFill>
                  <a:schemeClr val="accent1"/>
                </a:solidFill>
              </a:rPr>
              <a:t>01</a:t>
            </a:r>
            <a:endParaRPr lang="en-US" sz="8800" dirty="0"/>
          </a:p>
        </p:txBody>
      </p:sp>
      <p:sp>
        <p:nvSpPr>
          <p:cNvPr id="3" name="Text 0"/>
          <p:cNvSpPr>
            <a:spLocks noGrp="1"/>
          </p:cNvSpPr>
          <p:nvPr>
            <p:ph type="title" idx="101" hasCustomPrompt="1"/>
          </p:nvPr>
        </p:nvSpPr>
        <p:spPr>
          <a:xfrm>
            <a:off x="640080" y="2743200"/>
            <a:ext cx="7498080" cy="1371600"/>
          </a:xfrm>
          <a:prstGeom prst="rect">
            <a:avLst/>
          </a:prstGeom>
          <a:noFill/>
          <a:ln/>
        </p:spPr>
        <p:txBody>
          <a:bodyPr wrap="square" lIns="0" tIns="0" rIns="0" bIns="0" rtlCol="0" anchor="t"/>
          <a:lstStyle/>
          <a:p>
            <a:pPr marL="0" indent="0" algn="l">
              <a:buNone/>
            </a:pPr>
            <a:r>
              <a:rPr lang="en-US" sz="3600" b="1" dirty="0">
                <a:solidFill>
                  <a:schemeClr val="bg1"/>
                </a:solidFill>
              </a:rPr>
              <a:t>NVIDIA GPU components</a:t>
            </a:r>
            <a:endParaRPr lang="en-US" sz="3600" dirty="0"/>
          </a:p>
        </p:txBody>
      </p:sp>
      <p:sp>
        <p:nvSpPr>
          <p:cNvPr id="4" name="Text 0"/>
          <p:cNvSpPr>
            <a:spLocks noGrp="1"/>
          </p:cNvSpPr>
          <p:nvPr>
            <p:ph type="body" idx="102" hasCustomPrompt="1"/>
          </p:nvPr>
        </p:nvSpPr>
        <p:spPr>
          <a:xfrm>
            <a:off x="640080" y="4297680"/>
            <a:ext cx="6949440" cy="1280160"/>
          </a:xfrm>
          <a:prstGeom prst="rect">
            <a:avLst/>
          </a:prstGeom>
          <a:noFill/>
          <a:ln/>
        </p:spPr>
        <p:txBody>
          <a:bodyPr wrap="square" lIns="0" tIns="0" rIns="0" bIns="0" rtlCol="0" anchor="t"/>
          <a:lstStyle/>
          <a:p>
            <a:pPr marL="0" indent="0">
              <a:buNone/>
            </a:pPr>
            <a:r>
              <a:rPr lang="en-US" sz="1800" dirty="0">
                <a:solidFill>
                  <a:srgbClr val="C9D3CC"/>
                </a:solidFill>
              </a:rPr>
              <a:t>What is physically inside a GPU, and why each part matters for AI workloads</a:t>
            </a:r>
            <a:endParaRPr lang="en-US" sz="1800" dirty="0"/>
          </a:p>
        </p:txBody>
      </p:sp>
      <p:sp>
        <p:nvSpPr>
          <p:cNvPr id="5" name="Shape 3"/>
          <p:cNvSpPr/>
          <p:nvPr/>
        </p:nvSpPr>
        <p:spPr>
          <a:xfrm>
            <a:off x="8503920" y="1188720"/>
            <a:ext cx="396240" cy="400304"/>
          </a:xfrm>
          <a:prstGeom prst="roundRect">
            <a:avLst>
              <a:gd name="adj" fmla="val 9231"/>
            </a:avLst>
          </a:prstGeom>
          <a:solidFill>
            <a:schemeClr val="accent1"/>
          </a:solidFill>
          <a:ln/>
        </p:spPr>
        <p:txBody>
          <a:bodyPr/>
          <a:lstStyle/>
          <a:p>
            <a:endParaRPr lang="en-US"/>
          </a:p>
        </p:txBody>
      </p:sp>
      <p:sp>
        <p:nvSpPr>
          <p:cNvPr id="6" name="Shape 4"/>
          <p:cNvSpPr/>
          <p:nvPr/>
        </p:nvSpPr>
        <p:spPr>
          <a:xfrm>
            <a:off x="9009888" y="1188720"/>
            <a:ext cx="396240" cy="400304"/>
          </a:xfrm>
          <a:prstGeom prst="roundRect">
            <a:avLst>
              <a:gd name="adj" fmla="val 9231"/>
            </a:avLst>
          </a:prstGeom>
          <a:solidFill>
            <a:schemeClr val="accent1">
              <a:alpha val="20000"/>
            </a:schemeClr>
          </a:solidFill>
          <a:ln/>
        </p:spPr>
        <p:txBody>
          <a:bodyPr/>
          <a:lstStyle/>
          <a:p>
            <a:endParaRPr lang="en-US"/>
          </a:p>
        </p:txBody>
      </p:sp>
      <p:sp>
        <p:nvSpPr>
          <p:cNvPr id="7" name="Shape 5"/>
          <p:cNvSpPr/>
          <p:nvPr/>
        </p:nvSpPr>
        <p:spPr>
          <a:xfrm>
            <a:off x="9515856" y="1188720"/>
            <a:ext cx="396240" cy="400304"/>
          </a:xfrm>
          <a:prstGeom prst="roundRect">
            <a:avLst>
              <a:gd name="adj" fmla="val 9231"/>
            </a:avLst>
          </a:prstGeom>
          <a:solidFill>
            <a:schemeClr val="accent1">
              <a:alpha val="45000"/>
            </a:schemeClr>
          </a:solidFill>
          <a:ln/>
        </p:spPr>
        <p:txBody>
          <a:bodyPr/>
          <a:lstStyle/>
          <a:p>
            <a:endParaRPr lang="en-US"/>
          </a:p>
        </p:txBody>
      </p:sp>
      <p:sp>
        <p:nvSpPr>
          <p:cNvPr id="8" name="Shape 6"/>
          <p:cNvSpPr/>
          <p:nvPr/>
        </p:nvSpPr>
        <p:spPr>
          <a:xfrm>
            <a:off x="10021824" y="1188720"/>
            <a:ext cx="396240" cy="400304"/>
          </a:xfrm>
          <a:prstGeom prst="roundRect">
            <a:avLst>
              <a:gd name="adj" fmla="val 9231"/>
            </a:avLst>
          </a:prstGeom>
          <a:solidFill>
            <a:schemeClr val="accent1">
              <a:alpha val="75000"/>
            </a:schemeClr>
          </a:solidFill>
          <a:ln/>
        </p:spPr>
        <p:txBody>
          <a:bodyPr/>
          <a:lstStyle/>
          <a:p>
            <a:endParaRPr lang="en-US"/>
          </a:p>
        </p:txBody>
      </p:sp>
      <p:sp>
        <p:nvSpPr>
          <p:cNvPr id="9" name="Shape 7"/>
          <p:cNvSpPr/>
          <p:nvPr/>
        </p:nvSpPr>
        <p:spPr>
          <a:xfrm>
            <a:off x="10527792" y="1188720"/>
            <a:ext cx="396240" cy="400304"/>
          </a:xfrm>
          <a:prstGeom prst="roundRect">
            <a:avLst>
              <a:gd name="adj" fmla="val 9231"/>
            </a:avLst>
          </a:prstGeom>
          <a:solidFill>
            <a:schemeClr val="accent1"/>
          </a:solidFill>
          <a:ln/>
        </p:spPr>
        <p:txBody>
          <a:bodyPr/>
          <a:lstStyle/>
          <a:p>
            <a:endParaRPr lang="en-US"/>
          </a:p>
        </p:txBody>
      </p:sp>
      <p:sp>
        <p:nvSpPr>
          <p:cNvPr id="10" name="Shape 8"/>
          <p:cNvSpPr/>
          <p:nvPr/>
        </p:nvSpPr>
        <p:spPr>
          <a:xfrm>
            <a:off x="11033760" y="1188720"/>
            <a:ext cx="396240" cy="400304"/>
          </a:xfrm>
          <a:prstGeom prst="roundRect">
            <a:avLst>
              <a:gd name="adj" fmla="val 9231"/>
            </a:avLst>
          </a:prstGeom>
          <a:solidFill>
            <a:schemeClr val="accent1">
              <a:alpha val="20000"/>
            </a:schemeClr>
          </a:solidFill>
          <a:ln/>
        </p:spPr>
        <p:txBody>
          <a:bodyPr/>
          <a:lstStyle/>
          <a:p>
            <a:endParaRPr lang="en-US"/>
          </a:p>
        </p:txBody>
      </p:sp>
      <p:sp>
        <p:nvSpPr>
          <p:cNvPr id="11" name="Shape 9"/>
          <p:cNvSpPr/>
          <p:nvPr/>
        </p:nvSpPr>
        <p:spPr>
          <a:xfrm>
            <a:off x="8503920" y="1698752"/>
            <a:ext cx="396240" cy="400304"/>
          </a:xfrm>
          <a:prstGeom prst="roundRect">
            <a:avLst>
              <a:gd name="adj" fmla="val 9231"/>
            </a:avLst>
          </a:prstGeom>
          <a:solidFill>
            <a:schemeClr val="accent1">
              <a:alpha val="20000"/>
            </a:schemeClr>
          </a:solidFill>
          <a:ln/>
        </p:spPr>
        <p:txBody>
          <a:bodyPr/>
          <a:lstStyle/>
          <a:p>
            <a:endParaRPr lang="en-US"/>
          </a:p>
        </p:txBody>
      </p:sp>
      <p:sp>
        <p:nvSpPr>
          <p:cNvPr id="12" name="Shape 10"/>
          <p:cNvSpPr/>
          <p:nvPr/>
        </p:nvSpPr>
        <p:spPr>
          <a:xfrm>
            <a:off x="9009888" y="1698752"/>
            <a:ext cx="396240" cy="400304"/>
          </a:xfrm>
          <a:prstGeom prst="roundRect">
            <a:avLst>
              <a:gd name="adj" fmla="val 9231"/>
            </a:avLst>
          </a:prstGeom>
          <a:solidFill>
            <a:schemeClr val="accent1">
              <a:alpha val="20000"/>
            </a:schemeClr>
          </a:solidFill>
          <a:ln/>
        </p:spPr>
        <p:txBody>
          <a:bodyPr/>
          <a:lstStyle/>
          <a:p>
            <a:endParaRPr lang="en-US"/>
          </a:p>
        </p:txBody>
      </p:sp>
      <p:sp>
        <p:nvSpPr>
          <p:cNvPr id="13" name="Shape 11"/>
          <p:cNvSpPr/>
          <p:nvPr/>
        </p:nvSpPr>
        <p:spPr>
          <a:xfrm>
            <a:off x="9515856" y="1698752"/>
            <a:ext cx="396240" cy="400304"/>
          </a:xfrm>
          <a:prstGeom prst="roundRect">
            <a:avLst>
              <a:gd name="adj" fmla="val 9231"/>
            </a:avLst>
          </a:prstGeom>
          <a:solidFill>
            <a:schemeClr val="accent1">
              <a:alpha val="20000"/>
            </a:schemeClr>
          </a:solidFill>
          <a:ln/>
        </p:spPr>
        <p:txBody>
          <a:bodyPr/>
          <a:lstStyle/>
          <a:p>
            <a:endParaRPr lang="en-US"/>
          </a:p>
        </p:txBody>
      </p:sp>
      <p:sp>
        <p:nvSpPr>
          <p:cNvPr id="14" name="Shape 12"/>
          <p:cNvSpPr/>
          <p:nvPr/>
        </p:nvSpPr>
        <p:spPr>
          <a:xfrm>
            <a:off x="10021824" y="1698752"/>
            <a:ext cx="396240" cy="400304"/>
          </a:xfrm>
          <a:prstGeom prst="roundRect">
            <a:avLst>
              <a:gd name="adj" fmla="val 9231"/>
            </a:avLst>
          </a:prstGeom>
          <a:solidFill>
            <a:schemeClr val="accent1">
              <a:alpha val="20000"/>
            </a:schemeClr>
          </a:solidFill>
          <a:ln/>
        </p:spPr>
        <p:txBody>
          <a:bodyPr/>
          <a:lstStyle/>
          <a:p>
            <a:endParaRPr lang="en-US"/>
          </a:p>
        </p:txBody>
      </p:sp>
      <p:sp>
        <p:nvSpPr>
          <p:cNvPr id="15" name="Shape 13"/>
          <p:cNvSpPr/>
          <p:nvPr/>
        </p:nvSpPr>
        <p:spPr>
          <a:xfrm>
            <a:off x="10527792" y="1698752"/>
            <a:ext cx="396240" cy="400304"/>
          </a:xfrm>
          <a:prstGeom prst="roundRect">
            <a:avLst>
              <a:gd name="adj" fmla="val 9231"/>
            </a:avLst>
          </a:prstGeom>
          <a:solidFill>
            <a:schemeClr val="accent1">
              <a:alpha val="20000"/>
            </a:schemeClr>
          </a:solidFill>
          <a:ln/>
        </p:spPr>
        <p:txBody>
          <a:bodyPr/>
          <a:lstStyle/>
          <a:p>
            <a:endParaRPr lang="en-US"/>
          </a:p>
        </p:txBody>
      </p:sp>
      <p:sp>
        <p:nvSpPr>
          <p:cNvPr id="16" name="Shape 14"/>
          <p:cNvSpPr/>
          <p:nvPr/>
        </p:nvSpPr>
        <p:spPr>
          <a:xfrm>
            <a:off x="11033760" y="1698752"/>
            <a:ext cx="396240" cy="400304"/>
          </a:xfrm>
          <a:prstGeom prst="roundRect">
            <a:avLst>
              <a:gd name="adj" fmla="val 9231"/>
            </a:avLst>
          </a:prstGeom>
          <a:solidFill>
            <a:schemeClr val="accent1">
              <a:alpha val="20000"/>
            </a:schemeClr>
          </a:solidFill>
          <a:ln/>
        </p:spPr>
        <p:txBody>
          <a:bodyPr/>
          <a:lstStyle/>
          <a:p>
            <a:endParaRPr lang="en-US"/>
          </a:p>
        </p:txBody>
      </p:sp>
      <p:sp>
        <p:nvSpPr>
          <p:cNvPr id="17" name="Shape 15"/>
          <p:cNvSpPr/>
          <p:nvPr/>
        </p:nvSpPr>
        <p:spPr>
          <a:xfrm>
            <a:off x="8503920" y="2208784"/>
            <a:ext cx="396240" cy="400304"/>
          </a:xfrm>
          <a:prstGeom prst="roundRect">
            <a:avLst>
              <a:gd name="adj" fmla="val 9231"/>
            </a:avLst>
          </a:prstGeom>
          <a:solidFill>
            <a:schemeClr val="accent1">
              <a:alpha val="45000"/>
            </a:schemeClr>
          </a:solidFill>
          <a:ln/>
        </p:spPr>
        <p:txBody>
          <a:bodyPr/>
          <a:lstStyle/>
          <a:p>
            <a:endParaRPr lang="en-US"/>
          </a:p>
        </p:txBody>
      </p:sp>
      <p:sp>
        <p:nvSpPr>
          <p:cNvPr id="18" name="Shape 16"/>
          <p:cNvSpPr/>
          <p:nvPr/>
        </p:nvSpPr>
        <p:spPr>
          <a:xfrm>
            <a:off x="9009888" y="2208784"/>
            <a:ext cx="396240" cy="400304"/>
          </a:xfrm>
          <a:prstGeom prst="roundRect">
            <a:avLst>
              <a:gd name="adj" fmla="val 9231"/>
            </a:avLst>
          </a:prstGeom>
          <a:solidFill>
            <a:schemeClr val="accent1">
              <a:alpha val="20000"/>
            </a:schemeClr>
          </a:solidFill>
          <a:ln/>
        </p:spPr>
        <p:txBody>
          <a:bodyPr/>
          <a:lstStyle/>
          <a:p>
            <a:endParaRPr lang="en-US"/>
          </a:p>
        </p:txBody>
      </p:sp>
      <p:sp>
        <p:nvSpPr>
          <p:cNvPr id="19" name="Shape 17"/>
          <p:cNvSpPr/>
          <p:nvPr/>
        </p:nvSpPr>
        <p:spPr>
          <a:xfrm>
            <a:off x="9515856" y="2208784"/>
            <a:ext cx="396240" cy="400304"/>
          </a:xfrm>
          <a:prstGeom prst="roundRect">
            <a:avLst>
              <a:gd name="adj" fmla="val 9231"/>
            </a:avLst>
          </a:prstGeom>
          <a:solidFill>
            <a:schemeClr val="accent1"/>
          </a:solidFill>
          <a:ln/>
        </p:spPr>
        <p:txBody>
          <a:bodyPr/>
          <a:lstStyle/>
          <a:p>
            <a:endParaRPr lang="en-US"/>
          </a:p>
        </p:txBody>
      </p:sp>
      <p:sp>
        <p:nvSpPr>
          <p:cNvPr id="20" name="Shape 18"/>
          <p:cNvSpPr/>
          <p:nvPr/>
        </p:nvSpPr>
        <p:spPr>
          <a:xfrm>
            <a:off x="10021824" y="2208784"/>
            <a:ext cx="396240" cy="400304"/>
          </a:xfrm>
          <a:prstGeom prst="roundRect">
            <a:avLst>
              <a:gd name="adj" fmla="val 9231"/>
            </a:avLst>
          </a:prstGeom>
          <a:solidFill>
            <a:schemeClr val="accent1">
              <a:alpha val="75000"/>
            </a:schemeClr>
          </a:solidFill>
          <a:ln/>
        </p:spPr>
        <p:txBody>
          <a:bodyPr/>
          <a:lstStyle/>
          <a:p>
            <a:endParaRPr lang="en-US"/>
          </a:p>
        </p:txBody>
      </p:sp>
      <p:sp>
        <p:nvSpPr>
          <p:cNvPr id="21" name="Shape 19"/>
          <p:cNvSpPr/>
          <p:nvPr/>
        </p:nvSpPr>
        <p:spPr>
          <a:xfrm>
            <a:off x="10527792" y="2208784"/>
            <a:ext cx="396240" cy="400304"/>
          </a:xfrm>
          <a:prstGeom prst="roundRect">
            <a:avLst>
              <a:gd name="adj" fmla="val 9231"/>
            </a:avLst>
          </a:prstGeom>
          <a:solidFill>
            <a:schemeClr val="accent1">
              <a:alpha val="45000"/>
            </a:schemeClr>
          </a:solidFill>
          <a:ln/>
        </p:spPr>
        <p:txBody>
          <a:bodyPr/>
          <a:lstStyle/>
          <a:p>
            <a:endParaRPr lang="en-US"/>
          </a:p>
        </p:txBody>
      </p:sp>
      <p:sp>
        <p:nvSpPr>
          <p:cNvPr id="22" name="Shape 20"/>
          <p:cNvSpPr/>
          <p:nvPr/>
        </p:nvSpPr>
        <p:spPr>
          <a:xfrm>
            <a:off x="11033760" y="2208784"/>
            <a:ext cx="396240" cy="400304"/>
          </a:xfrm>
          <a:prstGeom prst="roundRect">
            <a:avLst>
              <a:gd name="adj" fmla="val 9231"/>
            </a:avLst>
          </a:prstGeom>
          <a:solidFill>
            <a:schemeClr val="accent1">
              <a:alpha val="20000"/>
            </a:schemeClr>
          </a:solidFill>
          <a:ln/>
        </p:spPr>
        <p:txBody>
          <a:bodyPr/>
          <a:lstStyle/>
          <a:p>
            <a:endParaRPr lang="en-US"/>
          </a:p>
        </p:txBody>
      </p:sp>
      <p:sp>
        <p:nvSpPr>
          <p:cNvPr id="23" name="Shape 21"/>
          <p:cNvSpPr/>
          <p:nvPr/>
        </p:nvSpPr>
        <p:spPr>
          <a:xfrm>
            <a:off x="8503920" y="2718816"/>
            <a:ext cx="396240" cy="400304"/>
          </a:xfrm>
          <a:prstGeom prst="roundRect">
            <a:avLst>
              <a:gd name="adj" fmla="val 9231"/>
            </a:avLst>
          </a:prstGeom>
          <a:solidFill>
            <a:schemeClr val="accent1">
              <a:alpha val="75000"/>
            </a:schemeClr>
          </a:solidFill>
          <a:ln/>
        </p:spPr>
        <p:txBody>
          <a:bodyPr/>
          <a:lstStyle/>
          <a:p>
            <a:endParaRPr lang="en-US"/>
          </a:p>
        </p:txBody>
      </p:sp>
      <p:sp>
        <p:nvSpPr>
          <p:cNvPr id="24" name="Shape 22"/>
          <p:cNvSpPr/>
          <p:nvPr/>
        </p:nvSpPr>
        <p:spPr>
          <a:xfrm>
            <a:off x="9009888" y="2718816"/>
            <a:ext cx="396240" cy="400304"/>
          </a:xfrm>
          <a:prstGeom prst="roundRect">
            <a:avLst>
              <a:gd name="adj" fmla="val 9231"/>
            </a:avLst>
          </a:prstGeom>
          <a:solidFill>
            <a:schemeClr val="accent1">
              <a:alpha val="20000"/>
            </a:schemeClr>
          </a:solidFill>
          <a:ln/>
        </p:spPr>
        <p:txBody>
          <a:bodyPr/>
          <a:lstStyle/>
          <a:p>
            <a:endParaRPr lang="en-US"/>
          </a:p>
        </p:txBody>
      </p:sp>
      <p:sp>
        <p:nvSpPr>
          <p:cNvPr id="25" name="Shape 23"/>
          <p:cNvSpPr/>
          <p:nvPr/>
        </p:nvSpPr>
        <p:spPr>
          <a:xfrm>
            <a:off x="9515856" y="2718816"/>
            <a:ext cx="396240" cy="400304"/>
          </a:xfrm>
          <a:prstGeom prst="roundRect">
            <a:avLst>
              <a:gd name="adj" fmla="val 9231"/>
            </a:avLst>
          </a:prstGeom>
          <a:solidFill>
            <a:schemeClr val="accent1">
              <a:alpha val="75000"/>
            </a:schemeClr>
          </a:solidFill>
          <a:ln/>
        </p:spPr>
        <p:txBody>
          <a:bodyPr/>
          <a:lstStyle/>
          <a:p>
            <a:endParaRPr lang="en-US"/>
          </a:p>
        </p:txBody>
      </p:sp>
      <p:sp>
        <p:nvSpPr>
          <p:cNvPr id="26" name="Shape 24"/>
          <p:cNvSpPr/>
          <p:nvPr/>
        </p:nvSpPr>
        <p:spPr>
          <a:xfrm>
            <a:off x="10021824" y="2718816"/>
            <a:ext cx="396240" cy="400304"/>
          </a:xfrm>
          <a:prstGeom prst="roundRect">
            <a:avLst>
              <a:gd name="adj" fmla="val 9231"/>
            </a:avLst>
          </a:prstGeom>
          <a:solidFill>
            <a:schemeClr val="accent1">
              <a:alpha val="20000"/>
            </a:schemeClr>
          </a:solidFill>
          <a:ln/>
        </p:spPr>
        <p:txBody>
          <a:bodyPr/>
          <a:lstStyle/>
          <a:p>
            <a:endParaRPr lang="en-US"/>
          </a:p>
        </p:txBody>
      </p:sp>
      <p:sp>
        <p:nvSpPr>
          <p:cNvPr id="27" name="Shape 25"/>
          <p:cNvSpPr/>
          <p:nvPr/>
        </p:nvSpPr>
        <p:spPr>
          <a:xfrm>
            <a:off x="10527792" y="2718816"/>
            <a:ext cx="396240" cy="400304"/>
          </a:xfrm>
          <a:prstGeom prst="roundRect">
            <a:avLst>
              <a:gd name="adj" fmla="val 9231"/>
            </a:avLst>
          </a:prstGeom>
          <a:solidFill>
            <a:schemeClr val="accent1">
              <a:alpha val="75000"/>
            </a:schemeClr>
          </a:solidFill>
          <a:ln/>
        </p:spPr>
        <p:txBody>
          <a:bodyPr/>
          <a:lstStyle/>
          <a:p>
            <a:endParaRPr lang="en-US"/>
          </a:p>
        </p:txBody>
      </p:sp>
      <p:sp>
        <p:nvSpPr>
          <p:cNvPr id="28" name="Shape 26"/>
          <p:cNvSpPr/>
          <p:nvPr/>
        </p:nvSpPr>
        <p:spPr>
          <a:xfrm>
            <a:off x="11033760" y="2718816"/>
            <a:ext cx="396240" cy="400304"/>
          </a:xfrm>
          <a:prstGeom prst="roundRect">
            <a:avLst>
              <a:gd name="adj" fmla="val 9231"/>
            </a:avLst>
          </a:prstGeom>
          <a:solidFill>
            <a:schemeClr val="accent1">
              <a:alpha val="20000"/>
            </a:schemeClr>
          </a:solidFill>
          <a:ln/>
        </p:spPr>
        <p:txBody>
          <a:bodyPr/>
          <a:lstStyle/>
          <a:p>
            <a:endParaRPr lang="en-US"/>
          </a:p>
        </p:txBody>
      </p:sp>
      <p:sp>
        <p:nvSpPr>
          <p:cNvPr id="29" name="Shape 27"/>
          <p:cNvSpPr/>
          <p:nvPr/>
        </p:nvSpPr>
        <p:spPr>
          <a:xfrm>
            <a:off x="8503920" y="3228848"/>
            <a:ext cx="396240" cy="400304"/>
          </a:xfrm>
          <a:prstGeom prst="roundRect">
            <a:avLst>
              <a:gd name="adj" fmla="val 9231"/>
            </a:avLst>
          </a:prstGeom>
          <a:solidFill>
            <a:schemeClr val="accent1"/>
          </a:solidFill>
          <a:ln/>
        </p:spPr>
        <p:txBody>
          <a:bodyPr/>
          <a:lstStyle/>
          <a:p>
            <a:endParaRPr lang="en-US"/>
          </a:p>
        </p:txBody>
      </p:sp>
      <p:sp>
        <p:nvSpPr>
          <p:cNvPr id="30" name="Shape 28"/>
          <p:cNvSpPr/>
          <p:nvPr/>
        </p:nvSpPr>
        <p:spPr>
          <a:xfrm>
            <a:off x="9009888" y="3228848"/>
            <a:ext cx="396240" cy="400304"/>
          </a:xfrm>
          <a:prstGeom prst="roundRect">
            <a:avLst>
              <a:gd name="adj" fmla="val 9231"/>
            </a:avLst>
          </a:prstGeom>
          <a:solidFill>
            <a:schemeClr val="accent1">
              <a:alpha val="20000"/>
            </a:schemeClr>
          </a:solidFill>
          <a:ln/>
        </p:spPr>
        <p:txBody>
          <a:bodyPr/>
          <a:lstStyle/>
          <a:p>
            <a:endParaRPr lang="en-US"/>
          </a:p>
        </p:txBody>
      </p:sp>
      <p:sp>
        <p:nvSpPr>
          <p:cNvPr id="31" name="Shape 29"/>
          <p:cNvSpPr/>
          <p:nvPr/>
        </p:nvSpPr>
        <p:spPr>
          <a:xfrm>
            <a:off x="9515856" y="3228848"/>
            <a:ext cx="396240" cy="400304"/>
          </a:xfrm>
          <a:prstGeom prst="roundRect">
            <a:avLst>
              <a:gd name="adj" fmla="val 9231"/>
            </a:avLst>
          </a:prstGeom>
          <a:solidFill>
            <a:schemeClr val="accent1">
              <a:alpha val="45000"/>
            </a:schemeClr>
          </a:solidFill>
          <a:ln/>
        </p:spPr>
        <p:txBody>
          <a:bodyPr/>
          <a:lstStyle/>
          <a:p>
            <a:endParaRPr lang="en-US"/>
          </a:p>
        </p:txBody>
      </p:sp>
      <p:sp>
        <p:nvSpPr>
          <p:cNvPr id="32" name="Shape 30"/>
          <p:cNvSpPr/>
          <p:nvPr/>
        </p:nvSpPr>
        <p:spPr>
          <a:xfrm>
            <a:off x="10021824" y="3228848"/>
            <a:ext cx="396240" cy="400304"/>
          </a:xfrm>
          <a:prstGeom prst="roundRect">
            <a:avLst>
              <a:gd name="adj" fmla="val 9231"/>
            </a:avLst>
          </a:prstGeom>
          <a:solidFill>
            <a:schemeClr val="accent1">
              <a:alpha val="75000"/>
            </a:schemeClr>
          </a:solidFill>
          <a:ln/>
        </p:spPr>
        <p:txBody>
          <a:bodyPr/>
          <a:lstStyle/>
          <a:p>
            <a:endParaRPr lang="en-US"/>
          </a:p>
        </p:txBody>
      </p:sp>
      <p:sp>
        <p:nvSpPr>
          <p:cNvPr id="33" name="Shape 31"/>
          <p:cNvSpPr/>
          <p:nvPr/>
        </p:nvSpPr>
        <p:spPr>
          <a:xfrm>
            <a:off x="10527792" y="3228848"/>
            <a:ext cx="396240" cy="400304"/>
          </a:xfrm>
          <a:prstGeom prst="roundRect">
            <a:avLst>
              <a:gd name="adj" fmla="val 9231"/>
            </a:avLst>
          </a:prstGeom>
          <a:solidFill>
            <a:schemeClr val="accent1"/>
          </a:solidFill>
          <a:ln/>
        </p:spPr>
        <p:txBody>
          <a:bodyPr/>
          <a:lstStyle/>
          <a:p>
            <a:endParaRPr lang="en-US"/>
          </a:p>
        </p:txBody>
      </p:sp>
      <p:sp>
        <p:nvSpPr>
          <p:cNvPr id="34" name="Shape 32"/>
          <p:cNvSpPr/>
          <p:nvPr/>
        </p:nvSpPr>
        <p:spPr>
          <a:xfrm>
            <a:off x="11033760" y="3228848"/>
            <a:ext cx="396240" cy="400304"/>
          </a:xfrm>
          <a:prstGeom prst="roundRect">
            <a:avLst>
              <a:gd name="adj" fmla="val 9231"/>
            </a:avLst>
          </a:prstGeom>
          <a:solidFill>
            <a:schemeClr val="accent1">
              <a:alpha val="20000"/>
            </a:schemeClr>
          </a:solidFill>
          <a:ln/>
        </p:spPr>
        <p:txBody>
          <a:bodyPr/>
          <a:lstStyle/>
          <a:p>
            <a:endParaRPr lang="en-US"/>
          </a:p>
        </p:txBody>
      </p:sp>
      <p:sp>
        <p:nvSpPr>
          <p:cNvPr id="35" name="Shape 33"/>
          <p:cNvSpPr/>
          <p:nvPr/>
        </p:nvSpPr>
        <p:spPr>
          <a:xfrm>
            <a:off x="8503920" y="3738880"/>
            <a:ext cx="396240" cy="400304"/>
          </a:xfrm>
          <a:prstGeom prst="roundRect">
            <a:avLst>
              <a:gd name="adj" fmla="val 9231"/>
            </a:avLst>
          </a:prstGeom>
          <a:solidFill>
            <a:schemeClr val="accent1">
              <a:alpha val="20000"/>
            </a:schemeClr>
          </a:solidFill>
          <a:ln/>
        </p:spPr>
        <p:txBody>
          <a:bodyPr/>
          <a:lstStyle/>
          <a:p>
            <a:endParaRPr lang="en-US"/>
          </a:p>
        </p:txBody>
      </p:sp>
      <p:sp>
        <p:nvSpPr>
          <p:cNvPr id="36" name="Shape 34"/>
          <p:cNvSpPr/>
          <p:nvPr/>
        </p:nvSpPr>
        <p:spPr>
          <a:xfrm>
            <a:off x="9009888" y="3738880"/>
            <a:ext cx="396240" cy="400304"/>
          </a:xfrm>
          <a:prstGeom prst="roundRect">
            <a:avLst>
              <a:gd name="adj" fmla="val 9231"/>
            </a:avLst>
          </a:prstGeom>
          <a:solidFill>
            <a:schemeClr val="accent1">
              <a:alpha val="20000"/>
            </a:schemeClr>
          </a:solidFill>
          <a:ln/>
        </p:spPr>
        <p:txBody>
          <a:bodyPr/>
          <a:lstStyle/>
          <a:p>
            <a:endParaRPr lang="en-US"/>
          </a:p>
        </p:txBody>
      </p:sp>
      <p:sp>
        <p:nvSpPr>
          <p:cNvPr id="37" name="Shape 35"/>
          <p:cNvSpPr/>
          <p:nvPr/>
        </p:nvSpPr>
        <p:spPr>
          <a:xfrm>
            <a:off x="9515856" y="3738880"/>
            <a:ext cx="396240" cy="400304"/>
          </a:xfrm>
          <a:prstGeom prst="roundRect">
            <a:avLst>
              <a:gd name="adj" fmla="val 9231"/>
            </a:avLst>
          </a:prstGeom>
          <a:solidFill>
            <a:schemeClr val="accent1">
              <a:alpha val="20000"/>
            </a:schemeClr>
          </a:solidFill>
          <a:ln/>
        </p:spPr>
        <p:txBody>
          <a:bodyPr/>
          <a:lstStyle/>
          <a:p>
            <a:endParaRPr lang="en-US"/>
          </a:p>
        </p:txBody>
      </p:sp>
      <p:sp>
        <p:nvSpPr>
          <p:cNvPr id="38" name="Shape 36"/>
          <p:cNvSpPr/>
          <p:nvPr/>
        </p:nvSpPr>
        <p:spPr>
          <a:xfrm>
            <a:off x="10021824" y="3738880"/>
            <a:ext cx="396240" cy="400304"/>
          </a:xfrm>
          <a:prstGeom prst="roundRect">
            <a:avLst>
              <a:gd name="adj" fmla="val 9231"/>
            </a:avLst>
          </a:prstGeom>
          <a:solidFill>
            <a:schemeClr val="accent1">
              <a:alpha val="20000"/>
            </a:schemeClr>
          </a:solidFill>
          <a:ln/>
        </p:spPr>
        <p:txBody>
          <a:bodyPr/>
          <a:lstStyle/>
          <a:p>
            <a:endParaRPr lang="en-US"/>
          </a:p>
        </p:txBody>
      </p:sp>
      <p:sp>
        <p:nvSpPr>
          <p:cNvPr id="39" name="Shape 37"/>
          <p:cNvSpPr/>
          <p:nvPr/>
        </p:nvSpPr>
        <p:spPr>
          <a:xfrm>
            <a:off x="10527792" y="3738880"/>
            <a:ext cx="396240" cy="400304"/>
          </a:xfrm>
          <a:prstGeom prst="roundRect">
            <a:avLst>
              <a:gd name="adj" fmla="val 9231"/>
            </a:avLst>
          </a:prstGeom>
          <a:solidFill>
            <a:schemeClr val="accent1">
              <a:alpha val="20000"/>
            </a:schemeClr>
          </a:solidFill>
          <a:ln/>
        </p:spPr>
        <p:txBody>
          <a:bodyPr/>
          <a:lstStyle/>
          <a:p>
            <a:endParaRPr lang="en-US"/>
          </a:p>
        </p:txBody>
      </p:sp>
      <p:sp>
        <p:nvSpPr>
          <p:cNvPr id="40" name="Shape 38"/>
          <p:cNvSpPr/>
          <p:nvPr/>
        </p:nvSpPr>
        <p:spPr>
          <a:xfrm>
            <a:off x="11033760" y="3738880"/>
            <a:ext cx="396240" cy="400304"/>
          </a:xfrm>
          <a:prstGeom prst="roundRect">
            <a:avLst>
              <a:gd name="adj" fmla="val 9231"/>
            </a:avLst>
          </a:prstGeom>
          <a:solidFill>
            <a:schemeClr val="accent1">
              <a:alpha val="20000"/>
            </a:schemeClr>
          </a:solidFill>
          <a:ln/>
        </p:spPr>
        <p:txBody>
          <a:bodyPr/>
          <a:lstStyle/>
          <a:p>
            <a:endParaRPr lang="en-US"/>
          </a:p>
        </p:txBody>
      </p:sp>
      <p:sp>
        <p:nvSpPr>
          <p:cNvPr id="41" name="Shape 39"/>
          <p:cNvSpPr/>
          <p:nvPr/>
        </p:nvSpPr>
        <p:spPr>
          <a:xfrm>
            <a:off x="8503920" y="4248912"/>
            <a:ext cx="396240" cy="400304"/>
          </a:xfrm>
          <a:prstGeom prst="roundRect">
            <a:avLst>
              <a:gd name="adj" fmla="val 9231"/>
            </a:avLst>
          </a:prstGeom>
          <a:solidFill>
            <a:schemeClr val="accent1">
              <a:alpha val="45000"/>
            </a:schemeClr>
          </a:solidFill>
          <a:ln/>
        </p:spPr>
        <p:txBody>
          <a:bodyPr/>
          <a:lstStyle/>
          <a:p>
            <a:endParaRPr lang="en-US"/>
          </a:p>
        </p:txBody>
      </p:sp>
      <p:sp>
        <p:nvSpPr>
          <p:cNvPr id="42" name="Shape 40"/>
          <p:cNvSpPr/>
          <p:nvPr/>
        </p:nvSpPr>
        <p:spPr>
          <a:xfrm>
            <a:off x="9009888" y="4248912"/>
            <a:ext cx="396240" cy="400304"/>
          </a:xfrm>
          <a:prstGeom prst="roundRect">
            <a:avLst>
              <a:gd name="adj" fmla="val 9231"/>
            </a:avLst>
          </a:prstGeom>
          <a:solidFill>
            <a:schemeClr val="accent1">
              <a:alpha val="20000"/>
            </a:schemeClr>
          </a:solidFill>
          <a:ln/>
        </p:spPr>
        <p:txBody>
          <a:bodyPr/>
          <a:lstStyle/>
          <a:p>
            <a:endParaRPr lang="en-US"/>
          </a:p>
        </p:txBody>
      </p:sp>
      <p:sp>
        <p:nvSpPr>
          <p:cNvPr id="43" name="Shape 41"/>
          <p:cNvSpPr/>
          <p:nvPr/>
        </p:nvSpPr>
        <p:spPr>
          <a:xfrm>
            <a:off x="9515856" y="4248912"/>
            <a:ext cx="396240" cy="400304"/>
          </a:xfrm>
          <a:prstGeom prst="roundRect">
            <a:avLst>
              <a:gd name="adj" fmla="val 9231"/>
            </a:avLst>
          </a:prstGeom>
          <a:solidFill>
            <a:schemeClr val="accent1"/>
          </a:solidFill>
          <a:ln/>
        </p:spPr>
        <p:txBody>
          <a:bodyPr/>
          <a:lstStyle/>
          <a:p>
            <a:endParaRPr lang="en-US"/>
          </a:p>
        </p:txBody>
      </p:sp>
      <p:sp>
        <p:nvSpPr>
          <p:cNvPr id="44" name="Shape 42"/>
          <p:cNvSpPr/>
          <p:nvPr/>
        </p:nvSpPr>
        <p:spPr>
          <a:xfrm>
            <a:off x="10021824" y="4248912"/>
            <a:ext cx="396240" cy="400304"/>
          </a:xfrm>
          <a:prstGeom prst="roundRect">
            <a:avLst>
              <a:gd name="adj" fmla="val 9231"/>
            </a:avLst>
          </a:prstGeom>
          <a:solidFill>
            <a:schemeClr val="accent1">
              <a:alpha val="75000"/>
            </a:schemeClr>
          </a:solidFill>
          <a:ln/>
        </p:spPr>
        <p:txBody>
          <a:bodyPr/>
          <a:lstStyle/>
          <a:p>
            <a:endParaRPr lang="en-US"/>
          </a:p>
        </p:txBody>
      </p:sp>
      <p:sp>
        <p:nvSpPr>
          <p:cNvPr id="45" name="Shape 43"/>
          <p:cNvSpPr/>
          <p:nvPr/>
        </p:nvSpPr>
        <p:spPr>
          <a:xfrm>
            <a:off x="10527792" y="4248912"/>
            <a:ext cx="396240" cy="400304"/>
          </a:xfrm>
          <a:prstGeom prst="roundRect">
            <a:avLst>
              <a:gd name="adj" fmla="val 9231"/>
            </a:avLst>
          </a:prstGeom>
          <a:solidFill>
            <a:schemeClr val="accent1">
              <a:alpha val="45000"/>
            </a:schemeClr>
          </a:solidFill>
          <a:ln/>
        </p:spPr>
        <p:txBody>
          <a:bodyPr/>
          <a:lstStyle/>
          <a:p>
            <a:endParaRPr lang="en-US"/>
          </a:p>
        </p:txBody>
      </p:sp>
      <p:sp>
        <p:nvSpPr>
          <p:cNvPr id="46" name="Shape 44"/>
          <p:cNvSpPr/>
          <p:nvPr/>
        </p:nvSpPr>
        <p:spPr>
          <a:xfrm>
            <a:off x="11033760" y="4248912"/>
            <a:ext cx="396240" cy="400304"/>
          </a:xfrm>
          <a:prstGeom prst="roundRect">
            <a:avLst>
              <a:gd name="adj" fmla="val 9231"/>
            </a:avLst>
          </a:prstGeom>
          <a:solidFill>
            <a:schemeClr val="accent1">
              <a:alpha val="20000"/>
            </a:schemeClr>
          </a:solidFill>
          <a:ln/>
        </p:spPr>
        <p:txBody>
          <a:bodyPr/>
          <a:lstStyle/>
          <a:p>
            <a:endParaRPr lang="en-US"/>
          </a:p>
        </p:txBody>
      </p:sp>
      <p:sp>
        <p:nvSpPr>
          <p:cNvPr id="47" name="Shape 45"/>
          <p:cNvSpPr/>
          <p:nvPr/>
        </p:nvSpPr>
        <p:spPr>
          <a:xfrm>
            <a:off x="8503920" y="4758944"/>
            <a:ext cx="396240" cy="400304"/>
          </a:xfrm>
          <a:prstGeom prst="roundRect">
            <a:avLst>
              <a:gd name="adj" fmla="val 9231"/>
            </a:avLst>
          </a:prstGeom>
          <a:solidFill>
            <a:schemeClr val="accent1">
              <a:alpha val="75000"/>
            </a:schemeClr>
          </a:solidFill>
          <a:ln/>
        </p:spPr>
        <p:txBody>
          <a:bodyPr/>
          <a:lstStyle/>
          <a:p>
            <a:endParaRPr lang="en-US"/>
          </a:p>
        </p:txBody>
      </p:sp>
      <p:sp>
        <p:nvSpPr>
          <p:cNvPr id="48" name="Shape 46"/>
          <p:cNvSpPr/>
          <p:nvPr/>
        </p:nvSpPr>
        <p:spPr>
          <a:xfrm>
            <a:off x="9009888" y="4758944"/>
            <a:ext cx="396240" cy="400304"/>
          </a:xfrm>
          <a:prstGeom prst="roundRect">
            <a:avLst>
              <a:gd name="adj" fmla="val 9231"/>
            </a:avLst>
          </a:prstGeom>
          <a:solidFill>
            <a:schemeClr val="accent1">
              <a:alpha val="20000"/>
            </a:schemeClr>
          </a:solidFill>
          <a:ln/>
        </p:spPr>
        <p:txBody>
          <a:bodyPr/>
          <a:lstStyle/>
          <a:p>
            <a:endParaRPr lang="en-US"/>
          </a:p>
        </p:txBody>
      </p:sp>
      <p:sp>
        <p:nvSpPr>
          <p:cNvPr id="49" name="Shape 47"/>
          <p:cNvSpPr/>
          <p:nvPr/>
        </p:nvSpPr>
        <p:spPr>
          <a:xfrm>
            <a:off x="9515856" y="4758944"/>
            <a:ext cx="396240" cy="400304"/>
          </a:xfrm>
          <a:prstGeom prst="roundRect">
            <a:avLst>
              <a:gd name="adj" fmla="val 9231"/>
            </a:avLst>
          </a:prstGeom>
          <a:solidFill>
            <a:schemeClr val="accent1">
              <a:alpha val="75000"/>
            </a:schemeClr>
          </a:solidFill>
          <a:ln/>
        </p:spPr>
        <p:txBody>
          <a:bodyPr/>
          <a:lstStyle/>
          <a:p>
            <a:endParaRPr lang="en-US"/>
          </a:p>
        </p:txBody>
      </p:sp>
      <p:sp>
        <p:nvSpPr>
          <p:cNvPr id="50" name="Shape 48"/>
          <p:cNvSpPr/>
          <p:nvPr/>
        </p:nvSpPr>
        <p:spPr>
          <a:xfrm>
            <a:off x="10021824" y="4758944"/>
            <a:ext cx="396240" cy="400304"/>
          </a:xfrm>
          <a:prstGeom prst="roundRect">
            <a:avLst>
              <a:gd name="adj" fmla="val 9231"/>
            </a:avLst>
          </a:prstGeom>
          <a:solidFill>
            <a:schemeClr val="accent1">
              <a:alpha val="20000"/>
            </a:schemeClr>
          </a:solidFill>
          <a:ln/>
        </p:spPr>
        <p:txBody>
          <a:bodyPr/>
          <a:lstStyle/>
          <a:p>
            <a:endParaRPr lang="en-US"/>
          </a:p>
        </p:txBody>
      </p:sp>
      <p:sp>
        <p:nvSpPr>
          <p:cNvPr id="51" name="Shape 49"/>
          <p:cNvSpPr/>
          <p:nvPr/>
        </p:nvSpPr>
        <p:spPr>
          <a:xfrm>
            <a:off x="10527792" y="4758944"/>
            <a:ext cx="396240" cy="400304"/>
          </a:xfrm>
          <a:prstGeom prst="roundRect">
            <a:avLst>
              <a:gd name="adj" fmla="val 9231"/>
            </a:avLst>
          </a:prstGeom>
          <a:solidFill>
            <a:schemeClr val="accent1">
              <a:alpha val="75000"/>
            </a:schemeClr>
          </a:solidFill>
          <a:ln/>
        </p:spPr>
        <p:txBody>
          <a:bodyPr/>
          <a:lstStyle/>
          <a:p>
            <a:endParaRPr lang="en-US"/>
          </a:p>
        </p:txBody>
      </p:sp>
      <p:sp>
        <p:nvSpPr>
          <p:cNvPr id="52" name="Shape 50"/>
          <p:cNvSpPr/>
          <p:nvPr/>
        </p:nvSpPr>
        <p:spPr>
          <a:xfrm>
            <a:off x="11033760" y="4758944"/>
            <a:ext cx="396240" cy="400304"/>
          </a:xfrm>
          <a:prstGeom prst="roundRect">
            <a:avLst>
              <a:gd name="adj" fmla="val 9231"/>
            </a:avLst>
          </a:prstGeom>
          <a:solidFill>
            <a:schemeClr val="accent1">
              <a:alpha val="20000"/>
            </a:schemeClr>
          </a:solidFill>
          <a:ln/>
        </p:spPr>
        <p:txBody>
          <a:bodyPr/>
          <a:lstStyle/>
          <a:p>
            <a:endParaRPr lang="en-US"/>
          </a:p>
        </p:txBody>
      </p:sp>
      <p:sp>
        <p:nvSpPr>
          <p:cNvPr id="53" name="Shape 51"/>
          <p:cNvSpPr/>
          <p:nvPr/>
        </p:nvSpPr>
        <p:spPr>
          <a:xfrm>
            <a:off x="8503920" y="5268976"/>
            <a:ext cx="396240" cy="400304"/>
          </a:xfrm>
          <a:prstGeom prst="roundRect">
            <a:avLst>
              <a:gd name="adj" fmla="val 9231"/>
            </a:avLst>
          </a:prstGeom>
          <a:solidFill>
            <a:schemeClr val="accent1"/>
          </a:solidFill>
          <a:ln/>
        </p:spPr>
        <p:txBody>
          <a:bodyPr/>
          <a:lstStyle/>
          <a:p>
            <a:endParaRPr lang="en-US"/>
          </a:p>
        </p:txBody>
      </p:sp>
      <p:sp>
        <p:nvSpPr>
          <p:cNvPr id="54" name="Shape 52"/>
          <p:cNvSpPr/>
          <p:nvPr/>
        </p:nvSpPr>
        <p:spPr>
          <a:xfrm>
            <a:off x="9009888" y="5268976"/>
            <a:ext cx="396240" cy="400304"/>
          </a:xfrm>
          <a:prstGeom prst="roundRect">
            <a:avLst>
              <a:gd name="adj" fmla="val 9231"/>
            </a:avLst>
          </a:prstGeom>
          <a:solidFill>
            <a:schemeClr val="accent1">
              <a:alpha val="20000"/>
            </a:schemeClr>
          </a:solidFill>
          <a:ln/>
        </p:spPr>
        <p:txBody>
          <a:bodyPr/>
          <a:lstStyle/>
          <a:p>
            <a:endParaRPr lang="en-US"/>
          </a:p>
        </p:txBody>
      </p:sp>
      <p:sp>
        <p:nvSpPr>
          <p:cNvPr id="55" name="Shape 53"/>
          <p:cNvSpPr/>
          <p:nvPr/>
        </p:nvSpPr>
        <p:spPr>
          <a:xfrm>
            <a:off x="9515856" y="5268976"/>
            <a:ext cx="396240" cy="400304"/>
          </a:xfrm>
          <a:prstGeom prst="roundRect">
            <a:avLst>
              <a:gd name="adj" fmla="val 9231"/>
            </a:avLst>
          </a:prstGeom>
          <a:solidFill>
            <a:schemeClr val="accent1">
              <a:alpha val="45000"/>
            </a:schemeClr>
          </a:solidFill>
          <a:ln/>
        </p:spPr>
        <p:txBody>
          <a:bodyPr/>
          <a:lstStyle/>
          <a:p>
            <a:endParaRPr lang="en-US"/>
          </a:p>
        </p:txBody>
      </p:sp>
      <p:sp>
        <p:nvSpPr>
          <p:cNvPr id="56" name="Shape 54"/>
          <p:cNvSpPr/>
          <p:nvPr/>
        </p:nvSpPr>
        <p:spPr>
          <a:xfrm>
            <a:off x="10021824" y="5268976"/>
            <a:ext cx="396240" cy="400304"/>
          </a:xfrm>
          <a:prstGeom prst="roundRect">
            <a:avLst>
              <a:gd name="adj" fmla="val 9231"/>
            </a:avLst>
          </a:prstGeom>
          <a:solidFill>
            <a:schemeClr val="accent1">
              <a:alpha val="75000"/>
            </a:schemeClr>
          </a:solidFill>
          <a:ln/>
        </p:spPr>
        <p:txBody>
          <a:bodyPr/>
          <a:lstStyle/>
          <a:p>
            <a:endParaRPr lang="en-US"/>
          </a:p>
        </p:txBody>
      </p:sp>
      <p:sp>
        <p:nvSpPr>
          <p:cNvPr id="57" name="Shape 55"/>
          <p:cNvSpPr/>
          <p:nvPr/>
        </p:nvSpPr>
        <p:spPr>
          <a:xfrm>
            <a:off x="10527792" y="5268976"/>
            <a:ext cx="396240" cy="400304"/>
          </a:xfrm>
          <a:prstGeom prst="roundRect">
            <a:avLst>
              <a:gd name="adj" fmla="val 9231"/>
            </a:avLst>
          </a:prstGeom>
          <a:solidFill>
            <a:schemeClr val="accent1"/>
          </a:solidFill>
          <a:ln/>
        </p:spPr>
        <p:txBody>
          <a:bodyPr/>
          <a:lstStyle/>
          <a:p>
            <a:endParaRPr lang="en-US"/>
          </a:p>
        </p:txBody>
      </p:sp>
      <p:sp>
        <p:nvSpPr>
          <p:cNvPr id="58" name="Shape 56"/>
          <p:cNvSpPr/>
          <p:nvPr/>
        </p:nvSpPr>
        <p:spPr>
          <a:xfrm>
            <a:off x="11033760" y="5268976"/>
            <a:ext cx="396240" cy="400304"/>
          </a:xfrm>
          <a:prstGeom prst="roundRect">
            <a:avLst>
              <a:gd name="adj" fmla="val 9231"/>
            </a:avLst>
          </a:prstGeom>
          <a:solidFill>
            <a:schemeClr val="accent1">
              <a:alpha val="20000"/>
            </a:schemeClr>
          </a:solidFill>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Why GPUs? CPU latency vs GPU throughput</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Different design goals lead to very different silicon</a:t>
            </a:r>
            <a:endParaRPr lang="en-US" sz="1600" dirty="0"/>
          </a:p>
        </p:txBody>
      </p:sp>
      <p:sp>
        <p:nvSpPr>
          <p:cNvPr id="4" name="Shape 2"/>
          <p:cNvSpPr/>
          <p:nvPr/>
        </p:nvSpPr>
        <p:spPr>
          <a:xfrm>
            <a:off x="548640" y="1600200"/>
            <a:ext cx="5349240" cy="3749040"/>
          </a:xfrm>
          <a:prstGeom prst="roundRect">
            <a:avLst>
              <a:gd name="adj" fmla="val 1951"/>
            </a:avLst>
          </a:prstGeom>
          <a:solidFill>
            <a:schemeClr val="bg2"/>
          </a:solidFill>
          <a:ln/>
        </p:spPr>
        <p:txBody>
          <a:bodyPr/>
          <a:lstStyle/>
          <a:p>
            <a:endParaRPr lang="en-US"/>
          </a:p>
        </p:txBody>
      </p:sp>
      <p:sp>
        <p:nvSpPr>
          <p:cNvPr id="5" name="Text 3"/>
          <p:cNvSpPr txBox="1"/>
          <p:nvPr/>
        </p:nvSpPr>
        <p:spPr>
          <a:xfrm>
            <a:off x="777240" y="1737360"/>
            <a:ext cx="4937760" cy="411480"/>
          </a:xfrm>
          <a:prstGeom prst="rect">
            <a:avLst/>
          </a:prstGeom>
          <a:noFill/>
          <a:ln/>
        </p:spPr>
        <p:txBody>
          <a:bodyPr wrap="square" lIns="0" tIns="0" rIns="0" bIns="0" rtlCol="0" anchor="t"/>
          <a:lstStyle/>
          <a:p>
            <a:pPr marL="0" indent="0">
              <a:buNone/>
            </a:pPr>
            <a:r>
              <a:rPr lang="en-US" sz="1800" b="1" dirty="0">
                <a:solidFill>
                  <a:schemeClr val="tx1"/>
                </a:solidFill>
              </a:rPr>
              <a:t>CPU: a few powerful cores</a:t>
            </a:r>
            <a:endParaRPr lang="en-US" sz="1800" dirty="0"/>
          </a:p>
        </p:txBody>
      </p:sp>
      <p:sp>
        <p:nvSpPr>
          <p:cNvPr id="6" name="Text 4"/>
          <p:cNvSpPr/>
          <p:nvPr/>
        </p:nvSpPr>
        <p:spPr>
          <a:xfrm>
            <a:off x="822960" y="2286000"/>
            <a:ext cx="1097280" cy="777240"/>
          </a:xfrm>
          <a:prstGeom prst="roundRect">
            <a:avLst>
              <a:gd name="adj" fmla="val 5882"/>
            </a:avLst>
          </a:prstGeom>
          <a:solidFill>
            <a:schemeClr val="tx2"/>
          </a:solidFill>
          <a:ln/>
        </p:spPr>
        <p:txBody>
          <a:bodyPr wrap="square" lIns="381" tIns="381" rIns="381" bIns="381" rtlCol="0" anchor="ctr"/>
          <a:lstStyle/>
          <a:p>
            <a:pPr marL="0" indent="0" algn="ctr">
              <a:buNone/>
            </a:pPr>
            <a:r>
              <a:rPr lang="en-US" sz="1300" b="1" dirty="0">
                <a:solidFill>
                  <a:schemeClr val="bg1"/>
                </a:solidFill>
              </a:rPr>
              <a:t>Core</a:t>
            </a:r>
            <a:endParaRPr lang="en-US" sz="1300" dirty="0"/>
          </a:p>
        </p:txBody>
      </p:sp>
      <p:sp>
        <p:nvSpPr>
          <p:cNvPr id="7" name="Text 5"/>
          <p:cNvSpPr/>
          <p:nvPr/>
        </p:nvSpPr>
        <p:spPr>
          <a:xfrm>
            <a:off x="2057400" y="2286000"/>
            <a:ext cx="1097280" cy="777240"/>
          </a:xfrm>
          <a:prstGeom prst="roundRect">
            <a:avLst>
              <a:gd name="adj" fmla="val 5882"/>
            </a:avLst>
          </a:prstGeom>
          <a:solidFill>
            <a:schemeClr val="tx2"/>
          </a:solidFill>
          <a:ln/>
        </p:spPr>
        <p:txBody>
          <a:bodyPr wrap="square" lIns="381" tIns="381" rIns="381" bIns="381" rtlCol="0" anchor="ctr"/>
          <a:lstStyle/>
          <a:p>
            <a:pPr marL="0" indent="0" algn="ctr">
              <a:buNone/>
            </a:pPr>
            <a:r>
              <a:rPr lang="en-US" sz="1300" b="1" dirty="0">
                <a:solidFill>
                  <a:schemeClr val="bg1"/>
                </a:solidFill>
              </a:rPr>
              <a:t>Core</a:t>
            </a:r>
            <a:endParaRPr lang="en-US" sz="1300" dirty="0"/>
          </a:p>
        </p:txBody>
      </p:sp>
      <p:sp>
        <p:nvSpPr>
          <p:cNvPr id="8" name="Text 6"/>
          <p:cNvSpPr/>
          <p:nvPr/>
        </p:nvSpPr>
        <p:spPr>
          <a:xfrm>
            <a:off x="822960" y="3200400"/>
            <a:ext cx="1097280" cy="777240"/>
          </a:xfrm>
          <a:prstGeom prst="roundRect">
            <a:avLst>
              <a:gd name="adj" fmla="val 5882"/>
            </a:avLst>
          </a:prstGeom>
          <a:solidFill>
            <a:schemeClr val="tx2"/>
          </a:solidFill>
          <a:ln/>
        </p:spPr>
        <p:txBody>
          <a:bodyPr wrap="square" lIns="381" tIns="381" rIns="381" bIns="381" rtlCol="0" anchor="ctr"/>
          <a:lstStyle/>
          <a:p>
            <a:pPr marL="0" indent="0" algn="ctr">
              <a:buNone/>
            </a:pPr>
            <a:r>
              <a:rPr lang="en-US" sz="1300" b="1" dirty="0">
                <a:solidFill>
                  <a:schemeClr val="bg1"/>
                </a:solidFill>
              </a:rPr>
              <a:t>Core</a:t>
            </a:r>
            <a:endParaRPr lang="en-US" sz="1300" dirty="0"/>
          </a:p>
        </p:txBody>
      </p:sp>
      <p:sp>
        <p:nvSpPr>
          <p:cNvPr id="9" name="Text 7"/>
          <p:cNvSpPr/>
          <p:nvPr/>
        </p:nvSpPr>
        <p:spPr>
          <a:xfrm>
            <a:off x="2057400" y="3200400"/>
            <a:ext cx="1097280" cy="777240"/>
          </a:xfrm>
          <a:prstGeom prst="roundRect">
            <a:avLst>
              <a:gd name="adj" fmla="val 5882"/>
            </a:avLst>
          </a:prstGeom>
          <a:solidFill>
            <a:schemeClr val="tx2"/>
          </a:solidFill>
          <a:ln/>
        </p:spPr>
        <p:txBody>
          <a:bodyPr wrap="square" lIns="381" tIns="381" rIns="381" bIns="381" rtlCol="0" anchor="ctr"/>
          <a:lstStyle/>
          <a:p>
            <a:pPr marL="0" indent="0" algn="ctr">
              <a:buNone/>
            </a:pPr>
            <a:r>
              <a:rPr lang="en-US" sz="1300" b="1" dirty="0">
                <a:solidFill>
                  <a:schemeClr val="bg1"/>
                </a:solidFill>
              </a:rPr>
              <a:t>Core</a:t>
            </a:r>
            <a:endParaRPr lang="en-US" sz="1300" dirty="0"/>
          </a:p>
        </p:txBody>
      </p:sp>
      <p:sp>
        <p:nvSpPr>
          <p:cNvPr id="10" name="Text 8"/>
          <p:cNvSpPr/>
          <p:nvPr/>
        </p:nvSpPr>
        <p:spPr>
          <a:xfrm>
            <a:off x="3337560" y="2286000"/>
            <a:ext cx="2286000" cy="777240"/>
          </a:xfrm>
          <a:prstGeom prst="roundRect">
            <a:avLst>
              <a:gd name="adj" fmla="val 5882"/>
            </a:avLst>
          </a:prstGeom>
          <a:solidFill>
            <a:schemeClr val="accent4"/>
          </a:solidFill>
          <a:ln/>
        </p:spPr>
        <p:txBody>
          <a:bodyPr wrap="square" lIns="381" tIns="381" rIns="381" bIns="381" rtlCol="0" anchor="ctr"/>
          <a:lstStyle/>
          <a:p>
            <a:pPr marL="0" indent="0" algn="ctr">
              <a:buNone/>
            </a:pPr>
            <a:r>
              <a:rPr lang="en-US" sz="1300" b="1" dirty="0">
                <a:solidFill>
                  <a:schemeClr val="bg1"/>
                </a:solidFill>
              </a:rPr>
              <a:t>Large caches</a:t>
            </a:r>
            <a:endParaRPr lang="en-US" sz="1300" dirty="0"/>
          </a:p>
        </p:txBody>
      </p:sp>
      <p:sp>
        <p:nvSpPr>
          <p:cNvPr id="11" name="Text 9"/>
          <p:cNvSpPr/>
          <p:nvPr/>
        </p:nvSpPr>
        <p:spPr>
          <a:xfrm>
            <a:off x="3337560" y="3200400"/>
            <a:ext cx="2286000" cy="777240"/>
          </a:xfrm>
          <a:prstGeom prst="roundRect">
            <a:avLst>
              <a:gd name="adj" fmla="val 5882"/>
            </a:avLst>
          </a:prstGeom>
          <a:solidFill>
            <a:schemeClr val="accent5"/>
          </a:solidFill>
          <a:ln/>
        </p:spPr>
        <p:txBody>
          <a:bodyPr wrap="square" lIns="381" tIns="381" rIns="381" bIns="381" rtlCol="0" anchor="ctr"/>
          <a:lstStyle/>
          <a:p>
            <a:pPr marL="0" indent="0" algn="ctr">
              <a:buNone/>
            </a:pPr>
            <a:r>
              <a:rPr lang="en-US" sz="1300" b="1" dirty="0">
                <a:solidFill>
                  <a:schemeClr val="bg1"/>
                </a:solidFill>
              </a:rPr>
              <a:t>Control logic</a:t>
            </a:r>
            <a:endParaRPr lang="en-US" sz="1300" dirty="0"/>
          </a:p>
        </p:txBody>
      </p:sp>
      <p:sp>
        <p:nvSpPr>
          <p:cNvPr id="12" name="Text 10"/>
          <p:cNvSpPr txBox="1"/>
          <p:nvPr/>
        </p:nvSpPr>
        <p:spPr>
          <a:xfrm>
            <a:off x="777240" y="4160520"/>
            <a:ext cx="4937760" cy="109728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2"/>
                </a:solidFill>
              </a:rPr>
              <a:t>Tens of complex cores with branch prediction and out-of-order execution</a:t>
            </a:r>
            <a:endParaRPr lang="en-US" sz="1400" dirty="0"/>
          </a:p>
          <a:p>
            <a:pPr marL="342900" indent="-342900">
              <a:spcAft>
                <a:spcPts val="500"/>
              </a:spcAft>
              <a:buSzPct val="100000"/>
              <a:buChar char="•"/>
            </a:pPr>
            <a:r>
              <a:rPr lang="en-US" sz="1400" dirty="0">
                <a:solidFill>
                  <a:schemeClr val="tx2"/>
                </a:solidFill>
              </a:rPr>
              <a:t>Built to finish one task as fast as possible</a:t>
            </a:r>
            <a:endParaRPr lang="en-US" sz="1400" dirty="0"/>
          </a:p>
        </p:txBody>
      </p:sp>
      <p:sp>
        <p:nvSpPr>
          <p:cNvPr id="13" name="Shape 11"/>
          <p:cNvSpPr/>
          <p:nvPr/>
        </p:nvSpPr>
        <p:spPr>
          <a:xfrm>
            <a:off x="6263640" y="1600200"/>
            <a:ext cx="5349240" cy="3749040"/>
          </a:xfrm>
          <a:prstGeom prst="roundRect">
            <a:avLst>
              <a:gd name="adj" fmla="val 1951"/>
            </a:avLst>
          </a:prstGeom>
          <a:solidFill>
            <a:schemeClr val="bg2"/>
          </a:solidFill>
          <a:ln/>
        </p:spPr>
        <p:txBody>
          <a:bodyPr/>
          <a:lstStyle/>
          <a:p>
            <a:endParaRPr lang="en-US"/>
          </a:p>
        </p:txBody>
      </p:sp>
      <p:sp>
        <p:nvSpPr>
          <p:cNvPr id="14" name="Text 12"/>
          <p:cNvSpPr txBox="1"/>
          <p:nvPr/>
        </p:nvSpPr>
        <p:spPr>
          <a:xfrm>
            <a:off x="6492240" y="1737360"/>
            <a:ext cx="4937760" cy="411480"/>
          </a:xfrm>
          <a:prstGeom prst="rect">
            <a:avLst/>
          </a:prstGeom>
          <a:noFill/>
          <a:ln/>
        </p:spPr>
        <p:txBody>
          <a:bodyPr wrap="square" lIns="0" tIns="0" rIns="0" bIns="0" rtlCol="0" anchor="t"/>
          <a:lstStyle/>
          <a:p>
            <a:pPr marL="0" indent="0">
              <a:buNone/>
            </a:pPr>
            <a:r>
              <a:rPr lang="en-US" sz="1800" b="1" dirty="0">
                <a:solidFill>
                  <a:schemeClr val="tx1"/>
                </a:solidFill>
              </a:rPr>
              <a:t>GPU: thousands of simpler cores</a:t>
            </a:r>
            <a:endParaRPr lang="en-US" sz="1800" dirty="0"/>
          </a:p>
        </p:txBody>
      </p:sp>
      <p:sp>
        <p:nvSpPr>
          <p:cNvPr id="15" name="Shape 13"/>
          <p:cNvSpPr/>
          <p:nvPr/>
        </p:nvSpPr>
        <p:spPr>
          <a:xfrm>
            <a:off x="6492240" y="2286000"/>
            <a:ext cx="256032" cy="274320"/>
          </a:xfrm>
          <a:prstGeom prst="rect">
            <a:avLst/>
          </a:prstGeom>
          <a:solidFill>
            <a:schemeClr val="accent1"/>
          </a:solidFill>
          <a:ln/>
        </p:spPr>
        <p:txBody>
          <a:bodyPr/>
          <a:lstStyle/>
          <a:p>
            <a:endParaRPr lang="en-US"/>
          </a:p>
        </p:txBody>
      </p:sp>
      <p:sp>
        <p:nvSpPr>
          <p:cNvPr id="16" name="Shape 14"/>
          <p:cNvSpPr/>
          <p:nvPr/>
        </p:nvSpPr>
        <p:spPr>
          <a:xfrm>
            <a:off x="6798564" y="2286000"/>
            <a:ext cx="256032" cy="274320"/>
          </a:xfrm>
          <a:prstGeom prst="rect">
            <a:avLst/>
          </a:prstGeom>
          <a:solidFill>
            <a:schemeClr val="accent1"/>
          </a:solidFill>
          <a:ln/>
        </p:spPr>
        <p:txBody>
          <a:bodyPr/>
          <a:lstStyle/>
          <a:p>
            <a:endParaRPr lang="en-US"/>
          </a:p>
        </p:txBody>
      </p:sp>
      <p:sp>
        <p:nvSpPr>
          <p:cNvPr id="17" name="Shape 15"/>
          <p:cNvSpPr/>
          <p:nvPr/>
        </p:nvSpPr>
        <p:spPr>
          <a:xfrm>
            <a:off x="7104888" y="2286000"/>
            <a:ext cx="256032" cy="274320"/>
          </a:xfrm>
          <a:prstGeom prst="rect">
            <a:avLst/>
          </a:prstGeom>
          <a:solidFill>
            <a:schemeClr val="accent1"/>
          </a:solidFill>
          <a:ln/>
        </p:spPr>
        <p:txBody>
          <a:bodyPr/>
          <a:lstStyle/>
          <a:p>
            <a:endParaRPr lang="en-US"/>
          </a:p>
        </p:txBody>
      </p:sp>
      <p:sp>
        <p:nvSpPr>
          <p:cNvPr id="18" name="Shape 16"/>
          <p:cNvSpPr/>
          <p:nvPr/>
        </p:nvSpPr>
        <p:spPr>
          <a:xfrm>
            <a:off x="7411212" y="2286000"/>
            <a:ext cx="256032" cy="274320"/>
          </a:xfrm>
          <a:prstGeom prst="rect">
            <a:avLst/>
          </a:prstGeom>
          <a:solidFill>
            <a:schemeClr val="accent1"/>
          </a:solidFill>
          <a:ln/>
        </p:spPr>
        <p:txBody>
          <a:bodyPr/>
          <a:lstStyle/>
          <a:p>
            <a:endParaRPr lang="en-US"/>
          </a:p>
        </p:txBody>
      </p:sp>
      <p:sp>
        <p:nvSpPr>
          <p:cNvPr id="19" name="Shape 17"/>
          <p:cNvSpPr/>
          <p:nvPr/>
        </p:nvSpPr>
        <p:spPr>
          <a:xfrm>
            <a:off x="7717536" y="2286000"/>
            <a:ext cx="256032" cy="274320"/>
          </a:xfrm>
          <a:prstGeom prst="rect">
            <a:avLst/>
          </a:prstGeom>
          <a:solidFill>
            <a:schemeClr val="accent1"/>
          </a:solidFill>
          <a:ln/>
        </p:spPr>
        <p:txBody>
          <a:bodyPr/>
          <a:lstStyle/>
          <a:p>
            <a:endParaRPr lang="en-US"/>
          </a:p>
        </p:txBody>
      </p:sp>
      <p:sp>
        <p:nvSpPr>
          <p:cNvPr id="20" name="Shape 18"/>
          <p:cNvSpPr/>
          <p:nvPr/>
        </p:nvSpPr>
        <p:spPr>
          <a:xfrm>
            <a:off x="8023860" y="2286000"/>
            <a:ext cx="256032" cy="274320"/>
          </a:xfrm>
          <a:prstGeom prst="rect">
            <a:avLst/>
          </a:prstGeom>
          <a:solidFill>
            <a:schemeClr val="accent1"/>
          </a:solidFill>
          <a:ln/>
        </p:spPr>
        <p:txBody>
          <a:bodyPr/>
          <a:lstStyle/>
          <a:p>
            <a:endParaRPr lang="en-US"/>
          </a:p>
        </p:txBody>
      </p:sp>
      <p:sp>
        <p:nvSpPr>
          <p:cNvPr id="21" name="Shape 19"/>
          <p:cNvSpPr/>
          <p:nvPr/>
        </p:nvSpPr>
        <p:spPr>
          <a:xfrm>
            <a:off x="8330184" y="2286000"/>
            <a:ext cx="256032" cy="274320"/>
          </a:xfrm>
          <a:prstGeom prst="rect">
            <a:avLst/>
          </a:prstGeom>
          <a:solidFill>
            <a:schemeClr val="accent1"/>
          </a:solidFill>
          <a:ln/>
        </p:spPr>
        <p:txBody>
          <a:bodyPr/>
          <a:lstStyle/>
          <a:p>
            <a:endParaRPr lang="en-US"/>
          </a:p>
        </p:txBody>
      </p:sp>
      <p:sp>
        <p:nvSpPr>
          <p:cNvPr id="22" name="Shape 20"/>
          <p:cNvSpPr/>
          <p:nvPr/>
        </p:nvSpPr>
        <p:spPr>
          <a:xfrm>
            <a:off x="8636508" y="2286000"/>
            <a:ext cx="256032" cy="274320"/>
          </a:xfrm>
          <a:prstGeom prst="rect">
            <a:avLst/>
          </a:prstGeom>
          <a:solidFill>
            <a:schemeClr val="accent1"/>
          </a:solidFill>
          <a:ln/>
        </p:spPr>
        <p:txBody>
          <a:bodyPr/>
          <a:lstStyle/>
          <a:p>
            <a:endParaRPr lang="en-US"/>
          </a:p>
        </p:txBody>
      </p:sp>
      <p:sp>
        <p:nvSpPr>
          <p:cNvPr id="23" name="Shape 21"/>
          <p:cNvSpPr/>
          <p:nvPr/>
        </p:nvSpPr>
        <p:spPr>
          <a:xfrm>
            <a:off x="8942832" y="2286000"/>
            <a:ext cx="256032" cy="274320"/>
          </a:xfrm>
          <a:prstGeom prst="rect">
            <a:avLst/>
          </a:prstGeom>
          <a:solidFill>
            <a:schemeClr val="accent1"/>
          </a:solidFill>
          <a:ln/>
        </p:spPr>
        <p:txBody>
          <a:bodyPr/>
          <a:lstStyle/>
          <a:p>
            <a:endParaRPr lang="en-US"/>
          </a:p>
        </p:txBody>
      </p:sp>
      <p:sp>
        <p:nvSpPr>
          <p:cNvPr id="24" name="Shape 22"/>
          <p:cNvSpPr/>
          <p:nvPr/>
        </p:nvSpPr>
        <p:spPr>
          <a:xfrm>
            <a:off x="9249156" y="2286000"/>
            <a:ext cx="256032" cy="274320"/>
          </a:xfrm>
          <a:prstGeom prst="rect">
            <a:avLst/>
          </a:prstGeom>
          <a:solidFill>
            <a:schemeClr val="accent1"/>
          </a:solidFill>
          <a:ln/>
        </p:spPr>
        <p:txBody>
          <a:bodyPr/>
          <a:lstStyle/>
          <a:p>
            <a:endParaRPr lang="en-US"/>
          </a:p>
        </p:txBody>
      </p:sp>
      <p:sp>
        <p:nvSpPr>
          <p:cNvPr id="25" name="Shape 23"/>
          <p:cNvSpPr/>
          <p:nvPr/>
        </p:nvSpPr>
        <p:spPr>
          <a:xfrm>
            <a:off x="9555480" y="2286000"/>
            <a:ext cx="256032" cy="274320"/>
          </a:xfrm>
          <a:prstGeom prst="rect">
            <a:avLst/>
          </a:prstGeom>
          <a:solidFill>
            <a:schemeClr val="accent1"/>
          </a:solidFill>
          <a:ln/>
        </p:spPr>
        <p:txBody>
          <a:bodyPr/>
          <a:lstStyle/>
          <a:p>
            <a:endParaRPr lang="en-US"/>
          </a:p>
        </p:txBody>
      </p:sp>
      <p:sp>
        <p:nvSpPr>
          <p:cNvPr id="26" name="Shape 24"/>
          <p:cNvSpPr/>
          <p:nvPr/>
        </p:nvSpPr>
        <p:spPr>
          <a:xfrm>
            <a:off x="9861804" y="2286000"/>
            <a:ext cx="256032" cy="274320"/>
          </a:xfrm>
          <a:prstGeom prst="rect">
            <a:avLst/>
          </a:prstGeom>
          <a:solidFill>
            <a:schemeClr val="accent1"/>
          </a:solidFill>
          <a:ln/>
        </p:spPr>
        <p:txBody>
          <a:bodyPr/>
          <a:lstStyle/>
          <a:p>
            <a:endParaRPr lang="en-US"/>
          </a:p>
        </p:txBody>
      </p:sp>
      <p:sp>
        <p:nvSpPr>
          <p:cNvPr id="27" name="Shape 25"/>
          <p:cNvSpPr/>
          <p:nvPr/>
        </p:nvSpPr>
        <p:spPr>
          <a:xfrm>
            <a:off x="10168128" y="2286000"/>
            <a:ext cx="256032" cy="274320"/>
          </a:xfrm>
          <a:prstGeom prst="rect">
            <a:avLst/>
          </a:prstGeom>
          <a:solidFill>
            <a:schemeClr val="accent1"/>
          </a:solidFill>
          <a:ln/>
        </p:spPr>
        <p:txBody>
          <a:bodyPr/>
          <a:lstStyle/>
          <a:p>
            <a:endParaRPr lang="en-US"/>
          </a:p>
        </p:txBody>
      </p:sp>
      <p:sp>
        <p:nvSpPr>
          <p:cNvPr id="28" name="Shape 26"/>
          <p:cNvSpPr/>
          <p:nvPr/>
        </p:nvSpPr>
        <p:spPr>
          <a:xfrm>
            <a:off x="10474452" y="2286000"/>
            <a:ext cx="256032" cy="274320"/>
          </a:xfrm>
          <a:prstGeom prst="rect">
            <a:avLst/>
          </a:prstGeom>
          <a:solidFill>
            <a:schemeClr val="accent1"/>
          </a:solidFill>
          <a:ln/>
        </p:spPr>
        <p:txBody>
          <a:bodyPr/>
          <a:lstStyle/>
          <a:p>
            <a:endParaRPr lang="en-US"/>
          </a:p>
        </p:txBody>
      </p:sp>
      <p:sp>
        <p:nvSpPr>
          <p:cNvPr id="29" name="Shape 27"/>
          <p:cNvSpPr/>
          <p:nvPr/>
        </p:nvSpPr>
        <p:spPr>
          <a:xfrm>
            <a:off x="10780776" y="2286000"/>
            <a:ext cx="256032" cy="274320"/>
          </a:xfrm>
          <a:prstGeom prst="rect">
            <a:avLst/>
          </a:prstGeom>
          <a:solidFill>
            <a:schemeClr val="accent1"/>
          </a:solidFill>
          <a:ln/>
        </p:spPr>
        <p:txBody>
          <a:bodyPr/>
          <a:lstStyle/>
          <a:p>
            <a:endParaRPr lang="en-US"/>
          </a:p>
        </p:txBody>
      </p:sp>
      <p:sp>
        <p:nvSpPr>
          <p:cNvPr id="30" name="Shape 28"/>
          <p:cNvSpPr/>
          <p:nvPr/>
        </p:nvSpPr>
        <p:spPr>
          <a:xfrm>
            <a:off x="11087100" y="2286000"/>
            <a:ext cx="256032" cy="274320"/>
          </a:xfrm>
          <a:prstGeom prst="rect">
            <a:avLst/>
          </a:prstGeom>
          <a:solidFill>
            <a:schemeClr val="accent1"/>
          </a:solidFill>
          <a:ln/>
        </p:spPr>
        <p:txBody>
          <a:bodyPr/>
          <a:lstStyle/>
          <a:p>
            <a:endParaRPr lang="en-US"/>
          </a:p>
        </p:txBody>
      </p:sp>
      <p:sp>
        <p:nvSpPr>
          <p:cNvPr id="31" name="Shape 29"/>
          <p:cNvSpPr/>
          <p:nvPr/>
        </p:nvSpPr>
        <p:spPr>
          <a:xfrm>
            <a:off x="6492240" y="2633472"/>
            <a:ext cx="256032" cy="274320"/>
          </a:xfrm>
          <a:prstGeom prst="rect">
            <a:avLst/>
          </a:prstGeom>
          <a:solidFill>
            <a:schemeClr val="accent1"/>
          </a:solidFill>
          <a:ln/>
        </p:spPr>
        <p:txBody>
          <a:bodyPr/>
          <a:lstStyle/>
          <a:p>
            <a:endParaRPr lang="en-US"/>
          </a:p>
        </p:txBody>
      </p:sp>
      <p:sp>
        <p:nvSpPr>
          <p:cNvPr id="32" name="Shape 30"/>
          <p:cNvSpPr/>
          <p:nvPr/>
        </p:nvSpPr>
        <p:spPr>
          <a:xfrm>
            <a:off x="6798564" y="2633472"/>
            <a:ext cx="256032" cy="274320"/>
          </a:xfrm>
          <a:prstGeom prst="rect">
            <a:avLst/>
          </a:prstGeom>
          <a:solidFill>
            <a:schemeClr val="accent1"/>
          </a:solidFill>
          <a:ln/>
        </p:spPr>
        <p:txBody>
          <a:bodyPr/>
          <a:lstStyle/>
          <a:p>
            <a:endParaRPr lang="en-US"/>
          </a:p>
        </p:txBody>
      </p:sp>
      <p:sp>
        <p:nvSpPr>
          <p:cNvPr id="33" name="Shape 31"/>
          <p:cNvSpPr/>
          <p:nvPr/>
        </p:nvSpPr>
        <p:spPr>
          <a:xfrm>
            <a:off x="7104888" y="2633472"/>
            <a:ext cx="256032" cy="274320"/>
          </a:xfrm>
          <a:prstGeom prst="rect">
            <a:avLst/>
          </a:prstGeom>
          <a:solidFill>
            <a:schemeClr val="accent1"/>
          </a:solidFill>
          <a:ln/>
        </p:spPr>
        <p:txBody>
          <a:bodyPr/>
          <a:lstStyle/>
          <a:p>
            <a:endParaRPr lang="en-US"/>
          </a:p>
        </p:txBody>
      </p:sp>
      <p:sp>
        <p:nvSpPr>
          <p:cNvPr id="34" name="Shape 32"/>
          <p:cNvSpPr/>
          <p:nvPr/>
        </p:nvSpPr>
        <p:spPr>
          <a:xfrm>
            <a:off x="7411212" y="2633472"/>
            <a:ext cx="256032" cy="274320"/>
          </a:xfrm>
          <a:prstGeom prst="rect">
            <a:avLst/>
          </a:prstGeom>
          <a:solidFill>
            <a:schemeClr val="accent1"/>
          </a:solidFill>
          <a:ln/>
        </p:spPr>
        <p:txBody>
          <a:bodyPr/>
          <a:lstStyle/>
          <a:p>
            <a:endParaRPr lang="en-US"/>
          </a:p>
        </p:txBody>
      </p:sp>
      <p:sp>
        <p:nvSpPr>
          <p:cNvPr id="35" name="Shape 33"/>
          <p:cNvSpPr/>
          <p:nvPr/>
        </p:nvSpPr>
        <p:spPr>
          <a:xfrm>
            <a:off x="7717536" y="2633472"/>
            <a:ext cx="256032" cy="274320"/>
          </a:xfrm>
          <a:prstGeom prst="rect">
            <a:avLst/>
          </a:prstGeom>
          <a:solidFill>
            <a:schemeClr val="accent1"/>
          </a:solidFill>
          <a:ln/>
        </p:spPr>
        <p:txBody>
          <a:bodyPr/>
          <a:lstStyle/>
          <a:p>
            <a:endParaRPr lang="en-US"/>
          </a:p>
        </p:txBody>
      </p:sp>
      <p:sp>
        <p:nvSpPr>
          <p:cNvPr id="36" name="Shape 34"/>
          <p:cNvSpPr/>
          <p:nvPr/>
        </p:nvSpPr>
        <p:spPr>
          <a:xfrm>
            <a:off x="8023860" y="2633472"/>
            <a:ext cx="256032" cy="274320"/>
          </a:xfrm>
          <a:prstGeom prst="rect">
            <a:avLst/>
          </a:prstGeom>
          <a:solidFill>
            <a:schemeClr val="accent1"/>
          </a:solidFill>
          <a:ln/>
        </p:spPr>
        <p:txBody>
          <a:bodyPr/>
          <a:lstStyle/>
          <a:p>
            <a:endParaRPr lang="en-US"/>
          </a:p>
        </p:txBody>
      </p:sp>
      <p:sp>
        <p:nvSpPr>
          <p:cNvPr id="37" name="Shape 35"/>
          <p:cNvSpPr/>
          <p:nvPr/>
        </p:nvSpPr>
        <p:spPr>
          <a:xfrm>
            <a:off x="8330184" y="2633472"/>
            <a:ext cx="256032" cy="274320"/>
          </a:xfrm>
          <a:prstGeom prst="rect">
            <a:avLst/>
          </a:prstGeom>
          <a:solidFill>
            <a:schemeClr val="accent1"/>
          </a:solidFill>
          <a:ln/>
        </p:spPr>
        <p:txBody>
          <a:bodyPr/>
          <a:lstStyle/>
          <a:p>
            <a:endParaRPr lang="en-US"/>
          </a:p>
        </p:txBody>
      </p:sp>
      <p:sp>
        <p:nvSpPr>
          <p:cNvPr id="38" name="Shape 36"/>
          <p:cNvSpPr/>
          <p:nvPr/>
        </p:nvSpPr>
        <p:spPr>
          <a:xfrm>
            <a:off x="8636508" y="2633472"/>
            <a:ext cx="256032" cy="274320"/>
          </a:xfrm>
          <a:prstGeom prst="rect">
            <a:avLst/>
          </a:prstGeom>
          <a:solidFill>
            <a:schemeClr val="accent1"/>
          </a:solidFill>
          <a:ln/>
        </p:spPr>
        <p:txBody>
          <a:bodyPr/>
          <a:lstStyle/>
          <a:p>
            <a:endParaRPr lang="en-US"/>
          </a:p>
        </p:txBody>
      </p:sp>
      <p:sp>
        <p:nvSpPr>
          <p:cNvPr id="39" name="Shape 37"/>
          <p:cNvSpPr/>
          <p:nvPr/>
        </p:nvSpPr>
        <p:spPr>
          <a:xfrm>
            <a:off x="8942832" y="2633472"/>
            <a:ext cx="256032" cy="274320"/>
          </a:xfrm>
          <a:prstGeom prst="rect">
            <a:avLst/>
          </a:prstGeom>
          <a:solidFill>
            <a:schemeClr val="accent1"/>
          </a:solidFill>
          <a:ln/>
        </p:spPr>
        <p:txBody>
          <a:bodyPr/>
          <a:lstStyle/>
          <a:p>
            <a:endParaRPr lang="en-US"/>
          </a:p>
        </p:txBody>
      </p:sp>
      <p:sp>
        <p:nvSpPr>
          <p:cNvPr id="40" name="Shape 38"/>
          <p:cNvSpPr/>
          <p:nvPr/>
        </p:nvSpPr>
        <p:spPr>
          <a:xfrm>
            <a:off x="9249156" y="2633472"/>
            <a:ext cx="256032" cy="274320"/>
          </a:xfrm>
          <a:prstGeom prst="rect">
            <a:avLst/>
          </a:prstGeom>
          <a:solidFill>
            <a:schemeClr val="accent1"/>
          </a:solidFill>
          <a:ln/>
        </p:spPr>
        <p:txBody>
          <a:bodyPr/>
          <a:lstStyle/>
          <a:p>
            <a:endParaRPr lang="en-US"/>
          </a:p>
        </p:txBody>
      </p:sp>
      <p:sp>
        <p:nvSpPr>
          <p:cNvPr id="41" name="Shape 39"/>
          <p:cNvSpPr/>
          <p:nvPr/>
        </p:nvSpPr>
        <p:spPr>
          <a:xfrm>
            <a:off x="9555480" y="2633472"/>
            <a:ext cx="256032" cy="274320"/>
          </a:xfrm>
          <a:prstGeom prst="rect">
            <a:avLst/>
          </a:prstGeom>
          <a:solidFill>
            <a:schemeClr val="accent1"/>
          </a:solidFill>
          <a:ln/>
        </p:spPr>
        <p:txBody>
          <a:bodyPr/>
          <a:lstStyle/>
          <a:p>
            <a:endParaRPr lang="en-US"/>
          </a:p>
        </p:txBody>
      </p:sp>
      <p:sp>
        <p:nvSpPr>
          <p:cNvPr id="42" name="Shape 40"/>
          <p:cNvSpPr/>
          <p:nvPr/>
        </p:nvSpPr>
        <p:spPr>
          <a:xfrm>
            <a:off x="9861804" y="2633472"/>
            <a:ext cx="256032" cy="274320"/>
          </a:xfrm>
          <a:prstGeom prst="rect">
            <a:avLst/>
          </a:prstGeom>
          <a:solidFill>
            <a:schemeClr val="accent1"/>
          </a:solidFill>
          <a:ln/>
        </p:spPr>
        <p:txBody>
          <a:bodyPr/>
          <a:lstStyle/>
          <a:p>
            <a:endParaRPr lang="en-US"/>
          </a:p>
        </p:txBody>
      </p:sp>
      <p:sp>
        <p:nvSpPr>
          <p:cNvPr id="43" name="Shape 41"/>
          <p:cNvSpPr/>
          <p:nvPr/>
        </p:nvSpPr>
        <p:spPr>
          <a:xfrm>
            <a:off x="10168128" y="2633472"/>
            <a:ext cx="256032" cy="274320"/>
          </a:xfrm>
          <a:prstGeom prst="rect">
            <a:avLst/>
          </a:prstGeom>
          <a:solidFill>
            <a:schemeClr val="accent1"/>
          </a:solidFill>
          <a:ln/>
        </p:spPr>
        <p:txBody>
          <a:bodyPr/>
          <a:lstStyle/>
          <a:p>
            <a:endParaRPr lang="en-US"/>
          </a:p>
        </p:txBody>
      </p:sp>
      <p:sp>
        <p:nvSpPr>
          <p:cNvPr id="44" name="Shape 42"/>
          <p:cNvSpPr/>
          <p:nvPr/>
        </p:nvSpPr>
        <p:spPr>
          <a:xfrm>
            <a:off x="10474452" y="2633472"/>
            <a:ext cx="256032" cy="274320"/>
          </a:xfrm>
          <a:prstGeom prst="rect">
            <a:avLst/>
          </a:prstGeom>
          <a:solidFill>
            <a:schemeClr val="accent1"/>
          </a:solidFill>
          <a:ln/>
        </p:spPr>
        <p:txBody>
          <a:bodyPr/>
          <a:lstStyle/>
          <a:p>
            <a:endParaRPr lang="en-US"/>
          </a:p>
        </p:txBody>
      </p:sp>
      <p:sp>
        <p:nvSpPr>
          <p:cNvPr id="45" name="Shape 43"/>
          <p:cNvSpPr/>
          <p:nvPr/>
        </p:nvSpPr>
        <p:spPr>
          <a:xfrm>
            <a:off x="10780776" y="2633472"/>
            <a:ext cx="256032" cy="274320"/>
          </a:xfrm>
          <a:prstGeom prst="rect">
            <a:avLst/>
          </a:prstGeom>
          <a:solidFill>
            <a:schemeClr val="accent1"/>
          </a:solidFill>
          <a:ln/>
        </p:spPr>
        <p:txBody>
          <a:bodyPr/>
          <a:lstStyle/>
          <a:p>
            <a:endParaRPr lang="en-US"/>
          </a:p>
        </p:txBody>
      </p:sp>
      <p:sp>
        <p:nvSpPr>
          <p:cNvPr id="46" name="Shape 44"/>
          <p:cNvSpPr/>
          <p:nvPr/>
        </p:nvSpPr>
        <p:spPr>
          <a:xfrm>
            <a:off x="11087100" y="2633472"/>
            <a:ext cx="256032" cy="274320"/>
          </a:xfrm>
          <a:prstGeom prst="rect">
            <a:avLst/>
          </a:prstGeom>
          <a:solidFill>
            <a:schemeClr val="accent1"/>
          </a:solidFill>
          <a:ln/>
        </p:spPr>
        <p:txBody>
          <a:bodyPr/>
          <a:lstStyle/>
          <a:p>
            <a:endParaRPr lang="en-US"/>
          </a:p>
        </p:txBody>
      </p:sp>
      <p:sp>
        <p:nvSpPr>
          <p:cNvPr id="47" name="Shape 45"/>
          <p:cNvSpPr/>
          <p:nvPr/>
        </p:nvSpPr>
        <p:spPr>
          <a:xfrm>
            <a:off x="6492240" y="2980944"/>
            <a:ext cx="256032" cy="274320"/>
          </a:xfrm>
          <a:prstGeom prst="rect">
            <a:avLst/>
          </a:prstGeom>
          <a:solidFill>
            <a:schemeClr val="accent1"/>
          </a:solidFill>
          <a:ln/>
        </p:spPr>
        <p:txBody>
          <a:bodyPr/>
          <a:lstStyle/>
          <a:p>
            <a:endParaRPr lang="en-US"/>
          </a:p>
        </p:txBody>
      </p:sp>
      <p:sp>
        <p:nvSpPr>
          <p:cNvPr id="48" name="Shape 46"/>
          <p:cNvSpPr/>
          <p:nvPr/>
        </p:nvSpPr>
        <p:spPr>
          <a:xfrm>
            <a:off x="6798564" y="2980944"/>
            <a:ext cx="256032" cy="274320"/>
          </a:xfrm>
          <a:prstGeom prst="rect">
            <a:avLst/>
          </a:prstGeom>
          <a:solidFill>
            <a:schemeClr val="accent1"/>
          </a:solidFill>
          <a:ln/>
        </p:spPr>
        <p:txBody>
          <a:bodyPr/>
          <a:lstStyle/>
          <a:p>
            <a:endParaRPr lang="en-US"/>
          </a:p>
        </p:txBody>
      </p:sp>
      <p:sp>
        <p:nvSpPr>
          <p:cNvPr id="49" name="Shape 47"/>
          <p:cNvSpPr/>
          <p:nvPr/>
        </p:nvSpPr>
        <p:spPr>
          <a:xfrm>
            <a:off x="7104888" y="2980944"/>
            <a:ext cx="256032" cy="274320"/>
          </a:xfrm>
          <a:prstGeom prst="rect">
            <a:avLst/>
          </a:prstGeom>
          <a:solidFill>
            <a:schemeClr val="accent1"/>
          </a:solidFill>
          <a:ln/>
        </p:spPr>
        <p:txBody>
          <a:bodyPr/>
          <a:lstStyle/>
          <a:p>
            <a:endParaRPr lang="en-US"/>
          </a:p>
        </p:txBody>
      </p:sp>
      <p:sp>
        <p:nvSpPr>
          <p:cNvPr id="50" name="Shape 48"/>
          <p:cNvSpPr/>
          <p:nvPr/>
        </p:nvSpPr>
        <p:spPr>
          <a:xfrm>
            <a:off x="7411212" y="2980944"/>
            <a:ext cx="256032" cy="274320"/>
          </a:xfrm>
          <a:prstGeom prst="rect">
            <a:avLst/>
          </a:prstGeom>
          <a:solidFill>
            <a:schemeClr val="accent1"/>
          </a:solidFill>
          <a:ln/>
        </p:spPr>
        <p:txBody>
          <a:bodyPr/>
          <a:lstStyle/>
          <a:p>
            <a:endParaRPr lang="en-US"/>
          </a:p>
        </p:txBody>
      </p:sp>
      <p:sp>
        <p:nvSpPr>
          <p:cNvPr id="51" name="Shape 49"/>
          <p:cNvSpPr/>
          <p:nvPr/>
        </p:nvSpPr>
        <p:spPr>
          <a:xfrm>
            <a:off x="7717536" y="2980944"/>
            <a:ext cx="256032" cy="274320"/>
          </a:xfrm>
          <a:prstGeom prst="rect">
            <a:avLst/>
          </a:prstGeom>
          <a:solidFill>
            <a:schemeClr val="accent1"/>
          </a:solidFill>
          <a:ln/>
        </p:spPr>
        <p:txBody>
          <a:bodyPr/>
          <a:lstStyle/>
          <a:p>
            <a:endParaRPr lang="en-US"/>
          </a:p>
        </p:txBody>
      </p:sp>
      <p:sp>
        <p:nvSpPr>
          <p:cNvPr id="52" name="Shape 50"/>
          <p:cNvSpPr/>
          <p:nvPr/>
        </p:nvSpPr>
        <p:spPr>
          <a:xfrm>
            <a:off x="8023860" y="2980944"/>
            <a:ext cx="256032" cy="274320"/>
          </a:xfrm>
          <a:prstGeom prst="rect">
            <a:avLst/>
          </a:prstGeom>
          <a:solidFill>
            <a:schemeClr val="accent1"/>
          </a:solidFill>
          <a:ln/>
        </p:spPr>
        <p:txBody>
          <a:bodyPr/>
          <a:lstStyle/>
          <a:p>
            <a:endParaRPr lang="en-US"/>
          </a:p>
        </p:txBody>
      </p:sp>
      <p:sp>
        <p:nvSpPr>
          <p:cNvPr id="53" name="Shape 51"/>
          <p:cNvSpPr/>
          <p:nvPr/>
        </p:nvSpPr>
        <p:spPr>
          <a:xfrm>
            <a:off x="8330184" y="2980944"/>
            <a:ext cx="256032" cy="274320"/>
          </a:xfrm>
          <a:prstGeom prst="rect">
            <a:avLst/>
          </a:prstGeom>
          <a:solidFill>
            <a:schemeClr val="accent1"/>
          </a:solidFill>
          <a:ln/>
        </p:spPr>
        <p:txBody>
          <a:bodyPr/>
          <a:lstStyle/>
          <a:p>
            <a:endParaRPr lang="en-US"/>
          </a:p>
        </p:txBody>
      </p:sp>
      <p:sp>
        <p:nvSpPr>
          <p:cNvPr id="54" name="Shape 52"/>
          <p:cNvSpPr/>
          <p:nvPr/>
        </p:nvSpPr>
        <p:spPr>
          <a:xfrm>
            <a:off x="8636508" y="2980944"/>
            <a:ext cx="256032" cy="274320"/>
          </a:xfrm>
          <a:prstGeom prst="rect">
            <a:avLst/>
          </a:prstGeom>
          <a:solidFill>
            <a:schemeClr val="accent1"/>
          </a:solidFill>
          <a:ln/>
        </p:spPr>
        <p:txBody>
          <a:bodyPr/>
          <a:lstStyle/>
          <a:p>
            <a:endParaRPr lang="en-US"/>
          </a:p>
        </p:txBody>
      </p:sp>
      <p:sp>
        <p:nvSpPr>
          <p:cNvPr id="55" name="Shape 53"/>
          <p:cNvSpPr/>
          <p:nvPr/>
        </p:nvSpPr>
        <p:spPr>
          <a:xfrm>
            <a:off x="8942832" y="2980944"/>
            <a:ext cx="256032" cy="274320"/>
          </a:xfrm>
          <a:prstGeom prst="rect">
            <a:avLst/>
          </a:prstGeom>
          <a:solidFill>
            <a:schemeClr val="accent1"/>
          </a:solidFill>
          <a:ln/>
        </p:spPr>
        <p:txBody>
          <a:bodyPr/>
          <a:lstStyle/>
          <a:p>
            <a:endParaRPr lang="en-US"/>
          </a:p>
        </p:txBody>
      </p:sp>
      <p:sp>
        <p:nvSpPr>
          <p:cNvPr id="56" name="Shape 54"/>
          <p:cNvSpPr/>
          <p:nvPr/>
        </p:nvSpPr>
        <p:spPr>
          <a:xfrm>
            <a:off x="9249156" y="2980944"/>
            <a:ext cx="256032" cy="274320"/>
          </a:xfrm>
          <a:prstGeom prst="rect">
            <a:avLst/>
          </a:prstGeom>
          <a:solidFill>
            <a:schemeClr val="accent1"/>
          </a:solidFill>
          <a:ln/>
        </p:spPr>
        <p:txBody>
          <a:bodyPr/>
          <a:lstStyle/>
          <a:p>
            <a:endParaRPr lang="en-US"/>
          </a:p>
        </p:txBody>
      </p:sp>
      <p:sp>
        <p:nvSpPr>
          <p:cNvPr id="57" name="Shape 55"/>
          <p:cNvSpPr/>
          <p:nvPr/>
        </p:nvSpPr>
        <p:spPr>
          <a:xfrm>
            <a:off x="9555480" y="2980944"/>
            <a:ext cx="256032" cy="274320"/>
          </a:xfrm>
          <a:prstGeom prst="rect">
            <a:avLst/>
          </a:prstGeom>
          <a:solidFill>
            <a:schemeClr val="accent1"/>
          </a:solidFill>
          <a:ln/>
        </p:spPr>
        <p:txBody>
          <a:bodyPr/>
          <a:lstStyle/>
          <a:p>
            <a:endParaRPr lang="en-US"/>
          </a:p>
        </p:txBody>
      </p:sp>
      <p:sp>
        <p:nvSpPr>
          <p:cNvPr id="58" name="Shape 56"/>
          <p:cNvSpPr/>
          <p:nvPr/>
        </p:nvSpPr>
        <p:spPr>
          <a:xfrm>
            <a:off x="9861804" y="2980944"/>
            <a:ext cx="256032" cy="274320"/>
          </a:xfrm>
          <a:prstGeom prst="rect">
            <a:avLst/>
          </a:prstGeom>
          <a:solidFill>
            <a:schemeClr val="accent1"/>
          </a:solidFill>
          <a:ln/>
        </p:spPr>
        <p:txBody>
          <a:bodyPr/>
          <a:lstStyle/>
          <a:p>
            <a:endParaRPr lang="en-US"/>
          </a:p>
        </p:txBody>
      </p:sp>
      <p:sp>
        <p:nvSpPr>
          <p:cNvPr id="59" name="Shape 57"/>
          <p:cNvSpPr/>
          <p:nvPr/>
        </p:nvSpPr>
        <p:spPr>
          <a:xfrm>
            <a:off x="10168128" y="2980944"/>
            <a:ext cx="256032" cy="274320"/>
          </a:xfrm>
          <a:prstGeom prst="rect">
            <a:avLst/>
          </a:prstGeom>
          <a:solidFill>
            <a:schemeClr val="accent1"/>
          </a:solidFill>
          <a:ln/>
        </p:spPr>
        <p:txBody>
          <a:bodyPr/>
          <a:lstStyle/>
          <a:p>
            <a:endParaRPr lang="en-US"/>
          </a:p>
        </p:txBody>
      </p:sp>
      <p:sp>
        <p:nvSpPr>
          <p:cNvPr id="60" name="Shape 58"/>
          <p:cNvSpPr/>
          <p:nvPr/>
        </p:nvSpPr>
        <p:spPr>
          <a:xfrm>
            <a:off x="10474452" y="2980944"/>
            <a:ext cx="256032" cy="274320"/>
          </a:xfrm>
          <a:prstGeom prst="rect">
            <a:avLst/>
          </a:prstGeom>
          <a:solidFill>
            <a:schemeClr val="accent1"/>
          </a:solidFill>
          <a:ln/>
        </p:spPr>
        <p:txBody>
          <a:bodyPr/>
          <a:lstStyle/>
          <a:p>
            <a:endParaRPr lang="en-US"/>
          </a:p>
        </p:txBody>
      </p:sp>
      <p:sp>
        <p:nvSpPr>
          <p:cNvPr id="61" name="Shape 59"/>
          <p:cNvSpPr/>
          <p:nvPr/>
        </p:nvSpPr>
        <p:spPr>
          <a:xfrm>
            <a:off x="10780776" y="2980944"/>
            <a:ext cx="256032" cy="274320"/>
          </a:xfrm>
          <a:prstGeom prst="rect">
            <a:avLst/>
          </a:prstGeom>
          <a:solidFill>
            <a:schemeClr val="accent1"/>
          </a:solidFill>
          <a:ln/>
        </p:spPr>
        <p:txBody>
          <a:bodyPr/>
          <a:lstStyle/>
          <a:p>
            <a:endParaRPr lang="en-US"/>
          </a:p>
        </p:txBody>
      </p:sp>
      <p:sp>
        <p:nvSpPr>
          <p:cNvPr id="62" name="Shape 60"/>
          <p:cNvSpPr/>
          <p:nvPr/>
        </p:nvSpPr>
        <p:spPr>
          <a:xfrm>
            <a:off x="11087100" y="2980944"/>
            <a:ext cx="256032" cy="274320"/>
          </a:xfrm>
          <a:prstGeom prst="rect">
            <a:avLst/>
          </a:prstGeom>
          <a:solidFill>
            <a:schemeClr val="accent1"/>
          </a:solidFill>
          <a:ln/>
        </p:spPr>
        <p:txBody>
          <a:bodyPr/>
          <a:lstStyle/>
          <a:p>
            <a:endParaRPr lang="en-US"/>
          </a:p>
        </p:txBody>
      </p:sp>
      <p:sp>
        <p:nvSpPr>
          <p:cNvPr id="63" name="Shape 61"/>
          <p:cNvSpPr/>
          <p:nvPr/>
        </p:nvSpPr>
        <p:spPr>
          <a:xfrm>
            <a:off x="6492240" y="3328416"/>
            <a:ext cx="256032" cy="274320"/>
          </a:xfrm>
          <a:prstGeom prst="rect">
            <a:avLst/>
          </a:prstGeom>
          <a:solidFill>
            <a:schemeClr val="accent1"/>
          </a:solidFill>
          <a:ln/>
        </p:spPr>
        <p:txBody>
          <a:bodyPr/>
          <a:lstStyle/>
          <a:p>
            <a:endParaRPr lang="en-US"/>
          </a:p>
        </p:txBody>
      </p:sp>
      <p:sp>
        <p:nvSpPr>
          <p:cNvPr id="64" name="Shape 62"/>
          <p:cNvSpPr/>
          <p:nvPr/>
        </p:nvSpPr>
        <p:spPr>
          <a:xfrm>
            <a:off x="6798564" y="3328416"/>
            <a:ext cx="256032" cy="274320"/>
          </a:xfrm>
          <a:prstGeom prst="rect">
            <a:avLst/>
          </a:prstGeom>
          <a:solidFill>
            <a:schemeClr val="accent1"/>
          </a:solidFill>
          <a:ln/>
        </p:spPr>
        <p:txBody>
          <a:bodyPr/>
          <a:lstStyle/>
          <a:p>
            <a:endParaRPr lang="en-US"/>
          </a:p>
        </p:txBody>
      </p:sp>
      <p:sp>
        <p:nvSpPr>
          <p:cNvPr id="65" name="Shape 63"/>
          <p:cNvSpPr/>
          <p:nvPr/>
        </p:nvSpPr>
        <p:spPr>
          <a:xfrm>
            <a:off x="7104888" y="3328416"/>
            <a:ext cx="256032" cy="274320"/>
          </a:xfrm>
          <a:prstGeom prst="rect">
            <a:avLst/>
          </a:prstGeom>
          <a:solidFill>
            <a:schemeClr val="accent1"/>
          </a:solidFill>
          <a:ln/>
        </p:spPr>
        <p:txBody>
          <a:bodyPr/>
          <a:lstStyle/>
          <a:p>
            <a:endParaRPr lang="en-US"/>
          </a:p>
        </p:txBody>
      </p:sp>
      <p:sp>
        <p:nvSpPr>
          <p:cNvPr id="66" name="Shape 64"/>
          <p:cNvSpPr/>
          <p:nvPr/>
        </p:nvSpPr>
        <p:spPr>
          <a:xfrm>
            <a:off x="7411212" y="3328416"/>
            <a:ext cx="256032" cy="274320"/>
          </a:xfrm>
          <a:prstGeom prst="rect">
            <a:avLst/>
          </a:prstGeom>
          <a:solidFill>
            <a:schemeClr val="accent1"/>
          </a:solidFill>
          <a:ln/>
        </p:spPr>
        <p:txBody>
          <a:bodyPr/>
          <a:lstStyle/>
          <a:p>
            <a:endParaRPr lang="en-US"/>
          </a:p>
        </p:txBody>
      </p:sp>
      <p:sp>
        <p:nvSpPr>
          <p:cNvPr id="67" name="Shape 65"/>
          <p:cNvSpPr/>
          <p:nvPr/>
        </p:nvSpPr>
        <p:spPr>
          <a:xfrm>
            <a:off x="7717536" y="3328416"/>
            <a:ext cx="256032" cy="274320"/>
          </a:xfrm>
          <a:prstGeom prst="rect">
            <a:avLst/>
          </a:prstGeom>
          <a:solidFill>
            <a:schemeClr val="accent1"/>
          </a:solidFill>
          <a:ln/>
        </p:spPr>
        <p:txBody>
          <a:bodyPr/>
          <a:lstStyle/>
          <a:p>
            <a:endParaRPr lang="en-US"/>
          </a:p>
        </p:txBody>
      </p:sp>
      <p:sp>
        <p:nvSpPr>
          <p:cNvPr id="68" name="Shape 66"/>
          <p:cNvSpPr/>
          <p:nvPr/>
        </p:nvSpPr>
        <p:spPr>
          <a:xfrm>
            <a:off x="8023860" y="3328416"/>
            <a:ext cx="256032" cy="274320"/>
          </a:xfrm>
          <a:prstGeom prst="rect">
            <a:avLst/>
          </a:prstGeom>
          <a:solidFill>
            <a:schemeClr val="accent1"/>
          </a:solidFill>
          <a:ln/>
        </p:spPr>
        <p:txBody>
          <a:bodyPr/>
          <a:lstStyle/>
          <a:p>
            <a:endParaRPr lang="en-US"/>
          </a:p>
        </p:txBody>
      </p:sp>
      <p:sp>
        <p:nvSpPr>
          <p:cNvPr id="69" name="Shape 67"/>
          <p:cNvSpPr/>
          <p:nvPr/>
        </p:nvSpPr>
        <p:spPr>
          <a:xfrm>
            <a:off x="8330184" y="3328416"/>
            <a:ext cx="256032" cy="274320"/>
          </a:xfrm>
          <a:prstGeom prst="rect">
            <a:avLst/>
          </a:prstGeom>
          <a:solidFill>
            <a:schemeClr val="accent1"/>
          </a:solidFill>
          <a:ln/>
        </p:spPr>
        <p:txBody>
          <a:bodyPr/>
          <a:lstStyle/>
          <a:p>
            <a:endParaRPr lang="en-US"/>
          </a:p>
        </p:txBody>
      </p:sp>
      <p:sp>
        <p:nvSpPr>
          <p:cNvPr id="70" name="Shape 68"/>
          <p:cNvSpPr/>
          <p:nvPr/>
        </p:nvSpPr>
        <p:spPr>
          <a:xfrm>
            <a:off x="8636508" y="3328416"/>
            <a:ext cx="256032" cy="274320"/>
          </a:xfrm>
          <a:prstGeom prst="rect">
            <a:avLst/>
          </a:prstGeom>
          <a:solidFill>
            <a:schemeClr val="accent1"/>
          </a:solidFill>
          <a:ln/>
        </p:spPr>
        <p:txBody>
          <a:bodyPr/>
          <a:lstStyle/>
          <a:p>
            <a:endParaRPr lang="en-US"/>
          </a:p>
        </p:txBody>
      </p:sp>
      <p:sp>
        <p:nvSpPr>
          <p:cNvPr id="71" name="Shape 69"/>
          <p:cNvSpPr/>
          <p:nvPr/>
        </p:nvSpPr>
        <p:spPr>
          <a:xfrm>
            <a:off x="8942832" y="3328416"/>
            <a:ext cx="256032" cy="274320"/>
          </a:xfrm>
          <a:prstGeom prst="rect">
            <a:avLst/>
          </a:prstGeom>
          <a:solidFill>
            <a:schemeClr val="accent1"/>
          </a:solidFill>
          <a:ln/>
        </p:spPr>
        <p:txBody>
          <a:bodyPr/>
          <a:lstStyle/>
          <a:p>
            <a:endParaRPr lang="en-US"/>
          </a:p>
        </p:txBody>
      </p:sp>
      <p:sp>
        <p:nvSpPr>
          <p:cNvPr id="72" name="Shape 70"/>
          <p:cNvSpPr/>
          <p:nvPr/>
        </p:nvSpPr>
        <p:spPr>
          <a:xfrm>
            <a:off x="9249156" y="3328416"/>
            <a:ext cx="256032" cy="274320"/>
          </a:xfrm>
          <a:prstGeom prst="rect">
            <a:avLst/>
          </a:prstGeom>
          <a:solidFill>
            <a:schemeClr val="accent1"/>
          </a:solidFill>
          <a:ln/>
        </p:spPr>
        <p:txBody>
          <a:bodyPr/>
          <a:lstStyle/>
          <a:p>
            <a:endParaRPr lang="en-US"/>
          </a:p>
        </p:txBody>
      </p:sp>
      <p:sp>
        <p:nvSpPr>
          <p:cNvPr id="73" name="Shape 71"/>
          <p:cNvSpPr/>
          <p:nvPr/>
        </p:nvSpPr>
        <p:spPr>
          <a:xfrm>
            <a:off x="9555480" y="3328416"/>
            <a:ext cx="256032" cy="274320"/>
          </a:xfrm>
          <a:prstGeom prst="rect">
            <a:avLst/>
          </a:prstGeom>
          <a:solidFill>
            <a:schemeClr val="accent1"/>
          </a:solidFill>
          <a:ln/>
        </p:spPr>
        <p:txBody>
          <a:bodyPr/>
          <a:lstStyle/>
          <a:p>
            <a:endParaRPr lang="en-US"/>
          </a:p>
        </p:txBody>
      </p:sp>
      <p:sp>
        <p:nvSpPr>
          <p:cNvPr id="74" name="Shape 72"/>
          <p:cNvSpPr/>
          <p:nvPr/>
        </p:nvSpPr>
        <p:spPr>
          <a:xfrm>
            <a:off x="9861804" y="3328416"/>
            <a:ext cx="256032" cy="274320"/>
          </a:xfrm>
          <a:prstGeom prst="rect">
            <a:avLst/>
          </a:prstGeom>
          <a:solidFill>
            <a:schemeClr val="accent1"/>
          </a:solidFill>
          <a:ln/>
        </p:spPr>
        <p:txBody>
          <a:bodyPr/>
          <a:lstStyle/>
          <a:p>
            <a:endParaRPr lang="en-US"/>
          </a:p>
        </p:txBody>
      </p:sp>
      <p:sp>
        <p:nvSpPr>
          <p:cNvPr id="75" name="Shape 73"/>
          <p:cNvSpPr/>
          <p:nvPr/>
        </p:nvSpPr>
        <p:spPr>
          <a:xfrm>
            <a:off x="10168128" y="3328416"/>
            <a:ext cx="256032" cy="274320"/>
          </a:xfrm>
          <a:prstGeom prst="rect">
            <a:avLst/>
          </a:prstGeom>
          <a:solidFill>
            <a:schemeClr val="accent1"/>
          </a:solidFill>
          <a:ln/>
        </p:spPr>
        <p:txBody>
          <a:bodyPr/>
          <a:lstStyle/>
          <a:p>
            <a:endParaRPr lang="en-US"/>
          </a:p>
        </p:txBody>
      </p:sp>
      <p:sp>
        <p:nvSpPr>
          <p:cNvPr id="76" name="Shape 74"/>
          <p:cNvSpPr/>
          <p:nvPr/>
        </p:nvSpPr>
        <p:spPr>
          <a:xfrm>
            <a:off x="10474452" y="3328416"/>
            <a:ext cx="256032" cy="274320"/>
          </a:xfrm>
          <a:prstGeom prst="rect">
            <a:avLst/>
          </a:prstGeom>
          <a:solidFill>
            <a:schemeClr val="accent1"/>
          </a:solidFill>
          <a:ln/>
        </p:spPr>
        <p:txBody>
          <a:bodyPr/>
          <a:lstStyle/>
          <a:p>
            <a:endParaRPr lang="en-US"/>
          </a:p>
        </p:txBody>
      </p:sp>
      <p:sp>
        <p:nvSpPr>
          <p:cNvPr id="77" name="Shape 75"/>
          <p:cNvSpPr/>
          <p:nvPr/>
        </p:nvSpPr>
        <p:spPr>
          <a:xfrm>
            <a:off x="10780776" y="3328416"/>
            <a:ext cx="256032" cy="274320"/>
          </a:xfrm>
          <a:prstGeom prst="rect">
            <a:avLst/>
          </a:prstGeom>
          <a:solidFill>
            <a:schemeClr val="accent1"/>
          </a:solidFill>
          <a:ln/>
        </p:spPr>
        <p:txBody>
          <a:bodyPr/>
          <a:lstStyle/>
          <a:p>
            <a:endParaRPr lang="en-US"/>
          </a:p>
        </p:txBody>
      </p:sp>
      <p:sp>
        <p:nvSpPr>
          <p:cNvPr id="78" name="Shape 76"/>
          <p:cNvSpPr/>
          <p:nvPr/>
        </p:nvSpPr>
        <p:spPr>
          <a:xfrm>
            <a:off x="11087100" y="3328416"/>
            <a:ext cx="256032" cy="274320"/>
          </a:xfrm>
          <a:prstGeom prst="rect">
            <a:avLst/>
          </a:prstGeom>
          <a:solidFill>
            <a:schemeClr val="accent1"/>
          </a:solidFill>
          <a:ln/>
        </p:spPr>
        <p:txBody>
          <a:bodyPr/>
          <a:lstStyle/>
          <a:p>
            <a:endParaRPr lang="en-US"/>
          </a:p>
        </p:txBody>
      </p:sp>
      <p:sp>
        <p:nvSpPr>
          <p:cNvPr id="79" name="Shape 77"/>
          <p:cNvSpPr/>
          <p:nvPr/>
        </p:nvSpPr>
        <p:spPr>
          <a:xfrm>
            <a:off x="6492240" y="3675888"/>
            <a:ext cx="256032" cy="274320"/>
          </a:xfrm>
          <a:prstGeom prst="rect">
            <a:avLst/>
          </a:prstGeom>
          <a:solidFill>
            <a:schemeClr val="accent1"/>
          </a:solidFill>
          <a:ln/>
        </p:spPr>
        <p:txBody>
          <a:bodyPr/>
          <a:lstStyle/>
          <a:p>
            <a:endParaRPr lang="en-US"/>
          </a:p>
        </p:txBody>
      </p:sp>
      <p:sp>
        <p:nvSpPr>
          <p:cNvPr id="80" name="Shape 78"/>
          <p:cNvSpPr/>
          <p:nvPr/>
        </p:nvSpPr>
        <p:spPr>
          <a:xfrm>
            <a:off x="6798564" y="3675888"/>
            <a:ext cx="256032" cy="274320"/>
          </a:xfrm>
          <a:prstGeom prst="rect">
            <a:avLst/>
          </a:prstGeom>
          <a:solidFill>
            <a:schemeClr val="accent1"/>
          </a:solidFill>
          <a:ln/>
        </p:spPr>
        <p:txBody>
          <a:bodyPr/>
          <a:lstStyle/>
          <a:p>
            <a:endParaRPr lang="en-US"/>
          </a:p>
        </p:txBody>
      </p:sp>
      <p:sp>
        <p:nvSpPr>
          <p:cNvPr id="81" name="Shape 79"/>
          <p:cNvSpPr/>
          <p:nvPr/>
        </p:nvSpPr>
        <p:spPr>
          <a:xfrm>
            <a:off x="7104888" y="3675888"/>
            <a:ext cx="256032" cy="274320"/>
          </a:xfrm>
          <a:prstGeom prst="rect">
            <a:avLst/>
          </a:prstGeom>
          <a:solidFill>
            <a:schemeClr val="accent1"/>
          </a:solidFill>
          <a:ln/>
        </p:spPr>
        <p:txBody>
          <a:bodyPr/>
          <a:lstStyle/>
          <a:p>
            <a:endParaRPr lang="en-US"/>
          </a:p>
        </p:txBody>
      </p:sp>
      <p:sp>
        <p:nvSpPr>
          <p:cNvPr id="82" name="Shape 80"/>
          <p:cNvSpPr/>
          <p:nvPr/>
        </p:nvSpPr>
        <p:spPr>
          <a:xfrm>
            <a:off x="7411212" y="3675888"/>
            <a:ext cx="256032" cy="274320"/>
          </a:xfrm>
          <a:prstGeom prst="rect">
            <a:avLst/>
          </a:prstGeom>
          <a:solidFill>
            <a:schemeClr val="accent1"/>
          </a:solidFill>
          <a:ln/>
        </p:spPr>
        <p:txBody>
          <a:bodyPr/>
          <a:lstStyle/>
          <a:p>
            <a:endParaRPr lang="en-US"/>
          </a:p>
        </p:txBody>
      </p:sp>
      <p:sp>
        <p:nvSpPr>
          <p:cNvPr id="83" name="Shape 81"/>
          <p:cNvSpPr/>
          <p:nvPr/>
        </p:nvSpPr>
        <p:spPr>
          <a:xfrm>
            <a:off x="7717536" y="3675888"/>
            <a:ext cx="256032" cy="274320"/>
          </a:xfrm>
          <a:prstGeom prst="rect">
            <a:avLst/>
          </a:prstGeom>
          <a:solidFill>
            <a:schemeClr val="accent1"/>
          </a:solidFill>
          <a:ln/>
        </p:spPr>
        <p:txBody>
          <a:bodyPr/>
          <a:lstStyle/>
          <a:p>
            <a:endParaRPr lang="en-US"/>
          </a:p>
        </p:txBody>
      </p:sp>
      <p:sp>
        <p:nvSpPr>
          <p:cNvPr id="84" name="Shape 82"/>
          <p:cNvSpPr/>
          <p:nvPr/>
        </p:nvSpPr>
        <p:spPr>
          <a:xfrm>
            <a:off x="8023860" y="3675888"/>
            <a:ext cx="256032" cy="274320"/>
          </a:xfrm>
          <a:prstGeom prst="rect">
            <a:avLst/>
          </a:prstGeom>
          <a:solidFill>
            <a:schemeClr val="accent1"/>
          </a:solidFill>
          <a:ln/>
        </p:spPr>
        <p:txBody>
          <a:bodyPr/>
          <a:lstStyle/>
          <a:p>
            <a:endParaRPr lang="en-US"/>
          </a:p>
        </p:txBody>
      </p:sp>
      <p:sp>
        <p:nvSpPr>
          <p:cNvPr id="85" name="Shape 83"/>
          <p:cNvSpPr/>
          <p:nvPr/>
        </p:nvSpPr>
        <p:spPr>
          <a:xfrm>
            <a:off x="8330184" y="3675888"/>
            <a:ext cx="256032" cy="274320"/>
          </a:xfrm>
          <a:prstGeom prst="rect">
            <a:avLst/>
          </a:prstGeom>
          <a:solidFill>
            <a:schemeClr val="accent1"/>
          </a:solidFill>
          <a:ln/>
        </p:spPr>
        <p:txBody>
          <a:bodyPr/>
          <a:lstStyle/>
          <a:p>
            <a:endParaRPr lang="en-US"/>
          </a:p>
        </p:txBody>
      </p:sp>
      <p:sp>
        <p:nvSpPr>
          <p:cNvPr id="86" name="Shape 84"/>
          <p:cNvSpPr/>
          <p:nvPr/>
        </p:nvSpPr>
        <p:spPr>
          <a:xfrm>
            <a:off x="8636508" y="3675888"/>
            <a:ext cx="256032" cy="274320"/>
          </a:xfrm>
          <a:prstGeom prst="rect">
            <a:avLst/>
          </a:prstGeom>
          <a:solidFill>
            <a:schemeClr val="accent1"/>
          </a:solidFill>
          <a:ln/>
        </p:spPr>
        <p:txBody>
          <a:bodyPr/>
          <a:lstStyle/>
          <a:p>
            <a:endParaRPr lang="en-US"/>
          </a:p>
        </p:txBody>
      </p:sp>
      <p:sp>
        <p:nvSpPr>
          <p:cNvPr id="87" name="Shape 85"/>
          <p:cNvSpPr/>
          <p:nvPr/>
        </p:nvSpPr>
        <p:spPr>
          <a:xfrm>
            <a:off x="8942832" y="3675888"/>
            <a:ext cx="256032" cy="274320"/>
          </a:xfrm>
          <a:prstGeom prst="rect">
            <a:avLst/>
          </a:prstGeom>
          <a:solidFill>
            <a:schemeClr val="accent1"/>
          </a:solidFill>
          <a:ln/>
        </p:spPr>
        <p:txBody>
          <a:bodyPr/>
          <a:lstStyle/>
          <a:p>
            <a:endParaRPr lang="en-US"/>
          </a:p>
        </p:txBody>
      </p:sp>
      <p:sp>
        <p:nvSpPr>
          <p:cNvPr id="88" name="Shape 86"/>
          <p:cNvSpPr/>
          <p:nvPr/>
        </p:nvSpPr>
        <p:spPr>
          <a:xfrm>
            <a:off x="9249156" y="3675888"/>
            <a:ext cx="256032" cy="274320"/>
          </a:xfrm>
          <a:prstGeom prst="rect">
            <a:avLst/>
          </a:prstGeom>
          <a:solidFill>
            <a:schemeClr val="accent1"/>
          </a:solidFill>
          <a:ln/>
        </p:spPr>
        <p:txBody>
          <a:bodyPr/>
          <a:lstStyle/>
          <a:p>
            <a:endParaRPr lang="en-US"/>
          </a:p>
        </p:txBody>
      </p:sp>
      <p:sp>
        <p:nvSpPr>
          <p:cNvPr id="89" name="Shape 87"/>
          <p:cNvSpPr/>
          <p:nvPr/>
        </p:nvSpPr>
        <p:spPr>
          <a:xfrm>
            <a:off x="9555480" y="3675888"/>
            <a:ext cx="256032" cy="274320"/>
          </a:xfrm>
          <a:prstGeom prst="rect">
            <a:avLst/>
          </a:prstGeom>
          <a:solidFill>
            <a:schemeClr val="accent1"/>
          </a:solidFill>
          <a:ln/>
        </p:spPr>
        <p:txBody>
          <a:bodyPr/>
          <a:lstStyle/>
          <a:p>
            <a:endParaRPr lang="en-US"/>
          </a:p>
        </p:txBody>
      </p:sp>
      <p:sp>
        <p:nvSpPr>
          <p:cNvPr id="90" name="Shape 88"/>
          <p:cNvSpPr/>
          <p:nvPr/>
        </p:nvSpPr>
        <p:spPr>
          <a:xfrm>
            <a:off x="9861804" y="3675888"/>
            <a:ext cx="256032" cy="274320"/>
          </a:xfrm>
          <a:prstGeom prst="rect">
            <a:avLst/>
          </a:prstGeom>
          <a:solidFill>
            <a:schemeClr val="accent1"/>
          </a:solidFill>
          <a:ln/>
        </p:spPr>
        <p:txBody>
          <a:bodyPr/>
          <a:lstStyle/>
          <a:p>
            <a:endParaRPr lang="en-US"/>
          </a:p>
        </p:txBody>
      </p:sp>
      <p:sp>
        <p:nvSpPr>
          <p:cNvPr id="91" name="Shape 89"/>
          <p:cNvSpPr/>
          <p:nvPr/>
        </p:nvSpPr>
        <p:spPr>
          <a:xfrm>
            <a:off x="10168128" y="3675888"/>
            <a:ext cx="256032" cy="274320"/>
          </a:xfrm>
          <a:prstGeom prst="rect">
            <a:avLst/>
          </a:prstGeom>
          <a:solidFill>
            <a:schemeClr val="accent1"/>
          </a:solidFill>
          <a:ln/>
        </p:spPr>
        <p:txBody>
          <a:bodyPr/>
          <a:lstStyle/>
          <a:p>
            <a:endParaRPr lang="en-US"/>
          </a:p>
        </p:txBody>
      </p:sp>
      <p:sp>
        <p:nvSpPr>
          <p:cNvPr id="92" name="Shape 90"/>
          <p:cNvSpPr/>
          <p:nvPr/>
        </p:nvSpPr>
        <p:spPr>
          <a:xfrm>
            <a:off x="10474452" y="3675888"/>
            <a:ext cx="256032" cy="274320"/>
          </a:xfrm>
          <a:prstGeom prst="rect">
            <a:avLst/>
          </a:prstGeom>
          <a:solidFill>
            <a:schemeClr val="accent1"/>
          </a:solidFill>
          <a:ln/>
        </p:spPr>
        <p:txBody>
          <a:bodyPr/>
          <a:lstStyle/>
          <a:p>
            <a:endParaRPr lang="en-US"/>
          </a:p>
        </p:txBody>
      </p:sp>
      <p:sp>
        <p:nvSpPr>
          <p:cNvPr id="93" name="Shape 91"/>
          <p:cNvSpPr/>
          <p:nvPr/>
        </p:nvSpPr>
        <p:spPr>
          <a:xfrm>
            <a:off x="10780776" y="3675888"/>
            <a:ext cx="256032" cy="274320"/>
          </a:xfrm>
          <a:prstGeom prst="rect">
            <a:avLst/>
          </a:prstGeom>
          <a:solidFill>
            <a:schemeClr val="accent1"/>
          </a:solidFill>
          <a:ln/>
        </p:spPr>
        <p:txBody>
          <a:bodyPr/>
          <a:lstStyle/>
          <a:p>
            <a:endParaRPr lang="en-US"/>
          </a:p>
        </p:txBody>
      </p:sp>
      <p:sp>
        <p:nvSpPr>
          <p:cNvPr id="94" name="Shape 92"/>
          <p:cNvSpPr/>
          <p:nvPr/>
        </p:nvSpPr>
        <p:spPr>
          <a:xfrm>
            <a:off x="11087100" y="3675888"/>
            <a:ext cx="256032" cy="274320"/>
          </a:xfrm>
          <a:prstGeom prst="rect">
            <a:avLst/>
          </a:prstGeom>
          <a:solidFill>
            <a:schemeClr val="accent1"/>
          </a:solidFill>
          <a:ln/>
        </p:spPr>
        <p:txBody>
          <a:bodyPr/>
          <a:lstStyle/>
          <a:p>
            <a:endParaRPr lang="en-US"/>
          </a:p>
        </p:txBody>
      </p:sp>
      <p:sp>
        <p:nvSpPr>
          <p:cNvPr id="95" name="Text 93"/>
          <p:cNvSpPr txBox="1"/>
          <p:nvPr/>
        </p:nvSpPr>
        <p:spPr>
          <a:xfrm>
            <a:off x="6492240" y="4160520"/>
            <a:ext cx="4937760" cy="109728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2"/>
                </a:solidFill>
              </a:rPr>
              <a:t>Thousands of cores run the same instruction on different data (SIMT)</a:t>
            </a:r>
            <a:endParaRPr lang="en-US" sz="1400" dirty="0"/>
          </a:p>
          <a:p>
            <a:pPr marL="342900" indent="-342900">
              <a:spcAft>
                <a:spcPts val="500"/>
              </a:spcAft>
              <a:buSzPct val="100000"/>
              <a:buChar char="•"/>
            </a:pPr>
            <a:r>
              <a:rPr lang="en-US" sz="1400" dirty="0">
                <a:solidFill>
                  <a:schemeClr val="tx2"/>
                </a:solidFill>
              </a:rPr>
              <a:t>Built to finish millions of small tasks at the same time</a:t>
            </a:r>
            <a:endParaRPr lang="en-US" sz="1400" dirty="0"/>
          </a:p>
        </p:txBody>
      </p:sp>
      <p:sp>
        <p:nvSpPr>
          <p:cNvPr id="96" name="Shape 94"/>
          <p:cNvSpPr/>
          <p:nvPr/>
        </p:nvSpPr>
        <p:spPr>
          <a:xfrm>
            <a:off x="548640" y="5532120"/>
            <a:ext cx="11064240" cy="685800"/>
          </a:xfrm>
          <a:prstGeom prst="roundRect">
            <a:avLst>
              <a:gd name="adj" fmla="val 10667"/>
            </a:avLst>
          </a:prstGeom>
          <a:solidFill>
            <a:schemeClr val="tx1"/>
          </a:solidFill>
          <a:ln/>
        </p:spPr>
        <p:txBody>
          <a:bodyPr/>
          <a:lstStyle/>
          <a:p>
            <a:endParaRPr lang="en-US"/>
          </a:p>
        </p:txBody>
      </p:sp>
      <p:pic>
        <p:nvPicPr>
          <p:cNvPr id="97" name="Image 0" descr="preencoded.png"/>
          <p:cNvPicPr>
            <a:picLocks noChangeAspect="1"/>
          </p:cNvPicPr>
          <p:nvPr/>
        </p:nvPicPr>
        <p:blipFill>
          <a:blip r:embed="rId3"/>
          <a:stretch>
            <a:fillRect/>
          </a:stretch>
        </p:blipFill>
        <p:spPr>
          <a:xfrm>
            <a:off x="777240" y="5692140"/>
            <a:ext cx="365760" cy="365760"/>
          </a:xfrm>
          <a:prstGeom prst="rect">
            <a:avLst/>
          </a:prstGeom>
        </p:spPr>
      </p:pic>
      <p:sp>
        <p:nvSpPr>
          <p:cNvPr id="98" name="Text 95"/>
          <p:cNvSpPr txBox="1"/>
          <p:nvPr/>
        </p:nvSpPr>
        <p:spPr>
          <a:xfrm>
            <a:off x="1325880" y="5532120"/>
            <a:ext cx="10058400" cy="685800"/>
          </a:xfrm>
          <a:prstGeom prst="rect">
            <a:avLst/>
          </a:prstGeom>
          <a:noFill/>
          <a:ln/>
        </p:spPr>
        <p:txBody>
          <a:bodyPr wrap="square" lIns="0" tIns="0" rIns="0" bIns="0" rtlCol="0" anchor="ctr"/>
          <a:lstStyle/>
          <a:p>
            <a:pPr marL="0" indent="0">
              <a:buNone/>
            </a:pPr>
            <a:r>
              <a:rPr lang="en-US" sz="1600" dirty="0">
                <a:solidFill>
                  <a:schemeClr val="bg1"/>
                </a:solidFill>
              </a:rPr>
              <a:t>AI training and inference are mostly huge matrix multiplications, the kind of parallel maths GPUs were built for.</a:t>
            </a:r>
            <a:endParaRPr lang="en-US" sz="1600" dirty="0"/>
          </a:p>
        </p:txBody>
      </p:sp>
      <p:sp>
        <p:nvSpPr>
          <p:cNvPr id="99"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Anatomy of a modern data center GPU</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Simplified block diagram, modelled on the Hopper H100 (GH100) die</a:t>
            </a:r>
            <a:endParaRPr lang="en-US" sz="1600" dirty="0"/>
          </a:p>
        </p:txBody>
      </p:sp>
      <p:sp>
        <p:nvSpPr>
          <p:cNvPr id="4" name="Shape 2"/>
          <p:cNvSpPr/>
          <p:nvPr/>
        </p:nvSpPr>
        <p:spPr>
          <a:xfrm>
            <a:off x="548640" y="1600200"/>
            <a:ext cx="7132320" cy="4526280"/>
          </a:xfrm>
          <a:prstGeom prst="roundRect">
            <a:avLst>
              <a:gd name="adj" fmla="val 1010"/>
            </a:avLst>
          </a:prstGeom>
          <a:solidFill>
            <a:schemeClr val="tx1"/>
          </a:solidFill>
          <a:ln/>
        </p:spPr>
        <p:txBody>
          <a:bodyPr/>
          <a:lstStyle/>
          <a:p>
            <a:endParaRPr lang="en-US"/>
          </a:p>
        </p:txBody>
      </p:sp>
      <p:sp>
        <p:nvSpPr>
          <p:cNvPr id="5" name="Text 3"/>
          <p:cNvSpPr/>
          <p:nvPr/>
        </p:nvSpPr>
        <p:spPr>
          <a:xfrm>
            <a:off x="777240" y="1755648"/>
            <a:ext cx="3291840" cy="384048"/>
          </a:xfrm>
          <a:prstGeom prst="roundRect">
            <a:avLst>
              <a:gd name="adj" fmla="val 11905"/>
            </a:avLst>
          </a:prstGeom>
          <a:solidFill>
            <a:schemeClr val="tx2"/>
          </a:solidFill>
          <a:ln/>
        </p:spPr>
        <p:txBody>
          <a:bodyPr wrap="square" lIns="381" tIns="381" rIns="381" bIns="381" rtlCol="0" anchor="ctr"/>
          <a:lstStyle/>
          <a:p>
            <a:pPr marL="0" indent="0" algn="ctr">
              <a:buNone/>
            </a:pPr>
            <a:r>
              <a:rPr lang="en-US" sz="1100" b="1" dirty="0">
                <a:solidFill>
                  <a:schemeClr val="bg1"/>
                </a:solidFill>
              </a:rPr>
              <a:t>PCIe Gen5 host interface</a:t>
            </a:r>
            <a:endParaRPr lang="en-US" sz="1100" dirty="0"/>
          </a:p>
        </p:txBody>
      </p:sp>
      <p:sp>
        <p:nvSpPr>
          <p:cNvPr id="6" name="Text 4"/>
          <p:cNvSpPr/>
          <p:nvPr/>
        </p:nvSpPr>
        <p:spPr>
          <a:xfrm>
            <a:off x="4160520" y="1755648"/>
            <a:ext cx="3291840" cy="384048"/>
          </a:xfrm>
          <a:prstGeom prst="roundRect">
            <a:avLst>
              <a:gd name="adj" fmla="val 11905"/>
            </a:avLst>
          </a:prstGeom>
          <a:solidFill>
            <a:schemeClr val="tx2"/>
          </a:solidFill>
          <a:ln/>
        </p:spPr>
        <p:txBody>
          <a:bodyPr wrap="square" lIns="381" tIns="381" rIns="381" bIns="381" rtlCol="0" anchor="ctr"/>
          <a:lstStyle/>
          <a:p>
            <a:pPr marL="0" indent="0" algn="ctr">
              <a:buNone/>
            </a:pPr>
            <a:r>
              <a:rPr lang="en-US" sz="1100" b="1" dirty="0">
                <a:solidFill>
                  <a:schemeClr val="bg1"/>
                </a:solidFill>
              </a:rPr>
              <a:t>GigaThread engine (work scheduler)</a:t>
            </a:r>
            <a:endParaRPr lang="en-US" sz="1100" dirty="0"/>
          </a:p>
        </p:txBody>
      </p:sp>
      <p:sp>
        <p:nvSpPr>
          <p:cNvPr id="7" name="Text 5"/>
          <p:cNvSpPr/>
          <p:nvPr/>
        </p:nvSpPr>
        <p:spPr>
          <a:xfrm>
            <a:off x="777240" y="2286000"/>
            <a:ext cx="640080" cy="868680"/>
          </a:xfrm>
          <a:prstGeom prst="roundRect">
            <a:avLst>
              <a:gd name="adj" fmla="val 7143"/>
            </a:avLst>
          </a:prstGeom>
          <a:solidFill>
            <a:schemeClr val="accent3"/>
          </a:solidFill>
          <a:ln/>
        </p:spPr>
        <p:txBody>
          <a:bodyPr wrap="square" lIns="381" tIns="381" rIns="381" bIns="381" rtlCol="0" anchor="ctr"/>
          <a:lstStyle/>
          <a:p>
            <a:pPr marL="0" indent="0" algn="ctr">
              <a:buNone/>
            </a:pPr>
            <a:r>
              <a:rPr lang="en-US" sz="1100" b="1" dirty="0">
                <a:solidFill>
                  <a:schemeClr val="tx1"/>
                </a:solidFill>
              </a:rPr>
              <a:t>HBM</a:t>
            </a:r>
            <a:endParaRPr lang="en-US" sz="1100" dirty="0"/>
          </a:p>
        </p:txBody>
      </p:sp>
      <p:sp>
        <p:nvSpPr>
          <p:cNvPr id="8" name="Text 6"/>
          <p:cNvSpPr/>
          <p:nvPr/>
        </p:nvSpPr>
        <p:spPr>
          <a:xfrm>
            <a:off x="6812280" y="2286000"/>
            <a:ext cx="640080" cy="868680"/>
          </a:xfrm>
          <a:prstGeom prst="roundRect">
            <a:avLst>
              <a:gd name="adj" fmla="val 7143"/>
            </a:avLst>
          </a:prstGeom>
          <a:solidFill>
            <a:schemeClr val="accent3"/>
          </a:solidFill>
          <a:ln/>
        </p:spPr>
        <p:txBody>
          <a:bodyPr wrap="square" lIns="381" tIns="381" rIns="381" bIns="381" rtlCol="0" anchor="ctr"/>
          <a:lstStyle/>
          <a:p>
            <a:pPr marL="0" indent="0" algn="ctr">
              <a:buNone/>
            </a:pPr>
            <a:r>
              <a:rPr lang="en-US" sz="1100" b="1" dirty="0">
                <a:solidFill>
                  <a:schemeClr val="tx1"/>
                </a:solidFill>
              </a:rPr>
              <a:t>HBM</a:t>
            </a:r>
            <a:endParaRPr lang="en-US" sz="1100" dirty="0"/>
          </a:p>
        </p:txBody>
      </p:sp>
      <p:sp>
        <p:nvSpPr>
          <p:cNvPr id="9" name="Text 7"/>
          <p:cNvSpPr/>
          <p:nvPr/>
        </p:nvSpPr>
        <p:spPr>
          <a:xfrm>
            <a:off x="777240" y="3291840"/>
            <a:ext cx="640080" cy="868680"/>
          </a:xfrm>
          <a:prstGeom prst="roundRect">
            <a:avLst>
              <a:gd name="adj" fmla="val 7143"/>
            </a:avLst>
          </a:prstGeom>
          <a:solidFill>
            <a:schemeClr val="accent3"/>
          </a:solidFill>
          <a:ln/>
        </p:spPr>
        <p:txBody>
          <a:bodyPr wrap="square" lIns="381" tIns="381" rIns="381" bIns="381" rtlCol="0" anchor="ctr"/>
          <a:lstStyle/>
          <a:p>
            <a:pPr marL="0" indent="0" algn="ctr">
              <a:buNone/>
            </a:pPr>
            <a:r>
              <a:rPr lang="en-US" sz="1100" b="1" dirty="0">
                <a:solidFill>
                  <a:schemeClr val="tx1"/>
                </a:solidFill>
              </a:rPr>
              <a:t>HBM</a:t>
            </a:r>
            <a:endParaRPr lang="en-US" sz="1100" dirty="0"/>
          </a:p>
        </p:txBody>
      </p:sp>
      <p:sp>
        <p:nvSpPr>
          <p:cNvPr id="10" name="Text 8"/>
          <p:cNvSpPr/>
          <p:nvPr/>
        </p:nvSpPr>
        <p:spPr>
          <a:xfrm>
            <a:off x="6812280" y="3291840"/>
            <a:ext cx="640080" cy="868680"/>
          </a:xfrm>
          <a:prstGeom prst="roundRect">
            <a:avLst>
              <a:gd name="adj" fmla="val 7143"/>
            </a:avLst>
          </a:prstGeom>
          <a:solidFill>
            <a:schemeClr val="accent3"/>
          </a:solidFill>
          <a:ln/>
        </p:spPr>
        <p:txBody>
          <a:bodyPr wrap="square" lIns="381" tIns="381" rIns="381" bIns="381" rtlCol="0" anchor="ctr"/>
          <a:lstStyle/>
          <a:p>
            <a:pPr marL="0" indent="0" algn="ctr">
              <a:buNone/>
            </a:pPr>
            <a:r>
              <a:rPr lang="en-US" sz="1100" b="1" dirty="0">
                <a:solidFill>
                  <a:schemeClr val="tx1"/>
                </a:solidFill>
              </a:rPr>
              <a:t>HBM</a:t>
            </a:r>
            <a:endParaRPr lang="en-US" sz="1100" dirty="0"/>
          </a:p>
        </p:txBody>
      </p:sp>
      <p:sp>
        <p:nvSpPr>
          <p:cNvPr id="11" name="Text 9"/>
          <p:cNvSpPr/>
          <p:nvPr/>
        </p:nvSpPr>
        <p:spPr>
          <a:xfrm>
            <a:off x="777240" y="4297680"/>
            <a:ext cx="640080" cy="868680"/>
          </a:xfrm>
          <a:prstGeom prst="roundRect">
            <a:avLst>
              <a:gd name="adj" fmla="val 7143"/>
            </a:avLst>
          </a:prstGeom>
          <a:solidFill>
            <a:schemeClr val="accent3"/>
          </a:solidFill>
          <a:ln/>
        </p:spPr>
        <p:txBody>
          <a:bodyPr wrap="square" lIns="381" tIns="381" rIns="381" bIns="381" rtlCol="0" anchor="ctr"/>
          <a:lstStyle/>
          <a:p>
            <a:pPr marL="0" indent="0" algn="ctr">
              <a:buNone/>
            </a:pPr>
            <a:r>
              <a:rPr lang="en-US" sz="1100" b="1" dirty="0">
                <a:solidFill>
                  <a:schemeClr val="tx1"/>
                </a:solidFill>
              </a:rPr>
              <a:t>HBM</a:t>
            </a:r>
            <a:endParaRPr lang="en-US" sz="1100" dirty="0"/>
          </a:p>
        </p:txBody>
      </p:sp>
      <p:sp>
        <p:nvSpPr>
          <p:cNvPr id="12" name="Text 10"/>
          <p:cNvSpPr/>
          <p:nvPr/>
        </p:nvSpPr>
        <p:spPr>
          <a:xfrm>
            <a:off x="6812280" y="4297680"/>
            <a:ext cx="640080" cy="868680"/>
          </a:xfrm>
          <a:prstGeom prst="roundRect">
            <a:avLst>
              <a:gd name="adj" fmla="val 7143"/>
            </a:avLst>
          </a:prstGeom>
          <a:solidFill>
            <a:schemeClr val="accent3"/>
          </a:solidFill>
          <a:ln/>
        </p:spPr>
        <p:txBody>
          <a:bodyPr wrap="square" lIns="381" tIns="381" rIns="381" bIns="381" rtlCol="0" anchor="ctr"/>
          <a:lstStyle/>
          <a:p>
            <a:pPr marL="0" indent="0" algn="ctr">
              <a:buNone/>
            </a:pPr>
            <a:r>
              <a:rPr lang="en-US" sz="1100" b="1" dirty="0">
                <a:solidFill>
                  <a:schemeClr val="tx1"/>
                </a:solidFill>
              </a:rPr>
              <a:t>HBM</a:t>
            </a:r>
            <a:endParaRPr lang="en-US" sz="1100" dirty="0"/>
          </a:p>
        </p:txBody>
      </p:sp>
      <p:sp>
        <p:nvSpPr>
          <p:cNvPr id="13" name="Shape 11"/>
          <p:cNvSpPr/>
          <p:nvPr/>
        </p:nvSpPr>
        <p:spPr>
          <a:xfrm>
            <a:off x="1600200" y="2286000"/>
            <a:ext cx="1188720" cy="1188720"/>
          </a:xfrm>
          <a:prstGeom prst="roundRect">
            <a:avLst>
              <a:gd name="adj" fmla="val 3077"/>
            </a:avLst>
          </a:prstGeom>
          <a:solidFill>
            <a:schemeClr val="tx2"/>
          </a:solidFill>
          <a:ln/>
        </p:spPr>
        <p:txBody>
          <a:bodyPr/>
          <a:lstStyle/>
          <a:p>
            <a:endParaRPr lang="en-US"/>
          </a:p>
        </p:txBody>
      </p:sp>
      <p:sp>
        <p:nvSpPr>
          <p:cNvPr id="14" name="Text 12"/>
          <p:cNvSpPr txBox="1"/>
          <p:nvPr/>
        </p:nvSpPr>
        <p:spPr>
          <a:xfrm>
            <a:off x="1600200" y="2331720"/>
            <a:ext cx="1188720" cy="256032"/>
          </a:xfrm>
          <a:prstGeom prst="rect">
            <a:avLst/>
          </a:prstGeom>
          <a:noFill/>
          <a:ln/>
        </p:spPr>
        <p:txBody>
          <a:bodyPr wrap="square" lIns="0" tIns="0" rIns="0" bIns="0" rtlCol="0" anchor="t"/>
          <a:lstStyle/>
          <a:p>
            <a:pPr marL="0" indent="0" algn="ctr">
              <a:buNone/>
            </a:pPr>
            <a:r>
              <a:rPr lang="en-US" sz="1000" b="1" dirty="0">
                <a:solidFill>
                  <a:schemeClr val="bg1"/>
                </a:solidFill>
              </a:rPr>
              <a:t>GPC 0</a:t>
            </a:r>
            <a:endParaRPr lang="en-US" sz="1000" dirty="0"/>
          </a:p>
        </p:txBody>
      </p:sp>
      <p:sp>
        <p:nvSpPr>
          <p:cNvPr id="15" name="Shape 13"/>
          <p:cNvSpPr/>
          <p:nvPr/>
        </p:nvSpPr>
        <p:spPr>
          <a:xfrm>
            <a:off x="1700784" y="2633472"/>
            <a:ext cx="201168" cy="201168"/>
          </a:xfrm>
          <a:prstGeom prst="rect">
            <a:avLst/>
          </a:prstGeom>
          <a:solidFill>
            <a:schemeClr val="accent1"/>
          </a:solidFill>
          <a:ln/>
        </p:spPr>
        <p:txBody>
          <a:bodyPr/>
          <a:lstStyle/>
          <a:p>
            <a:endParaRPr lang="en-US"/>
          </a:p>
        </p:txBody>
      </p:sp>
      <p:sp>
        <p:nvSpPr>
          <p:cNvPr id="16" name="Shape 14"/>
          <p:cNvSpPr/>
          <p:nvPr/>
        </p:nvSpPr>
        <p:spPr>
          <a:xfrm>
            <a:off x="1956816" y="2633472"/>
            <a:ext cx="201168" cy="201168"/>
          </a:xfrm>
          <a:prstGeom prst="rect">
            <a:avLst/>
          </a:prstGeom>
          <a:solidFill>
            <a:schemeClr val="accent1"/>
          </a:solidFill>
          <a:ln/>
        </p:spPr>
        <p:txBody>
          <a:bodyPr/>
          <a:lstStyle/>
          <a:p>
            <a:endParaRPr lang="en-US"/>
          </a:p>
        </p:txBody>
      </p:sp>
      <p:sp>
        <p:nvSpPr>
          <p:cNvPr id="17" name="Shape 15"/>
          <p:cNvSpPr/>
          <p:nvPr/>
        </p:nvSpPr>
        <p:spPr>
          <a:xfrm>
            <a:off x="2212848" y="2633472"/>
            <a:ext cx="201168" cy="201168"/>
          </a:xfrm>
          <a:prstGeom prst="rect">
            <a:avLst/>
          </a:prstGeom>
          <a:solidFill>
            <a:schemeClr val="accent1"/>
          </a:solidFill>
          <a:ln/>
        </p:spPr>
        <p:txBody>
          <a:bodyPr/>
          <a:lstStyle/>
          <a:p>
            <a:endParaRPr lang="en-US"/>
          </a:p>
        </p:txBody>
      </p:sp>
      <p:sp>
        <p:nvSpPr>
          <p:cNvPr id="18" name="Shape 16"/>
          <p:cNvSpPr/>
          <p:nvPr/>
        </p:nvSpPr>
        <p:spPr>
          <a:xfrm>
            <a:off x="2468880" y="2633472"/>
            <a:ext cx="201168" cy="201168"/>
          </a:xfrm>
          <a:prstGeom prst="rect">
            <a:avLst/>
          </a:prstGeom>
          <a:solidFill>
            <a:schemeClr val="accent1"/>
          </a:solidFill>
          <a:ln/>
        </p:spPr>
        <p:txBody>
          <a:bodyPr/>
          <a:lstStyle/>
          <a:p>
            <a:endParaRPr lang="en-US"/>
          </a:p>
        </p:txBody>
      </p:sp>
      <p:sp>
        <p:nvSpPr>
          <p:cNvPr id="19" name="Shape 17"/>
          <p:cNvSpPr/>
          <p:nvPr/>
        </p:nvSpPr>
        <p:spPr>
          <a:xfrm>
            <a:off x="1700784" y="2898648"/>
            <a:ext cx="201168" cy="201168"/>
          </a:xfrm>
          <a:prstGeom prst="rect">
            <a:avLst/>
          </a:prstGeom>
          <a:solidFill>
            <a:schemeClr val="accent1"/>
          </a:solidFill>
          <a:ln/>
        </p:spPr>
        <p:txBody>
          <a:bodyPr/>
          <a:lstStyle/>
          <a:p>
            <a:endParaRPr lang="en-US"/>
          </a:p>
        </p:txBody>
      </p:sp>
      <p:sp>
        <p:nvSpPr>
          <p:cNvPr id="20" name="Shape 18"/>
          <p:cNvSpPr/>
          <p:nvPr/>
        </p:nvSpPr>
        <p:spPr>
          <a:xfrm>
            <a:off x="1956816" y="2898648"/>
            <a:ext cx="201168" cy="201168"/>
          </a:xfrm>
          <a:prstGeom prst="rect">
            <a:avLst/>
          </a:prstGeom>
          <a:solidFill>
            <a:schemeClr val="accent1"/>
          </a:solidFill>
          <a:ln/>
        </p:spPr>
        <p:txBody>
          <a:bodyPr/>
          <a:lstStyle/>
          <a:p>
            <a:endParaRPr lang="en-US"/>
          </a:p>
        </p:txBody>
      </p:sp>
      <p:sp>
        <p:nvSpPr>
          <p:cNvPr id="21" name="Shape 19"/>
          <p:cNvSpPr/>
          <p:nvPr/>
        </p:nvSpPr>
        <p:spPr>
          <a:xfrm>
            <a:off x="2212848" y="2898648"/>
            <a:ext cx="201168" cy="201168"/>
          </a:xfrm>
          <a:prstGeom prst="rect">
            <a:avLst/>
          </a:prstGeom>
          <a:solidFill>
            <a:schemeClr val="accent1"/>
          </a:solidFill>
          <a:ln/>
        </p:spPr>
        <p:txBody>
          <a:bodyPr/>
          <a:lstStyle/>
          <a:p>
            <a:endParaRPr lang="en-US"/>
          </a:p>
        </p:txBody>
      </p:sp>
      <p:sp>
        <p:nvSpPr>
          <p:cNvPr id="22" name="Shape 20"/>
          <p:cNvSpPr/>
          <p:nvPr/>
        </p:nvSpPr>
        <p:spPr>
          <a:xfrm>
            <a:off x="2468880" y="2898648"/>
            <a:ext cx="201168" cy="201168"/>
          </a:xfrm>
          <a:prstGeom prst="rect">
            <a:avLst/>
          </a:prstGeom>
          <a:solidFill>
            <a:schemeClr val="accent1"/>
          </a:solidFill>
          <a:ln/>
        </p:spPr>
        <p:txBody>
          <a:bodyPr/>
          <a:lstStyle/>
          <a:p>
            <a:endParaRPr lang="en-US"/>
          </a:p>
        </p:txBody>
      </p:sp>
      <p:sp>
        <p:nvSpPr>
          <p:cNvPr id="23" name="Shape 21"/>
          <p:cNvSpPr/>
          <p:nvPr/>
        </p:nvSpPr>
        <p:spPr>
          <a:xfrm>
            <a:off x="1700784" y="3163824"/>
            <a:ext cx="201168" cy="201168"/>
          </a:xfrm>
          <a:prstGeom prst="rect">
            <a:avLst/>
          </a:prstGeom>
          <a:solidFill>
            <a:schemeClr val="accent1"/>
          </a:solidFill>
          <a:ln/>
        </p:spPr>
        <p:txBody>
          <a:bodyPr/>
          <a:lstStyle/>
          <a:p>
            <a:endParaRPr lang="en-US"/>
          </a:p>
        </p:txBody>
      </p:sp>
      <p:sp>
        <p:nvSpPr>
          <p:cNvPr id="24" name="Shape 22"/>
          <p:cNvSpPr/>
          <p:nvPr/>
        </p:nvSpPr>
        <p:spPr>
          <a:xfrm>
            <a:off x="1956816" y="3163824"/>
            <a:ext cx="201168" cy="201168"/>
          </a:xfrm>
          <a:prstGeom prst="rect">
            <a:avLst/>
          </a:prstGeom>
          <a:solidFill>
            <a:schemeClr val="accent1"/>
          </a:solidFill>
          <a:ln/>
        </p:spPr>
        <p:txBody>
          <a:bodyPr/>
          <a:lstStyle/>
          <a:p>
            <a:endParaRPr lang="en-US"/>
          </a:p>
        </p:txBody>
      </p:sp>
      <p:sp>
        <p:nvSpPr>
          <p:cNvPr id="25" name="Shape 23"/>
          <p:cNvSpPr/>
          <p:nvPr/>
        </p:nvSpPr>
        <p:spPr>
          <a:xfrm>
            <a:off x="2212848" y="3163824"/>
            <a:ext cx="201168" cy="201168"/>
          </a:xfrm>
          <a:prstGeom prst="rect">
            <a:avLst/>
          </a:prstGeom>
          <a:solidFill>
            <a:schemeClr val="accent1"/>
          </a:solidFill>
          <a:ln/>
        </p:spPr>
        <p:txBody>
          <a:bodyPr/>
          <a:lstStyle/>
          <a:p>
            <a:endParaRPr lang="en-US"/>
          </a:p>
        </p:txBody>
      </p:sp>
      <p:sp>
        <p:nvSpPr>
          <p:cNvPr id="26" name="Shape 24"/>
          <p:cNvSpPr/>
          <p:nvPr/>
        </p:nvSpPr>
        <p:spPr>
          <a:xfrm>
            <a:off x="2468880" y="3163824"/>
            <a:ext cx="201168" cy="201168"/>
          </a:xfrm>
          <a:prstGeom prst="rect">
            <a:avLst/>
          </a:prstGeom>
          <a:solidFill>
            <a:schemeClr val="accent1"/>
          </a:solidFill>
          <a:ln/>
        </p:spPr>
        <p:txBody>
          <a:bodyPr/>
          <a:lstStyle/>
          <a:p>
            <a:endParaRPr lang="en-US"/>
          </a:p>
        </p:txBody>
      </p:sp>
      <p:sp>
        <p:nvSpPr>
          <p:cNvPr id="27" name="Shape 25"/>
          <p:cNvSpPr/>
          <p:nvPr/>
        </p:nvSpPr>
        <p:spPr>
          <a:xfrm>
            <a:off x="2880360" y="2286000"/>
            <a:ext cx="1188720" cy="1188720"/>
          </a:xfrm>
          <a:prstGeom prst="roundRect">
            <a:avLst>
              <a:gd name="adj" fmla="val 3077"/>
            </a:avLst>
          </a:prstGeom>
          <a:solidFill>
            <a:schemeClr val="tx2"/>
          </a:solidFill>
          <a:ln/>
        </p:spPr>
        <p:txBody>
          <a:bodyPr/>
          <a:lstStyle/>
          <a:p>
            <a:endParaRPr lang="en-US"/>
          </a:p>
        </p:txBody>
      </p:sp>
      <p:sp>
        <p:nvSpPr>
          <p:cNvPr id="28" name="Text 26"/>
          <p:cNvSpPr txBox="1"/>
          <p:nvPr/>
        </p:nvSpPr>
        <p:spPr>
          <a:xfrm>
            <a:off x="2880360" y="2331720"/>
            <a:ext cx="1188720" cy="256032"/>
          </a:xfrm>
          <a:prstGeom prst="rect">
            <a:avLst/>
          </a:prstGeom>
          <a:noFill/>
          <a:ln/>
        </p:spPr>
        <p:txBody>
          <a:bodyPr wrap="square" lIns="0" tIns="0" rIns="0" bIns="0" rtlCol="0" anchor="t"/>
          <a:lstStyle/>
          <a:p>
            <a:pPr marL="0" indent="0" algn="ctr">
              <a:buNone/>
            </a:pPr>
            <a:r>
              <a:rPr lang="en-US" sz="1000" b="1" dirty="0">
                <a:solidFill>
                  <a:schemeClr val="bg1"/>
                </a:solidFill>
              </a:rPr>
              <a:t>GPC 1</a:t>
            </a:r>
            <a:endParaRPr lang="en-US" sz="1000" dirty="0"/>
          </a:p>
        </p:txBody>
      </p:sp>
      <p:sp>
        <p:nvSpPr>
          <p:cNvPr id="29" name="Shape 27"/>
          <p:cNvSpPr/>
          <p:nvPr/>
        </p:nvSpPr>
        <p:spPr>
          <a:xfrm>
            <a:off x="2980944" y="2633472"/>
            <a:ext cx="201168" cy="201168"/>
          </a:xfrm>
          <a:prstGeom prst="rect">
            <a:avLst/>
          </a:prstGeom>
          <a:solidFill>
            <a:schemeClr val="accent1"/>
          </a:solidFill>
          <a:ln/>
        </p:spPr>
        <p:txBody>
          <a:bodyPr/>
          <a:lstStyle/>
          <a:p>
            <a:endParaRPr lang="en-US"/>
          </a:p>
        </p:txBody>
      </p:sp>
      <p:sp>
        <p:nvSpPr>
          <p:cNvPr id="30" name="Shape 28"/>
          <p:cNvSpPr/>
          <p:nvPr/>
        </p:nvSpPr>
        <p:spPr>
          <a:xfrm>
            <a:off x="3236976" y="2633472"/>
            <a:ext cx="201168" cy="201168"/>
          </a:xfrm>
          <a:prstGeom prst="rect">
            <a:avLst/>
          </a:prstGeom>
          <a:solidFill>
            <a:schemeClr val="accent1"/>
          </a:solidFill>
          <a:ln/>
        </p:spPr>
        <p:txBody>
          <a:bodyPr/>
          <a:lstStyle/>
          <a:p>
            <a:endParaRPr lang="en-US"/>
          </a:p>
        </p:txBody>
      </p:sp>
      <p:sp>
        <p:nvSpPr>
          <p:cNvPr id="31" name="Shape 29"/>
          <p:cNvSpPr/>
          <p:nvPr/>
        </p:nvSpPr>
        <p:spPr>
          <a:xfrm>
            <a:off x="3493008" y="2633472"/>
            <a:ext cx="201168" cy="201168"/>
          </a:xfrm>
          <a:prstGeom prst="rect">
            <a:avLst/>
          </a:prstGeom>
          <a:solidFill>
            <a:schemeClr val="accent1"/>
          </a:solidFill>
          <a:ln/>
        </p:spPr>
        <p:txBody>
          <a:bodyPr/>
          <a:lstStyle/>
          <a:p>
            <a:endParaRPr lang="en-US"/>
          </a:p>
        </p:txBody>
      </p:sp>
      <p:sp>
        <p:nvSpPr>
          <p:cNvPr id="32" name="Shape 30"/>
          <p:cNvSpPr/>
          <p:nvPr/>
        </p:nvSpPr>
        <p:spPr>
          <a:xfrm>
            <a:off x="3749040" y="2633472"/>
            <a:ext cx="201168" cy="201168"/>
          </a:xfrm>
          <a:prstGeom prst="rect">
            <a:avLst/>
          </a:prstGeom>
          <a:solidFill>
            <a:schemeClr val="accent1"/>
          </a:solidFill>
          <a:ln/>
        </p:spPr>
        <p:txBody>
          <a:bodyPr/>
          <a:lstStyle/>
          <a:p>
            <a:endParaRPr lang="en-US"/>
          </a:p>
        </p:txBody>
      </p:sp>
      <p:sp>
        <p:nvSpPr>
          <p:cNvPr id="33" name="Shape 31"/>
          <p:cNvSpPr/>
          <p:nvPr/>
        </p:nvSpPr>
        <p:spPr>
          <a:xfrm>
            <a:off x="2980944" y="2898648"/>
            <a:ext cx="201168" cy="201168"/>
          </a:xfrm>
          <a:prstGeom prst="rect">
            <a:avLst/>
          </a:prstGeom>
          <a:solidFill>
            <a:schemeClr val="accent1"/>
          </a:solidFill>
          <a:ln/>
        </p:spPr>
        <p:txBody>
          <a:bodyPr/>
          <a:lstStyle/>
          <a:p>
            <a:endParaRPr lang="en-US"/>
          </a:p>
        </p:txBody>
      </p:sp>
      <p:sp>
        <p:nvSpPr>
          <p:cNvPr id="34" name="Shape 32"/>
          <p:cNvSpPr/>
          <p:nvPr/>
        </p:nvSpPr>
        <p:spPr>
          <a:xfrm>
            <a:off x="3236976" y="2898648"/>
            <a:ext cx="201168" cy="201168"/>
          </a:xfrm>
          <a:prstGeom prst="rect">
            <a:avLst/>
          </a:prstGeom>
          <a:solidFill>
            <a:schemeClr val="accent1"/>
          </a:solidFill>
          <a:ln/>
        </p:spPr>
        <p:txBody>
          <a:bodyPr/>
          <a:lstStyle/>
          <a:p>
            <a:endParaRPr lang="en-US"/>
          </a:p>
        </p:txBody>
      </p:sp>
      <p:sp>
        <p:nvSpPr>
          <p:cNvPr id="35" name="Shape 33"/>
          <p:cNvSpPr/>
          <p:nvPr/>
        </p:nvSpPr>
        <p:spPr>
          <a:xfrm>
            <a:off x="3493008" y="2898648"/>
            <a:ext cx="201168" cy="201168"/>
          </a:xfrm>
          <a:prstGeom prst="rect">
            <a:avLst/>
          </a:prstGeom>
          <a:solidFill>
            <a:schemeClr val="accent1"/>
          </a:solidFill>
          <a:ln/>
        </p:spPr>
        <p:txBody>
          <a:bodyPr/>
          <a:lstStyle/>
          <a:p>
            <a:endParaRPr lang="en-US"/>
          </a:p>
        </p:txBody>
      </p:sp>
      <p:sp>
        <p:nvSpPr>
          <p:cNvPr id="36" name="Shape 34"/>
          <p:cNvSpPr/>
          <p:nvPr/>
        </p:nvSpPr>
        <p:spPr>
          <a:xfrm>
            <a:off x="3749040" y="2898648"/>
            <a:ext cx="201168" cy="201168"/>
          </a:xfrm>
          <a:prstGeom prst="rect">
            <a:avLst/>
          </a:prstGeom>
          <a:solidFill>
            <a:schemeClr val="accent1"/>
          </a:solidFill>
          <a:ln/>
        </p:spPr>
        <p:txBody>
          <a:bodyPr/>
          <a:lstStyle/>
          <a:p>
            <a:endParaRPr lang="en-US"/>
          </a:p>
        </p:txBody>
      </p:sp>
      <p:sp>
        <p:nvSpPr>
          <p:cNvPr id="37" name="Shape 35"/>
          <p:cNvSpPr/>
          <p:nvPr/>
        </p:nvSpPr>
        <p:spPr>
          <a:xfrm>
            <a:off x="2980944" y="3163824"/>
            <a:ext cx="201168" cy="201168"/>
          </a:xfrm>
          <a:prstGeom prst="rect">
            <a:avLst/>
          </a:prstGeom>
          <a:solidFill>
            <a:schemeClr val="accent1"/>
          </a:solidFill>
          <a:ln/>
        </p:spPr>
        <p:txBody>
          <a:bodyPr/>
          <a:lstStyle/>
          <a:p>
            <a:endParaRPr lang="en-US"/>
          </a:p>
        </p:txBody>
      </p:sp>
      <p:sp>
        <p:nvSpPr>
          <p:cNvPr id="38" name="Shape 36"/>
          <p:cNvSpPr/>
          <p:nvPr/>
        </p:nvSpPr>
        <p:spPr>
          <a:xfrm>
            <a:off x="3236976" y="3163824"/>
            <a:ext cx="201168" cy="201168"/>
          </a:xfrm>
          <a:prstGeom prst="rect">
            <a:avLst/>
          </a:prstGeom>
          <a:solidFill>
            <a:schemeClr val="accent1"/>
          </a:solidFill>
          <a:ln/>
        </p:spPr>
        <p:txBody>
          <a:bodyPr/>
          <a:lstStyle/>
          <a:p>
            <a:endParaRPr lang="en-US"/>
          </a:p>
        </p:txBody>
      </p:sp>
      <p:sp>
        <p:nvSpPr>
          <p:cNvPr id="39" name="Shape 37"/>
          <p:cNvSpPr/>
          <p:nvPr/>
        </p:nvSpPr>
        <p:spPr>
          <a:xfrm>
            <a:off x="3493008" y="3163824"/>
            <a:ext cx="201168" cy="201168"/>
          </a:xfrm>
          <a:prstGeom prst="rect">
            <a:avLst/>
          </a:prstGeom>
          <a:solidFill>
            <a:schemeClr val="accent1"/>
          </a:solidFill>
          <a:ln/>
        </p:spPr>
        <p:txBody>
          <a:bodyPr/>
          <a:lstStyle/>
          <a:p>
            <a:endParaRPr lang="en-US"/>
          </a:p>
        </p:txBody>
      </p:sp>
      <p:sp>
        <p:nvSpPr>
          <p:cNvPr id="40" name="Shape 38"/>
          <p:cNvSpPr/>
          <p:nvPr/>
        </p:nvSpPr>
        <p:spPr>
          <a:xfrm>
            <a:off x="3749040" y="3163824"/>
            <a:ext cx="201168" cy="201168"/>
          </a:xfrm>
          <a:prstGeom prst="rect">
            <a:avLst/>
          </a:prstGeom>
          <a:solidFill>
            <a:schemeClr val="accent1"/>
          </a:solidFill>
          <a:ln/>
        </p:spPr>
        <p:txBody>
          <a:bodyPr/>
          <a:lstStyle/>
          <a:p>
            <a:endParaRPr lang="en-US"/>
          </a:p>
        </p:txBody>
      </p:sp>
      <p:sp>
        <p:nvSpPr>
          <p:cNvPr id="41" name="Shape 39"/>
          <p:cNvSpPr/>
          <p:nvPr/>
        </p:nvSpPr>
        <p:spPr>
          <a:xfrm>
            <a:off x="4160520" y="2286000"/>
            <a:ext cx="1188720" cy="1188720"/>
          </a:xfrm>
          <a:prstGeom prst="roundRect">
            <a:avLst>
              <a:gd name="adj" fmla="val 3077"/>
            </a:avLst>
          </a:prstGeom>
          <a:solidFill>
            <a:schemeClr val="tx2"/>
          </a:solidFill>
          <a:ln/>
        </p:spPr>
        <p:txBody>
          <a:bodyPr/>
          <a:lstStyle/>
          <a:p>
            <a:endParaRPr lang="en-US"/>
          </a:p>
        </p:txBody>
      </p:sp>
      <p:sp>
        <p:nvSpPr>
          <p:cNvPr id="42" name="Text 40"/>
          <p:cNvSpPr txBox="1"/>
          <p:nvPr/>
        </p:nvSpPr>
        <p:spPr>
          <a:xfrm>
            <a:off x="4160520" y="2331720"/>
            <a:ext cx="1188720" cy="256032"/>
          </a:xfrm>
          <a:prstGeom prst="rect">
            <a:avLst/>
          </a:prstGeom>
          <a:noFill/>
          <a:ln/>
        </p:spPr>
        <p:txBody>
          <a:bodyPr wrap="square" lIns="0" tIns="0" rIns="0" bIns="0" rtlCol="0" anchor="t"/>
          <a:lstStyle/>
          <a:p>
            <a:pPr marL="0" indent="0" algn="ctr">
              <a:buNone/>
            </a:pPr>
            <a:r>
              <a:rPr lang="en-US" sz="1000" b="1" dirty="0">
                <a:solidFill>
                  <a:schemeClr val="bg1"/>
                </a:solidFill>
              </a:rPr>
              <a:t>GPC 2</a:t>
            </a:r>
            <a:endParaRPr lang="en-US" sz="1000" dirty="0"/>
          </a:p>
        </p:txBody>
      </p:sp>
      <p:sp>
        <p:nvSpPr>
          <p:cNvPr id="43" name="Shape 41"/>
          <p:cNvSpPr/>
          <p:nvPr/>
        </p:nvSpPr>
        <p:spPr>
          <a:xfrm>
            <a:off x="4261104" y="2633472"/>
            <a:ext cx="201168" cy="201168"/>
          </a:xfrm>
          <a:prstGeom prst="rect">
            <a:avLst/>
          </a:prstGeom>
          <a:solidFill>
            <a:schemeClr val="accent1"/>
          </a:solidFill>
          <a:ln/>
        </p:spPr>
        <p:txBody>
          <a:bodyPr/>
          <a:lstStyle/>
          <a:p>
            <a:endParaRPr lang="en-US"/>
          </a:p>
        </p:txBody>
      </p:sp>
      <p:sp>
        <p:nvSpPr>
          <p:cNvPr id="44" name="Shape 42"/>
          <p:cNvSpPr/>
          <p:nvPr/>
        </p:nvSpPr>
        <p:spPr>
          <a:xfrm>
            <a:off x="4517136" y="2633472"/>
            <a:ext cx="201168" cy="201168"/>
          </a:xfrm>
          <a:prstGeom prst="rect">
            <a:avLst/>
          </a:prstGeom>
          <a:solidFill>
            <a:schemeClr val="accent1"/>
          </a:solidFill>
          <a:ln/>
        </p:spPr>
        <p:txBody>
          <a:bodyPr/>
          <a:lstStyle/>
          <a:p>
            <a:endParaRPr lang="en-US"/>
          </a:p>
        </p:txBody>
      </p:sp>
      <p:sp>
        <p:nvSpPr>
          <p:cNvPr id="45" name="Shape 43"/>
          <p:cNvSpPr/>
          <p:nvPr/>
        </p:nvSpPr>
        <p:spPr>
          <a:xfrm>
            <a:off x="4773168" y="2633472"/>
            <a:ext cx="201168" cy="201168"/>
          </a:xfrm>
          <a:prstGeom prst="rect">
            <a:avLst/>
          </a:prstGeom>
          <a:solidFill>
            <a:schemeClr val="accent1"/>
          </a:solidFill>
          <a:ln/>
        </p:spPr>
        <p:txBody>
          <a:bodyPr/>
          <a:lstStyle/>
          <a:p>
            <a:endParaRPr lang="en-US"/>
          </a:p>
        </p:txBody>
      </p:sp>
      <p:sp>
        <p:nvSpPr>
          <p:cNvPr id="46" name="Shape 44"/>
          <p:cNvSpPr/>
          <p:nvPr/>
        </p:nvSpPr>
        <p:spPr>
          <a:xfrm>
            <a:off x="5029200" y="2633472"/>
            <a:ext cx="201168" cy="201168"/>
          </a:xfrm>
          <a:prstGeom prst="rect">
            <a:avLst/>
          </a:prstGeom>
          <a:solidFill>
            <a:schemeClr val="accent1"/>
          </a:solidFill>
          <a:ln/>
        </p:spPr>
        <p:txBody>
          <a:bodyPr/>
          <a:lstStyle/>
          <a:p>
            <a:endParaRPr lang="en-US"/>
          </a:p>
        </p:txBody>
      </p:sp>
      <p:sp>
        <p:nvSpPr>
          <p:cNvPr id="47" name="Shape 45"/>
          <p:cNvSpPr/>
          <p:nvPr/>
        </p:nvSpPr>
        <p:spPr>
          <a:xfrm>
            <a:off x="4261104" y="2898648"/>
            <a:ext cx="201168" cy="201168"/>
          </a:xfrm>
          <a:prstGeom prst="rect">
            <a:avLst/>
          </a:prstGeom>
          <a:solidFill>
            <a:schemeClr val="accent1"/>
          </a:solidFill>
          <a:ln/>
        </p:spPr>
        <p:txBody>
          <a:bodyPr/>
          <a:lstStyle/>
          <a:p>
            <a:endParaRPr lang="en-US"/>
          </a:p>
        </p:txBody>
      </p:sp>
      <p:sp>
        <p:nvSpPr>
          <p:cNvPr id="48" name="Shape 46"/>
          <p:cNvSpPr/>
          <p:nvPr/>
        </p:nvSpPr>
        <p:spPr>
          <a:xfrm>
            <a:off x="4517136" y="2898648"/>
            <a:ext cx="201168" cy="201168"/>
          </a:xfrm>
          <a:prstGeom prst="rect">
            <a:avLst/>
          </a:prstGeom>
          <a:solidFill>
            <a:schemeClr val="accent1"/>
          </a:solidFill>
          <a:ln/>
        </p:spPr>
        <p:txBody>
          <a:bodyPr/>
          <a:lstStyle/>
          <a:p>
            <a:endParaRPr lang="en-US"/>
          </a:p>
        </p:txBody>
      </p:sp>
      <p:sp>
        <p:nvSpPr>
          <p:cNvPr id="49" name="Shape 47"/>
          <p:cNvSpPr/>
          <p:nvPr/>
        </p:nvSpPr>
        <p:spPr>
          <a:xfrm>
            <a:off x="4773168" y="2898648"/>
            <a:ext cx="201168" cy="201168"/>
          </a:xfrm>
          <a:prstGeom prst="rect">
            <a:avLst/>
          </a:prstGeom>
          <a:solidFill>
            <a:schemeClr val="accent1"/>
          </a:solidFill>
          <a:ln/>
        </p:spPr>
        <p:txBody>
          <a:bodyPr/>
          <a:lstStyle/>
          <a:p>
            <a:endParaRPr lang="en-US"/>
          </a:p>
        </p:txBody>
      </p:sp>
      <p:sp>
        <p:nvSpPr>
          <p:cNvPr id="50" name="Shape 48"/>
          <p:cNvSpPr/>
          <p:nvPr/>
        </p:nvSpPr>
        <p:spPr>
          <a:xfrm>
            <a:off x="5029200" y="2898648"/>
            <a:ext cx="201168" cy="201168"/>
          </a:xfrm>
          <a:prstGeom prst="rect">
            <a:avLst/>
          </a:prstGeom>
          <a:solidFill>
            <a:schemeClr val="accent1"/>
          </a:solidFill>
          <a:ln/>
        </p:spPr>
        <p:txBody>
          <a:bodyPr/>
          <a:lstStyle/>
          <a:p>
            <a:endParaRPr lang="en-US"/>
          </a:p>
        </p:txBody>
      </p:sp>
      <p:sp>
        <p:nvSpPr>
          <p:cNvPr id="51" name="Shape 49"/>
          <p:cNvSpPr/>
          <p:nvPr/>
        </p:nvSpPr>
        <p:spPr>
          <a:xfrm>
            <a:off x="4261104" y="3163824"/>
            <a:ext cx="201168" cy="201168"/>
          </a:xfrm>
          <a:prstGeom prst="rect">
            <a:avLst/>
          </a:prstGeom>
          <a:solidFill>
            <a:schemeClr val="accent1"/>
          </a:solidFill>
          <a:ln/>
        </p:spPr>
        <p:txBody>
          <a:bodyPr/>
          <a:lstStyle/>
          <a:p>
            <a:endParaRPr lang="en-US"/>
          </a:p>
        </p:txBody>
      </p:sp>
      <p:sp>
        <p:nvSpPr>
          <p:cNvPr id="52" name="Shape 50"/>
          <p:cNvSpPr/>
          <p:nvPr/>
        </p:nvSpPr>
        <p:spPr>
          <a:xfrm>
            <a:off x="4517136" y="3163824"/>
            <a:ext cx="201168" cy="201168"/>
          </a:xfrm>
          <a:prstGeom prst="rect">
            <a:avLst/>
          </a:prstGeom>
          <a:solidFill>
            <a:schemeClr val="accent1"/>
          </a:solidFill>
          <a:ln/>
        </p:spPr>
        <p:txBody>
          <a:bodyPr/>
          <a:lstStyle/>
          <a:p>
            <a:endParaRPr lang="en-US"/>
          </a:p>
        </p:txBody>
      </p:sp>
      <p:sp>
        <p:nvSpPr>
          <p:cNvPr id="53" name="Shape 51"/>
          <p:cNvSpPr/>
          <p:nvPr/>
        </p:nvSpPr>
        <p:spPr>
          <a:xfrm>
            <a:off x="4773168" y="3163824"/>
            <a:ext cx="201168" cy="201168"/>
          </a:xfrm>
          <a:prstGeom prst="rect">
            <a:avLst/>
          </a:prstGeom>
          <a:solidFill>
            <a:schemeClr val="accent1"/>
          </a:solidFill>
          <a:ln/>
        </p:spPr>
        <p:txBody>
          <a:bodyPr/>
          <a:lstStyle/>
          <a:p>
            <a:endParaRPr lang="en-US"/>
          </a:p>
        </p:txBody>
      </p:sp>
      <p:sp>
        <p:nvSpPr>
          <p:cNvPr id="54" name="Shape 52"/>
          <p:cNvSpPr/>
          <p:nvPr/>
        </p:nvSpPr>
        <p:spPr>
          <a:xfrm>
            <a:off x="5029200" y="3163824"/>
            <a:ext cx="201168" cy="201168"/>
          </a:xfrm>
          <a:prstGeom prst="rect">
            <a:avLst/>
          </a:prstGeom>
          <a:solidFill>
            <a:schemeClr val="accent1"/>
          </a:solidFill>
          <a:ln/>
        </p:spPr>
        <p:txBody>
          <a:bodyPr/>
          <a:lstStyle/>
          <a:p>
            <a:endParaRPr lang="en-US"/>
          </a:p>
        </p:txBody>
      </p:sp>
      <p:sp>
        <p:nvSpPr>
          <p:cNvPr id="55" name="Shape 53"/>
          <p:cNvSpPr/>
          <p:nvPr/>
        </p:nvSpPr>
        <p:spPr>
          <a:xfrm>
            <a:off x="5440680" y="2286000"/>
            <a:ext cx="1188720" cy="1188720"/>
          </a:xfrm>
          <a:prstGeom prst="roundRect">
            <a:avLst>
              <a:gd name="adj" fmla="val 3077"/>
            </a:avLst>
          </a:prstGeom>
          <a:solidFill>
            <a:schemeClr val="tx2"/>
          </a:solidFill>
          <a:ln/>
        </p:spPr>
        <p:txBody>
          <a:bodyPr/>
          <a:lstStyle/>
          <a:p>
            <a:endParaRPr lang="en-US"/>
          </a:p>
        </p:txBody>
      </p:sp>
      <p:sp>
        <p:nvSpPr>
          <p:cNvPr id="56" name="Text 54"/>
          <p:cNvSpPr txBox="1"/>
          <p:nvPr/>
        </p:nvSpPr>
        <p:spPr>
          <a:xfrm>
            <a:off x="5440680" y="2331720"/>
            <a:ext cx="1188720" cy="256032"/>
          </a:xfrm>
          <a:prstGeom prst="rect">
            <a:avLst/>
          </a:prstGeom>
          <a:noFill/>
          <a:ln/>
        </p:spPr>
        <p:txBody>
          <a:bodyPr wrap="square" lIns="0" tIns="0" rIns="0" bIns="0" rtlCol="0" anchor="t"/>
          <a:lstStyle/>
          <a:p>
            <a:pPr marL="0" indent="0" algn="ctr">
              <a:buNone/>
            </a:pPr>
            <a:r>
              <a:rPr lang="en-US" sz="1000" b="1" dirty="0">
                <a:solidFill>
                  <a:schemeClr val="bg1"/>
                </a:solidFill>
              </a:rPr>
              <a:t>GPC 3</a:t>
            </a:r>
            <a:endParaRPr lang="en-US" sz="1000" dirty="0"/>
          </a:p>
        </p:txBody>
      </p:sp>
      <p:sp>
        <p:nvSpPr>
          <p:cNvPr id="57" name="Shape 55"/>
          <p:cNvSpPr/>
          <p:nvPr/>
        </p:nvSpPr>
        <p:spPr>
          <a:xfrm>
            <a:off x="5541264" y="2633472"/>
            <a:ext cx="201168" cy="201168"/>
          </a:xfrm>
          <a:prstGeom prst="rect">
            <a:avLst/>
          </a:prstGeom>
          <a:solidFill>
            <a:schemeClr val="accent1"/>
          </a:solidFill>
          <a:ln/>
        </p:spPr>
        <p:txBody>
          <a:bodyPr/>
          <a:lstStyle/>
          <a:p>
            <a:endParaRPr lang="en-US"/>
          </a:p>
        </p:txBody>
      </p:sp>
      <p:sp>
        <p:nvSpPr>
          <p:cNvPr id="58" name="Shape 56"/>
          <p:cNvSpPr/>
          <p:nvPr/>
        </p:nvSpPr>
        <p:spPr>
          <a:xfrm>
            <a:off x="5797296" y="2633472"/>
            <a:ext cx="201168" cy="201168"/>
          </a:xfrm>
          <a:prstGeom prst="rect">
            <a:avLst/>
          </a:prstGeom>
          <a:solidFill>
            <a:schemeClr val="accent1"/>
          </a:solidFill>
          <a:ln/>
        </p:spPr>
        <p:txBody>
          <a:bodyPr/>
          <a:lstStyle/>
          <a:p>
            <a:endParaRPr lang="en-US"/>
          </a:p>
        </p:txBody>
      </p:sp>
      <p:sp>
        <p:nvSpPr>
          <p:cNvPr id="59" name="Shape 57"/>
          <p:cNvSpPr/>
          <p:nvPr/>
        </p:nvSpPr>
        <p:spPr>
          <a:xfrm>
            <a:off x="6053328" y="2633472"/>
            <a:ext cx="201168" cy="201168"/>
          </a:xfrm>
          <a:prstGeom prst="rect">
            <a:avLst/>
          </a:prstGeom>
          <a:solidFill>
            <a:schemeClr val="accent1"/>
          </a:solidFill>
          <a:ln/>
        </p:spPr>
        <p:txBody>
          <a:bodyPr/>
          <a:lstStyle/>
          <a:p>
            <a:endParaRPr lang="en-US"/>
          </a:p>
        </p:txBody>
      </p:sp>
      <p:sp>
        <p:nvSpPr>
          <p:cNvPr id="60" name="Shape 58"/>
          <p:cNvSpPr/>
          <p:nvPr/>
        </p:nvSpPr>
        <p:spPr>
          <a:xfrm>
            <a:off x="6309360" y="2633472"/>
            <a:ext cx="201168" cy="201168"/>
          </a:xfrm>
          <a:prstGeom prst="rect">
            <a:avLst/>
          </a:prstGeom>
          <a:solidFill>
            <a:schemeClr val="accent1"/>
          </a:solidFill>
          <a:ln/>
        </p:spPr>
        <p:txBody>
          <a:bodyPr/>
          <a:lstStyle/>
          <a:p>
            <a:endParaRPr lang="en-US"/>
          </a:p>
        </p:txBody>
      </p:sp>
      <p:sp>
        <p:nvSpPr>
          <p:cNvPr id="61" name="Shape 59"/>
          <p:cNvSpPr/>
          <p:nvPr/>
        </p:nvSpPr>
        <p:spPr>
          <a:xfrm>
            <a:off x="5541264" y="2898648"/>
            <a:ext cx="201168" cy="201168"/>
          </a:xfrm>
          <a:prstGeom prst="rect">
            <a:avLst/>
          </a:prstGeom>
          <a:solidFill>
            <a:schemeClr val="accent1"/>
          </a:solidFill>
          <a:ln/>
        </p:spPr>
        <p:txBody>
          <a:bodyPr/>
          <a:lstStyle/>
          <a:p>
            <a:endParaRPr lang="en-US"/>
          </a:p>
        </p:txBody>
      </p:sp>
      <p:sp>
        <p:nvSpPr>
          <p:cNvPr id="62" name="Shape 60"/>
          <p:cNvSpPr/>
          <p:nvPr/>
        </p:nvSpPr>
        <p:spPr>
          <a:xfrm>
            <a:off x="5797296" y="2898648"/>
            <a:ext cx="201168" cy="201168"/>
          </a:xfrm>
          <a:prstGeom prst="rect">
            <a:avLst/>
          </a:prstGeom>
          <a:solidFill>
            <a:schemeClr val="accent1"/>
          </a:solidFill>
          <a:ln/>
        </p:spPr>
        <p:txBody>
          <a:bodyPr/>
          <a:lstStyle/>
          <a:p>
            <a:endParaRPr lang="en-US"/>
          </a:p>
        </p:txBody>
      </p:sp>
      <p:sp>
        <p:nvSpPr>
          <p:cNvPr id="63" name="Shape 61"/>
          <p:cNvSpPr/>
          <p:nvPr/>
        </p:nvSpPr>
        <p:spPr>
          <a:xfrm>
            <a:off x="6053328" y="2898648"/>
            <a:ext cx="201168" cy="201168"/>
          </a:xfrm>
          <a:prstGeom prst="rect">
            <a:avLst/>
          </a:prstGeom>
          <a:solidFill>
            <a:schemeClr val="accent1"/>
          </a:solidFill>
          <a:ln/>
        </p:spPr>
        <p:txBody>
          <a:bodyPr/>
          <a:lstStyle/>
          <a:p>
            <a:endParaRPr lang="en-US"/>
          </a:p>
        </p:txBody>
      </p:sp>
      <p:sp>
        <p:nvSpPr>
          <p:cNvPr id="64" name="Shape 62"/>
          <p:cNvSpPr/>
          <p:nvPr/>
        </p:nvSpPr>
        <p:spPr>
          <a:xfrm>
            <a:off x="6309360" y="2898648"/>
            <a:ext cx="201168" cy="201168"/>
          </a:xfrm>
          <a:prstGeom prst="rect">
            <a:avLst/>
          </a:prstGeom>
          <a:solidFill>
            <a:schemeClr val="accent1"/>
          </a:solidFill>
          <a:ln/>
        </p:spPr>
        <p:txBody>
          <a:bodyPr/>
          <a:lstStyle/>
          <a:p>
            <a:endParaRPr lang="en-US"/>
          </a:p>
        </p:txBody>
      </p:sp>
      <p:sp>
        <p:nvSpPr>
          <p:cNvPr id="65" name="Shape 63"/>
          <p:cNvSpPr/>
          <p:nvPr/>
        </p:nvSpPr>
        <p:spPr>
          <a:xfrm>
            <a:off x="5541264" y="3163824"/>
            <a:ext cx="201168" cy="201168"/>
          </a:xfrm>
          <a:prstGeom prst="rect">
            <a:avLst/>
          </a:prstGeom>
          <a:solidFill>
            <a:schemeClr val="accent1"/>
          </a:solidFill>
          <a:ln/>
        </p:spPr>
        <p:txBody>
          <a:bodyPr/>
          <a:lstStyle/>
          <a:p>
            <a:endParaRPr lang="en-US"/>
          </a:p>
        </p:txBody>
      </p:sp>
      <p:sp>
        <p:nvSpPr>
          <p:cNvPr id="66" name="Shape 64"/>
          <p:cNvSpPr/>
          <p:nvPr/>
        </p:nvSpPr>
        <p:spPr>
          <a:xfrm>
            <a:off x="5797296" y="3163824"/>
            <a:ext cx="201168" cy="201168"/>
          </a:xfrm>
          <a:prstGeom prst="rect">
            <a:avLst/>
          </a:prstGeom>
          <a:solidFill>
            <a:schemeClr val="accent1"/>
          </a:solidFill>
          <a:ln/>
        </p:spPr>
        <p:txBody>
          <a:bodyPr/>
          <a:lstStyle/>
          <a:p>
            <a:endParaRPr lang="en-US"/>
          </a:p>
        </p:txBody>
      </p:sp>
      <p:sp>
        <p:nvSpPr>
          <p:cNvPr id="67" name="Shape 65"/>
          <p:cNvSpPr/>
          <p:nvPr/>
        </p:nvSpPr>
        <p:spPr>
          <a:xfrm>
            <a:off x="6053328" y="3163824"/>
            <a:ext cx="201168" cy="201168"/>
          </a:xfrm>
          <a:prstGeom prst="rect">
            <a:avLst/>
          </a:prstGeom>
          <a:solidFill>
            <a:schemeClr val="accent1"/>
          </a:solidFill>
          <a:ln/>
        </p:spPr>
        <p:txBody>
          <a:bodyPr/>
          <a:lstStyle/>
          <a:p>
            <a:endParaRPr lang="en-US"/>
          </a:p>
        </p:txBody>
      </p:sp>
      <p:sp>
        <p:nvSpPr>
          <p:cNvPr id="68" name="Shape 66"/>
          <p:cNvSpPr/>
          <p:nvPr/>
        </p:nvSpPr>
        <p:spPr>
          <a:xfrm>
            <a:off x="6309360" y="3163824"/>
            <a:ext cx="201168" cy="201168"/>
          </a:xfrm>
          <a:prstGeom prst="rect">
            <a:avLst/>
          </a:prstGeom>
          <a:solidFill>
            <a:schemeClr val="accent1"/>
          </a:solidFill>
          <a:ln/>
        </p:spPr>
        <p:txBody>
          <a:bodyPr/>
          <a:lstStyle/>
          <a:p>
            <a:endParaRPr lang="en-US"/>
          </a:p>
        </p:txBody>
      </p:sp>
      <p:sp>
        <p:nvSpPr>
          <p:cNvPr id="69" name="Shape 67"/>
          <p:cNvSpPr/>
          <p:nvPr/>
        </p:nvSpPr>
        <p:spPr>
          <a:xfrm>
            <a:off x="1600200" y="4023360"/>
            <a:ext cx="1188720" cy="1188720"/>
          </a:xfrm>
          <a:prstGeom prst="roundRect">
            <a:avLst>
              <a:gd name="adj" fmla="val 3077"/>
            </a:avLst>
          </a:prstGeom>
          <a:solidFill>
            <a:schemeClr val="tx2"/>
          </a:solidFill>
          <a:ln/>
        </p:spPr>
        <p:txBody>
          <a:bodyPr/>
          <a:lstStyle/>
          <a:p>
            <a:endParaRPr lang="en-US"/>
          </a:p>
        </p:txBody>
      </p:sp>
      <p:sp>
        <p:nvSpPr>
          <p:cNvPr id="70" name="Text 68"/>
          <p:cNvSpPr txBox="1"/>
          <p:nvPr/>
        </p:nvSpPr>
        <p:spPr>
          <a:xfrm>
            <a:off x="1600200" y="4069080"/>
            <a:ext cx="1188720" cy="256032"/>
          </a:xfrm>
          <a:prstGeom prst="rect">
            <a:avLst/>
          </a:prstGeom>
          <a:noFill/>
          <a:ln/>
        </p:spPr>
        <p:txBody>
          <a:bodyPr wrap="square" lIns="0" tIns="0" rIns="0" bIns="0" rtlCol="0" anchor="t"/>
          <a:lstStyle/>
          <a:p>
            <a:pPr marL="0" indent="0" algn="ctr">
              <a:buNone/>
            </a:pPr>
            <a:r>
              <a:rPr lang="en-US" sz="1000" b="1" dirty="0">
                <a:solidFill>
                  <a:schemeClr val="bg1"/>
                </a:solidFill>
              </a:rPr>
              <a:t>GPC 4</a:t>
            </a:r>
            <a:endParaRPr lang="en-US" sz="1000" dirty="0"/>
          </a:p>
        </p:txBody>
      </p:sp>
      <p:sp>
        <p:nvSpPr>
          <p:cNvPr id="71" name="Shape 69"/>
          <p:cNvSpPr/>
          <p:nvPr/>
        </p:nvSpPr>
        <p:spPr>
          <a:xfrm>
            <a:off x="1700784" y="4370832"/>
            <a:ext cx="201168" cy="201168"/>
          </a:xfrm>
          <a:prstGeom prst="rect">
            <a:avLst/>
          </a:prstGeom>
          <a:solidFill>
            <a:schemeClr val="accent1"/>
          </a:solidFill>
          <a:ln/>
        </p:spPr>
        <p:txBody>
          <a:bodyPr/>
          <a:lstStyle/>
          <a:p>
            <a:endParaRPr lang="en-US"/>
          </a:p>
        </p:txBody>
      </p:sp>
      <p:sp>
        <p:nvSpPr>
          <p:cNvPr id="72" name="Shape 70"/>
          <p:cNvSpPr/>
          <p:nvPr/>
        </p:nvSpPr>
        <p:spPr>
          <a:xfrm>
            <a:off x="1956816" y="4370832"/>
            <a:ext cx="201168" cy="201168"/>
          </a:xfrm>
          <a:prstGeom prst="rect">
            <a:avLst/>
          </a:prstGeom>
          <a:solidFill>
            <a:schemeClr val="accent1"/>
          </a:solidFill>
          <a:ln/>
        </p:spPr>
        <p:txBody>
          <a:bodyPr/>
          <a:lstStyle/>
          <a:p>
            <a:endParaRPr lang="en-US"/>
          </a:p>
        </p:txBody>
      </p:sp>
      <p:sp>
        <p:nvSpPr>
          <p:cNvPr id="73" name="Shape 71"/>
          <p:cNvSpPr/>
          <p:nvPr/>
        </p:nvSpPr>
        <p:spPr>
          <a:xfrm>
            <a:off x="2212848" y="4370832"/>
            <a:ext cx="201168" cy="201168"/>
          </a:xfrm>
          <a:prstGeom prst="rect">
            <a:avLst/>
          </a:prstGeom>
          <a:solidFill>
            <a:schemeClr val="accent1"/>
          </a:solidFill>
          <a:ln/>
        </p:spPr>
        <p:txBody>
          <a:bodyPr/>
          <a:lstStyle/>
          <a:p>
            <a:endParaRPr lang="en-US"/>
          </a:p>
        </p:txBody>
      </p:sp>
      <p:sp>
        <p:nvSpPr>
          <p:cNvPr id="74" name="Shape 72"/>
          <p:cNvSpPr/>
          <p:nvPr/>
        </p:nvSpPr>
        <p:spPr>
          <a:xfrm>
            <a:off x="2468880" y="4370832"/>
            <a:ext cx="201168" cy="201168"/>
          </a:xfrm>
          <a:prstGeom prst="rect">
            <a:avLst/>
          </a:prstGeom>
          <a:solidFill>
            <a:schemeClr val="accent1"/>
          </a:solidFill>
          <a:ln/>
        </p:spPr>
        <p:txBody>
          <a:bodyPr/>
          <a:lstStyle/>
          <a:p>
            <a:endParaRPr lang="en-US"/>
          </a:p>
        </p:txBody>
      </p:sp>
      <p:sp>
        <p:nvSpPr>
          <p:cNvPr id="75" name="Shape 73"/>
          <p:cNvSpPr/>
          <p:nvPr/>
        </p:nvSpPr>
        <p:spPr>
          <a:xfrm>
            <a:off x="1700784" y="4636008"/>
            <a:ext cx="201168" cy="201168"/>
          </a:xfrm>
          <a:prstGeom prst="rect">
            <a:avLst/>
          </a:prstGeom>
          <a:solidFill>
            <a:schemeClr val="accent1"/>
          </a:solidFill>
          <a:ln/>
        </p:spPr>
        <p:txBody>
          <a:bodyPr/>
          <a:lstStyle/>
          <a:p>
            <a:endParaRPr lang="en-US"/>
          </a:p>
        </p:txBody>
      </p:sp>
      <p:sp>
        <p:nvSpPr>
          <p:cNvPr id="76" name="Shape 74"/>
          <p:cNvSpPr/>
          <p:nvPr/>
        </p:nvSpPr>
        <p:spPr>
          <a:xfrm>
            <a:off x="1956816" y="4636008"/>
            <a:ext cx="201168" cy="201168"/>
          </a:xfrm>
          <a:prstGeom prst="rect">
            <a:avLst/>
          </a:prstGeom>
          <a:solidFill>
            <a:schemeClr val="accent1"/>
          </a:solidFill>
          <a:ln/>
        </p:spPr>
        <p:txBody>
          <a:bodyPr/>
          <a:lstStyle/>
          <a:p>
            <a:endParaRPr lang="en-US"/>
          </a:p>
        </p:txBody>
      </p:sp>
      <p:sp>
        <p:nvSpPr>
          <p:cNvPr id="77" name="Shape 75"/>
          <p:cNvSpPr/>
          <p:nvPr/>
        </p:nvSpPr>
        <p:spPr>
          <a:xfrm>
            <a:off x="2212848" y="4636008"/>
            <a:ext cx="201168" cy="201168"/>
          </a:xfrm>
          <a:prstGeom prst="rect">
            <a:avLst/>
          </a:prstGeom>
          <a:solidFill>
            <a:schemeClr val="accent1"/>
          </a:solidFill>
          <a:ln/>
        </p:spPr>
        <p:txBody>
          <a:bodyPr/>
          <a:lstStyle/>
          <a:p>
            <a:endParaRPr lang="en-US"/>
          </a:p>
        </p:txBody>
      </p:sp>
      <p:sp>
        <p:nvSpPr>
          <p:cNvPr id="78" name="Shape 76"/>
          <p:cNvSpPr/>
          <p:nvPr/>
        </p:nvSpPr>
        <p:spPr>
          <a:xfrm>
            <a:off x="2468880" y="4636008"/>
            <a:ext cx="201168" cy="201168"/>
          </a:xfrm>
          <a:prstGeom prst="rect">
            <a:avLst/>
          </a:prstGeom>
          <a:solidFill>
            <a:schemeClr val="accent1"/>
          </a:solidFill>
          <a:ln/>
        </p:spPr>
        <p:txBody>
          <a:bodyPr/>
          <a:lstStyle/>
          <a:p>
            <a:endParaRPr lang="en-US"/>
          </a:p>
        </p:txBody>
      </p:sp>
      <p:sp>
        <p:nvSpPr>
          <p:cNvPr id="79" name="Shape 77"/>
          <p:cNvSpPr/>
          <p:nvPr/>
        </p:nvSpPr>
        <p:spPr>
          <a:xfrm>
            <a:off x="1700784" y="4901184"/>
            <a:ext cx="201168" cy="201168"/>
          </a:xfrm>
          <a:prstGeom prst="rect">
            <a:avLst/>
          </a:prstGeom>
          <a:solidFill>
            <a:schemeClr val="accent1"/>
          </a:solidFill>
          <a:ln/>
        </p:spPr>
        <p:txBody>
          <a:bodyPr/>
          <a:lstStyle/>
          <a:p>
            <a:endParaRPr lang="en-US"/>
          </a:p>
        </p:txBody>
      </p:sp>
      <p:sp>
        <p:nvSpPr>
          <p:cNvPr id="80" name="Shape 78"/>
          <p:cNvSpPr/>
          <p:nvPr/>
        </p:nvSpPr>
        <p:spPr>
          <a:xfrm>
            <a:off x="1956816" y="4901184"/>
            <a:ext cx="201168" cy="201168"/>
          </a:xfrm>
          <a:prstGeom prst="rect">
            <a:avLst/>
          </a:prstGeom>
          <a:solidFill>
            <a:schemeClr val="accent1"/>
          </a:solidFill>
          <a:ln/>
        </p:spPr>
        <p:txBody>
          <a:bodyPr/>
          <a:lstStyle/>
          <a:p>
            <a:endParaRPr lang="en-US"/>
          </a:p>
        </p:txBody>
      </p:sp>
      <p:sp>
        <p:nvSpPr>
          <p:cNvPr id="81" name="Shape 79"/>
          <p:cNvSpPr/>
          <p:nvPr/>
        </p:nvSpPr>
        <p:spPr>
          <a:xfrm>
            <a:off x="2212848" y="4901184"/>
            <a:ext cx="201168" cy="201168"/>
          </a:xfrm>
          <a:prstGeom prst="rect">
            <a:avLst/>
          </a:prstGeom>
          <a:solidFill>
            <a:schemeClr val="accent1"/>
          </a:solidFill>
          <a:ln/>
        </p:spPr>
        <p:txBody>
          <a:bodyPr/>
          <a:lstStyle/>
          <a:p>
            <a:endParaRPr lang="en-US"/>
          </a:p>
        </p:txBody>
      </p:sp>
      <p:sp>
        <p:nvSpPr>
          <p:cNvPr id="82" name="Shape 80"/>
          <p:cNvSpPr/>
          <p:nvPr/>
        </p:nvSpPr>
        <p:spPr>
          <a:xfrm>
            <a:off x="2468880" y="4901184"/>
            <a:ext cx="201168" cy="201168"/>
          </a:xfrm>
          <a:prstGeom prst="rect">
            <a:avLst/>
          </a:prstGeom>
          <a:solidFill>
            <a:schemeClr val="accent1"/>
          </a:solidFill>
          <a:ln/>
        </p:spPr>
        <p:txBody>
          <a:bodyPr/>
          <a:lstStyle/>
          <a:p>
            <a:endParaRPr lang="en-US"/>
          </a:p>
        </p:txBody>
      </p:sp>
      <p:sp>
        <p:nvSpPr>
          <p:cNvPr id="83" name="Shape 81"/>
          <p:cNvSpPr/>
          <p:nvPr/>
        </p:nvSpPr>
        <p:spPr>
          <a:xfrm>
            <a:off x="2880360" y="4023360"/>
            <a:ext cx="1188720" cy="1188720"/>
          </a:xfrm>
          <a:prstGeom prst="roundRect">
            <a:avLst>
              <a:gd name="adj" fmla="val 3077"/>
            </a:avLst>
          </a:prstGeom>
          <a:solidFill>
            <a:schemeClr val="tx2"/>
          </a:solidFill>
          <a:ln/>
        </p:spPr>
        <p:txBody>
          <a:bodyPr/>
          <a:lstStyle/>
          <a:p>
            <a:endParaRPr lang="en-US"/>
          </a:p>
        </p:txBody>
      </p:sp>
      <p:sp>
        <p:nvSpPr>
          <p:cNvPr id="84" name="Text 82"/>
          <p:cNvSpPr txBox="1"/>
          <p:nvPr/>
        </p:nvSpPr>
        <p:spPr>
          <a:xfrm>
            <a:off x="2880360" y="4069080"/>
            <a:ext cx="1188720" cy="256032"/>
          </a:xfrm>
          <a:prstGeom prst="rect">
            <a:avLst/>
          </a:prstGeom>
          <a:noFill/>
          <a:ln/>
        </p:spPr>
        <p:txBody>
          <a:bodyPr wrap="square" lIns="0" tIns="0" rIns="0" bIns="0" rtlCol="0" anchor="t"/>
          <a:lstStyle/>
          <a:p>
            <a:pPr marL="0" indent="0" algn="ctr">
              <a:buNone/>
            </a:pPr>
            <a:r>
              <a:rPr lang="en-US" sz="1000" b="1" dirty="0">
                <a:solidFill>
                  <a:schemeClr val="bg1"/>
                </a:solidFill>
              </a:rPr>
              <a:t>GPC 5</a:t>
            </a:r>
            <a:endParaRPr lang="en-US" sz="1000" dirty="0"/>
          </a:p>
        </p:txBody>
      </p:sp>
      <p:sp>
        <p:nvSpPr>
          <p:cNvPr id="85" name="Shape 83"/>
          <p:cNvSpPr/>
          <p:nvPr/>
        </p:nvSpPr>
        <p:spPr>
          <a:xfrm>
            <a:off x="2980944" y="4370832"/>
            <a:ext cx="201168" cy="201168"/>
          </a:xfrm>
          <a:prstGeom prst="rect">
            <a:avLst/>
          </a:prstGeom>
          <a:solidFill>
            <a:schemeClr val="accent1"/>
          </a:solidFill>
          <a:ln/>
        </p:spPr>
        <p:txBody>
          <a:bodyPr/>
          <a:lstStyle/>
          <a:p>
            <a:endParaRPr lang="en-US"/>
          </a:p>
        </p:txBody>
      </p:sp>
      <p:sp>
        <p:nvSpPr>
          <p:cNvPr id="86" name="Shape 84"/>
          <p:cNvSpPr/>
          <p:nvPr/>
        </p:nvSpPr>
        <p:spPr>
          <a:xfrm>
            <a:off x="3236976" y="4370832"/>
            <a:ext cx="201168" cy="201168"/>
          </a:xfrm>
          <a:prstGeom prst="rect">
            <a:avLst/>
          </a:prstGeom>
          <a:solidFill>
            <a:schemeClr val="accent1"/>
          </a:solidFill>
          <a:ln/>
        </p:spPr>
        <p:txBody>
          <a:bodyPr/>
          <a:lstStyle/>
          <a:p>
            <a:endParaRPr lang="en-US"/>
          </a:p>
        </p:txBody>
      </p:sp>
      <p:sp>
        <p:nvSpPr>
          <p:cNvPr id="87" name="Shape 85"/>
          <p:cNvSpPr/>
          <p:nvPr/>
        </p:nvSpPr>
        <p:spPr>
          <a:xfrm>
            <a:off x="3493008" y="4370832"/>
            <a:ext cx="201168" cy="201168"/>
          </a:xfrm>
          <a:prstGeom prst="rect">
            <a:avLst/>
          </a:prstGeom>
          <a:solidFill>
            <a:schemeClr val="accent1"/>
          </a:solidFill>
          <a:ln/>
        </p:spPr>
        <p:txBody>
          <a:bodyPr/>
          <a:lstStyle/>
          <a:p>
            <a:endParaRPr lang="en-US"/>
          </a:p>
        </p:txBody>
      </p:sp>
      <p:sp>
        <p:nvSpPr>
          <p:cNvPr id="88" name="Shape 86"/>
          <p:cNvSpPr/>
          <p:nvPr/>
        </p:nvSpPr>
        <p:spPr>
          <a:xfrm>
            <a:off x="3749040" y="4370832"/>
            <a:ext cx="201168" cy="201168"/>
          </a:xfrm>
          <a:prstGeom prst="rect">
            <a:avLst/>
          </a:prstGeom>
          <a:solidFill>
            <a:schemeClr val="accent1"/>
          </a:solidFill>
          <a:ln/>
        </p:spPr>
        <p:txBody>
          <a:bodyPr/>
          <a:lstStyle/>
          <a:p>
            <a:endParaRPr lang="en-US"/>
          </a:p>
        </p:txBody>
      </p:sp>
      <p:sp>
        <p:nvSpPr>
          <p:cNvPr id="89" name="Shape 87"/>
          <p:cNvSpPr/>
          <p:nvPr/>
        </p:nvSpPr>
        <p:spPr>
          <a:xfrm>
            <a:off x="2980944" y="4636008"/>
            <a:ext cx="201168" cy="201168"/>
          </a:xfrm>
          <a:prstGeom prst="rect">
            <a:avLst/>
          </a:prstGeom>
          <a:solidFill>
            <a:schemeClr val="accent1"/>
          </a:solidFill>
          <a:ln/>
        </p:spPr>
        <p:txBody>
          <a:bodyPr/>
          <a:lstStyle/>
          <a:p>
            <a:endParaRPr lang="en-US"/>
          </a:p>
        </p:txBody>
      </p:sp>
      <p:sp>
        <p:nvSpPr>
          <p:cNvPr id="90" name="Shape 88"/>
          <p:cNvSpPr/>
          <p:nvPr/>
        </p:nvSpPr>
        <p:spPr>
          <a:xfrm>
            <a:off x="3236976" y="4636008"/>
            <a:ext cx="201168" cy="201168"/>
          </a:xfrm>
          <a:prstGeom prst="rect">
            <a:avLst/>
          </a:prstGeom>
          <a:solidFill>
            <a:schemeClr val="accent1"/>
          </a:solidFill>
          <a:ln/>
        </p:spPr>
        <p:txBody>
          <a:bodyPr/>
          <a:lstStyle/>
          <a:p>
            <a:endParaRPr lang="en-US"/>
          </a:p>
        </p:txBody>
      </p:sp>
      <p:sp>
        <p:nvSpPr>
          <p:cNvPr id="91" name="Shape 89"/>
          <p:cNvSpPr/>
          <p:nvPr/>
        </p:nvSpPr>
        <p:spPr>
          <a:xfrm>
            <a:off x="3493008" y="4636008"/>
            <a:ext cx="201168" cy="201168"/>
          </a:xfrm>
          <a:prstGeom prst="rect">
            <a:avLst/>
          </a:prstGeom>
          <a:solidFill>
            <a:schemeClr val="accent1"/>
          </a:solidFill>
          <a:ln/>
        </p:spPr>
        <p:txBody>
          <a:bodyPr/>
          <a:lstStyle/>
          <a:p>
            <a:endParaRPr lang="en-US"/>
          </a:p>
        </p:txBody>
      </p:sp>
      <p:sp>
        <p:nvSpPr>
          <p:cNvPr id="92" name="Shape 90"/>
          <p:cNvSpPr/>
          <p:nvPr/>
        </p:nvSpPr>
        <p:spPr>
          <a:xfrm>
            <a:off x="3749040" y="4636008"/>
            <a:ext cx="201168" cy="201168"/>
          </a:xfrm>
          <a:prstGeom prst="rect">
            <a:avLst/>
          </a:prstGeom>
          <a:solidFill>
            <a:schemeClr val="accent1"/>
          </a:solidFill>
          <a:ln/>
        </p:spPr>
        <p:txBody>
          <a:bodyPr/>
          <a:lstStyle/>
          <a:p>
            <a:endParaRPr lang="en-US"/>
          </a:p>
        </p:txBody>
      </p:sp>
      <p:sp>
        <p:nvSpPr>
          <p:cNvPr id="93" name="Shape 91"/>
          <p:cNvSpPr/>
          <p:nvPr/>
        </p:nvSpPr>
        <p:spPr>
          <a:xfrm>
            <a:off x="2980944" y="4901184"/>
            <a:ext cx="201168" cy="201168"/>
          </a:xfrm>
          <a:prstGeom prst="rect">
            <a:avLst/>
          </a:prstGeom>
          <a:solidFill>
            <a:schemeClr val="accent1"/>
          </a:solidFill>
          <a:ln/>
        </p:spPr>
        <p:txBody>
          <a:bodyPr/>
          <a:lstStyle/>
          <a:p>
            <a:endParaRPr lang="en-US"/>
          </a:p>
        </p:txBody>
      </p:sp>
      <p:sp>
        <p:nvSpPr>
          <p:cNvPr id="94" name="Shape 92"/>
          <p:cNvSpPr/>
          <p:nvPr/>
        </p:nvSpPr>
        <p:spPr>
          <a:xfrm>
            <a:off x="3236976" y="4901184"/>
            <a:ext cx="201168" cy="201168"/>
          </a:xfrm>
          <a:prstGeom prst="rect">
            <a:avLst/>
          </a:prstGeom>
          <a:solidFill>
            <a:schemeClr val="accent1"/>
          </a:solidFill>
          <a:ln/>
        </p:spPr>
        <p:txBody>
          <a:bodyPr/>
          <a:lstStyle/>
          <a:p>
            <a:endParaRPr lang="en-US"/>
          </a:p>
        </p:txBody>
      </p:sp>
      <p:sp>
        <p:nvSpPr>
          <p:cNvPr id="95" name="Shape 93"/>
          <p:cNvSpPr/>
          <p:nvPr/>
        </p:nvSpPr>
        <p:spPr>
          <a:xfrm>
            <a:off x="3493008" y="4901184"/>
            <a:ext cx="201168" cy="201168"/>
          </a:xfrm>
          <a:prstGeom prst="rect">
            <a:avLst/>
          </a:prstGeom>
          <a:solidFill>
            <a:schemeClr val="accent1"/>
          </a:solidFill>
          <a:ln/>
        </p:spPr>
        <p:txBody>
          <a:bodyPr/>
          <a:lstStyle/>
          <a:p>
            <a:endParaRPr lang="en-US"/>
          </a:p>
        </p:txBody>
      </p:sp>
      <p:sp>
        <p:nvSpPr>
          <p:cNvPr id="96" name="Shape 94"/>
          <p:cNvSpPr/>
          <p:nvPr/>
        </p:nvSpPr>
        <p:spPr>
          <a:xfrm>
            <a:off x="3749040" y="4901184"/>
            <a:ext cx="201168" cy="201168"/>
          </a:xfrm>
          <a:prstGeom prst="rect">
            <a:avLst/>
          </a:prstGeom>
          <a:solidFill>
            <a:schemeClr val="accent1"/>
          </a:solidFill>
          <a:ln/>
        </p:spPr>
        <p:txBody>
          <a:bodyPr/>
          <a:lstStyle/>
          <a:p>
            <a:endParaRPr lang="en-US"/>
          </a:p>
        </p:txBody>
      </p:sp>
      <p:sp>
        <p:nvSpPr>
          <p:cNvPr id="97" name="Shape 95"/>
          <p:cNvSpPr/>
          <p:nvPr/>
        </p:nvSpPr>
        <p:spPr>
          <a:xfrm>
            <a:off x="4160520" y="4023360"/>
            <a:ext cx="1188720" cy="1188720"/>
          </a:xfrm>
          <a:prstGeom prst="roundRect">
            <a:avLst>
              <a:gd name="adj" fmla="val 3077"/>
            </a:avLst>
          </a:prstGeom>
          <a:solidFill>
            <a:schemeClr val="tx2"/>
          </a:solidFill>
          <a:ln/>
        </p:spPr>
        <p:txBody>
          <a:bodyPr/>
          <a:lstStyle/>
          <a:p>
            <a:endParaRPr lang="en-US"/>
          </a:p>
        </p:txBody>
      </p:sp>
      <p:sp>
        <p:nvSpPr>
          <p:cNvPr id="98" name="Text 96"/>
          <p:cNvSpPr txBox="1"/>
          <p:nvPr/>
        </p:nvSpPr>
        <p:spPr>
          <a:xfrm>
            <a:off x="4160520" y="4069080"/>
            <a:ext cx="1188720" cy="256032"/>
          </a:xfrm>
          <a:prstGeom prst="rect">
            <a:avLst/>
          </a:prstGeom>
          <a:noFill/>
          <a:ln/>
        </p:spPr>
        <p:txBody>
          <a:bodyPr wrap="square" lIns="0" tIns="0" rIns="0" bIns="0" rtlCol="0" anchor="t"/>
          <a:lstStyle/>
          <a:p>
            <a:pPr marL="0" indent="0" algn="ctr">
              <a:buNone/>
            </a:pPr>
            <a:r>
              <a:rPr lang="en-US" sz="1000" b="1" dirty="0">
                <a:solidFill>
                  <a:schemeClr val="bg1"/>
                </a:solidFill>
              </a:rPr>
              <a:t>GPC 6</a:t>
            </a:r>
            <a:endParaRPr lang="en-US" sz="1000" dirty="0"/>
          </a:p>
        </p:txBody>
      </p:sp>
      <p:sp>
        <p:nvSpPr>
          <p:cNvPr id="99" name="Shape 97"/>
          <p:cNvSpPr/>
          <p:nvPr/>
        </p:nvSpPr>
        <p:spPr>
          <a:xfrm>
            <a:off x="4261104" y="4370832"/>
            <a:ext cx="201168" cy="201168"/>
          </a:xfrm>
          <a:prstGeom prst="rect">
            <a:avLst/>
          </a:prstGeom>
          <a:solidFill>
            <a:schemeClr val="accent1"/>
          </a:solidFill>
          <a:ln/>
        </p:spPr>
        <p:txBody>
          <a:bodyPr/>
          <a:lstStyle/>
          <a:p>
            <a:endParaRPr lang="en-US"/>
          </a:p>
        </p:txBody>
      </p:sp>
      <p:sp>
        <p:nvSpPr>
          <p:cNvPr id="100" name="Shape 98"/>
          <p:cNvSpPr/>
          <p:nvPr/>
        </p:nvSpPr>
        <p:spPr>
          <a:xfrm>
            <a:off x="4517136" y="4370832"/>
            <a:ext cx="201168" cy="201168"/>
          </a:xfrm>
          <a:prstGeom prst="rect">
            <a:avLst/>
          </a:prstGeom>
          <a:solidFill>
            <a:schemeClr val="accent1"/>
          </a:solidFill>
          <a:ln/>
        </p:spPr>
        <p:txBody>
          <a:bodyPr/>
          <a:lstStyle/>
          <a:p>
            <a:endParaRPr lang="en-US"/>
          </a:p>
        </p:txBody>
      </p:sp>
      <p:sp>
        <p:nvSpPr>
          <p:cNvPr id="101" name="Shape 99"/>
          <p:cNvSpPr/>
          <p:nvPr/>
        </p:nvSpPr>
        <p:spPr>
          <a:xfrm>
            <a:off x="4773168" y="4370832"/>
            <a:ext cx="201168" cy="201168"/>
          </a:xfrm>
          <a:prstGeom prst="rect">
            <a:avLst/>
          </a:prstGeom>
          <a:solidFill>
            <a:schemeClr val="accent1"/>
          </a:solidFill>
          <a:ln/>
        </p:spPr>
        <p:txBody>
          <a:bodyPr/>
          <a:lstStyle/>
          <a:p>
            <a:endParaRPr lang="en-US"/>
          </a:p>
        </p:txBody>
      </p:sp>
      <p:sp>
        <p:nvSpPr>
          <p:cNvPr id="102" name="Shape 100"/>
          <p:cNvSpPr/>
          <p:nvPr/>
        </p:nvSpPr>
        <p:spPr>
          <a:xfrm>
            <a:off x="5029200" y="4370832"/>
            <a:ext cx="201168" cy="201168"/>
          </a:xfrm>
          <a:prstGeom prst="rect">
            <a:avLst/>
          </a:prstGeom>
          <a:solidFill>
            <a:schemeClr val="accent1"/>
          </a:solidFill>
          <a:ln/>
        </p:spPr>
        <p:txBody>
          <a:bodyPr/>
          <a:lstStyle/>
          <a:p>
            <a:endParaRPr lang="en-US"/>
          </a:p>
        </p:txBody>
      </p:sp>
      <p:sp>
        <p:nvSpPr>
          <p:cNvPr id="103" name="Shape 101"/>
          <p:cNvSpPr/>
          <p:nvPr/>
        </p:nvSpPr>
        <p:spPr>
          <a:xfrm>
            <a:off x="4261104" y="4636008"/>
            <a:ext cx="201168" cy="201168"/>
          </a:xfrm>
          <a:prstGeom prst="rect">
            <a:avLst/>
          </a:prstGeom>
          <a:solidFill>
            <a:schemeClr val="accent1"/>
          </a:solidFill>
          <a:ln/>
        </p:spPr>
        <p:txBody>
          <a:bodyPr/>
          <a:lstStyle/>
          <a:p>
            <a:endParaRPr lang="en-US"/>
          </a:p>
        </p:txBody>
      </p:sp>
      <p:sp>
        <p:nvSpPr>
          <p:cNvPr id="104" name="Shape 102"/>
          <p:cNvSpPr/>
          <p:nvPr/>
        </p:nvSpPr>
        <p:spPr>
          <a:xfrm>
            <a:off x="4517136" y="4636008"/>
            <a:ext cx="201168" cy="201168"/>
          </a:xfrm>
          <a:prstGeom prst="rect">
            <a:avLst/>
          </a:prstGeom>
          <a:solidFill>
            <a:schemeClr val="accent1"/>
          </a:solidFill>
          <a:ln/>
        </p:spPr>
        <p:txBody>
          <a:bodyPr/>
          <a:lstStyle/>
          <a:p>
            <a:endParaRPr lang="en-US"/>
          </a:p>
        </p:txBody>
      </p:sp>
      <p:sp>
        <p:nvSpPr>
          <p:cNvPr id="105" name="Shape 103"/>
          <p:cNvSpPr/>
          <p:nvPr/>
        </p:nvSpPr>
        <p:spPr>
          <a:xfrm>
            <a:off x="4773168" y="4636008"/>
            <a:ext cx="201168" cy="201168"/>
          </a:xfrm>
          <a:prstGeom prst="rect">
            <a:avLst/>
          </a:prstGeom>
          <a:solidFill>
            <a:schemeClr val="accent1"/>
          </a:solidFill>
          <a:ln/>
        </p:spPr>
        <p:txBody>
          <a:bodyPr/>
          <a:lstStyle/>
          <a:p>
            <a:endParaRPr lang="en-US"/>
          </a:p>
        </p:txBody>
      </p:sp>
      <p:sp>
        <p:nvSpPr>
          <p:cNvPr id="106" name="Shape 104"/>
          <p:cNvSpPr/>
          <p:nvPr/>
        </p:nvSpPr>
        <p:spPr>
          <a:xfrm>
            <a:off x="5029200" y="4636008"/>
            <a:ext cx="201168" cy="201168"/>
          </a:xfrm>
          <a:prstGeom prst="rect">
            <a:avLst/>
          </a:prstGeom>
          <a:solidFill>
            <a:schemeClr val="accent1"/>
          </a:solidFill>
          <a:ln/>
        </p:spPr>
        <p:txBody>
          <a:bodyPr/>
          <a:lstStyle/>
          <a:p>
            <a:endParaRPr lang="en-US"/>
          </a:p>
        </p:txBody>
      </p:sp>
      <p:sp>
        <p:nvSpPr>
          <p:cNvPr id="107" name="Shape 105"/>
          <p:cNvSpPr/>
          <p:nvPr/>
        </p:nvSpPr>
        <p:spPr>
          <a:xfrm>
            <a:off x="4261104" y="4901184"/>
            <a:ext cx="201168" cy="201168"/>
          </a:xfrm>
          <a:prstGeom prst="rect">
            <a:avLst/>
          </a:prstGeom>
          <a:solidFill>
            <a:schemeClr val="accent1"/>
          </a:solidFill>
          <a:ln/>
        </p:spPr>
        <p:txBody>
          <a:bodyPr/>
          <a:lstStyle/>
          <a:p>
            <a:endParaRPr lang="en-US"/>
          </a:p>
        </p:txBody>
      </p:sp>
      <p:sp>
        <p:nvSpPr>
          <p:cNvPr id="108" name="Shape 106"/>
          <p:cNvSpPr/>
          <p:nvPr/>
        </p:nvSpPr>
        <p:spPr>
          <a:xfrm>
            <a:off x="4517136" y="4901184"/>
            <a:ext cx="201168" cy="201168"/>
          </a:xfrm>
          <a:prstGeom prst="rect">
            <a:avLst/>
          </a:prstGeom>
          <a:solidFill>
            <a:schemeClr val="accent1"/>
          </a:solidFill>
          <a:ln/>
        </p:spPr>
        <p:txBody>
          <a:bodyPr/>
          <a:lstStyle/>
          <a:p>
            <a:endParaRPr lang="en-US"/>
          </a:p>
        </p:txBody>
      </p:sp>
      <p:sp>
        <p:nvSpPr>
          <p:cNvPr id="109" name="Shape 107"/>
          <p:cNvSpPr/>
          <p:nvPr/>
        </p:nvSpPr>
        <p:spPr>
          <a:xfrm>
            <a:off x="4773168" y="4901184"/>
            <a:ext cx="201168" cy="201168"/>
          </a:xfrm>
          <a:prstGeom prst="rect">
            <a:avLst/>
          </a:prstGeom>
          <a:solidFill>
            <a:schemeClr val="accent1"/>
          </a:solidFill>
          <a:ln/>
        </p:spPr>
        <p:txBody>
          <a:bodyPr/>
          <a:lstStyle/>
          <a:p>
            <a:endParaRPr lang="en-US"/>
          </a:p>
        </p:txBody>
      </p:sp>
      <p:sp>
        <p:nvSpPr>
          <p:cNvPr id="110" name="Shape 108"/>
          <p:cNvSpPr/>
          <p:nvPr/>
        </p:nvSpPr>
        <p:spPr>
          <a:xfrm>
            <a:off x="5029200" y="4901184"/>
            <a:ext cx="201168" cy="201168"/>
          </a:xfrm>
          <a:prstGeom prst="rect">
            <a:avLst/>
          </a:prstGeom>
          <a:solidFill>
            <a:schemeClr val="accent1"/>
          </a:solidFill>
          <a:ln/>
        </p:spPr>
        <p:txBody>
          <a:bodyPr/>
          <a:lstStyle/>
          <a:p>
            <a:endParaRPr lang="en-US"/>
          </a:p>
        </p:txBody>
      </p:sp>
      <p:sp>
        <p:nvSpPr>
          <p:cNvPr id="111" name="Shape 109"/>
          <p:cNvSpPr/>
          <p:nvPr/>
        </p:nvSpPr>
        <p:spPr>
          <a:xfrm>
            <a:off x="5440680" y="4023360"/>
            <a:ext cx="1188720" cy="1188720"/>
          </a:xfrm>
          <a:prstGeom prst="roundRect">
            <a:avLst>
              <a:gd name="adj" fmla="val 3077"/>
            </a:avLst>
          </a:prstGeom>
          <a:solidFill>
            <a:schemeClr val="tx2"/>
          </a:solidFill>
          <a:ln/>
        </p:spPr>
        <p:txBody>
          <a:bodyPr/>
          <a:lstStyle/>
          <a:p>
            <a:endParaRPr lang="en-US"/>
          </a:p>
        </p:txBody>
      </p:sp>
      <p:sp>
        <p:nvSpPr>
          <p:cNvPr id="112" name="Text 110"/>
          <p:cNvSpPr txBox="1"/>
          <p:nvPr/>
        </p:nvSpPr>
        <p:spPr>
          <a:xfrm>
            <a:off x="5440680" y="4069080"/>
            <a:ext cx="1188720" cy="256032"/>
          </a:xfrm>
          <a:prstGeom prst="rect">
            <a:avLst/>
          </a:prstGeom>
          <a:noFill/>
          <a:ln/>
        </p:spPr>
        <p:txBody>
          <a:bodyPr wrap="square" lIns="0" tIns="0" rIns="0" bIns="0" rtlCol="0" anchor="t"/>
          <a:lstStyle/>
          <a:p>
            <a:pPr marL="0" indent="0" algn="ctr">
              <a:buNone/>
            </a:pPr>
            <a:r>
              <a:rPr lang="en-US" sz="1000" b="1" dirty="0">
                <a:solidFill>
                  <a:schemeClr val="bg1"/>
                </a:solidFill>
              </a:rPr>
              <a:t>GPC 7</a:t>
            </a:r>
            <a:endParaRPr lang="en-US" sz="1000" dirty="0"/>
          </a:p>
        </p:txBody>
      </p:sp>
      <p:sp>
        <p:nvSpPr>
          <p:cNvPr id="113" name="Shape 111"/>
          <p:cNvSpPr/>
          <p:nvPr/>
        </p:nvSpPr>
        <p:spPr>
          <a:xfrm>
            <a:off x="5541264" y="4370832"/>
            <a:ext cx="201168" cy="201168"/>
          </a:xfrm>
          <a:prstGeom prst="rect">
            <a:avLst/>
          </a:prstGeom>
          <a:solidFill>
            <a:schemeClr val="accent1"/>
          </a:solidFill>
          <a:ln/>
        </p:spPr>
        <p:txBody>
          <a:bodyPr/>
          <a:lstStyle/>
          <a:p>
            <a:endParaRPr lang="en-US"/>
          </a:p>
        </p:txBody>
      </p:sp>
      <p:sp>
        <p:nvSpPr>
          <p:cNvPr id="114" name="Shape 112"/>
          <p:cNvSpPr/>
          <p:nvPr/>
        </p:nvSpPr>
        <p:spPr>
          <a:xfrm>
            <a:off x="5797296" y="4370832"/>
            <a:ext cx="201168" cy="201168"/>
          </a:xfrm>
          <a:prstGeom prst="rect">
            <a:avLst/>
          </a:prstGeom>
          <a:solidFill>
            <a:schemeClr val="accent1"/>
          </a:solidFill>
          <a:ln/>
        </p:spPr>
        <p:txBody>
          <a:bodyPr/>
          <a:lstStyle/>
          <a:p>
            <a:endParaRPr lang="en-US"/>
          </a:p>
        </p:txBody>
      </p:sp>
      <p:sp>
        <p:nvSpPr>
          <p:cNvPr id="115" name="Shape 113"/>
          <p:cNvSpPr/>
          <p:nvPr/>
        </p:nvSpPr>
        <p:spPr>
          <a:xfrm>
            <a:off x="6053328" y="4370832"/>
            <a:ext cx="201168" cy="201168"/>
          </a:xfrm>
          <a:prstGeom prst="rect">
            <a:avLst/>
          </a:prstGeom>
          <a:solidFill>
            <a:schemeClr val="accent1"/>
          </a:solidFill>
          <a:ln/>
        </p:spPr>
        <p:txBody>
          <a:bodyPr/>
          <a:lstStyle/>
          <a:p>
            <a:endParaRPr lang="en-US"/>
          </a:p>
        </p:txBody>
      </p:sp>
      <p:sp>
        <p:nvSpPr>
          <p:cNvPr id="116" name="Shape 114"/>
          <p:cNvSpPr/>
          <p:nvPr/>
        </p:nvSpPr>
        <p:spPr>
          <a:xfrm>
            <a:off x="6309360" y="4370832"/>
            <a:ext cx="201168" cy="201168"/>
          </a:xfrm>
          <a:prstGeom prst="rect">
            <a:avLst/>
          </a:prstGeom>
          <a:solidFill>
            <a:schemeClr val="accent1"/>
          </a:solidFill>
          <a:ln/>
        </p:spPr>
        <p:txBody>
          <a:bodyPr/>
          <a:lstStyle/>
          <a:p>
            <a:endParaRPr lang="en-US"/>
          </a:p>
        </p:txBody>
      </p:sp>
      <p:sp>
        <p:nvSpPr>
          <p:cNvPr id="117" name="Shape 115"/>
          <p:cNvSpPr/>
          <p:nvPr/>
        </p:nvSpPr>
        <p:spPr>
          <a:xfrm>
            <a:off x="5541264" y="4636008"/>
            <a:ext cx="201168" cy="201168"/>
          </a:xfrm>
          <a:prstGeom prst="rect">
            <a:avLst/>
          </a:prstGeom>
          <a:solidFill>
            <a:schemeClr val="accent1"/>
          </a:solidFill>
          <a:ln/>
        </p:spPr>
        <p:txBody>
          <a:bodyPr/>
          <a:lstStyle/>
          <a:p>
            <a:endParaRPr lang="en-US"/>
          </a:p>
        </p:txBody>
      </p:sp>
      <p:sp>
        <p:nvSpPr>
          <p:cNvPr id="118" name="Shape 116"/>
          <p:cNvSpPr/>
          <p:nvPr/>
        </p:nvSpPr>
        <p:spPr>
          <a:xfrm>
            <a:off x="5797296" y="4636008"/>
            <a:ext cx="201168" cy="201168"/>
          </a:xfrm>
          <a:prstGeom prst="rect">
            <a:avLst/>
          </a:prstGeom>
          <a:solidFill>
            <a:schemeClr val="accent1"/>
          </a:solidFill>
          <a:ln/>
        </p:spPr>
        <p:txBody>
          <a:bodyPr/>
          <a:lstStyle/>
          <a:p>
            <a:endParaRPr lang="en-US"/>
          </a:p>
        </p:txBody>
      </p:sp>
      <p:sp>
        <p:nvSpPr>
          <p:cNvPr id="119" name="Shape 117"/>
          <p:cNvSpPr/>
          <p:nvPr/>
        </p:nvSpPr>
        <p:spPr>
          <a:xfrm>
            <a:off x="6053328" y="4636008"/>
            <a:ext cx="201168" cy="201168"/>
          </a:xfrm>
          <a:prstGeom prst="rect">
            <a:avLst/>
          </a:prstGeom>
          <a:solidFill>
            <a:schemeClr val="accent1"/>
          </a:solidFill>
          <a:ln/>
        </p:spPr>
        <p:txBody>
          <a:bodyPr/>
          <a:lstStyle/>
          <a:p>
            <a:endParaRPr lang="en-US"/>
          </a:p>
        </p:txBody>
      </p:sp>
      <p:sp>
        <p:nvSpPr>
          <p:cNvPr id="120" name="Shape 118"/>
          <p:cNvSpPr/>
          <p:nvPr/>
        </p:nvSpPr>
        <p:spPr>
          <a:xfrm>
            <a:off x="6309360" y="4636008"/>
            <a:ext cx="201168" cy="201168"/>
          </a:xfrm>
          <a:prstGeom prst="rect">
            <a:avLst/>
          </a:prstGeom>
          <a:solidFill>
            <a:schemeClr val="accent1"/>
          </a:solidFill>
          <a:ln/>
        </p:spPr>
        <p:txBody>
          <a:bodyPr/>
          <a:lstStyle/>
          <a:p>
            <a:endParaRPr lang="en-US"/>
          </a:p>
        </p:txBody>
      </p:sp>
      <p:sp>
        <p:nvSpPr>
          <p:cNvPr id="121" name="Shape 119"/>
          <p:cNvSpPr/>
          <p:nvPr/>
        </p:nvSpPr>
        <p:spPr>
          <a:xfrm>
            <a:off x="5541264" y="4901184"/>
            <a:ext cx="201168" cy="201168"/>
          </a:xfrm>
          <a:prstGeom prst="rect">
            <a:avLst/>
          </a:prstGeom>
          <a:solidFill>
            <a:schemeClr val="accent1"/>
          </a:solidFill>
          <a:ln/>
        </p:spPr>
        <p:txBody>
          <a:bodyPr/>
          <a:lstStyle/>
          <a:p>
            <a:endParaRPr lang="en-US"/>
          </a:p>
        </p:txBody>
      </p:sp>
      <p:sp>
        <p:nvSpPr>
          <p:cNvPr id="122" name="Shape 120"/>
          <p:cNvSpPr/>
          <p:nvPr/>
        </p:nvSpPr>
        <p:spPr>
          <a:xfrm>
            <a:off x="5797296" y="4901184"/>
            <a:ext cx="201168" cy="201168"/>
          </a:xfrm>
          <a:prstGeom prst="rect">
            <a:avLst/>
          </a:prstGeom>
          <a:solidFill>
            <a:schemeClr val="accent1"/>
          </a:solidFill>
          <a:ln/>
        </p:spPr>
        <p:txBody>
          <a:bodyPr/>
          <a:lstStyle/>
          <a:p>
            <a:endParaRPr lang="en-US"/>
          </a:p>
        </p:txBody>
      </p:sp>
      <p:sp>
        <p:nvSpPr>
          <p:cNvPr id="123" name="Shape 121"/>
          <p:cNvSpPr/>
          <p:nvPr/>
        </p:nvSpPr>
        <p:spPr>
          <a:xfrm>
            <a:off x="6053328" y="4901184"/>
            <a:ext cx="201168" cy="201168"/>
          </a:xfrm>
          <a:prstGeom prst="rect">
            <a:avLst/>
          </a:prstGeom>
          <a:solidFill>
            <a:schemeClr val="accent1"/>
          </a:solidFill>
          <a:ln/>
        </p:spPr>
        <p:txBody>
          <a:bodyPr/>
          <a:lstStyle/>
          <a:p>
            <a:endParaRPr lang="en-US"/>
          </a:p>
        </p:txBody>
      </p:sp>
      <p:sp>
        <p:nvSpPr>
          <p:cNvPr id="124" name="Shape 122"/>
          <p:cNvSpPr/>
          <p:nvPr/>
        </p:nvSpPr>
        <p:spPr>
          <a:xfrm>
            <a:off x="6309360" y="4901184"/>
            <a:ext cx="201168" cy="201168"/>
          </a:xfrm>
          <a:prstGeom prst="rect">
            <a:avLst/>
          </a:prstGeom>
          <a:solidFill>
            <a:schemeClr val="accent1"/>
          </a:solidFill>
          <a:ln/>
        </p:spPr>
        <p:txBody>
          <a:bodyPr/>
          <a:lstStyle/>
          <a:p>
            <a:endParaRPr lang="en-US"/>
          </a:p>
        </p:txBody>
      </p:sp>
      <p:sp>
        <p:nvSpPr>
          <p:cNvPr id="125" name="Text 123"/>
          <p:cNvSpPr/>
          <p:nvPr/>
        </p:nvSpPr>
        <p:spPr>
          <a:xfrm>
            <a:off x="1600200" y="3566160"/>
            <a:ext cx="5029200" cy="365760"/>
          </a:xfrm>
          <a:prstGeom prst="roundRect">
            <a:avLst>
              <a:gd name="adj" fmla="val 12500"/>
            </a:avLst>
          </a:prstGeom>
          <a:solidFill>
            <a:schemeClr val="accent4"/>
          </a:solidFill>
          <a:ln/>
        </p:spPr>
        <p:txBody>
          <a:bodyPr wrap="square" lIns="381" tIns="381" rIns="381" bIns="381" rtlCol="0" anchor="ctr"/>
          <a:lstStyle/>
          <a:p>
            <a:pPr marL="0" indent="0" algn="ctr">
              <a:buNone/>
            </a:pPr>
            <a:r>
              <a:rPr lang="en-US" sz="1100" b="1" dirty="0">
                <a:solidFill>
                  <a:schemeClr val="bg1"/>
                </a:solidFill>
              </a:rPr>
              <a:t>L2 cache (50 MB) + crossbar</a:t>
            </a:r>
            <a:endParaRPr lang="en-US" sz="1100" dirty="0"/>
          </a:p>
        </p:txBody>
      </p:sp>
      <p:sp>
        <p:nvSpPr>
          <p:cNvPr id="126" name="Text 124"/>
          <p:cNvSpPr/>
          <p:nvPr/>
        </p:nvSpPr>
        <p:spPr>
          <a:xfrm>
            <a:off x="777240" y="5440680"/>
            <a:ext cx="3291840" cy="457200"/>
          </a:xfrm>
          <a:prstGeom prst="roundRect">
            <a:avLst>
              <a:gd name="adj" fmla="val 10000"/>
            </a:avLst>
          </a:prstGeom>
          <a:solidFill>
            <a:schemeClr val="accent1"/>
          </a:solidFill>
          <a:ln/>
        </p:spPr>
        <p:txBody>
          <a:bodyPr wrap="square" lIns="381" tIns="381" rIns="381" bIns="381" rtlCol="0" anchor="ctr"/>
          <a:lstStyle/>
          <a:p>
            <a:pPr marL="0" indent="0" algn="ctr">
              <a:buNone/>
            </a:pPr>
            <a:r>
              <a:rPr lang="en-US" sz="1100" b="1" dirty="0">
                <a:solidFill>
                  <a:schemeClr val="tx1"/>
                </a:solidFill>
              </a:rPr>
              <a:t>NVLink 4: 18 links, 900 GB/s</a:t>
            </a:r>
            <a:endParaRPr lang="en-US" sz="1100" dirty="0"/>
          </a:p>
        </p:txBody>
      </p:sp>
      <p:sp>
        <p:nvSpPr>
          <p:cNvPr id="127" name="Text 125"/>
          <p:cNvSpPr/>
          <p:nvPr/>
        </p:nvSpPr>
        <p:spPr>
          <a:xfrm>
            <a:off x="4160520" y="5440680"/>
            <a:ext cx="3291840" cy="457200"/>
          </a:xfrm>
          <a:prstGeom prst="roundRect">
            <a:avLst>
              <a:gd name="adj" fmla="val 10000"/>
            </a:avLst>
          </a:prstGeom>
          <a:solidFill>
            <a:schemeClr val="tx2"/>
          </a:solidFill>
          <a:ln/>
        </p:spPr>
        <p:txBody>
          <a:bodyPr wrap="square" lIns="381" tIns="381" rIns="381" bIns="381" rtlCol="0" anchor="ctr"/>
          <a:lstStyle/>
          <a:p>
            <a:pPr marL="0" indent="0" algn="ctr">
              <a:buNone/>
            </a:pPr>
            <a:r>
              <a:rPr lang="en-US" sz="1100" b="1" dirty="0">
                <a:solidFill>
                  <a:schemeClr val="bg1"/>
                </a:solidFill>
              </a:rPr>
              <a:t>Memory controllers · copy engines · NVDEC</a:t>
            </a:r>
            <a:endParaRPr lang="en-US" sz="1100" dirty="0"/>
          </a:p>
        </p:txBody>
      </p:sp>
      <p:sp>
        <p:nvSpPr>
          <p:cNvPr id="128" name="Shape 126"/>
          <p:cNvSpPr/>
          <p:nvPr/>
        </p:nvSpPr>
        <p:spPr>
          <a:xfrm>
            <a:off x="8001000" y="1691640"/>
            <a:ext cx="256032" cy="256032"/>
          </a:xfrm>
          <a:prstGeom prst="roundRect">
            <a:avLst>
              <a:gd name="adj" fmla="val 14286"/>
            </a:avLst>
          </a:prstGeom>
          <a:solidFill>
            <a:schemeClr val="accent1"/>
          </a:solidFill>
          <a:ln/>
        </p:spPr>
        <p:txBody>
          <a:bodyPr/>
          <a:lstStyle/>
          <a:p>
            <a:endParaRPr lang="en-US"/>
          </a:p>
        </p:txBody>
      </p:sp>
      <p:sp>
        <p:nvSpPr>
          <p:cNvPr id="129" name="Text 127"/>
          <p:cNvSpPr txBox="1"/>
          <p:nvPr/>
        </p:nvSpPr>
        <p:spPr>
          <a:xfrm>
            <a:off x="8366760" y="1645920"/>
            <a:ext cx="3246120" cy="310896"/>
          </a:xfrm>
          <a:prstGeom prst="rect">
            <a:avLst/>
          </a:prstGeom>
          <a:noFill/>
          <a:ln/>
        </p:spPr>
        <p:txBody>
          <a:bodyPr wrap="square" lIns="0" tIns="0" rIns="0" bIns="0" rtlCol="0" anchor="t"/>
          <a:lstStyle/>
          <a:p>
            <a:pPr marL="0" indent="0">
              <a:buNone/>
            </a:pPr>
            <a:r>
              <a:rPr lang="en-US" sz="1500" b="1" dirty="0">
                <a:solidFill>
                  <a:schemeClr val="tx1"/>
                </a:solidFill>
              </a:rPr>
              <a:t>GPCs and SMs (compute)</a:t>
            </a:r>
            <a:endParaRPr lang="en-US" sz="1500" dirty="0"/>
          </a:p>
        </p:txBody>
      </p:sp>
      <p:sp>
        <p:nvSpPr>
          <p:cNvPr id="130" name="Text 128"/>
          <p:cNvSpPr txBox="1"/>
          <p:nvPr/>
        </p:nvSpPr>
        <p:spPr>
          <a:xfrm>
            <a:off x="8366760" y="1956816"/>
            <a:ext cx="3246120" cy="566928"/>
          </a:xfrm>
          <a:prstGeom prst="rect">
            <a:avLst/>
          </a:prstGeom>
          <a:noFill/>
          <a:ln/>
        </p:spPr>
        <p:txBody>
          <a:bodyPr wrap="square" lIns="0" tIns="0" rIns="0" bIns="0" rtlCol="0" anchor="t"/>
          <a:lstStyle/>
          <a:p>
            <a:pPr marL="0" indent="0">
              <a:buNone/>
            </a:pPr>
            <a:r>
              <a:rPr lang="en-US" sz="1200" dirty="0">
                <a:solidFill>
                  <a:schemeClr val="tx2"/>
                </a:solidFill>
              </a:rPr>
              <a:t>Graphics Processing Clusters group the Streaming Multiprocessors (small squares). A full GH100 has 144 SMs; the H100 SXM product enables 132.</a:t>
            </a:r>
            <a:endParaRPr lang="en-US" sz="1200" dirty="0"/>
          </a:p>
        </p:txBody>
      </p:sp>
      <p:sp>
        <p:nvSpPr>
          <p:cNvPr id="131" name="Shape 129"/>
          <p:cNvSpPr/>
          <p:nvPr/>
        </p:nvSpPr>
        <p:spPr>
          <a:xfrm>
            <a:off x="8001000" y="2587752"/>
            <a:ext cx="256032" cy="256032"/>
          </a:xfrm>
          <a:prstGeom prst="roundRect">
            <a:avLst>
              <a:gd name="adj" fmla="val 14286"/>
            </a:avLst>
          </a:prstGeom>
          <a:solidFill>
            <a:schemeClr val="accent4"/>
          </a:solidFill>
          <a:ln/>
        </p:spPr>
        <p:txBody>
          <a:bodyPr/>
          <a:lstStyle/>
          <a:p>
            <a:endParaRPr lang="en-US"/>
          </a:p>
        </p:txBody>
      </p:sp>
      <p:sp>
        <p:nvSpPr>
          <p:cNvPr id="132" name="Text 130"/>
          <p:cNvSpPr txBox="1"/>
          <p:nvPr/>
        </p:nvSpPr>
        <p:spPr>
          <a:xfrm>
            <a:off x="8366760" y="2542032"/>
            <a:ext cx="3246120" cy="310896"/>
          </a:xfrm>
          <a:prstGeom prst="rect">
            <a:avLst/>
          </a:prstGeom>
          <a:noFill/>
          <a:ln/>
        </p:spPr>
        <p:txBody>
          <a:bodyPr wrap="square" lIns="0" tIns="0" rIns="0" bIns="0" rtlCol="0" anchor="t"/>
          <a:lstStyle/>
          <a:p>
            <a:pPr marL="0" indent="0">
              <a:buNone/>
            </a:pPr>
            <a:r>
              <a:rPr lang="en-US" sz="1500" b="1" dirty="0">
                <a:solidFill>
                  <a:schemeClr val="tx1"/>
                </a:solidFill>
              </a:rPr>
              <a:t>L2 cache</a:t>
            </a:r>
            <a:endParaRPr lang="en-US" sz="1500" dirty="0"/>
          </a:p>
        </p:txBody>
      </p:sp>
      <p:sp>
        <p:nvSpPr>
          <p:cNvPr id="133" name="Text 131"/>
          <p:cNvSpPr txBox="1"/>
          <p:nvPr/>
        </p:nvSpPr>
        <p:spPr>
          <a:xfrm>
            <a:off x="8366760" y="2852928"/>
            <a:ext cx="3246120" cy="566928"/>
          </a:xfrm>
          <a:prstGeom prst="rect">
            <a:avLst/>
          </a:prstGeom>
          <a:noFill/>
          <a:ln/>
        </p:spPr>
        <p:txBody>
          <a:bodyPr wrap="square" lIns="0" tIns="0" rIns="0" bIns="0" rtlCol="0" anchor="t"/>
          <a:lstStyle/>
          <a:p>
            <a:pPr marL="0" indent="0">
              <a:buNone/>
            </a:pPr>
            <a:r>
              <a:rPr lang="en-US" sz="1200" dirty="0">
                <a:solidFill>
                  <a:schemeClr val="tx2"/>
                </a:solidFill>
              </a:rPr>
              <a:t>Shared by all SMs. It reduces trips to HBM and keeps data close to the cores.</a:t>
            </a:r>
            <a:endParaRPr lang="en-US" sz="1200" dirty="0"/>
          </a:p>
        </p:txBody>
      </p:sp>
      <p:sp>
        <p:nvSpPr>
          <p:cNvPr id="134" name="Shape 132"/>
          <p:cNvSpPr/>
          <p:nvPr/>
        </p:nvSpPr>
        <p:spPr>
          <a:xfrm>
            <a:off x="8001000" y="3483864"/>
            <a:ext cx="256032" cy="256032"/>
          </a:xfrm>
          <a:prstGeom prst="roundRect">
            <a:avLst>
              <a:gd name="adj" fmla="val 14286"/>
            </a:avLst>
          </a:prstGeom>
          <a:solidFill>
            <a:schemeClr val="accent3"/>
          </a:solidFill>
          <a:ln/>
        </p:spPr>
        <p:txBody>
          <a:bodyPr/>
          <a:lstStyle/>
          <a:p>
            <a:endParaRPr lang="en-US"/>
          </a:p>
        </p:txBody>
      </p:sp>
      <p:sp>
        <p:nvSpPr>
          <p:cNvPr id="135" name="Text 133"/>
          <p:cNvSpPr txBox="1"/>
          <p:nvPr/>
        </p:nvSpPr>
        <p:spPr>
          <a:xfrm>
            <a:off x="8366760" y="3438144"/>
            <a:ext cx="3246120" cy="310896"/>
          </a:xfrm>
          <a:prstGeom prst="rect">
            <a:avLst/>
          </a:prstGeom>
          <a:noFill/>
          <a:ln/>
        </p:spPr>
        <p:txBody>
          <a:bodyPr wrap="square" lIns="0" tIns="0" rIns="0" bIns="0" rtlCol="0" anchor="t"/>
          <a:lstStyle/>
          <a:p>
            <a:pPr marL="0" indent="0">
              <a:buNone/>
            </a:pPr>
            <a:r>
              <a:rPr lang="en-US" sz="1500" b="1" dirty="0">
                <a:solidFill>
                  <a:schemeClr val="tx1"/>
                </a:solidFill>
              </a:rPr>
              <a:t>HBM stacks</a:t>
            </a:r>
            <a:endParaRPr lang="en-US" sz="1500" dirty="0"/>
          </a:p>
        </p:txBody>
      </p:sp>
      <p:sp>
        <p:nvSpPr>
          <p:cNvPr id="136" name="Text 134"/>
          <p:cNvSpPr txBox="1"/>
          <p:nvPr/>
        </p:nvSpPr>
        <p:spPr>
          <a:xfrm>
            <a:off x="8366760" y="3749040"/>
            <a:ext cx="3246120" cy="566928"/>
          </a:xfrm>
          <a:prstGeom prst="rect">
            <a:avLst/>
          </a:prstGeom>
          <a:noFill/>
          <a:ln/>
        </p:spPr>
        <p:txBody>
          <a:bodyPr wrap="square" lIns="0" tIns="0" rIns="0" bIns="0" rtlCol="0" anchor="t"/>
          <a:lstStyle/>
          <a:p>
            <a:pPr marL="0" indent="0">
              <a:buNone/>
            </a:pPr>
            <a:r>
              <a:rPr lang="en-US" sz="1200" dirty="0">
                <a:solidFill>
                  <a:schemeClr val="tx2"/>
                </a:solidFill>
              </a:rPr>
              <a:t>High Bandwidth Memory sits beside the die on the same package: 80 GB at 3.35 TB/s on H100 SXM.</a:t>
            </a:r>
            <a:endParaRPr lang="en-US" sz="1200" dirty="0"/>
          </a:p>
        </p:txBody>
      </p:sp>
      <p:sp>
        <p:nvSpPr>
          <p:cNvPr id="137" name="Shape 135"/>
          <p:cNvSpPr/>
          <p:nvPr/>
        </p:nvSpPr>
        <p:spPr>
          <a:xfrm>
            <a:off x="8001000" y="4379976"/>
            <a:ext cx="256032" cy="256032"/>
          </a:xfrm>
          <a:prstGeom prst="roundRect">
            <a:avLst>
              <a:gd name="adj" fmla="val 14286"/>
            </a:avLst>
          </a:prstGeom>
          <a:solidFill>
            <a:schemeClr val="tx2"/>
          </a:solidFill>
          <a:ln/>
        </p:spPr>
        <p:txBody>
          <a:bodyPr/>
          <a:lstStyle/>
          <a:p>
            <a:endParaRPr lang="en-US"/>
          </a:p>
        </p:txBody>
      </p:sp>
      <p:sp>
        <p:nvSpPr>
          <p:cNvPr id="138" name="Text 136"/>
          <p:cNvSpPr txBox="1"/>
          <p:nvPr/>
        </p:nvSpPr>
        <p:spPr>
          <a:xfrm>
            <a:off x="8366760" y="4334256"/>
            <a:ext cx="3246120" cy="310896"/>
          </a:xfrm>
          <a:prstGeom prst="rect">
            <a:avLst/>
          </a:prstGeom>
          <a:noFill/>
          <a:ln/>
        </p:spPr>
        <p:txBody>
          <a:bodyPr wrap="square" lIns="0" tIns="0" rIns="0" bIns="0" rtlCol="0" anchor="t"/>
          <a:lstStyle/>
          <a:p>
            <a:pPr marL="0" indent="0">
              <a:buNone/>
            </a:pPr>
            <a:r>
              <a:rPr lang="en-US" sz="1500" b="1" dirty="0">
                <a:solidFill>
                  <a:schemeClr val="tx1"/>
                </a:solidFill>
              </a:rPr>
              <a:t>Host interface and scheduler</a:t>
            </a:r>
            <a:endParaRPr lang="en-US" sz="1500" dirty="0"/>
          </a:p>
        </p:txBody>
      </p:sp>
      <p:sp>
        <p:nvSpPr>
          <p:cNvPr id="139" name="Text 137"/>
          <p:cNvSpPr txBox="1"/>
          <p:nvPr/>
        </p:nvSpPr>
        <p:spPr>
          <a:xfrm>
            <a:off x="8366760" y="4645152"/>
            <a:ext cx="3246120" cy="566928"/>
          </a:xfrm>
          <a:prstGeom prst="rect">
            <a:avLst/>
          </a:prstGeom>
          <a:noFill/>
          <a:ln/>
        </p:spPr>
        <p:txBody>
          <a:bodyPr wrap="square" lIns="0" tIns="0" rIns="0" bIns="0" rtlCol="0" anchor="t"/>
          <a:lstStyle/>
          <a:p>
            <a:pPr marL="0" indent="0">
              <a:buNone/>
            </a:pPr>
            <a:r>
              <a:rPr lang="en-US" sz="1200" dirty="0">
                <a:solidFill>
                  <a:schemeClr val="tx2"/>
                </a:solidFill>
              </a:rPr>
              <a:t>PCIe links to the CPU; the GigaThread engine hands thread blocks to free SMs.</a:t>
            </a:r>
            <a:endParaRPr lang="en-US" sz="1200" dirty="0"/>
          </a:p>
        </p:txBody>
      </p:sp>
      <p:sp>
        <p:nvSpPr>
          <p:cNvPr id="140" name="Shape 138"/>
          <p:cNvSpPr/>
          <p:nvPr/>
        </p:nvSpPr>
        <p:spPr>
          <a:xfrm>
            <a:off x="8001000" y="5276088"/>
            <a:ext cx="256032" cy="256032"/>
          </a:xfrm>
          <a:prstGeom prst="roundRect">
            <a:avLst>
              <a:gd name="adj" fmla="val 14286"/>
            </a:avLst>
          </a:prstGeom>
          <a:solidFill>
            <a:schemeClr val="accent1"/>
          </a:solidFill>
          <a:ln/>
        </p:spPr>
        <p:txBody>
          <a:bodyPr/>
          <a:lstStyle/>
          <a:p>
            <a:endParaRPr lang="en-US"/>
          </a:p>
        </p:txBody>
      </p:sp>
      <p:sp>
        <p:nvSpPr>
          <p:cNvPr id="141" name="Text 139"/>
          <p:cNvSpPr txBox="1"/>
          <p:nvPr/>
        </p:nvSpPr>
        <p:spPr>
          <a:xfrm>
            <a:off x="8366760" y="5230368"/>
            <a:ext cx="3246120" cy="310896"/>
          </a:xfrm>
          <a:prstGeom prst="rect">
            <a:avLst/>
          </a:prstGeom>
          <a:noFill/>
          <a:ln/>
        </p:spPr>
        <p:txBody>
          <a:bodyPr wrap="square" lIns="0" tIns="0" rIns="0" bIns="0" rtlCol="0" anchor="t"/>
          <a:lstStyle/>
          <a:p>
            <a:pPr marL="0" indent="0">
              <a:buNone/>
            </a:pPr>
            <a:r>
              <a:rPr lang="en-US" sz="1500" b="1" dirty="0">
                <a:solidFill>
                  <a:schemeClr val="tx1"/>
                </a:solidFill>
              </a:rPr>
              <a:t>NVLink</a:t>
            </a:r>
            <a:endParaRPr lang="en-US" sz="1500" dirty="0"/>
          </a:p>
        </p:txBody>
      </p:sp>
      <p:sp>
        <p:nvSpPr>
          <p:cNvPr id="142" name="Text 140"/>
          <p:cNvSpPr txBox="1"/>
          <p:nvPr/>
        </p:nvSpPr>
        <p:spPr>
          <a:xfrm>
            <a:off x="8366760" y="5541264"/>
            <a:ext cx="3246120" cy="566928"/>
          </a:xfrm>
          <a:prstGeom prst="rect">
            <a:avLst/>
          </a:prstGeom>
          <a:noFill/>
          <a:ln/>
        </p:spPr>
        <p:txBody>
          <a:bodyPr wrap="square" lIns="0" tIns="0" rIns="0" bIns="0" rtlCol="0" anchor="t"/>
          <a:lstStyle/>
          <a:p>
            <a:pPr marL="0" indent="0">
              <a:buNone/>
            </a:pPr>
            <a:r>
              <a:rPr lang="en-US" sz="1200" dirty="0">
                <a:solidFill>
                  <a:schemeClr val="tx2"/>
                </a:solidFill>
              </a:rPr>
              <a:t>Direct GPU-to-GPU links, about 7x the bandwidth of PCIe Gen5.</a:t>
            </a:r>
            <a:endParaRPr lang="en-US" sz="1200" dirty="0"/>
          </a:p>
        </p:txBody>
      </p:sp>
      <p:sp>
        <p:nvSpPr>
          <p:cNvPr id="14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Inside a Streaming Multiprocessor (SM)</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The SM is the GPU's basic building block; an H100 SXM has 132 of them</a:t>
            </a:r>
            <a:endParaRPr lang="en-US" sz="1600" dirty="0"/>
          </a:p>
        </p:txBody>
      </p:sp>
      <p:sp>
        <p:nvSpPr>
          <p:cNvPr id="4" name="Shape 2"/>
          <p:cNvSpPr/>
          <p:nvPr/>
        </p:nvSpPr>
        <p:spPr>
          <a:xfrm>
            <a:off x="548640" y="1600200"/>
            <a:ext cx="6766560" cy="4572000"/>
          </a:xfrm>
          <a:prstGeom prst="roundRect">
            <a:avLst>
              <a:gd name="adj" fmla="val 1000"/>
            </a:avLst>
          </a:prstGeom>
          <a:solidFill>
            <a:schemeClr val="tx1"/>
          </a:solidFill>
          <a:ln/>
        </p:spPr>
        <p:txBody>
          <a:bodyPr/>
          <a:lstStyle/>
          <a:p>
            <a:endParaRPr lang="en-US"/>
          </a:p>
        </p:txBody>
      </p:sp>
      <p:sp>
        <p:nvSpPr>
          <p:cNvPr id="5" name="Text 3"/>
          <p:cNvSpPr txBox="1"/>
          <p:nvPr/>
        </p:nvSpPr>
        <p:spPr>
          <a:xfrm>
            <a:off x="685800" y="1664208"/>
            <a:ext cx="6400800" cy="320040"/>
          </a:xfrm>
          <a:prstGeom prst="rect">
            <a:avLst/>
          </a:prstGeom>
          <a:noFill/>
          <a:ln/>
        </p:spPr>
        <p:txBody>
          <a:bodyPr wrap="square" lIns="0" tIns="0" rIns="0" bIns="0" rtlCol="0" anchor="t"/>
          <a:lstStyle/>
          <a:p>
            <a:pPr marL="0" indent="0">
              <a:buNone/>
            </a:pPr>
            <a:r>
              <a:rPr lang="en-US" sz="1300" b="1" dirty="0">
                <a:solidFill>
                  <a:schemeClr val="bg1"/>
                </a:solidFill>
              </a:rPr>
              <a:t>Streaming Multiprocessor (Hopper)</a:t>
            </a:r>
            <a:endParaRPr lang="en-US" sz="1300" dirty="0"/>
          </a:p>
        </p:txBody>
      </p:sp>
      <p:sp>
        <p:nvSpPr>
          <p:cNvPr id="6" name="Shape 4"/>
          <p:cNvSpPr/>
          <p:nvPr/>
        </p:nvSpPr>
        <p:spPr>
          <a:xfrm>
            <a:off x="685800" y="2029968"/>
            <a:ext cx="3200400" cy="1764792"/>
          </a:xfrm>
          <a:prstGeom prst="roundRect">
            <a:avLst>
              <a:gd name="adj" fmla="val 2073"/>
            </a:avLst>
          </a:prstGeom>
          <a:solidFill>
            <a:schemeClr val="tx2"/>
          </a:solidFill>
          <a:ln/>
        </p:spPr>
        <p:txBody>
          <a:bodyPr/>
          <a:lstStyle/>
          <a:p>
            <a:endParaRPr lang="en-US"/>
          </a:p>
        </p:txBody>
      </p:sp>
      <p:sp>
        <p:nvSpPr>
          <p:cNvPr id="7" name="Text 5"/>
          <p:cNvSpPr/>
          <p:nvPr/>
        </p:nvSpPr>
        <p:spPr>
          <a:xfrm>
            <a:off x="777240" y="2121408"/>
            <a:ext cx="3017520" cy="274320"/>
          </a:xfrm>
          <a:prstGeom prst="roundRect">
            <a:avLst>
              <a:gd name="adj" fmla="val 16667"/>
            </a:avLst>
          </a:prstGeom>
          <a:solidFill>
            <a:schemeClr val="accent5"/>
          </a:solidFill>
          <a:ln/>
        </p:spPr>
        <p:txBody>
          <a:bodyPr wrap="square" lIns="381" tIns="381" rIns="381" bIns="381" rtlCol="0" anchor="ctr"/>
          <a:lstStyle/>
          <a:p>
            <a:pPr marL="0" indent="0" algn="ctr">
              <a:buNone/>
            </a:pPr>
            <a:r>
              <a:rPr lang="en-US" sz="1100" b="1" dirty="0">
                <a:solidFill>
                  <a:schemeClr val="bg1"/>
                </a:solidFill>
              </a:rPr>
              <a:t>Warp scheduler + dispatch</a:t>
            </a:r>
            <a:endParaRPr lang="en-US" sz="1100" dirty="0"/>
          </a:p>
        </p:txBody>
      </p:sp>
      <p:sp>
        <p:nvSpPr>
          <p:cNvPr id="8" name="Text 6"/>
          <p:cNvSpPr/>
          <p:nvPr/>
        </p:nvSpPr>
        <p:spPr>
          <a:xfrm>
            <a:off x="777240" y="2450592"/>
            <a:ext cx="3017520" cy="274320"/>
          </a:xfrm>
          <a:prstGeom prst="roundRect">
            <a:avLst>
              <a:gd name="adj" fmla="val 16667"/>
            </a:avLst>
          </a:prstGeom>
          <a:solidFill>
            <a:schemeClr val="accent4"/>
          </a:solidFill>
          <a:ln/>
        </p:spPr>
        <p:txBody>
          <a:bodyPr wrap="square" lIns="381" tIns="381" rIns="381" bIns="381" rtlCol="0" anchor="ctr"/>
          <a:lstStyle/>
          <a:p>
            <a:pPr marL="0" indent="0" algn="ctr">
              <a:buNone/>
            </a:pPr>
            <a:r>
              <a:rPr lang="en-US" sz="1100" b="1" dirty="0">
                <a:solidFill>
                  <a:schemeClr val="bg1"/>
                </a:solidFill>
              </a:rPr>
              <a:t>Register file · 64 KB</a:t>
            </a:r>
            <a:endParaRPr lang="en-US" sz="1100" dirty="0"/>
          </a:p>
        </p:txBody>
      </p:sp>
      <p:sp>
        <p:nvSpPr>
          <p:cNvPr id="9" name="Text 7"/>
          <p:cNvSpPr/>
          <p:nvPr/>
        </p:nvSpPr>
        <p:spPr>
          <a:xfrm>
            <a:off x="777240" y="2779776"/>
            <a:ext cx="1481328" cy="640080"/>
          </a:xfrm>
          <a:prstGeom prst="roundRect">
            <a:avLst>
              <a:gd name="adj" fmla="val 7143"/>
            </a:avLst>
          </a:prstGeom>
          <a:solidFill>
            <a:schemeClr val="accent1"/>
          </a:solidFill>
          <a:ln/>
        </p:spPr>
        <p:txBody>
          <a:bodyPr wrap="square" lIns="381" tIns="381" rIns="381" bIns="381" rtlCol="0" anchor="ctr"/>
          <a:lstStyle/>
          <a:p>
            <a:pPr marL="0" indent="0" algn="ctr">
              <a:buNone/>
            </a:pPr>
            <a:r>
              <a:rPr lang="en-US" sz="1100" b="1" dirty="0">
                <a:solidFill>
                  <a:schemeClr val="tx1"/>
                </a:solidFill>
              </a:rPr>
              <a:t>CUDA cores</a:t>
            </a:r>
            <a:endParaRPr lang="en-US" sz="1100" dirty="0"/>
          </a:p>
          <a:p>
            <a:pPr marL="0" indent="0" algn="ctr">
              <a:buNone/>
            </a:pPr>
            <a:r>
              <a:rPr lang="en-US" sz="1100" b="1" dirty="0">
                <a:solidFill>
                  <a:schemeClr val="tx1"/>
                </a:solidFill>
              </a:rPr>
              <a:t>FP32 · INT32 · FP64</a:t>
            </a:r>
            <a:endParaRPr lang="en-US" sz="1100" dirty="0"/>
          </a:p>
        </p:txBody>
      </p:sp>
      <p:sp>
        <p:nvSpPr>
          <p:cNvPr id="10" name="Text 8"/>
          <p:cNvSpPr/>
          <p:nvPr/>
        </p:nvSpPr>
        <p:spPr>
          <a:xfrm>
            <a:off x="2313432" y="2779776"/>
            <a:ext cx="1481328" cy="640080"/>
          </a:xfrm>
          <a:prstGeom prst="roundRect">
            <a:avLst>
              <a:gd name="adj" fmla="val 7143"/>
            </a:avLst>
          </a:prstGeom>
          <a:solidFill>
            <a:schemeClr val="accent3"/>
          </a:solidFill>
          <a:ln/>
        </p:spPr>
        <p:txBody>
          <a:bodyPr wrap="square" lIns="381" tIns="381" rIns="381" bIns="381" rtlCol="0" anchor="ctr"/>
          <a:lstStyle/>
          <a:p>
            <a:pPr marL="0" indent="0" algn="ctr">
              <a:buNone/>
            </a:pPr>
            <a:r>
              <a:rPr lang="en-US" sz="1100" b="1" dirty="0">
                <a:solidFill>
                  <a:schemeClr val="tx1"/>
                </a:solidFill>
              </a:rPr>
              <a:t>Tensor Core</a:t>
            </a:r>
            <a:endParaRPr lang="en-US" sz="1100" dirty="0"/>
          </a:p>
          <a:p>
            <a:pPr marL="0" indent="0" algn="ctr">
              <a:buNone/>
            </a:pPr>
            <a:r>
              <a:rPr lang="en-US" sz="1100" b="1" dirty="0">
                <a:solidFill>
                  <a:schemeClr val="tx1"/>
                </a:solidFill>
              </a:rPr>
              <a:t>(4th gen)</a:t>
            </a:r>
            <a:endParaRPr lang="en-US" sz="1100" dirty="0"/>
          </a:p>
        </p:txBody>
      </p:sp>
      <p:sp>
        <p:nvSpPr>
          <p:cNvPr id="11" name="Text 9"/>
          <p:cNvSpPr/>
          <p:nvPr/>
        </p:nvSpPr>
        <p:spPr>
          <a:xfrm>
            <a:off x="777240" y="3474720"/>
            <a:ext cx="3017520" cy="246888"/>
          </a:xfrm>
          <a:prstGeom prst="roundRect">
            <a:avLst>
              <a:gd name="adj" fmla="val 18519"/>
            </a:avLst>
          </a:prstGeom>
          <a:solidFill>
            <a:schemeClr val="accent5"/>
          </a:solidFill>
          <a:ln/>
        </p:spPr>
        <p:txBody>
          <a:bodyPr wrap="square" lIns="381" tIns="381" rIns="381" bIns="381" rtlCol="0" anchor="ctr"/>
          <a:lstStyle/>
          <a:p>
            <a:pPr marL="0" indent="0" algn="ctr">
              <a:buNone/>
            </a:pPr>
            <a:r>
              <a:rPr lang="en-US" sz="1000" b="1" dirty="0">
                <a:solidFill>
                  <a:schemeClr val="bg1"/>
                </a:solidFill>
              </a:rPr>
              <a:t>LD/ST units · SFUs</a:t>
            </a:r>
            <a:endParaRPr lang="en-US" sz="1000" dirty="0"/>
          </a:p>
        </p:txBody>
      </p:sp>
      <p:sp>
        <p:nvSpPr>
          <p:cNvPr id="12" name="Shape 10"/>
          <p:cNvSpPr/>
          <p:nvPr/>
        </p:nvSpPr>
        <p:spPr>
          <a:xfrm>
            <a:off x="3977640" y="2029968"/>
            <a:ext cx="3200400" cy="1764792"/>
          </a:xfrm>
          <a:prstGeom prst="roundRect">
            <a:avLst>
              <a:gd name="adj" fmla="val 2073"/>
            </a:avLst>
          </a:prstGeom>
          <a:solidFill>
            <a:schemeClr val="tx2"/>
          </a:solidFill>
          <a:ln/>
        </p:spPr>
        <p:txBody>
          <a:bodyPr/>
          <a:lstStyle/>
          <a:p>
            <a:endParaRPr lang="en-US"/>
          </a:p>
        </p:txBody>
      </p:sp>
      <p:sp>
        <p:nvSpPr>
          <p:cNvPr id="13" name="Text 11"/>
          <p:cNvSpPr/>
          <p:nvPr/>
        </p:nvSpPr>
        <p:spPr>
          <a:xfrm>
            <a:off x="4069080" y="2121408"/>
            <a:ext cx="3017520" cy="274320"/>
          </a:xfrm>
          <a:prstGeom prst="roundRect">
            <a:avLst>
              <a:gd name="adj" fmla="val 16667"/>
            </a:avLst>
          </a:prstGeom>
          <a:solidFill>
            <a:schemeClr val="accent5"/>
          </a:solidFill>
          <a:ln/>
        </p:spPr>
        <p:txBody>
          <a:bodyPr wrap="square" lIns="381" tIns="381" rIns="381" bIns="381" rtlCol="0" anchor="ctr"/>
          <a:lstStyle/>
          <a:p>
            <a:pPr marL="0" indent="0" algn="ctr">
              <a:buNone/>
            </a:pPr>
            <a:r>
              <a:rPr lang="en-US" sz="1100" b="1" dirty="0">
                <a:solidFill>
                  <a:schemeClr val="bg1"/>
                </a:solidFill>
              </a:rPr>
              <a:t>Warp scheduler + dispatch</a:t>
            </a:r>
            <a:endParaRPr lang="en-US" sz="1100" dirty="0"/>
          </a:p>
        </p:txBody>
      </p:sp>
      <p:sp>
        <p:nvSpPr>
          <p:cNvPr id="14" name="Text 12"/>
          <p:cNvSpPr/>
          <p:nvPr/>
        </p:nvSpPr>
        <p:spPr>
          <a:xfrm>
            <a:off x="4069080" y="2450592"/>
            <a:ext cx="3017520" cy="274320"/>
          </a:xfrm>
          <a:prstGeom prst="roundRect">
            <a:avLst>
              <a:gd name="adj" fmla="val 16667"/>
            </a:avLst>
          </a:prstGeom>
          <a:solidFill>
            <a:schemeClr val="accent4"/>
          </a:solidFill>
          <a:ln/>
        </p:spPr>
        <p:txBody>
          <a:bodyPr wrap="square" lIns="381" tIns="381" rIns="381" bIns="381" rtlCol="0" anchor="ctr"/>
          <a:lstStyle/>
          <a:p>
            <a:pPr marL="0" indent="0" algn="ctr">
              <a:buNone/>
            </a:pPr>
            <a:r>
              <a:rPr lang="en-US" sz="1100" b="1" dirty="0">
                <a:solidFill>
                  <a:schemeClr val="bg1"/>
                </a:solidFill>
              </a:rPr>
              <a:t>Register file · 64 KB</a:t>
            </a:r>
            <a:endParaRPr lang="en-US" sz="1100" dirty="0"/>
          </a:p>
        </p:txBody>
      </p:sp>
      <p:sp>
        <p:nvSpPr>
          <p:cNvPr id="15" name="Text 13"/>
          <p:cNvSpPr/>
          <p:nvPr/>
        </p:nvSpPr>
        <p:spPr>
          <a:xfrm>
            <a:off x="4069080" y="2779776"/>
            <a:ext cx="1481328" cy="640080"/>
          </a:xfrm>
          <a:prstGeom prst="roundRect">
            <a:avLst>
              <a:gd name="adj" fmla="val 7143"/>
            </a:avLst>
          </a:prstGeom>
          <a:solidFill>
            <a:schemeClr val="accent1"/>
          </a:solidFill>
          <a:ln/>
        </p:spPr>
        <p:txBody>
          <a:bodyPr wrap="square" lIns="381" tIns="381" rIns="381" bIns="381" rtlCol="0" anchor="ctr"/>
          <a:lstStyle/>
          <a:p>
            <a:pPr marL="0" indent="0" algn="ctr">
              <a:buNone/>
            </a:pPr>
            <a:r>
              <a:rPr lang="en-US" sz="1100" b="1" dirty="0">
                <a:solidFill>
                  <a:schemeClr val="tx1"/>
                </a:solidFill>
              </a:rPr>
              <a:t>CUDA cores</a:t>
            </a:r>
            <a:endParaRPr lang="en-US" sz="1100" dirty="0"/>
          </a:p>
          <a:p>
            <a:pPr marL="0" indent="0" algn="ctr">
              <a:buNone/>
            </a:pPr>
            <a:r>
              <a:rPr lang="en-US" sz="1100" b="1" dirty="0">
                <a:solidFill>
                  <a:schemeClr val="tx1"/>
                </a:solidFill>
              </a:rPr>
              <a:t>FP32 · INT32 · FP64</a:t>
            </a:r>
            <a:endParaRPr lang="en-US" sz="1100" dirty="0"/>
          </a:p>
        </p:txBody>
      </p:sp>
      <p:sp>
        <p:nvSpPr>
          <p:cNvPr id="16" name="Text 14"/>
          <p:cNvSpPr/>
          <p:nvPr/>
        </p:nvSpPr>
        <p:spPr>
          <a:xfrm>
            <a:off x="5605272" y="2779776"/>
            <a:ext cx="1481328" cy="640080"/>
          </a:xfrm>
          <a:prstGeom prst="roundRect">
            <a:avLst>
              <a:gd name="adj" fmla="val 7143"/>
            </a:avLst>
          </a:prstGeom>
          <a:solidFill>
            <a:schemeClr val="accent3"/>
          </a:solidFill>
          <a:ln/>
        </p:spPr>
        <p:txBody>
          <a:bodyPr wrap="square" lIns="381" tIns="381" rIns="381" bIns="381" rtlCol="0" anchor="ctr"/>
          <a:lstStyle/>
          <a:p>
            <a:pPr marL="0" indent="0" algn="ctr">
              <a:buNone/>
            </a:pPr>
            <a:r>
              <a:rPr lang="en-US" sz="1100" b="1" dirty="0">
                <a:solidFill>
                  <a:schemeClr val="tx1"/>
                </a:solidFill>
              </a:rPr>
              <a:t>Tensor Core</a:t>
            </a:r>
            <a:endParaRPr lang="en-US" sz="1100" dirty="0"/>
          </a:p>
          <a:p>
            <a:pPr marL="0" indent="0" algn="ctr">
              <a:buNone/>
            </a:pPr>
            <a:r>
              <a:rPr lang="en-US" sz="1100" b="1" dirty="0">
                <a:solidFill>
                  <a:schemeClr val="tx1"/>
                </a:solidFill>
              </a:rPr>
              <a:t>(4th gen)</a:t>
            </a:r>
            <a:endParaRPr lang="en-US" sz="1100" dirty="0"/>
          </a:p>
        </p:txBody>
      </p:sp>
      <p:sp>
        <p:nvSpPr>
          <p:cNvPr id="17" name="Text 15"/>
          <p:cNvSpPr/>
          <p:nvPr/>
        </p:nvSpPr>
        <p:spPr>
          <a:xfrm>
            <a:off x="4069080" y="3474720"/>
            <a:ext cx="3017520" cy="246888"/>
          </a:xfrm>
          <a:prstGeom prst="roundRect">
            <a:avLst>
              <a:gd name="adj" fmla="val 18519"/>
            </a:avLst>
          </a:prstGeom>
          <a:solidFill>
            <a:schemeClr val="accent5"/>
          </a:solidFill>
          <a:ln/>
        </p:spPr>
        <p:txBody>
          <a:bodyPr wrap="square" lIns="381" tIns="381" rIns="381" bIns="381" rtlCol="0" anchor="ctr"/>
          <a:lstStyle/>
          <a:p>
            <a:pPr marL="0" indent="0" algn="ctr">
              <a:buNone/>
            </a:pPr>
            <a:r>
              <a:rPr lang="en-US" sz="1000" b="1" dirty="0">
                <a:solidFill>
                  <a:schemeClr val="bg1"/>
                </a:solidFill>
              </a:rPr>
              <a:t>LD/ST units · SFUs</a:t>
            </a:r>
            <a:endParaRPr lang="en-US" sz="1000" dirty="0"/>
          </a:p>
        </p:txBody>
      </p:sp>
      <p:sp>
        <p:nvSpPr>
          <p:cNvPr id="18" name="Shape 16"/>
          <p:cNvSpPr/>
          <p:nvPr/>
        </p:nvSpPr>
        <p:spPr>
          <a:xfrm>
            <a:off x="685800" y="3886200"/>
            <a:ext cx="3200400" cy="1764792"/>
          </a:xfrm>
          <a:prstGeom prst="roundRect">
            <a:avLst>
              <a:gd name="adj" fmla="val 2073"/>
            </a:avLst>
          </a:prstGeom>
          <a:solidFill>
            <a:schemeClr val="tx2"/>
          </a:solidFill>
          <a:ln/>
        </p:spPr>
        <p:txBody>
          <a:bodyPr/>
          <a:lstStyle/>
          <a:p>
            <a:endParaRPr lang="en-US"/>
          </a:p>
        </p:txBody>
      </p:sp>
      <p:sp>
        <p:nvSpPr>
          <p:cNvPr id="19" name="Text 17"/>
          <p:cNvSpPr/>
          <p:nvPr/>
        </p:nvSpPr>
        <p:spPr>
          <a:xfrm>
            <a:off x="777240" y="3977640"/>
            <a:ext cx="3017520" cy="274320"/>
          </a:xfrm>
          <a:prstGeom prst="roundRect">
            <a:avLst>
              <a:gd name="adj" fmla="val 16667"/>
            </a:avLst>
          </a:prstGeom>
          <a:solidFill>
            <a:schemeClr val="accent5"/>
          </a:solidFill>
          <a:ln/>
        </p:spPr>
        <p:txBody>
          <a:bodyPr wrap="square" lIns="381" tIns="381" rIns="381" bIns="381" rtlCol="0" anchor="ctr"/>
          <a:lstStyle/>
          <a:p>
            <a:pPr marL="0" indent="0" algn="ctr">
              <a:buNone/>
            </a:pPr>
            <a:r>
              <a:rPr lang="en-US" sz="1100" b="1" dirty="0">
                <a:solidFill>
                  <a:schemeClr val="bg1"/>
                </a:solidFill>
              </a:rPr>
              <a:t>Warp scheduler + dispatch</a:t>
            </a:r>
            <a:endParaRPr lang="en-US" sz="1100" dirty="0"/>
          </a:p>
        </p:txBody>
      </p:sp>
      <p:sp>
        <p:nvSpPr>
          <p:cNvPr id="20" name="Text 18"/>
          <p:cNvSpPr/>
          <p:nvPr/>
        </p:nvSpPr>
        <p:spPr>
          <a:xfrm>
            <a:off x="777240" y="4306824"/>
            <a:ext cx="3017520" cy="274320"/>
          </a:xfrm>
          <a:prstGeom prst="roundRect">
            <a:avLst>
              <a:gd name="adj" fmla="val 16667"/>
            </a:avLst>
          </a:prstGeom>
          <a:solidFill>
            <a:schemeClr val="accent4"/>
          </a:solidFill>
          <a:ln/>
        </p:spPr>
        <p:txBody>
          <a:bodyPr wrap="square" lIns="381" tIns="381" rIns="381" bIns="381" rtlCol="0" anchor="ctr"/>
          <a:lstStyle/>
          <a:p>
            <a:pPr marL="0" indent="0" algn="ctr">
              <a:buNone/>
            </a:pPr>
            <a:r>
              <a:rPr lang="en-US" sz="1100" b="1" dirty="0">
                <a:solidFill>
                  <a:schemeClr val="bg1"/>
                </a:solidFill>
              </a:rPr>
              <a:t>Register file · 64 KB</a:t>
            </a:r>
            <a:endParaRPr lang="en-US" sz="1100" dirty="0"/>
          </a:p>
        </p:txBody>
      </p:sp>
      <p:sp>
        <p:nvSpPr>
          <p:cNvPr id="21" name="Text 19"/>
          <p:cNvSpPr/>
          <p:nvPr/>
        </p:nvSpPr>
        <p:spPr>
          <a:xfrm>
            <a:off x="777240" y="4636008"/>
            <a:ext cx="1481328" cy="640080"/>
          </a:xfrm>
          <a:prstGeom prst="roundRect">
            <a:avLst>
              <a:gd name="adj" fmla="val 7143"/>
            </a:avLst>
          </a:prstGeom>
          <a:solidFill>
            <a:schemeClr val="accent1"/>
          </a:solidFill>
          <a:ln/>
        </p:spPr>
        <p:txBody>
          <a:bodyPr wrap="square" lIns="381" tIns="381" rIns="381" bIns="381" rtlCol="0" anchor="ctr"/>
          <a:lstStyle/>
          <a:p>
            <a:pPr marL="0" indent="0" algn="ctr">
              <a:buNone/>
            </a:pPr>
            <a:r>
              <a:rPr lang="en-US" sz="1100" b="1" dirty="0">
                <a:solidFill>
                  <a:schemeClr val="tx1"/>
                </a:solidFill>
              </a:rPr>
              <a:t>CUDA cores</a:t>
            </a:r>
            <a:endParaRPr lang="en-US" sz="1100" dirty="0"/>
          </a:p>
          <a:p>
            <a:pPr marL="0" indent="0" algn="ctr">
              <a:buNone/>
            </a:pPr>
            <a:r>
              <a:rPr lang="en-US" sz="1100" b="1" dirty="0">
                <a:solidFill>
                  <a:schemeClr val="tx1"/>
                </a:solidFill>
              </a:rPr>
              <a:t>FP32 · INT32 · FP64</a:t>
            </a:r>
            <a:endParaRPr lang="en-US" sz="1100" dirty="0"/>
          </a:p>
        </p:txBody>
      </p:sp>
      <p:sp>
        <p:nvSpPr>
          <p:cNvPr id="22" name="Text 20"/>
          <p:cNvSpPr/>
          <p:nvPr/>
        </p:nvSpPr>
        <p:spPr>
          <a:xfrm>
            <a:off x="2313432" y="4636008"/>
            <a:ext cx="1481328" cy="640080"/>
          </a:xfrm>
          <a:prstGeom prst="roundRect">
            <a:avLst>
              <a:gd name="adj" fmla="val 7143"/>
            </a:avLst>
          </a:prstGeom>
          <a:solidFill>
            <a:schemeClr val="accent3"/>
          </a:solidFill>
          <a:ln/>
        </p:spPr>
        <p:txBody>
          <a:bodyPr wrap="square" lIns="381" tIns="381" rIns="381" bIns="381" rtlCol="0" anchor="ctr"/>
          <a:lstStyle/>
          <a:p>
            <a:pPr marL="0" indent="0" algn="ctr">
              <a:buNone/>
            </a:pPr>
            <a:r>
              <a:rPr lang="en-US" sz="1100" b="1" dirty="0">
                <a:solidFill>
                  <a:schemeClr val="tx1"/>
                </a:solidFill>
              </a:rPr>
              <a:t>Tensor Core</a:t>
            </a:r>
            <a:endParaRPr lang="en-US" sz="1100" dirty="0"/>
          </a:p>
          <a:p>
            <a:pPr marL="0" indent="0" algn="ctr">
              <a:buNone/>
            </a:pPr>
            <a:r>
              <a:rPr lang="en-US" sz="1100" b="1" dirty="0">
                <a:solidFill>
                  <a:schemeClr val="tx1"/>
                </a:solidFill>
              </a:rPr>
              <a:t>(4th gen)</a:t>
            </a:r>
            <a:endParaRPr lang="en-US" sz="1100" dirty="0"/>
          </a:p>
        </p:txBody>
      </p:sp>
      <p:sp>
        <p:nvSpPr>
          <p:cNvPr id="23" name="Text 21"/>
          <p:cNvSpPr/>
          <p:nvPr/>
        </p:nvSpPr>
        <p:spPr>
          <a:xfrm>
            <a:off x="777240" y="5330952"/>
            <a:ext cx="3017520" cy="246888"/>
          </a:xfrm>
          <a:prstGeom prst="roundRect">
            <a:avLst>
              <a:gd name="adj" fmla="val 18519"/>
            </a:avLst>
          </a:prstGeom>
          <a:solidFill>
            <a:schemeClr val="accent5"/>
          </a:solidFill>
          <a:ln/>
        </p:spPr>
        <p:txBody>
          <a:bodyPr wrap="square" lIns="381" tIns="381" rIns="381" bIns="381" rtlCol="0" anchor="ctr"/>
          <a:lstStyle/>
          <a:p>
            <a:pPr marL="0" indent="0" algn="ctr">
              <a:buNone/>
            </a:pPr>
            <a:r>
              <a:rPr lang="en-US" sz="1000" b="1" dirty="0">
                <a:solidFill>
                  <a:schemeClr val="bg1"/>
                </a:solidFill>
              </a:rPr>
              <a:t>LD/ST units · SFUs</a:t>
            </a:r>
            <a:endParaRPr lang="en-US" sz="1000" dirty="0"/>
          </a:p>
        </p:txBody>
      </p:sp>
      <p:sp>
        <p:nvSpPr>
          <p:cNvPr id="24" name="Shape 22"/>
          <p:cNvSpPr/>
          <p:nvPr/>
        </p:nvSpPr>
        <p:spPr>
          <a:xfrm>
            <a:off x="3977640" y="3886200"/>
            <a:ext cx="3200400" cy="1764792"/>
          </a:xfrm>
          <a:prstGeom prst="roundRect">
            <a:avLst>
              <a:gd name="adj" fmla="val 2073"/>
            </a:avLst>
          </a:prstGeom>
          <a:solidFill>
            <a:schemeClr val="tx2"/>
          </a:solidFill>
          <a:ln/>
        </p:spPr>
        <p:txBody>
          <a:bodyPr/>
          <a:lstStyle/>
          <a:p>
            <a:endParaRPr lang="en-US"/>
          </a:p>
        </p:txBody>
      </p:sp>
      <p:sp>
        <p:nvSpPr>
          <p:cNvPr id="25" name="Text 23"/>
          <p:cNvSpPr/>
          <p:nvPr/>
        </p:nvSpPr>
        <p:spPr>
          <a:xfrm>
            <a:off x="4069080" y="3977640"/>
            <a:ext cx="3017520" cy="274320"/>
          </a:xfrm>
          <a:prstGeom prst="roundRect">
            <a:avLst>
              <a:gd name="adj" fmla="val 16667"/>
            </a:avLst>
          </a:prstGeom>
          <a:solidFill>
            <a:schemeClr val="accent5"/>
          </a:solidFill>
          <a:ln/>
        </p:spPr>
        <p:txBody>
          <a:bodyPr wrap="square" lIns="381" tIns="381" rIns="381" bIns="381" rtlCol="0" anchor="ctr"/>
          <a:lstStyle/>
          <a:p>
            <a:pPr marL="0" indent="0" algn="ctr">
              <a:buNone/>
            </a:pPr>
            <a:r>
              <a:rPr lang="en-US" sz="1100" b="1" dirty="0">
                <a:solidFill>
                  <a:schemeClr val="bg1"/>
                </a:solidFill>
              </a:rPr>
              <a:t>Warp scheduler + dispatch</a:t>
            </a:r>
            <a:endParaRPr lang="en-US" sz="1100" dirty="0"/>
          </a:p>
        </p:txBody>
      </p:sp>
      <p:sp>
        <p:nvSpPr>
          <p:cNvPr id="26" name="Text 24"/>
          <p:cNvSpPr/>
          <p:nvPr/>
        </p:nvSpPr>
        <p:spPr>
          <a:xfrm>
            <a:off x="4069080" y="4306824"/>
            <a:ext cx="3017520" cy="274320"/>
          </a:xfrm>
          <a:prstGeom prst="roundRect">
            <a:avLst>
              <a:gd name="adj" fmla="val 16667"/>
            </a:avLst>
          </a:prstGeom>
          <a:solidFill>
            <a:schemeClr val="accent4"/>
          </a:solidFill>
          <a:ln/>
        </p:spPr>
        <p:txBody>
          <a:bodyPr wrap="square" lIns="381" tIns="381" rIns="381" bIns="381" rtlCol="0" anchor="ctr"/>
          <a:lstStyle/>
          <a:p>
            <a:pPr marL="0" indent="0" algn="ctr">
              <a:buNone/>
            </a:pPr>
            <a:r>
              <a:rPr lang="en-US" sz="1100" b="1" dirty="0">
                <a:solidFill>
                  <a:schemeClr val="bg1"/>
                </a:solidFill>
              </a:rPr>
              <a:t>Register file · 64 KB</a:t>
            </a:r>
            <a:endParaRPr lang="en-US" sz="1100" dirty="0"/>
          </a:p>
        </p:txBody>
      </p:sp>
      <p:sp>
        <p:nvSpPr>
          <p:cNvPr id="27" name="Text 25"/>
          <p:cNvSpPr/>
          <p:nvPr/>
        </p:nvSpPr>
        <p:spPr>
          <a:xfrm>
            <a:off x="4069080" y="4636008"/>
            <a:ext cx="1481328" cy="640080"/>
          </a:xfrm>
          <a:prstGeom prst="roundRect">
            <a:avLst>
              <a:gd name="adj" fmla="val 7143"/>
            </a:avLst>
          </a:prstGeom>
          <a:solidFill>
            <a:schemeClr val="accent1"/>
          </a:solidFill>
          <a:ln/>
        </p:spPr>
        <p:txBody>
          <a:bodyPr wrap="square" lIns="381" tIns="381" rIns="381" bIns="381" rtlCol="0" anchor="ctr"/>
          <a:lstStyle/>
          <a:p>
            <a:pPr marL="0" indent="0" algn="ctr">
              <a:buNone/>
            </a:pPr>
            <a:r>
              <a:rPr lang="en-US" sz="1100" b="1" dirty="0">
                <a:solidFill>
                  <a:schemeClr val="tx1"/>
                </a:solidFill>
              </a:rPr>
              <a:t>CUDA cores</a:t>
            </a:r>
            <a:endParaRPr lang="en-US" sz="1100" dirty="0"/>
          </a:p>
          <a:p>
            <a:pPr marL="0" indent="0" algn="ctr">
              <a:buNone/>
            </a:pPr>
            <a:r>
              <a:rPr lang="en-US" sz="1100" b="1" dirty="0">
                <a:solidFill>
                  <a:schemeClr val="tx1"/>
                </a:solidFill>
              </a:rPr>
              <a:t>FP32 · INT32 · FP64</a:t>
            </a:r>
            <a:endParaRPr lang="en-US" sz="1100" dirty="0"/>
          </a:p>
        </p:txBody>
      </p:sp>
      <p:sp>
        <p:nvSpPr>
          <p:cNvPr id="28" name="Text 26"/>
          <p:cNvSpPr/>
          <p:nvPr/>
        </p:nvSpPr>
        <p:spPr>
          <a:xfrm>
            <a:off x="5605272" y="4636008"/>
            <a:ext cx="1481328" cy="640080"/>
          </a:xfrm>
          <a:prstGeom prst="roundRect">
            <a:avLst>
              <a:gd name="adj" fmla="val 7143"/>
            </a:avLst>
          </a:prstGeom>
          <a:solidFill>
            <a:schemeClr val="accent3"/>
          </a:solidFill>
          <a:ln/>
        </p:spPr>
        <p:txBody>
          <a:bodyPr wrap="square" lIns="381" tIns="381" rIns="381" bIns="381" rtlCol="0" anchor="ctr"/>
          <a:lstStyle/>
          <a:p>
            <a:pPr marL="0" indent="0" algn="ctr">
              <a:buNone/>
            </a:pPr>
            <a:r>
              <a:rPr lang="en-US" sz="1100" b="1" dirty="0">
                <a:solidFill>
                  <a:schemeClr val="tx1"/>
                </a:solidFill>
              </a:rPr>
              <a:t>Tensor Core</a:t>
            </a:r>
            <a:endParaRPr lang="en-US" sz="1100" dirty="0"/>
          </a:p>
          <a:p>
            <a:pPr marL="0" indent="0" algn="ctr">
              <a:buNone/>
            </a:pPr>
            <a:r>
              <a:rPr lang="en-US" sz="1100" b="1" dirty="0">
                <a:solidFill>
                  <a:schemeClr val="tx1"/>
                </a:solidFill>
              </a:rPr>
              <a:t>(4th gen)</a:t>
            </a:r>
            <a:endParaRPr lang="en-US" sz="1100" dirty="0"/>
          </a:p>
        </p:txBody>
      </p:sp>
      <p:sp>
        <p:nvSpPr>
          <p:cNvPr id="29" name="Text 27"/>
          <p:cNvSpPr/>
          <p:nvPr/>
        </p:nvSpPr>
        <p:spPr>
          <a:xfrm>
            <a:off x="4069080" y="5330952"/>
            <a:ext cx="3017520" cy="246888"/>
          </a:xfrm>
          <a:prstGeom prst="roundRect">
            <a:avLst>
              <a:gd name="adj" fmla="val 18519"/>
            </a:avLst>
          </a:prstGeom>
          <a:solidFill>
            <a:schemeClr val="accent5"/>
          </a:solidFill>
          <a:ln/>
        </p:spPr>
        <p:txBody>
          <a:bodyPr wrap="square" lIns="381" tIns="381" rIns="381" bIns="381" rtlCol="0" anchor="ctr"/>
          <a:lstStyle/>
          <a:p>
            <a:pPr marL="0" indent="0" algn="ctr">
              <a:buNone/>
            </a:pPr>
            <a:r>
              <a:rPr lang="en-US" sz="1000" b="1" dirty="0">
                <a:solidFill>
                  <a:schemeClr val="bg1"/>
                </a:solidFill>
              </a:rPr>
              <a:t>LD/ST units · SFUs</a:t>
            </a:r>
            <a:endParaRPr lang="en-US" sz="1000" dirty="0"/>
          </a:p>
        </p:txBody>
      </p:sp>
      <p:sp>
        <p:nvSpPr>
          <p:cNvPr id="30" name="Text 28"/>
          <p:cNvSpPr/>
          <p:nvPr/>
        </p:nvSpPr>
        <p:spPr>
          <a:xfrm>
            <a:off x="685800" y="5779008"/>
            <a:ext cx="6492240" cy="320040"/>
          </a:xfrm>
          <a:prstGeom prst="roundRect">
            <a:avLst>
              <a:gd name="adj" fmla="val 14286"/>
            </a:avLst>
          </a:prstGeom>
          <a:solidFill>
            <a:schemeClr val="accent4"/>
          </a:solidFill>
          <a:ln/>
        </p:spPr>
        <p:txBody>
          <a:bodyPr wrap="square" lIns="381" tIns="381" rIns="381" bIns="381" rtlCol="0" anchor="ctr"/>
          <a:lstStyle/>
          <a:p>
            <a:pPr marL="0" indent="0" algn="ctr">
              <a:buNone/>
            </a:pPr>
            <a:r>
              <a:rPr lang="en-US" sz="1100" b="1" dirty="0">
                <a:solidFill>
                  <a:schemeClr val="bg1"/>
                </a:solidFill>
              </a:rPr>
              <a:t>256 KB L1 data cache / shared memory  ·  Tensor Memory Accelerator (TMA)</a:t>
            </a:r>
            <a:endParaRPr lang="en-US" sz="1100" dirty="0"/>
          </a:p>
        </p:txBody>
      </p:sp>
      <p:sp>
        <p:nvSpPr>
          <p:cNvPr id="31" name="Text 29"/>
          <p:cNvSpPr txBox="1"/>
          <p:nvPr/>
        </p:nvSpPr>
        <p:spPr>
          <a:xfrm>
            <a:off x="7635240" y="1645920"/>
            <a:ext cx="3977640" cy="301752"/>
          </a:xfrm>
          <a:prstGeom prst="rect">
            <a:avLst/>
          </a:prstGeom>
          <a:noFill/>
          <a:ln/>
        </p:spPr>
        <p:txBody>
          <a:bodyPr wrap="square" lIns="0" tIns="0" rIns="0" bIns="0" rtlCol="0" anchor="t"/>
          <a:lstStyle/>
          <a:p>
            <a:pPr marL="0" indent="0">
              <a:buNone/>
            </a:pPr>
            <a:r>
              <a:rPr lang="en-US" sz="1500" b="1" dirty="0">
                <a:solidFill>
                  <a:schemeClr val="accent2"/>
                </a:solidFill>
              </a:rPr>
              <a:t>Warp scheduler</a:t>
            </a:r>
            <a:endParaRPr lang="en-US" sz="1500" dirty="0"/>
          </a:p>
        </p:txBody>
      </p:sp>
      <p:sp>
        <p:nvSpPr>
          <p:cNvPr id="32" name="Text 30"/>
          <p:cNvSpPr txBox="1"/>
          <p:nvPr/>
        </p:nvSpPr>
        <p:spPr>
          <a:xfrm>
            <a:off x="7635240" y="1947672"/>
            <a:ext cx="3977640" cy="566928"/>
          </a:xfrm>
          <a:prstGeom prst="rect">
            <a:avLst/>
          </a:prstGeom>
          <a:noFill/>
          <a:ln/>
        </p:spPr>
        <p:txBody>
          <a:bodyPr wrap="square" lIns="0" tIns="0" rIns="0" bIns="0" rtlCol="0" anchor="t"/>
          <a:lstStyle/>
          <a:p>
            <a:pPr marL="0" indent="0">
              <a:buNone/>
            </a:pPr>
            <a:r>
              <a:rPr lang="en-US" sz="1300" dirty="0">
                <a:solidFill>
                  <a:schemeClr val="tx2"/>
                </a:solidFill>
              </a:rPr>
              <a:t>Picks a ready warp of 32 threads each clock. Switching warps hides memory latency.</a:t>
            </a:r>
            <a:endParaRPr lang="en-US" sz="1300" dirty="0"/>
          </a:p>
        </p:txBody>
      </p:sp>
      <p:sp>
        <p:nvSpPr>
          <p:cNvPr id="33" name="Text 31"/>
          <p:cNvSpPr txBox="1"/>
          <p:nvPr/>
        </p:nvSpPr>
        <p:spPr>
          <a:xfrm>
            <a:off x="7635240" y="2551176"/>
            <a:ext cx="3977640" cy="301752"/>
          </a:xfrm>
          <a:prstGeom prst="rect">
            <a:avLst/>
          </a:prstGeom>
          <a:noFill/>
          <a:ln/>
        </p:spPr>
        <p:txBody>
          <a:bodyPr wrap="square" lIns="0" tIns="0" rIns="0" bIns="0" rtlCol="0" anchor="t"/>
          <a:lstStyle/>
          <a:p>
            <a:pPr marL="0" indent="0">
              <a:buNone/>
            </a:pPr>
            <a:r>
              <a:rPr lang="en-US" sz="1500" b="1" dirty="0">
                <a:solidFill>
                  <a:schemeClr val="accent2"/>
                </a:solidFill>
              </a:rPr>
              <a:t>Register file</a:t>
            </a:r>
            <a:endParaRPr lang="en-US" sz="1500" dirty="0"/>
          </a:p>
        </p:txBody>
      </p:sp>
      <p:sp>
        <p:nvSpPr>
          <p:cNvPr id="34" name="Text 32"/>
          <p:cNvSpPr txBox="1"/>
          <p:nvPr/>
        </p:nvSpPr>
        <p:spPr>
          <a:xfrm>
            <a:off x="7635240" y="2852928"/>
            <a:ext cx="3977640" cy="566928"/>
          </a:xfrm>
          <a:prstGeom prst="rect">
            <a:avLst/>
          </a:prstGeom>
          <a:noFill/>
          <a:ln/>
        </p:spPr>
        <p:txBody>
          <a:bodyPr wrap="square" lIns="0" tIns="0" rIns="0" bIns="0" rtlCol="0" anchor="t"/>
          <a:lstStyle/>
          <a:p>
            <a:pPr marL="0" indent="0">
              <a:buNone/>
            </a:pPr>
            <a:r>
              <a:rPr lang="en-US" sz="1300" dirty="0">
                <a:solidFill>
                  <a:schemeClr val="tx2"/>
                </a:solidFill>
              </a:rPr>
              <a:t>The fastest storage on the chip, private to each thread. 256 KB per SM.</a:t>
            </a:r>
            <a:endParaRPr lang="en-US" sz="1300" dirty="0"/>
          </a:p>
        </p:txBody>
      </p:sp>
      <p:sp>
        <p:nvSpPr>
          <p:cNvPr id="35" name="Text 33"/>
          <p:cNvSpPr txBox="1"/>
          <p:nvPr/>
        </p:nvSpPr>
        <p:spPr>
          <a:xfrm>
            <a:off x="7635240" y="3456432"/>
            <a:ext cx="3977640" cy="301752"/>
          </a:xfrm>
          <a:prstGeom prst="rect">
            <a:avLst/>
          </a:prstGeom>
          <a:noFill/>
          <a:ln/>
        </p:spPr>
        <p:txBody>
          <a:bodyPr wrap="square" lIns="0" tIns="0" rIns="0" bIns="0" rtlCol="0" anchor="t"/>
          <a:lstStyle/>
          <a:p>
            <a:pPr marL="0" indent="0">
              <a:buNone/>
            </a:pPr>
            <a:r>
              <a:rPr lang="en-US" sz="1500" b="1" dirty="0">
                <a:solidFill>
                  <a:schemeClr val="accent2"/>
                </a:solidFill>
              </a:rPr>
              <a:t>CUDA cores</a:t>
            </a:r>
            <a:endParaRPr lang="en-US" sz="1500" dirty="0"/>
          </a:p>
        </p:txBody>
      </p:sp>
      <p:sp>
        <p:nvSpPr>
          <p:cNvPr id="36" name="Text 34"/>
          <p:cNvSpPr txBox="1"/>
          <p:nvPr/>
        </p:nvSpPr>
        <p:spPr>
          <a:xfrm>
            <a:off x="7635240" y="3758184"/>
            <a:ext cx="3977640" cy="566928"/>
          </a:xfrm>
          <a:prstGeom prst="rect">
            <a:avLst/>
          </a:prstGeom>
          <a:noFill/>
          <a:ln/>
        </p:spPr>
        <p:txBody>
          <a:bodyPr wrap="square" lIns="0" tIns="0" rIns="0" bIns="0" rtlCol="0" anchor="t"/>
          <a:lstStyle/>
          <a:p>
            <a:pPr marL="0" indent="0">
              <a:buNone/>
            </a:pPr>
            <a:r>
              <a:rPr lang="en-US" sz="1300" dirty="0">
                <a:solidFill>
                  <a:schemeClr val="tx2"/>
                </a:solidFill>
              </a:rPr>
              <a:t>General-purpose FP32, INT32 and FP64 units: one operation per clock per core.</a:t>
            </a:r>
            <a:endParaRPr lang="en-US" sz="1300" dirty="0"/>
          </a:p>
        </p:txBody>
      </p:sp>
      <p:sp>
        <p:nvSpPr>
          <p:cNvPr id="37" name="Text 35"/>
          <p:cNvSpPr txBox="1"/>
          <p:nvPr/>
        </p:nvSpPr>
        <p:spPr>
          <a:xfrm>
            <a:off x="7635240" y="4361688"/>
            <a:ext cx="3977640" cy="301752"/>
          </a:xfrm>
          <a:prstGeom prst="rect">
            <a:avLst/>
          </a:prstGeom>
          <a:noFill/>
          <a:ln/>
        </p:spPr>
        <p:txBody>
          <a:bodyPr wrap="square" lIns="0" tIns="0" rIns="0" bIns="0" rtlCol="0" anchor="t"/>
          <a:lstStyle/>
          <a:p>
            <a:pPr marL="0" indent="0">
              <a:buNone/>
            </a:pPr>
            <a:r>
              <a:rPr lang="en-US" sz="1500" b="1" dirty="0">
                <a:solidFill>
                  <a:schemeClr val="accent2"/>
                </a:solidFill>
              </a:rPr>
              <a:t>Tensor Cores</a:t>
            </a:r>
            <a:endParaRPr lang="en-US" sz="1500" dirty="0"/>
          </a:p>
        </p:txBody>
      </p:sp>
      <p:sp>
        <p:nvSpPr>
          <p:cNvPr id="38" name="Text 36"/>
          <p:cNvSpPr txBox="1"/>
          <p:nvPr/>
        </p:nvSpPr>
        <p:spPr>
          <a:xfrm>
            <a:off x="7635240" y="4663440"/>
            <a:ext cx="3977640" cy="566928"/>
          </a:xfrm>
          <a:prstGeom prst="rect">
            <a:avLst/>
          </a:prstGeom>
          <a:noFill/>
          <a:ln/>
        </p:spPr>
        <p:txBody>
          <a:bodyPr wrap="square" lIns="0" tIns="0" rIns="0" bIns="0" rtlCol="0" anchor="t"/>
          <a:lstStyle/>
          <a:p>
            <a:pPr marL="0" indent="0">
              <a:buNone/>
            </a:pPr>
            <a:r>
              <a:rPr lang="en-US" sz="1300" dirty="0">
                <a:solidFill>
                  <a:schemeClr val="tx2"/>
                </a:solidFill>
              </a:rPr>
              <a:t>Matrix-multiply engines: a whole small matrix multiply-accumulate (D = A×B + C) per instruction.</a:t>
            </a:r>
            <a:endParaRPr lang="en-US" sz="1300" dirty="0"/>
          </a:p>
        </p:txBody>
      </p:sp>
      <p:sp>
        <p:nvSpPr>
          <p:cNvPr id="39" name="Text 37"/>
          <p:cNvSpPr txBox="1"/>
          <p:nvPr/>
        </p:nvSpPr>
        <p:spPr>
          <a:xfrm>
            <a:off x="7635240" y="5266944"/>
            <a:ext cx="3977640" cy="301752"/>
          </a:xfrm>
          <a:prstGeom prst="rect">
            <a:avLst/>
          </a:prstGeom>
          <a:noFill/>
          <a:ln/>
        </p:spPr>
        <p:txBody>
          <a:bodyPr wrap="square" lIns="0" tIns="0" rIns="0" bIns="0" rtlCol="0" anchor="t"/>
          <a:lstStyle/>
          <a:p>
            <a:pPr marL="0" indent="0">
              <a:buNone/>
            </a:pPr>
            <a:r>
              <a:rPr lang="en-US" sz="1500" b="1" dirty="0">
                <a:solidFill>
                  <a:schemeClr val="accent2"/>
                </a:solidFill>
              </a:rPr>
              <a:t>L1 / shared memory</a:t>
            </a:r>
            <a:endParaRPr lang="en-US" sz="1500" dirty="0"/>
          </a:p>
        </p:txBody>
      </p:sp>
      <p:sp>
        <p:nvSpPr>
          <p:cNvPr id="40" name="Text 38"/>
          <p:cNvSpPr txBox="1"/>
          <p:nvPr/>
        </p:nvSpPr>
        <p:spPr>
          <a:xfrm>
            <a:off x="7635240" y="5568696"/>
            <a:ext cx="3977640" cy="566928"/>
          </a:xfrm>
          <a:prstGeom prst="rect">
            <a:avLst/>
          </a:prstGeom>
          <a:noFill/>
          <a:ln/>
        </p:spPr>
        <p:txBody>
          <a:bodyPr wrap="square" lIns="0" tIns="0" rIns="0" bIns="0" rtlCol="0" anchor="t"/>
          <a:lstStyle/>
          <a:p>
            <a:pPr marL="0" indent="0">
              <a:buNone/>
            </a:pPr>
            <a:r>
              <a:rPr lang="en-US" sz="1300" dirty="0">
                <a:solidFill>
                  <a:schemeClr val="tx2"/>
                </a:solidFill>
              </a:rPr>
              <a:t>Fast on-chip scratchpad that threads in a block share; the key to fast kernels like FlashAttention.</a:t>
            </a:r>
            <a:endParaRPr lang="en-US" sz="1300" dirty="0"/>
          </a:p>
        </p:txBody>
      </p:sp>
      <p:sp>
        <p:nvSpPr>
          <p:cNvPr id="41"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Three kinds of cores: CUDA, Tensor and RT</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Specialized units do specialized work; for AI, Tensor Cores do most of the heavy lifting</a:t>
            </a:r>
            <a:endParaRPr lang="en-US" sz="1600" dirty="0"/>
          </a:p>
        </p:txBody>
      </p:sp>
      <p:sp>
        <p:nvSpPr>
          <p:cNvPr id="4" name="Shape 2"/>
          <p:cNvSpPr/>
          <p:nvPr/>
        </p:nvSpPr>
        <p:spPr>
          <a:xfrm>
            <a:off x="548640" y="1600200"/>
            <a:ext cx="3566160" cy="4572000"/>
          </a:xfrm>
          <a:prstGeom prst="roundRect">
            <a:avLst>
              <a:gd name="adj" fmla="val 2051"/>
            </a:avLst>
          </a:prstGeom>
          <a:solidFill>
            <a:schemeClr val="bg2"/>
          </a:solidFill>
          <a:ln/>
        </p:spPr>
        <p:txBody>
          <a:bodyPr/>
          <a:lstStyle/>
          <a:p>
            <a:endParaRPr lang="en-US"/>
          </a:p>
        </p:txBody>
      </p:sp>
      <p:sp>
        <p:nvSpPr>
          <p:cNvPr id="5" name="Shape 3"/>
          <p:cNvSpPr/>
          <p:nvPr/>
        </p:nvSpPr>
        <p:spPr>
          <a:xfrm>
            <a:off x="777240" y="1783080"/>
            <a:ext cx="594360" cy="594360"/>
          </a:xfrm>
          <a:prstGeom prst="ellipse">
            <a:avLst/>
          </a:prstGeom>
          <a:solidFill>
            <a:schemeClr val="accent5"/>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07999" y="1913839"/>
            <a:ext cx="332842" cy="332842"/>
          </a:xfrm>
          <a:prstGeom prst="rect">
            <a:avLst/>
          </a:prstGeom>
        </p:spPr>
      </p:pic>
      <p:sp>
        <p:nvSpPr>
          <p:cNvPr id="7" name="Text 4"/>
          <p:cNvSpPr txBox="1"/>
          <p:nvPr/>
        </p:nvSpPr>
        <p:spPr>
          <a:xfrm>
            <a:off x="1508760" y="1783080"/>
            <a:ext cx="2468880" cy="347472"/>
          </a:xfrm>
          <a:prstGeom prst="rect">
            <a:avLst/>
          </a:prstGeom>
          <a:noFill/>
          <a:ln/>
        </p:spPr>
        <p:txBody>
          <a:bodyPr wrap="square" lIns="0" tIns="0" rIns="0" bIns="0" rtlCol="0" anchor="t"/>
          <a:lstStyle/>
          <a:p>
            <a:pPr marL="0" indent="0">
              <a:buNone/>
            </a:pPr>
            <a:r>
              <a:rPr lang="en-US" sz="2000" b="1" dirty="0">
                <a:solidFill>
                  <a:schemeClr val="tx1"/>
                </a:solidFill>
              </a:rPr>
              <a:t>CUDA cores</a:t>
            </a:r>
            <a:endParaRPr lang="en-US" sz="2000" dirty="0"/>
          </a:p>
        </p:txBody>
      </p:sp>
      <p:sp>
        <p:nvSpPr>
          <p:cNvPr id="8" name="Text 5"/>
          <p:cNvSpPr txBox="1"/>
          <p:nvPr/>
        </p:nvSpPr>
        <p:spPr>
          <a:xfrm>
            <a:off x="1508760" y="2130552"/>
            <a:ext cx="2514600" cy="320040"/>
          </a:xfrm>
          <a:prstGeom prst="rect">
            <a:avLst/>
          </a:prstGeom>
          <a:noFill/>
          <a:ln/>
        </p:spPr>
        <p:txBody>
          <a:bodyPr wrap="square" lIns="0" tIns="0" rIns="0" bIns="0" rtlCol="0" anchor="t"/>
          <a:lstStyle/>
          <a:p>
            <a:pPr marL="0" indent="0">
              <a:buNone/>
            </a:pPr>
            <a:r>
              <a:rPr lang="en-US" sz="1300" b="1" dirty="0">
                <a:solidFill>
                  <a:schemeClr val="accent2"/>
                </a:solidFill>
              </a:rPr>
              <a:t>General-purpose parallel maths</a:t>
            </a:r>
            <a:endParaRPr lang="en-US" sz="1300" dirty="0"/>
          </a:p>
        </p:txBody>
      </p:sp>
      <p:sp>
        <p:nvSpPr>
          <p:cNvPr id="9" name="Text 6"/>
          <p:cNvSpPr txBox="1"/>
          <p:nvPr/>
        </p:nvSpPr>
        <p:spPr>
          <a:xfrm>
            <a:off x="777240" y="2651760"/>
            <a:ext cx="3154680" cy="2697480"/>
          </a:xfrm>
          <a:prstGeom prst="rect">
            <a:avLst/>
          </a:prstGeom>
          <a:noFill/>
          <a:ln/>
        </p:spPr>
        <p:txBody>
          <a:bodyPr wrap="square" lIns="0" tIns="0" rIns="0" bIns="0" rtlCol="0" anchor="t"/>
          <a:lstStyle/>
          <a:p>
            <a:pPr marL="342900" indent="-342900">
              <a:spcAft>
                <a:spcPts val="800"/>
              </a:spcAft>
              <a:buSzPct val="100000"/>
              <a:buChar char="•"/>
            </a:pPr>
            <a:r>
              <a:rPr lang="en-US" sz="1400" b="1" dirty="0">
                <a:solidFill>
                  <a:schemeClr val="tx2"/>
                </a:solidFill>
              </a:rPr>
              <a:t>Operation: </a:t>
            </a:r>
            <a:r>
              <a:rPr lang="en-US" sz="1400" dirty="0">
                <a:solidFill>
                  <a:schemeClr val="tx2"/>
                </a:solidFill>
              </a:rPr>
              <a:t>one scalar FP32/INT32/FP64 operation per clock</a:t>
            </a:r>
            <a:endParaRPr lang="en-US" sz="1400" dirty="0"/>
          </a:p>
          <a:p>
            <a:pPr marL="342900" indent="-342900">
              <a:spcAft>
                <a:spcPts val="800"/>
              </a:spcAft>
              <a:buSzPct val="100000"/>
              <a:buChar char="•"/>
            </a:pPr>
            <a:r>
              <a:rPr lang="en-US" sz="1400" b="1" dirty="0">
                <a:solidFill>
                  <a:schemeClr val="tx2"/>
                </a:solidFill>
              </a:rPr>
              <a:t>AI role: </a:t>
            </a:r>
            <a:r>
              <a:rPr lang="en-US" sz="1400" dirty="0">
                <a:solidFill>
                  <a:schemeClr val="tx2"/>
                </a:solidFill>
              </a:rPr>
              <a:t>activations, normalization, data preparation, custom kernels</a:t>
            </a:r>
            <a:endParaRPr lang="en-US" sz="1400" dirty="0"/>
          </a:p>
          <a:p>
            <a:pPr marL="342900" indent="-342900">
              <a:spcAft>
                <a:spcPts val="800"/>
              </a:spcAft>
              <a:buSzPct val="100000"/>
              <a:buChar char="•"/>
            </a:pPr>
            <a:r>
              <a:rPr lang="en-US" sz="1400" b="1" dirty="0">
                <a:solidFill>
                  <a:schemeClr val="tx2"/>
                </a:solidFill>
              </a:rPr>
              <a:t>Also used for: </a:t>
            </a:r>
            <a:r>
              <a:rPr lang="en-US" sz="1400" dirty="0">
                <a:solidFill>
                  <a:schemeClr val="tx2"/>
                </a:solidFill>
              </a:rPr>
              <a:t>HPC simulation (FP64), graphics shading</a:t>
            </a:r>
            <a:endParaRPr lang="en-US" sz="1400" dirty="0"/>
          </a:p>
        </p:txBody>
      </p:sp>
      <p:sp>
        <p:nvSpPr>
          <p:cNvPr id="10" name="Text 7"/>
          <p:cNvSpPr/>
          <p:nvPr/>
        </p:nvSpPr>
        <p:spPr>
          <a:xfrm>
            <a:off x="777240" y="5486400"/>
            <a:ext cx="3108960" cy="457200"/>
          </a:xfrm>
          <a:prstGeom prst="roundRect">
            <a:avLst>
              <a:gd name="adj" fmla="val 10000"/>
            </a:avLst>
          </a:prstGeom>
          <a:solidFill>
            <a:schemeClr val="tx2"/>
          </a:solidFill>
          <a:ln/>
        </p:spPr>
        <p:txBody>
          <a:bodyPr wrap="square" lIns="381" tIns="381" rIns="381" bIns="381" rtlCol="0" anchor="ctr"/>
          <a:lstStyle/>
          <a:p>
            <a:pPr marL="0" indent="0" algn="ctr">
              <a:buNone/>
            </a:pPr>
            <a:r>
              <a:rPr lang="en-US" sz="1300" b="1" dirty="0">
                <a:solidFill>
                  <a:schemeClr val="bg1"/>
                </a:solidFill>
              </a:rPr>
              <a:t>H100 SXM: 16,896 FP32 cores</a:t>
            </a:r>
            <a:endParaRPr lang="en-US" sz="1300" dirty="0"/>
          </a:p>
        </p:txBody>
      </p:sp>
      <p:sp>
        <p:nvSpPr>
          <p:cNvPr id="11" name="Shape 8"/>
          <p:cNvSpPr/>
          <p:nvPr/>
        </p:nvSpPr>
        <p:spPr>
          <a:xfrm>
            <a:off x="4297680" y="1600200"/>
            <a:ext cx="3566160" cy="4572000"/>
          </a:xfrm>
          <a:prstGeom prst="roundRect">
            <a:avLst>
              <a:gd name="adj" fmla="val 2051"/>
            </a:avLst>
          </a:prstGeom>
          <a:solidFill>
            <a:schemeClr val="bg2"/>
          </a:solidFill>
          <a:ln/>
        </p:spPr>
        <p:txBody>
          <a:bodyPr/>
          <a:lstStyle/>
          <a:p>
            <a:endParaRPr lang="en-US"/>
          </a:p>
        </p:txBody>
      </p:sp>
      <p:sp>
        <p:nvSpPr>
          <p:cNvPr id="12" name="Shape 9"/>
          <p:cNvSpPr/>
          <p:nvPr/>
        </p:nvSpPr>
        <p:spPr>
          <a:xfrm>
            <a:off x="4526280" y="1783080"/>
            <a:ext cx="594360" cy="594360"/>
          </a:xfrm>
          <a:prstGeom prst="ellipse">
            <a:avLst/>
          </a:prstGeom>
          <a:solidFill>
            <a:schemeClr val="accent1"/>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4657039" y="1913839"/>
            <a:ext cx="332842" cy="332842"/>
          </a:xfrm>
          <a:prstGeom prst="rect">
            <a:avLst/>
          </a:prstGeom>
        </p:spPr>
      </p:pic>
      <p:sp>
        <p:nvSpPr>
          <p:cNvPr id="14" name="Text 10"/>
          <p:cNvSpPr txBox="1"/>
          <p:nvPr/>
        </p:nvSpPr>
        <p:spPr>
          <a:xfrm>
            <a:off x="5257800" y="1783080"/>
            <a:ext cx="2468880" cy="347472"/>
          </a:xfrm>
          <a:prstGeom prst="rect">
            <a:avLst/>
          </a:prstGeom>
          <a:noFill/>
          <a:ln/>
        </p:spPr>
        <p:txBody>
          <a:bodyPr wrap="square" lIns="0" tIns="0" rIns="0" bIns="0" rtlCol="0" anchor="t"/>
          <a:lstStyle/>
          <a:p>
            <a:pPr marL="0" indent="0">
              <a:buNone/>
            </a:pPr>
            <a:r>
              <a:rPr lang="en-US" sz="2000" b="1" dirty="0">
                <a:solidFill>
                  <a:schemeClr val="tx1"/>
                </a:solidFill>
              </a:rPr>
              <a:t>Tensor Cores</a:t>
            </a:r>
            <a:endParaRPr lang="en-US" sz="2000" dirty="0"/>
          </a:p>
        </p:txBody>
      </p:sp>
      <p:sp>
        <p:nvSpPr>
          <p:cNvPr id="15" name="Text 11"/>
          <p:cNvSpPr txBox="1"/>
          <p:nvPr/>
        </p:nvSpPr>
        <p:spPr>
          <a:xfrm>
            <a:off x="5257800" y="2130552"/>
            <a:ext cx="2514600" cy="320040"/>
          </a:xfrm>
          <a:prstGeom prst="rect">
            <a:avLst/>
          </a:prstGeom>
          <a:noFill/>
          <a:ln/>
        </p:spPr>
        <p:txBody>
          <a:bodyPr wrap="square" lIns="0" tIns="0" rIns="0" bIns="0" rtlCol="0" anchor="t"/>
          <a:lstStyle/>
          <a:p>
            <a:pPr marL="0" indent="0">
              <a:buNone/>
            </a:pPr>
            <a:r>
              <a:rPr lang="en-US" sz="1300" b="1" dirty="0">
                <a:solidFill>
                  <a:schemeClr val="accent2"/>
                </a:solidFill>
              </a:rPr>
              <a:t>Dense matrix multiply-accumulate</a:t>
            </a:r>
            <a:endParaRPr lang="en-US" sz="1300" dirty="0"/>
          </a:p>
        </p:txBody>
      </p:sp>
      <p:sp>
        <p:nvSpPr>
          <p:cNvPr id="16" name="Text 12"/>
          <p:cNvSpPr txBox="1"/>
          <p:nvPr/>
        </p:nvSpPr>
        <p:spPr>
          <a:xfrm>
            <a:off x="4526280" y="2651760"/>
            <a:ext cx="3154680" cy="2697480"/>
          </a:xfrm>
          <a:prstGeom prst="rect">
            <a:avLst/>
          </a:prstGeom>
          <a:noFill/>
          <a:ln/>
        </p:spPr>
        <p:txBody>
          <a:bodyPr wrap="square" lIns="0" tIns="0" rIns="0" bIns="0" rtlCol="0" anchor="t"/>
          <a:lstStyle/>
          <a:p>
            <a:pPr marL="342900" indent="-342900">
              <a:spcAft>
                <a:spcPts val="800"/>
              </a:spcAft>
              <a:buSzPct val="100000"/>
              <a:buChar char="•"/>
            </a:pPr>
            <a:r>
              <a:rPr lang="en-US" sz="1400" b="1" dirty="0">
                <a:solidFill>
                  <a:schemeClr val="tx2"/>
                </a:solidFill>
              </a:rPr>
              <a:t>Operation: </a:t>
            </a:r>
            <a:r>
              <a:rPr lang="en-US" sz="1400" dirty="0">
                <a:solidFill>
                  <a:schemeClr val="tx2"/>
                </a:solidFill>
              </a:rPr>
              <a:t>a whole small matrix multiply-accumulate per instruction</a:t>
            </a:r>
            <a:endParaRPr lang="en-US" sz="1400" dirty="0"/>
          </a:p>
          <a:p>
            <a:pPr marL="342900" indent="-342900">
              <a:spcAft>
                <a:spcPts val="800"/>
              </a:spcAft>
              <a:buSzPct val="100000"/>
              <a:buChar char="•"/>
            </a:pPr>
            <a:r>
              <a:rPr lang="en-US" sz="1400" b="1" dirty="0">
                <a:solidFill>
                  <a:schemeClr val="tx2"/>
                </a:solidFill>
              </a:rPr>
              <a:t>AI role: </a:t>
            </a:r>
            <a:r>
              <a:rPr lang="en-US" sz="1400" dirty="0">
                <a:solidFill>
                  <a:schemeClr val="tx2"/>
                </a:solidFill>
              </a:rPr>
              <a:t>the matrix multiplications in training and inference</a:t>
            </a:r>
            <a:endParaRPr lang="en-US" sz="1400" dirty="0"/>
          </a:p>
          <a:p>
            <a:pPr marL="342900" indent="-342900">
              <a:spcAft>
                <a:spcPts val="800"/>
              </a:spcAft>
              <a:buSzPct val="100000"/>
              <a:buChar char="•"/>
            </a:pPr>
            <a:r>
              <a:rPr lang="en-US" sz="1400" b="1" dirty="0">
                <a:solidFill>
                  <a:schemeClr val="tx2"/>
                </a:solidFill>
              </a:rPr>
              <a:t>Precisions: </a:t>
            </a:r>
            <a:r>
              <a:rPr lang="en-US" sz="1400" dirty="0">
                <a:solidFill>
                  <a:schemeClr val="tx2"/>
                </a:solidFill>
              </a:rPr>
              <a:t>FP64, TF32, BF16, FP16, FP8, INT8, FP6, FP4 (varies by generation)</a:t>
            </a:r>
            <a:endParaRPr lang="en-US" sz="1400" dirty="0"/>
          </a:p>
        </p:txBody>
      </p:sp>
      <p:sp>
        <p:nvSpPr>
          <p:cNvPr id="17" name="Text 13"/>
          <p:cNvSpPr/>
          <p:nvPr/>
        </p:nvSpPr>
        <p:spPr>
          <a:xfrm>
            <a:off x="4526280" y="5486400"/>
            <a:ext cx="3108960" cy="457200"/>
          </a:xfrm>
          <a:prstGeom prst="roundRect">
            <a:avLst>
              <a:gd name="adj" fmla="val 10000"/>
            </a:avLst>
          </a:prstGeom>
          <a:solidFill>
            <a:schemeClr val="accent1"/>
          </a:solidFill>
          <a:ln/>
        </p:spPr>
        <p:txBody>
          <a:bodyPr wrap="square" lIns="381" tIns="381" rIns="381" bIns="381" rtlCol="0" anchor="ctr"/>
          <a:lstStyle/>
          <a:p>
            <a:pPr marL="0" indent="0" algn="ctr">
              <a:buNone/>
            </a:pPr>
            <a:r>
              <a:rPr lang="en-US" sz="1300" b="1" dirty="0">
                <a:solidFill>
                  <a:schemeClr val="tx1"/>
                </a:solidFill>
              </a:rPr>
              <a:t>H100 SXM: 528 Tensor Cores</a:t>
            </a:r>
            <a:endParaRPr lang="en-US" sz="1300" dirty="0"/>
          </a:p>
        </p:txBody>
      </p:sp>
      <p:sp>
        <p:nvSpPr>
          <p:cNvPr id="18" name="Shape 14"/>
          <p:cNvSpPr/>
          <p:nvPr/>
        </p:nvSpPr>
        <p:spPr>
          <a:xfrm>
            <a:off x="8046720" y="1600200"/>
            <a:ext cx="3566160" cy="4572000"/>
          </a:xfrm>
          <a:prstGeom prst="roundRect">
            <a:avLst>
              <a:gd name="adj" fmla="val 2051"/>
            </a:avLst>
          </a:prstGeom>
          <a:solidFill>
            <a:schemeClr val="bg2"/>
          </a:solidFill>
          <a:ln/>
        </p:spPr>
        <p:txBody>
          <a:bodyPr/>
          <a:lstStyle/>
          <a:p>
            <a:endParaRPr lang="en-US"/>
          </a:p>
        </p:txBody>
      </p:sp>
      <p:sp>
        <p:nvSpPr>
          <p:cNvPr id="19" name="Shape 15"/>
          <p:cNvSpPr/>
          <p:nvPr/>
        </p:nvSpPr>
        <p:spPr>
          <a:xfrm>
            <a:off x="8275320" y="1783080"/>
            <a:ext cx="594360" cy="594360"/>
          </a:xfrm>
          <a:prstGeom prst="ellipse">
            <a:avLst/>
          </a:prstGeom>
          <a:solidFill>
            <a:schemeClr val="accent5"/>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8406079" y="1913839"/>
            <a:ext cx="332842" cy="332842"/>
          </a:xfrm>
          <a:prstGeom prst="rect">
            <a:avLst/>
          </a:prstGeom>
        </p:spPr>
      </p:pic>
      <p:sp>
        <p:nvSpPr>
          <p:cNvPr id="21" name="Text 16"/>
          <p:cNvSpPr txBox="1"/>
          <p:nvPr/>
        </p:nvSpPr>
        <p:spPr>
          <a:xfrm>
            <a:off x="9006840" y="1783080"/>
            <a:ext cx="2468880" cy="347472"/>
          </a:xfrm>
          <a:prstGeom prst="rect">
            <a:avLst/>
          </a:prstGeom>
          <a:noFill/>
          <a:ln/>
        </p:spPr>
        <p:txBody>
          <a:bodyPr wrap="square" lIns="0" tIns="0" rIns="0" bIns="0" rtlCol="0" anchor="t"/>
          <a:lstStyle/>
          <a:p>
            <a:pPr marL="0" indent="0">
              <a:buNone/>
            </a:pPr>
            <a:r>
              <a:rPr lang="en-US" sz="2000" b="1" dirty="0">
                <a:solidFill>
                  <a:schemeClr val="tx1"/>
                </a:solidFill>
              </a:rPr>
              <a:t>RT cores</a:t>
            </a:r>
            <a:endParaRPr lang="en-US" sz="2000" dirty="0"/>
          </a:p>
        </p:txBody>
      </p:sp>
      <p:sp>
        <p:nvSpPr>
          <p:cNvPr id="22" name="Text 17"/>
          <p:cNvSpPr txBox="1"/>
          <p:nvPr/>
        </p:nvSpPr>
        <p:spPr>
          <a:xfrm>
            <a:off x="9006840" y="2130552"/>
            <a:ext cx="2514600" cy="320040"/>
          </a:xfrm>
          <a:prstGeom prst="rect">
            <a:avLst/>
          </a:prstGeom>
          <a:noFill/>
          <a:ln/>
        </p:spPr>
        <p:txBody>
          <a:bodyPr wrap="square" lIns="0" tIns="0" rIns="0" bIns="0" rtlCol="0" anchor="t"/>
          <a:lstStyle/>
          <a:p>
            <a:pPr marL="0" indent="0">
              <a:buNone/>
            </a:pPr>
            <a:r>
              <a:rPr lang="en-US" sz="1300" b="1" dirty="0">
                <a:solidFill>
                  <a:schemeClr val="accent2"/>
                </a:solidFill>
              </a:rPr>
              <a:t>Ray-tracing acceleration</a:t>
            </a:r>
            <a:endParaRPr lang="en-US" sz="1300" dirty="0"/>
          </a:p>
        </p:txBody>
      </p:sp>
      <p:sp>
        <p:nvSpPr>
          <p:cNvPr id="23" name="Text 18"/>
          <p:cNvSpPr txBox="1"/>
          <p:nvPr/>
        </p:nvSpPr>
        <p:spPr>
          <a:xfrm>
            <a:off x="8275320" y="2651760"/>
            <a:ext cx="3154680" cy="2697480"/>
          </a:xfrm>
          <a:prstGeom prst="rect">
            <a:avLst/>
          </a:prstGeom>
          <a:noFill/>
          <a:ln/>
        </p:spPr>
        <p:txBody>
          <a:bodyPr wrap="square" lIns="0" tIns="0" rIns="0" bIns="0" rtlCol="0" anchor="t"/>
          <a:lstStyle/>
          <a:p>
            <a:pPr marL="342900" indent="-342900">
              <a:spcAft>
                <a:spcPts val="800"/>
              </a:spcAft>
              <a:buSzPct val="100000"/>
              <a:buChar char="•"/>
            </a:pPr>
            <a:r>
              <a:rPr lang="en-US" sz="1400" b="1" dirty="0">
                <a:solidFill>
                  <a:schemeClr val="tx2"/>
                </a:solidFill>
              </a:rPr>
              <a:t>Operation: </a:t>
            </a:r>
            <a:r>
              <a:rPr lang="en-US" sz="1400" dirty="0">
                <a:solidFill>
                  <a:schemeClr val="tx2"/>
                </a:solidFill>
              </a:rPr>
              <a:t>ray / triangle intersection and BVH traversal</a:t>
            </a:r>
            <a:endParaRPr lang="en-US" sz="1400" dirty="0"/>
          </a:p>
          <a:p>
            <a:pPr marL="342900" indent="-342900">
              <a:spcAft>
                <a:spcPts val="800"/>
              </a:spcAft>
              <a:buSzPct val="100000"/>
              <a:buChar char="•"/>
            </a:pPr>
            <a:r>
              <a:rPr lang="en-US" sz="1400" b="1" dirty="0">
                <a:solidFill>
                  <a:schemeClr val="tx2"/>
                </a:solidFill>
              </a:rPr>
              <a:t>AI role: </a:t>
            </a:r>
            <a:r>
              <a:rPr lang="en-US" sz="1400" dirty="0">
                <a:solidFill>
                  <a:schemeClr val="tx2"/>
                </a:solidFill>
              </a:rPr>
              <a:t>none directly; used for rendering, simulation and digital twins</a:t>
            </a:r>
            <a:endParaRPr lang="en-US" sz="1400" dirty="0"/>
          </a:p>
          <a:p>
            <a:pPr marL="342900" indent="-342900">
              <a:spcAft>
                <a:spcPts val="800"/>
              </a:spcAft>
              <a:buSzPct val="100000"/>
              <a:buChar char="•"/>
            </a:pPr>
            <a:r>
              <a:rPr lang="en-US" sz="1400" b="1" dirty="0">
                <a:solidFill>
                  <a:schemeClr val="tx2"/>
                </a:solidFill>
              </a:rPr>
              <a:t>Found in: </a:t>
            </a:r>
            <a:r>
              <a:rPr lang="en-US" sz="1400" dirty="0">
                <a:solidFill>
                  <a:schemeClr val="tx2"/>
                </a:solidFill>
              </a:rPr>
              <a:t>RTX, L40S, L4; not in H100, H200 or B200</a:t>
            </a:r>
            <a:endParaRPr lang="en-US" sz="1400" dirty="0"/>
          </a:p>
        </p:txBody>
      </p:sp>
      <p:sp>
        <p:nvSpPr>
          <p:cNvPr id="24" name="Text 19"/>
          <p:cNvSpPr/>
          <p:nvPr/>
        </p:nvSpPr>
        <p:spPr>
          <a:xfrm>
            <a:off x="8275320" y="5486400"/>
            <a:ext cx="3108960" cy="457200"/>
          </a:xfrm>
          <a:prstGeom prst="roundRect">
            <a:avLst>
              <a:gd name="adj" fmla="val 10000"/>
            </a:avLst>
          </a:prstGeom>
          <a:solidFill>
            <a:schemeClr val="tx2"/>
          </a:solidFill>
          <a:ln/>
        </p:spPr>
        <p:txBody>
          <a:bodyPr wrap="square" lIns="381" tIns="381" rIns="381" bIns="381" rtlCol="0" anchor="ctr"/>
          <a:lstStyle/>
          <a:p>
            <a:pPr marL="0" indent="0" algn="ctr">
              <a:buNone/>
            </a:pPr>
            <a:r>
              <a:rPr lang="en-US" sz="1300" b="1" dirty="0">
                <a:solidFill>
                  <a:schemeClr val="bg1"/>
                </a:solidFill>
              </a:rPr>
              <a:t>L40S: 142 3rd-gen RT cores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Tensor Core generations and number formats</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Each generation adds lower-precision formats, which roughly doubles throughput and halves memory per value</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7589520" cy="3401568"/>
        </p:xfrm>
        <a:graphic>
          <a:graphicData uri="http://schemas.openxmlformats.org/drawingml/2006/table">
            <a:tbl>
              <a:tblPr/>
              <a:tblGrid>
                <a:gridCol w="173736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566928">
                <a:tc>
                  <a:txBody>
                    <a:bodyPr/>
                    <a:lstStyle/>
                    <a:p>
                      <a:pPr marL="0" indent="0">
                        <a:buNone/>
                      </a:pPr>
                      <a:r>
                        <a:rPr lang="en-US" sz="1300" b="1" dirty="0">
                          <a:solidFill>
                            <a:schemeClr val="bg1"/>
                          </a:solidFill>
                        </a:rPr>
                        <a:t>Architecture (year)</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tx1"/>
                    </a:solidFill>
                  </a:tcPr>
                </a:tc>
                <a:tc>
                  <a:txBody>
                    <a:bodyPr/>
                    <a:lstStyle/>
                    <a:p>
                      <a:pPr marL="0" indent="0">
                        <a:buNone/>
                      </a:pPr>
                      <a:r>
                        <a:rPr lang="en-US" sz="1300" b="1" dirty="0">
                          <a:solidFill>
                            <a:schemeClr val="bg1"/>
                          </a:solidFill>
                        </a:rPr>
                        <a:t>Tensor Core gen</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tx1"/>
                    </a:solidFill>
                  </a:tcPr>
                </a:tc>
                <a:tc>
                  <a:txBody>
                    <a:bodyPr/>
                    <a:lstStyle/>
                    <a:p>
                      <a:pPr marL="0" indent="0">
                        <a:buNone/>
                      </a:pPr>
                      <a:r>
                        <a:rPr lang="en-US" sz="1300" b="1" dirty="0">
                          <a:solidFill>
                            <a:schemeClr val="bg1"/>
                          </a:solidFill>
                        </a:rPr>
                        <a:t>Formats added</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tx1"/>
                    </a:solidFill>
                  </a:tcPr>
                </a:tc>
                <a:tc>
                  <a:txBody>
                    <a:bodyPr/>
                    <a:lstStyle/>
                    <a:p>
                      <a:pPr marL="0" indent="0">
                        <a:buNone/>
                      </a:pPr>
                      <a:r>
                        <a:rPr lang="en-US" sz="1300" b="1" dirty="0">
                          <a:solidFill>
                            <a:schemeClr val="bg1"/>
                          </a:solidFill>
                        </a:rPr>
                        <a:t>What it enabled</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566928">
                <a:tc>
                  <a:txBody>
                    <a:bodyPr/>
                    <a:lstStyle/>
                    <a:p>
                      <a:pPr marL="0" indent="0">
                        <a:buNone/>
                      </a:pPr>
                      <a:r>
                        <a:rPr lang="en-US" sz="1300" b="1" dirty="0">
                          <a:solidFill>
                            <a:schemeClr val="tx1"/>
                          </a:solidFill>
                        </a:rPr>
                        <a:t>Volta (2017)</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1st</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FP16 with FP32 accumulate</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Mixed-precision training became mainstream</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66928">
                <a:tc>
                  <a:txBody>
                    <a:bodyPr/>
                    <a:lstStyle/>
                    <a:p>
                      <a:pPr marL="0" indent="0">
                        <a:buNone/>
                      </a:pPr>
                      <a:r>
                        <a:rPr lang="en-US" sz="1300" b="1" dirty="0">
                          <a:solidFill>
                            <a:schemeClr val="tx1"/>
                          </a:solidFill>
                        </a:rPr>
                        <a:t>Turing (2018)</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2nd</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INT8, INT4</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Low-cost, high-throughput inference (T4)</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66928">
                <a:tc>
                  <a:txBody>
                    <a:bodyPr/>
                    <a:lstStyle/>
                    <a:p>
                      <a:pPr marL="0" indent="0">
                        <a:buNone/>
                      </a:pPr>
                      <a:r>
                        <a:rPr lang="en-US" sz="1300" b="1" dirty="0">
                          <a:solidFill>
                            <a:schemeClr val="tx1"/>
                          </a:solidFill>
                        </a:rPr>
                        <a:t>Ampere (2020)</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3rd</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TF32, BF16, FP64, 2:4 sparsity</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FP32-like training with no code change (TF32)</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66928">
                <a:tc>
                  <a:txBody>
                    <a:bodyPr/>
                    <a:lstStyle/>
                    <a:p>
                      <a:pPr marL="0" indent="0">
                        <a:buNone/>
                      </a:pPr>
                      <a:r>
                        <a:rPr lang="en-US" sz="1300" b="1" dirty="0">
                          <a:solidFill>
                            <a:schemeClr val="tx1"/>
                          </a:solidFill>
                        </a:rPr>
                        <a:t>Hopper (2022)</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4th</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FP8 (E4M3 / E5M2), Transformer Engine</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FP8 training and inference for transformers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66928">
                <a:tc>
                  <a:txBody>
                    <a:bodyPr/>
                    <a:lstStyle/>
                    <a:p>
                      <a:pPr marL="0" indent="0">
                        <a:buNone/>
                      </a:pPr>
                      <a:r>
                        <a:rPr lang="en-US" sz="1300" b="1" dirty="0">
                          <a:solidFill>
                            <a:schemeClr val="tx1"/>
                          </a:solidFill>
                        </a:rPr>
                        <a:t>Blackwell (2024)</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5th</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FP6, FP4, MXFP microscaling, NVFP4</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4-bit inference, 2nd-generation Transformer Engine</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5" name="Shape 2"/>
          <p:cNvSpPr/>
          <p:nvPr/>
        </p:nvSpPr>
        <p:spPr>
          <a:xfrm>
            <a:off x="8412480" y="1600200"/>
            <a:ext cx="3200400" cy="4572000"/>
          </a:xfrm>
          <a:prstGeom prst="roundRect">
            <a:avLst>
              <a:gd name="adj" fmla="val 2286"/>
            </a:avLst>
          </a:prstGeom>
          <a:solidFill>
            <a:schemeClr val="tx1"/>
          </a:solidFill>
          <a:ln/>
        </p:spPr>
        <p:txBody>
          <a:bodyPr/>
          <a:lstStyle/>
          <a:p>
            <a:endParaRPr lang="en-US"/>
          </a:p>
        </p:txBody>
      </p:sp>
      <p:sp>
        <p:nvSpPr>
          <p:cNvPr id="6" name="Text 3"/>
          <p:cNvSpPr txBox="1"/>
          <p:nvPr/>
        </p:nvSpPr>
        <p:spPr>
          <a:xfrm>
            <a:off x="8641080" y="1783080"/>
            <a:ext cx="2834640" cy="365760"/>
          </a:xfrm>
          <a:prstGeom prst="rect">
            <a:avLst/>
          </a:prstGeom>
          <a:noFill/>
          <a:ln/>
        </p:spPr>
        <p:txBody>
          <a:bodyPr wrap="square" lIns="0" tIns="0" rIns="0" bIns="0" rtlCol="0" anchor="t"/>
          <a:lstStyle/>
          <a:p>
            <a:pPr marL="0" indent="0">
              <a:buNone/>
            </a:pPr>
            <a:r>
              <a:rPr lang="en-US" sz="1700" b="1" dirty="0">
                <a:solidFill>
                  <a:schemeClr val="accent1"/>
                </a:solidFill>
              </a:rPr>
              <a:t>Why lower precision?</a:t>
            </a:r>
            <a:endParaRPr lang="en-US" sz="1700" dirty="0"/>
          </a:p>
        </p:txBody>
      </p:sp>
      <p:sp>
        <p:nvSpPr>
          <p:cNvPr id="7" name="Text 4"/>
          <p:cNvSpPr txBox="1"/>
          <p:nvPr/>
        </p:nvSpPr>
        <p:spPr>
          <a:xfrm>
            <a:off x="8641080" y="2286000"/>
            <a:ext cx="731520" cy="320040"/>
          </a:xfrm>
          <a:prstGeom prst="rect">
            <a:avLst/>
          </a:prstGeom>
          <a:noFill/>
          <a:ln/>
        </p:spPr>
        <p:txBody>
          <a:bodyPr wrap="square" lIns="0" tIns="0" rIns="0" bIns="0" rtlCol="0" anchor="ctr"/>
          <a:lstStyle/>
          <a:p>
            <a:pPr marL="0" indent="0">
              <a:buNone/>
            </a:pPr>
            <a:r>
              <a:rPr lang="en-US" sz="1300" b="1" dirty="0">
                <a:solidFill>
                  <a:schemeClr val="bg1"/>
                </a:solidFill>
              </a:rPr>
              <a:t>FP32</a:t>
            </a:r>
            <a:endParaRPr lang="en-US" sz="1300" dirty="0"/>
          </a:p>
        </p:txBody>
      </p:sp>
      <p:sp>
        <p:nvSpPr>
          <p:cNvPr id="8" name="Shape 5"/>
          <p:cNvSpPr/>
          <p:nvPr/>
        </p:nvSpPr>
        <p:spPr>
          <a:xfrm>
            <a:off x="9418320" y="2340864"/>
            <a:ext cx="2011680" cy="228600"/>
          </a:xfrm>
          <a:prstGeom prst="rect">
            <a:avLst/>
          </a:prstGeom>
          <a:solidFill>
            <a:schemeClr val="accent1"/>
          </a:solidFill>
          <a:ln/>
        </p:spPr>
        <p:txBody>
          <a:bodyPr/>
          <a:lstStyle/>
          <a:p>
            <a:endParaRPr lang="en-US"/>
          </a:p>
        </p:txBody>
      </p:sp>
      <p:sp>
        <p:nvSpPr>
          <p:cNvPr id="9" name="Text 6"/>
          <p:cNvSpPr txBox="1"/>
          <p:nvPr/>
        </p:nvSpPr>
        <p:spPr>
          <a:xfrm>
            <a:off x="8641080" y="2743200"/>
            <a:ext cx="731520" cy="320040"/>
          </a:xfrm>
          <a:prstGeom prst="rect">
            <a:avLst/>
          </a:prstGeom>
          <a:noFill/>
          <a:ln/>
        </p:spPr>
        <p:txBody>
          <a:bodyPr wrap="square" lIns="0" tIns="0" rIns="0" bIns="0" rtlCol="0" anchor="ctr"/>
          <a:lstStyle/>
          <a:p>
            <a:pPr marL="0" indent="0">
              <a:buNone/>
            </a:pPr>
            <a:r>
              <a:rPr lang="en-US" sz="1300" b="1" dirty="0">
                <a:solidFill>
                  <a:schemeClr val="bg1"/>
                </a:solidFill>
              </a:rPr>
              <a:t>BF16</a:t>
            </a:r>
            <a:endParaRPr lang="en-US" sz="1300" dirty="0"/>
          </a:p>
        </p:txBody>
      </p:sp>
      <p:sp>
        <p:nvSpPr>
          <p:cNvPr id="4" name="Shape 7"/>
          <p:cNvSpPr/>
          <p:nvPr/>
        </p:nvSpPr>
        <p:spPr>
          <a:xfrm>
            <a:off x="9418320" y="2798064"/>
            <a:ext cx="1005840" cy="228600"/>
          </a:xfrm>
          <a:prstGeom prst="rect">
            <a:avLst/>
          </a:prstGeom>
          <a:solidFill>
            <a:schemeClr val="accent1"/>
          </a:solidFill>
          <a:ln/>
        </p:spPr>
        <p:txBody>
          <a:bodyPr/>
          <a:lstStyle/>
          <a:p>
            <a:endParaRPr lang="en-US"/>
          </a:p>
        </p:txBody>
      </p:sp>
      <p:sp>
        <p:nvSpPr>
          <p:cNvPr id="11" name="Text 8"/>
          <p:cNvSpPr txBox="1"/>
          <p:nvPr/>
        </p:nvSpPr>
        <p:spPr>
          <a:xfrm>
            <a:off x="8641080" y="3200400"/>
            <a:ext cx="731520" cy="320040"/>
          </a:xfrm>
          <a:prstGeom prst="rect">
            <a:avLst/>
          </a:prstGeom>
          <a:noFill/>
          <a:ln/>
        </p:spPr>
        <p:txBody>
          <a:bodyPr wrap="square" lIns="0" tIns="0" rIns="0" bIns="0" rtlCol="0" anchor="ctr"/>
          <a:lstStyle/>
          <a:p>
            <a:pPr marL="0" indent="0">
              <a:buNone/>
            </a:pPr>
            <a:r>
              <a:rPr lang="en-US" sz="1300" b="1" dirty="0">
                <a:solidFill>
                  <a:schemeClr val="bg1"/>
                </a:solidFill>
              </a:rPr>
              <a:t>FP8</a:t>
            </a:r>
            <a:endParaRPr lang="en-US" sz="1300" dirty="0"/>
          </a:p>
        </p:txBody>
      </p:sp>
      <p:sp>
        <p:nvSpPr>
          <p:cNvPr id="12" name="Shape 9"/>
          <p:cNvSpPr/>
          <p:nvPr/>
        </p:nvSpPr>
        <p:spPr>
          <a:xfrm>
            <a:off x="9418320" y="3255264"/>
            <a:ext cx="502920" cy="228600"/>
          </a:xfrm>
          <a:prstGeom prst="rect">
            <a:avLst/>
          </a:prstGeom>
          <a:solidFill>
            <a:schemeClr val="accent1"/>
          </a:solidFill>
          <a:ln/>
        </p:spPr>
        <p:txBody>
          <a:bodyPr/>
          <a:lstStyle/>
          <a:p>
            <a:endParaRPr lang="en-US"/>
          </a:p>
        </p:txBody>
      </p:sp>
      <p:sp>
        <p:nvSpPr>
          <p:cNvPr id="13" name="Text 10"/>
          <p:cNvSpPr txBox="1"/>
          <p:nvPr/>
        </p:nvSpPr>
        <p:spPr>
          <a:xfrm>
            <a:off x="8641080" y="3657600"/>
            <a:ext cx="731520" cy="320040"/>
          </a:xfrm>
          <a:prstGeom prst="rect">
            <a:avLst/>
          </a:prstGeom>
          <a:noFill/>
          <a:ln/>
        </p:spPr>
        <p:txBody>
          <a:bodyPr wrap="square" lIns="0" tIns="0" rIns="0" bIns="0" rtlCol="0" anchor="ctr"/>
          <a:lstStyle/>
          <a:p>
            <a:pPr marL="0" indent="0">
              <a:buNone/>
            </a:pPr>
            <a:r>
              <a:rPr lang="en-US" sz="1300" b="1" dirty="0">
                <a:solidFill>
                  <a:schemeClr val="bg1"/>
                </a:solidFill>
              </a:rPr>
              <a:t>FP4</a:t>
            </a:r>
            <a:endParaRPr lang="en-US" sz="1300" dirty="0"/>
          </a:p>
        </p:txBody>
      </p:sp>
      <p:sp>
        <p:nvSpPr>
          <p:cNvPr id="14" name="Shape 11"/>
          <p:cNvSpPr/>
          <p:nvPr/>
        </p:nvSpPr>
        <p:spPr>
          <a:xfrm>
            <a:off x="9418320" y="3712464"/>
            <a:ext cx="251460" cy="228600"/>
          </a:xfrm>
          <a:prstGeom prst="rect">
            <a:avLst/>
          </a:prstGeom>
          <a:solidFill>
            <a:schemeClr val="accent1"/>
          </a:solidFill>
          <a:ln/>
        </p:spPr>
        <p:txBody>
          <a:bodyPr/>
          <a:lstStyle/>
          <a:p>
            <a:endParaRPr lang="en-US"/>
          </a:p>
        </p:txBody>
      </p:sp>
      <p:sp>
        <p:nvSpPr>
          <p:cNvPr id="15" name="Text 12"/>
          <p:cNvSpPr txBox="1"/>
          <p:nvPr/>
        </p:nvSpPr>
        <p:spPr>
          <a:xfrm>
            <a:off x="8641080" y="4206240"/>
            <a:ext cx="2834640" cy="18745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bg1"/>
                </a:solidFill>
              </a:rPr>
              <a:t>Half the bits = half the memory and bandwidth per value</a:t>
            </a:r>
            <a:endParaRPr lang="en-US" sz="1300" dirty="0"/>
          </a:p>
          <a:p>
            <a:pPr marL="342900" indent="-342900">
              <a:spcAft>
                <a:spcPts val="600"/>
              </a:spcAft>
              <a:buSzPct val="100000"/>
              <a:buChar char="•"/>
            </a:pPr>
            <a:r>
              <a:rPr lang="en-US" sz="1300" dirty="0">
                <a:solidFill>
                  <a:schemeClr val="bg1"/>
                </a:solidFill>
              </a:rPr>
              <a:t>About 2x the Tensor Core throughput</a:t>
            </a:r>
            <a:endParaRPr lang="en-US" sz="1300" dirty="0"/>
          </a:p>
          <a:p>
            <a:pPr marL="342900" indent="-342900">
              <a:spcAft>
                <a:spcPts val="600"/>
              </a:spcAft>
              <a:buSzPct val="100000"/>
              <a:buChar char="•"/>
            </a:pPr>
            <a:r>
              <a:rPr lang="en-US" sz="1300" dirty="0">
                <a:solidFill>
                  <a:schemeClr val="bg1"/>
                </a:solidFill>
              </a:rPr>
              <a:t>Transformer Engine picks FP8 or FP16 per layer to protect accuracy</a:t>
            </a:r>
            <a:endParaRPr lang="en-US" sz="1300" dirty="0"/>
          </a:p>
        </p:txBody>
      </p:sp>
      <p:sp>
        <p:nvSpPr>
          <p:cNvPr id="16" name="Text 13"/>
          <p:cNvSpPr txBox="1"/>
          <p:nvPr/>
        </p:nvSpPr>
        <p:spPr>
          <a:xfrm>
            <a:off x="548640" y="5166360"/>
            <a:ext cx="7589520" cy="365760"/>
          </a:xfrm>
          <a:prstGeom prst="rect">
            <a:avLst/>
          </a:prstGeom>
          <a:noFill/>
          <a:ln/>
        </p:spPr>
        <p:txBody>
          <a:bodyPr wrap="square" lIns="0" tIns="0" rIns="0" bIns="0" rtlCol="0" anchor="t"/>
          <a:lstStyle/>
          <a:p>
            <a:pPr marL="0" indent="0">
              <a:buNone/>
            </a:pPr>
            <a:r>
              <a:rPr lang="en-US" sz="1300" i="1" dirty="0">
                <a:solidFill>
                  <a:schemeClr val="accent5"/>
                </a:solidFill>
              </a:rPr>
              <a:t>Formats are cumulative: newer generations keep supporting the older formats.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The GPU memory hierarchy</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Feeding the cores matters as much as the cores themselves (H100 SXM values shown)</a:t>
            </a:r>
            <a:endParaRPr lang="en-US" sz="1600" dirty="0"/>
          </a:p>
        </p:txBody>
      </p:sp>
      <p:sp>
        <p:nvSpPr>
          <p:cNvPr id="4" name="Text 2"/>
          <p:cNvSpPr/>
          <p:nvPr/>
        </p:nvSpPr>
        <p:spPr>
          <a:xfrm>
            <a:off x="3246120" y="1691640"/>
            <a:ext cx="2011680" cy="749808"/>
          </a:xfrm>
          <a:prstGeom prst="roundRect">
            <a:avLst>
              <a:gd name="adj" fmla="val 6098"/>
            </a:avLst>
          </a:prstGeom>
          <a:solidFill>
            <a:schemeClr val="accent1"/>
          </a:solidFill>
          <a:ln/>
        </p:spPr>
        <p:txBody>
          <a:bodyPr wrap="square" lIns="381" tIns="381" rIns="381" bIns="381" rtlCol="0" anchor="ctr"/>
          <a:lstStyle/>
          <a:p>
            <a:pPr marL="0" indent="0" algn="ctr">
              <a:buNone/>
            </a:pPr>
            <a:r>
              <a:rPr lang="en-US" sz="1500" b="1" dirty="0">
                <a:solidFill>
                  <a:schemeClr val="tx1"/>
                </a:solidFill>
              </a:rPr>
              <a:t>Registers</a:t>
            </a:r>
            <a:endParaRPr lang="en-US" sz="1500" dirty="0"/>
          </a:p>
          <a:p>
            <a:pPr marL="0" indent="0" algn="ctr">
              <a:buNone/>
            </a:pPr>
            <a:r>
              <a:rPr lang="en-US" sz="1200" dirty="0">
                <a:solidFill>
                  <a:schemeClr val="tx1"/>
                </a:solidFill>
              </a:rPr>
              <a:t>256 KB per SM  ·  ~1 cycle</a:t>
            </a:r>
            <a:endParaRPr lang="en-US" sz="1500" dirty="0"/>
          </a:p>
        </p:txBody>
      </p:sp>
      <p:sp>
        <p:nvSpPr>
          <p:cNvPr id="5" name="Text 3"/>
          <p:cNvSpPr/>
          <p:nvPr/>
        </p:nvSpPr>
        <p:spPr>
          <a:xfrm>
            <a:off x="2880360" y="2560320"/>
            <a:ext cx="2743200" cy="749808"/>
          </a:xfrm>
          <a:prstGeom prst="roundRect">
            <a:avLst>
              <a:gd name="adj" fmla="val 6098"/>
            </a:avLst>
          </a:prstGeom>
          <a:solidFill>
            <a:srgbClr val="5E9A00"/>
          </a:solidFill>
          <a:ln/>
        </p:spPr>
        <p:txBody>
          <a:bodyPr wrap="square" lIns="381" tIns="381" rIns="381" bIns="381" rtlCol="0" anchor="ctr"/>
          <a:lstStyle/>
          <a:p>
            <a:pPr marL="0" indent="0" algn="ctr">
              <a:buNone/>
            </a:pPr>
            <a:r>
              <a:rPr lang="en-US" sz="1500" b="1" dirty="0">
                <a:solidFill>
                  <a:schemeClr val="bg1"/>
                </a:solidFill>
              </a:rPr>
              <a:t>L1 cache / shared memory</a:t>
            </a:r>
            <a:endParaRPr lang="en-US" sz="1500" dirty="0"/>
          </a:p>
          <a:p>
            <a:pPr marL="0" indent="0" algn="ctr">
              <a:buNone/>
            </a:pPr>
            <a:r>
              <a:rPr lang="en-US" sz="1200" dirty="0">
                <a:solidFill>
                  <a:schemeClr val="bg1"/>
                </a:solidFill>
              </a:rPr>
              <a:t>256 KB per SM  ·  tens of cycles</a:t>
            </a:r>
            <a:endParaRPr lang="en-US" sz="1500" dirty="0"/>
          </a:p>
        </p:txBody>
      </p:sp>
      <p:sp>
        <p:nvSpPr>
          <p:cNvPr id="6" name="Text 4"/>
          <p:cNvSpPr/>
          <p:nvPr/>
        </p:nvSpPr>
        <p:spPr>
          <a:xfrm>
            <a:off x="2514600" y="3429000"/>
            <a:ext cx="3474720" cy="749808"/>
          </a:xfrm>
          <a:prstGeom prst="roundRect">
            <a:avLst>
              <a:gd name="adj" fmla="val 6098"/>
            </a:avLst>
          </a:prstGeom>
          <a:solidFill>
            <a:schemeClr val="accent2"/>
          </a:solidFill>
          <a:ln/>
        </p:spPr>
        <p:txBody>
          <a:bodyPr wrap="square" lIns="381" tIns="381" rIns="381" bIns="381" rtlCol="0" anchor="ctr"/>
          <a:lstStyle/>
          <a:p>
            <a:pPr marL="0" indent="0" algn="ctr">
              <a:buNone/>
            </a:pPr>
            <a:r>
              <a:rPr lang="en-US" sz="1500" b="1" dirty="0">
                <a:solidFill>
                  <a:schemeClr val="bg1"/>
                </a:solidFill>
              </a:rPr>
              <a:t>L2 cache</a:t>
            </a:r>
            <a:endParaRPr lang="en-US" sz="1500" dirty="0"/>
          </a:p>
          <a:p>
            <a:pPr marL="0" indent="0" algn="ctr">
              <a:buNone/>
            </a:pPr>
            <a:r>
              <a:rPr lang="en-US" sz="1200" dirty="0">
                <a:solidFill>
                  <a:schemeClr val="bg1"/>
                </a:solidFill>
              </a:rPr>
              <a:t>50 MB shared  ·  ~200 cycles</a:t>
            </a:r>
            <a:endParaRPr lang="en-US" sz="1500" dirty="0"/>
          </a:p>
        </p:txBody>
      </p:sp>
      <p:sp>
        <p:nvSpPr>
          <p:cNvPr id="7" name="Text 5"/>
          <p:cNvSpPr/>
          <p:nvPr/>
        </p:nvSpPr>
        <p:spPr>
          <a:xfrm>
            <a:off x="2148840" y="4297680"/>
            <a:ext cx="4206240" cy="749808"/>
          </a:xfrm>
          <a:prstGeom prst="roundRect">
            <a:avLst>
              <a:gd name="adj" fmla="val 6098"/>
            </a:avLst>
          </a:prstGeom>
          <a:solidFill>
            <a:schemeClr val="tx2"/>
          </a:solidFill>
          <a:ln/>
        </p:spPr>
        <p:txBody>
          <a:bodyPr wrap="square" lIns="381" tIns="381" rIns="381" bIns="381" rtlCol="0" anchor="ctr"/>
          <a:lstStyle/>
          <a:p>
            <a:pPr marL="0" indent="0" algn="ctr">
              <a:buNone/>
            </a:pPr>
            <a:r>
              <a:rPr lang="en-US" sz="1500" b="1" dirty="0">
                <a:solidFill>
                  <a:schemeClr val="bg1"/>
                </a:solidFill>
              </a:rPr>
              <a:t>HBM3 (GPU memory)</a:t>
            </a:r>
            <a:endParaRPr lang="en-US" sz="1500" dirty="0"/>
          </a:p>
          <a:p>
            <a:pPr marL="0" indent="0" algn="ctr">
              <a:buNone/>
            </a:pPr>
            <a:r>
              <a:rPr lang="en-US" sz="1200" dirty="0">
                <a:solidFill>
                  <a:schemeClr val="bg1"/>
                </a:solidFill>
              </a:rPr>
              <a:t>80 GB  ·  3.35 TB/s</a:t>
            </a:r>
            <a:endParaRPr lang="en-US" sz="1500" dirty="0"/>
          </a:p>
        </p:txBody>
      </p:sp>
      <p:sp>
        <p:nvSpPr>
          <p:cNvPr id="8" name="Text 6"/>
          <p:cNvSpPr/>
          <p:nvPr/>
        </p:nvSpPr>
        <p:spPr>
          <a:xfrm>
            <a:off x="1783080" y="5166360"/>
            <a:ext cx="4937760" cy="749808"/>
          </a:xfrm>
          <a:prstGeom prst="roundRect">
            <a:avLst>
              <a:gd name="adj" fmla="val 6098"/>
            </a:avLst>
          </a:prstGeom>
          <a:solidFill>
            <a:schemeClr val="tx1"/>
          </a:solidFill>
          <a:ln/>
        </p:spPr>
        <p:txBody>
          <a:bodyPr wrap="square" lIns="381" tIns="381" rIns="381" bIns="381" rtlCol="0" anchor="ctr"/>
          <a:lstStyle/>
          <a:p>
            <a:pPr marL="0" indent="0" algn="ctr">
              <a:buNone/>
            </a:pPr>
            <a:r>
              <a:rPr lang="en-US" sz="1500" b="1" dirty="0">
                <a:solidFill>
                  <a:schemeClr val="bg1"/>
                </a:solidFill>
              </a:rPr>
              <a:t>Host memory via PCIe / NVLink-C2C</a:t>
            </a:r>
            <a:endParaRPr lang="en-US" sz="1500" dirty="0"/>
          </a:p>
          <a:p>
            <a:pPr marL="0" indent="0" algn="ctr">
              <a:buNone/>
            </a:pPr>
            <a:r>
              <a:rPr lang="en-US" sz="1200" dirty="0">
                <a:solidFill>
                  <a:schemeClr val="bg1"/>
                </a:solidFill>
              </a:rPr>
              <a:t>TBs  ·  64–450 GB/s per direction</a:t>
            </a:r>
            <a:endParaRPr lang="en-US" sz="1500" dirty="0"/>
          </a:p>
        </p:txBody>
      </p:sp>
      <p:sp>
        <p:nvSpPr>
          <p:cNvPr id="9" name="Shape 7"/>
          <p:cNvSpPr/>
          <p:nvPr/>
        </p:nvSpPr>
        <p:spPr>
          <a:xfrm flipV="1">
            <a:off x="685800" y="1783080"/>
            <a:ext cx="914" cy="4160520"/>
          </a:xfrm>
          <a:prstGeom prst="line">
            <a:avLst/>
          </a:prstGeom>
          <a:noFill/>
          <a:ln w="25400">
            <a:solidFill>
              <a:schemeClr val="accent2"/>
            </a:solidFill>
            <a:prstDash val="solid"/>
            <a:tailEnd type="triangle"/>
          </a:ln>
        </p:spPr>
        <p:txBody>
          <a:bodyPr/>
          <a:lstStyle/>
          <a:p>
            <a:endParaRPr lang="en-US"/>
          </a:p>
        </p:txBody>
      </p:sp>
      <p:sp>
        <p:nvSpPr>
          <p:cNvPr id="10" name="Text 8"/>
          <p:cNvSpPr txBox="1"/>
          <p:nvPr/>
        </p:nvSpPr>
        <p:spPr>
          <a:xfrm>
            <a:off x="822960" y="1691640"/>
            <a:ext cx="822960" cy="548640"/>
          </a:xfrm>
          <a:prstGeom prst="rect">
            <a:avLst/>
          </a:prstGeom>
          <a:noFill/>
          <a:ln/>
        </p:spPr>
        <p:txBody>
          <a:bodyPr wrap="square" lIns="0" tIns="0" rIns="0" bIns="0" rtlCol="0" anchor="t"/>
          <a:lstStyle/>
          <a:p>
            <a:pPr marL="0" indent="0">
              <a:buNone/>
            </a:pPr>
            <a:r>
              <a:rPr lang="en-US" sz="1100" b="1" dirty="0">
                <a:solidFill>
                  <a:schemeClr val="accent2"/>
                </a:solidFill>
              </a:rPr>
              <a:t>faster,</a:t>
            </a:r>
            <a:endParaRPr lang="en-US" sz="1100" dirty="0"/>
          </a:p>
          <a:p>
            <a:pPr marL="0" indent="0">
              <a:buNone/>
            </a:pPr>
            <a:r>
              <a:rPr lang="en-US" sz="1100" b="1" dirty="0">
                <a:solidFill>
                  <a:schemeClr val="accent2"/>
                </a:solidFill>
              </a:rPr>
              <a:t>smaller</a:t>
            </a:r>
            <a:endParaRPr lang="en-US" sz="1100" dirty="0"/>
          </a:p>
        </p:txBody>
      </p:sp>
      <p:sp>
        <p:nvSpPr>
          <p:cNvPr id="11" name="Text 9"/>
          <p:cNvSpPr txBox="1"/>
          <p:nvPr/>
        </p:nvSpPr>
        <p:spPr>
          <a:xfrm>
            <a:off x="822960" y="5532120"/>
            <a:ext cx="822960" cy="548640"/>
          </a:xfrm>
          <a:prstGeom prst="rect">
            <a:avLst/>
          </a:prstGeom>
          <a:noFill/>
          <a:ln/>
        </p:spPr>
        <p:txBody>
          <a:bodyPr wrap="square" lIns="0" tIns="0" rIns="0" bIns="0" rtlCol="0" anchor="t"/>
          <a:lstStyle/>
          <a:p>
            <a:pPr marL="0" indent="0">
              <a:buNone/>
            </a:pPr>
            <a:r>
              <a:rPr lang="en-US" sz="1100" b="1" dirty="0">
                <a:solidFill>
                  <a:schemeClr val="accent5"/>
                </a:solidFill>
              </a:rPr>
              <a:t>larger,</a:t>
            </a:r>
            <a:endParaRPr lang="en-US" sz="1100" dirty="0"/>
          </a:p>
          <a:p>
            <a:pPr marL="0" indent="0">
              <a:buNone/>
            </a:pPr>
            <a:r>
              <a:rPr lang="en-US" sz="1100" b="1" dirty="0">
                <a:solidFill>
                  <a:schemeClr val="accent5"/>
                </a:solidFill>
              </a:rPr>
              <a:t>slower</a:t>
            </a:r>
            <a:endParaRPr lang="en-US" sz="1100" dirty="0"/>
          </a:p>
        </p:txBody>
      </p:sp>
      <p:sp>
        <p:nvSpPr>
          <p:cNvPr id="12" name="card"/>
          <p:cNvSpPr/>
          <p:nvPr/>
        </p:nvSpPr>
        <p:spPr>
          <a:xfrm>
            <a:off x="7178040" y="1600200"/>
            <a:ext cx="4434840" cy="4572000"/>
          </a:xfrm>
          <a:prstGeom prst="roundRect">
            <a:avLst>
              <a:gd name="adj" fmla="val 1649"/>
            </a:avLst>
          </a:prstGeom>
          <a:solidFill>
            <a:schemeClr val="bg2"/>
          </a:solidFill>
          <a:ln/>
        </p:spPr>
        <p:txBody>
          <a:bodyPr/>
          <a:lstStyle/>
          <a:p>
            <a:endParaRPr lang="en-US"/>
          </a:p>
        </p:txBody>
      </p:sp>
      <p:sp>
        <p:nvSpPr>
          <p:cNvPr id="13" name="Shape 11"/>
          <p:cNvSpPr/>
          <p:nvPr/>
        </p:nvSpPr>
        <p:spPr>
          <a:xfrm>
            <a:off x="7379208" y="1801368"/>
            <a:ext cx="548640" cy="548640"/>
          </a:xfrm>
          <a:prstGeom prst="ellipse">
            <a:avLst/>
          </a:prstGeom>
          <a:solidFill>
            <a:schemeClr val="accent1"/>
          </a:solidFill>
          <a:ln/>
        </p:spPr>
        <p:txBody>
          <a:bodyPr/>
          <a:lstStyle/>
          <a:p>
            <a:endParaRPr lang="en-US"/>
          </a:p>
        </p:txBody>
      </p:sp>
      <p:pic>
        <p:nvPicPr>
          <p:cNvPr id="14" name="Image 0" descr="preencoded.png"/>
          <p:cNvPicPr>
            <a:picLocks noChangeAspect="1"/>
          </p:cNvPicPr>
          <p:nvPr/>
        </p:nvPicPr>
        <p:blipFill>
          <a:blip r:embed="rId3"/>
          <a:stretch>
            <a:fillRect/>
          </a:stretch>
        </p:blipFill>
        <p:spPr>
          <a:xfrm>
            <a:off x="7499909" y="1922069"/>
            <a:ext cx="307238" cy="307238"/>
          </a:xfrm>
          <a:prstGeom prst="rect">
            <a:avLst/>
          </a:prstGeom>
        </p:spPr>
      </p:pic>
      <p:sp>
        <p:nvSpPr>
          <p:cNvPr id="15" name="Text 12"/>
          <p:cNvSpPr txBox="1"/>
          <p:nvPr/>
        </p:nvSpPr>
        <p:spPr>
          <a:xfrm>
            <a:off x="8046720" y="1801368"/>
            <a:ext cx="3383280" cy="548640"/>
          </a:xfrm>
          <a:prstGeom prst="rect">
            <a:avLst/>
          </a:prstGeom>
          <a:noFill/>
          <a:ln/>
        </p:spPr>
        <p:txBody>
          <a:bodyPr wrap="square" lIns="0" tIns="0" rIns="0" bIns="0" rtlCol="0" anchor="ctr"/>
          <a:lstStyle/>
          <a:p>
            <a:pPr marL="0" indent="0">
              <a:buNone/>
            </a:pPr>
            <a:r>
              <a:rPr lang="en-US" sz="1800" b="1" dirty="0">
                <a:solidFill>
                  <a:schemeClr val="tx1"/>
                </a:solidFill>
              </a:rPr>
              <a:t>Why this matters for AI</a:t>
            </a:r>
            <a:endParaRPr lang="en-US" sz="1800" dirty="0"/>
          </a:p>
        </p:txBody>
      </p:sp>
      <p:sp>
        <p:nvSpPr>
          <p:cNvPr id="16" name="Text 13"/>
          <p:cNvSpPr txBox="1"/>
          <p:nvPr/>
        </p:nvSpPr>
        <p:spPr>
          <a:xfrm>
            <a:off x="7379208" y="2496312"/>
            <a:ext cx="4032504" cy="3538728"/>
          </a:xfrm>
          <a:prstGeom prst="rect">
            <a:avLst/>
          </a:prstGeom>
          <a:noFill/>
          <a:ln/>
        </p:spPr>
        <p:txBody>
          <a:bodyPr wrap="square" lIns="0" tIns="0" rIns="0" bIns="0" rtlCol="0" anchor="t"/>
          <a:lstStyle/>
          <a:p>
            <a:pPr marL="342900" indent="-342900">
              <a:spcAft>
                <a:spcPts val="500"/>
              </a:spcAft>
              <a:buSzPct val="100000"/>
              <a:buChar char="•"/>
            </a:pPr>
            <a:r>
              <a:rPr lang="en-US" sz="1400" b="1" dirty="0">
                <a:solidFill>
                  <a:schemeClr val="tx2"/>
                </a:solidFill>
              </a:rPr>
              <a:t>Memory-bound vs compute-bound: </a:t>
            </a:r>
            <a:r>
              <a:rPr lang="en-US" sz="1400" dirty="0">
                <a:solidFill>
                  <a:schemeClr val="tx2"/>
                </a:solidFill>
              </a:rPr>
              <a:t>low arithmetic intensity means the cores sit waiting for data.</a:t>
            </a:r>
            <a:endParaRPr lang="en-US" sz="1400" dirty="0"/>
          </a:p>
          <a:p>
            <a:pPr marL="342900" indent="-342900">
              <a:spcAft>
                <a:spcPts val="500"/>
              </a:spcAft>
              <a:buSzPct val="100000"/>
              <a:buChar char="•"/>
            </a:pPr>
            <a:r>
              <a:rPr lang="en-US" sz="1400" b="1" dirty="0">
                <a:solidFill>
                  <a:schemeClr val="tx2"/>
                </a:solidFill>
              </a:rPr>
              <a:t>LLM token generation </a:t>
            </a:r>
            <a:r>
              <a:rPr lang="en-US" sz="1400" dirty="0">
                <a:solidFill>
                  <a:schemeClr val="tx2"/>
                </a:solidFill>
              </a:rPr>
              <a:t>reads every weight for each token, so HBM bandwidth sets tokens per second.</a:t>
            </a:r>
            <a:endParaRPr lang="en-US" sz="1400" dirty="0"/>
          </a:p>
          <a:p>
            <a:pPr marL="342900" indent="-342900">
              <a:spcAft>
                <a:spcPts val="500"/>
              </a:spcAft>
              <a:buSzPct val="100000"/>
              <a:buChar char="•"/>
            </a:pPr>
            <a:r>
              <a:rPr lang="en-US" sz="1400" b="1" dirty="0">
                <a:solidFill>
                  <a:schemeClr val="tx2"/>
                </a:solidFill>
              </a:rPr>
              <a:t>Capacity </a:t>
            </a:r>
            <a:r>
              <a:rPr lang="en-US" sz="1400" dirty="0">
                <a:solidFill>
                  <a:schemeClr val="tx2"/>
                </a:solidFill>
              </a:rPr>
              <a:t>decides whether the model, KV cache and activations fit on one GPU.</a:t>
            </a:r>
            <a:endParaRPr lang="en-US" sz="1400" dirty="0"/>
          </a:p>
          <a:p>
            <a:pPr marL="342900" indent="-342900">
              <a:spcAft>
                <a:spcPts val="500"/>
              </a:spcAft>
              <a:buSzPct val="100000"/>
              <a:buChar char="•"/>
            </a:pPr>
            <a:r>
              <a:rPr lang="en-US" sz="1400" b="1" dirty="0">
                <a:solidFill>
                  <a:schemeClr val="tx2"/>
                </a:solidFill>
              </a:rPr>
              <a:t>Fast kernels </a:t>
            </a:r>
            <a:r>
              <a:rPr lang="en-US" sz="1400" dirty="0">
                <a:solidFill>
                  <a:schemeClr val="tx2"/>
                </a:solidFill>
              </a:rPr>
              <a:t>(FlashAttention, fused ops) keep data in SRAM to avoid HBM trips.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HBM capacity and bandwidth by generation</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Memory has grown faster than almost any other spec, driven by large language models</a:t>
            </a:r>
            <a:endParaRPr lang="en-US" sz="1600" dirty="0"/>
          </a:p>
        </p:txBody>
      </p:sp>
      <p:graphicFrame>
        <p:nvGraphicFramePr>
          <p:cNvPr id="4" name="Chart 0"/>
          <p:cNvGraphicFramePr/>
          <p:nvPr/>
        </p:nvGraphicFramePr>
        <p:xfrm>
          <a:off x="548640" y="1554480"/>
          <a:ext cx="5440680" cy="41605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6172200" y="1554480"/>
          <a:ext cx="5440680" cy="4160520"/>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 2"/>
          <p:cNvSpPr txBox="1"/>
          <p:nvPr/>
        </p:nvSpPr>
        <p:spPr>
          <a:xfrm>
            <a:off x="548640" y="5806440"/>
            <a:ext cx="11064240" cy="457200"/>
          </a:xfrm>
          <a:prstGeom prst="rect">
            <a:avLst/>
          </a:prstGeom>
          <a:noFill/>
          <a:ln/>
        </p:spPr>
        <p:txBody>
          <a:bodyPr wrap="square" lIns="0" tIns="0" rIns="0" bIns="0" rtlCol="0" anchor="t"/>
          <a:lstStyle/>
          <a:p>
            <a:pPr marL="0" indent="0">
              <a:buNone/>
            </a:pPr>
            <a:r>
              <a:rPr lang="en-US" sz="1100" dirty="0">
                <a:solidFill>
                  <a:schemeClr val="accent5"/>
                </a:solidFill>
              </a:rPr>
              <a:t>Approximate SXM figures from public datasheets. B200 is shown at 180 GB as shipped in HGX/DGX B200 systems. V100 32 GB HBM2 · A100 80 GB HBM2e · H100 HBM3 · H200, B200, B300 HBM3e.</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Interconnects: how GPUs talk to CPUs and to each other</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Multi-GPU AI is only as fast as the links between GPUs</a:t>
            </a:r>
            <a:endParaRPr lang="en-US" sz="1600" dirty="0"/>
          </a:p>
        </p:txBody>
      </p:sp>
      <p:sp>
        <p:nvSpPr>
          <p:cNvPr id="4" name="Shape 2"/>
          <p:cNvSpPr/>
          <p:nvPr/>
        </p:nvSpPr>
        <p:spPr>
          <a:xfrm>
            <a:off x="548640" y="1600200"/>
            <a:ext cx="2651760" cy="3063240"/>
          </a:xfrm>
          <a:prstGeom prst="roundRect">
            <a:avLst>
              <a:gd name="adj" fmla="val 2759"/>
            </a:avLst>
          </a:prstGeom>
          <a:solidFill>
            <a:schemeClr val="bg2"/>
          </a:solidFill>
          <a:ln/>
        </p:spPr>
        <p:txBody>
          <a:bodyPr/>
          <a:lstStyle/>
          <a:p>
            <a:endParaRPr lang="en-US"/>
          </a:p>
        </p:txBody>
      </p:sp>
      <p:sp>
        <p:nvSpPr>
          <p:cNvPr id="5" name="Text 3"/>
          <p:cNvSpPr txBox="1"/>
          <p:nvPr/>
        </p:nvSpPr>
        <p:spPr>
          <a:xfrm>
            <a:off x="731520" y="1737360"/>
            <a:ext cx="2331720" cy="320040"/>
          </a:xfrm>
          <a:prstGeom prst="rect">
            <a:avLst/>
          </a:prstGeom>
          <a:noFill/>
          <a:ln/>
        </p:spPr>
        <p:txBody>
          <a:bodyPr wrap="square" lIns="0" tIns="0" rIns="0" bIns="0" rtlCol="0" anchor="t"/>
          <a:lstStyle/>
          <a:p>
            <a:pPr marL="0" indent="0">
              <a:buNone/>
            </a:pPr>
            <a:r>
              <a:rPr lang="en-US" sz="1500" b="1" dirty="0">
                <a:solidFill>
                  <a:schemeClr val="tx1"/>
                </a:solidFill>
              </a:rPr>
              <a:t>PCIe Gen5 x16</a:t>
            </a:r>
            <a:endParaRPr lang="en-US" sz="1500" dirty="0"/>
          </a:p>
        </p:txBody>
      </p:sp>
      <p:sp>
        <p:nvSpPr>
          <p:cNvPr id="6" name="Text 4"/>
          <p:cNvSpPr txBox="1"/>
          <p:nvPr/>
        </p:nvSpPr>
        <p:spPr>
          <a:xfrm>
            <a:off x="731520" y="2084832"/>
            <a:ext cx="2331720" cy="548640"/>
          </a:xfrm>
          <a:prstGeom prst="rect">
            <a:avLst/>
          </a:prstGeom>
          <a:noFill/>
          <a:ln/>
        </p:spPr>
        <p:txBody>
          <a:bodyPr wrap="square" lIns="0" tIns="0" rIns="0" bIns="0" rtlCol="0" anchor="t"/>
          <a:lstStyle/>
          <a:p>
            <a:pPr marL="0" indent="0">
              <a:buNone/>
            </a:pPr>
            <a:r>
              <a:rPr lang="en-US" sz="3200" b="1" dirty="0">
                <a:solidFill>
                  <a:schemeClr val="accent2"/>
                </a:solidFill>
                <a:latin typeface="Arial" pitchFamily="34" charset="0"/>
                <a:ea typeface="Arial" pitchFamily="34" charset="-122"/>
                <a:cs typeface="Arial" pitchFamily="34" charset="-120"/>
              </a:rPr>
              <a:t>128 GB/s</a:t>
            </a:r>
            <a:endParaRPr lang="en-US" sz="3200" dirty="0"/>
          </a:p>
        </p:txBody>
      </p:sp>
      <p:sp>
        <p:nvSpPr>
          <p:cNvPr id="7" name="Text 5"/>
          <p:cNvSpPr txBox="1"/>
          <p:nvPr/>
        </p:nvSpPr>
        <p:spPr>
          <a:xfrm>
            <a:off x="731520" y="2633472"/>
            <a:ext cx="2331720" cy="274320"/>
          </a:xfrm>
          <a:prstGeom prst="rect">
            <a:avLst/>
          </a:prstGeom>
          <a:noFill/>
          <a:ln/>
        </p:spPr>
        <p:txBody>
          <a:bodyPr wrap="square" lIns="0" tIns="0" rIns="0" bIns="0" rtlCol="0" anchor="t"/>
          <a:lstStyle/>
          <a:p>
            <a:pPr marL="0" indent="0">
              <a:buNone/>
            </a:pPr>
            <a:r>
              <a:rPr lang="en-US" sz="1200" dirty="0">
                <a:solidFill>
                  <a:schemeClr val="accent5"/>
                </a:solidFill>
              </a:rPr>
              <a:t>total, both directions</a:t>
            </a:r>
            <a:endParaRPr lang="en-US" sz="1200" dirty="0"/>
          </a:p>
        </p:txBody>
      </p:sp>
      <p:sp>
        <p:nvSpPr>
          <p:cNvPr id="8" name="Text 6"/>
          <p:cNvSpPr txBox="1"/>
          <p:nvPr/>
        </p:nvSpPr>
        <p:spPr>
          <a:xfrm>
            <a:off x="731520" y="2999232"/>
            <a:ext cx="2377440" cy="16002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GPU ↔ CPU, NICs and storage</a:t>
            </a:r>
            <a:endParaRPr lang="en-US" sz="1300" dirty="0"/>
          </a:p>
          <a:p>
            <a:pPr marL="342900" indent="-342900">
              <a:spcAft>
                <a:spcPts val="400"/>
              </a:spcAft>
              <a:buSzPct val="100000"/>
              <a:buChar char="•"/>
            </a:pPr>
            <a:r>
              <a:rPr lang="en-US" sz="1300" dirty="0">
                <a:solidFill>
                  <a:schemeClr val="tx2"/>
                </a:solidFill>
              </a:rPr>
              <a:t>Standard slot in any server</a:t>
            </a:r>
            <a:endParaRPr lang="en-US" sz="1300" dirty="0"/>
          </a:p>
          <a:p>
            <a:pPr marL="342900" indent="-342900">
              <a:spcAft>
                <a:spcPts val="400"/>
              </a:spcAft>
              <a:buSzPct val="100000"/>
              <a:buChar char="•"/>
            </a:pPr>
            <a:r>
              <a:rPr lang="en-US" sz="1300" dirty="0">
                <a:solidFill>
                  <a:schemeClr val="tx2"/>
                </a:solidFill>
              </a:rPr>
              <a:t>PCIe Gen6 doubles this on Blackwell-era platforms</a:t>
            </a:r>
            <a:endParaRPr lang="en-US" sz="1300" dirty="0"/>
          </a:p>
        </p:txBody>
      </p:sp>
      <p:sp>
        <p:nvSpPr>
          <p:cNvPr id="9" name="Shape 7"/>
          <p:cNvSpPr/>
          <p:nvPr/>
        </p:nvSpPr>
        <p:spPr>
          <a:xfrm>
            <a:off x="3346704" y="1600200"/>
            <a:ext cx="2651760" cy="3063240"/>
          </a:xfrm>
          <a:prstGeom prst="roundRect">
            <a:avLst>
              <a:gd name="adj" fmla="val 2759"/>
            </a:avLst>
          </a:prstGeom>
          <a:solidFill>
            <a:schemeClr val="bg2"/>
          </a:solidFill>
          <a:ln/>
        </p:spPr>
        <p:txBody>
          <a:bodyPr/>
          <a:lstStyle/>
          <a:p>
            <a:endParaRPr lang="en-US"/>
          </a:p>
        </p:txBody>
      </p:sp>
      <p:sp>
        <p:nvSpPr>
          <p:cNvPr id="10" name="Text 8"/>
          <p:cNvSpPr txBox="1"/>
          <p:nvPr/>
        </p:nvSpPr>
        <p:spPr>
          <a:xfrm>
            <a:off x="3529584" y="1737360"/>
            <a:ext cx="2331720" cy="320040"/>
          </a:xfrm>
          <a:prstGeom prst="rect">
            <a:avLst/>
          </a:prstGeom>
          <a:noFill/>
          <a:ln/>
        </p:spPr>
        <p:txBody>
          <a:bodyPr wrap="square" lIns="0" tIns="0" rIns="0" bIns="0" rtlCol="0" anchor="t"/>
          <a:lstStyle/>
          <a:p>
            <a:pPr marL="0" indent="0">
              <a:buNone/>
            </a:pPr>
            <a:r>
              <a:rPr lang="en-US" sz="1500" b="1" dirty="0">
                <a:solidFill>
                  <a:schemeClr val="tx1"/>
                </a:solidFill>
              </a:rPr>
              <a:t>NVLink 4 (Hopper)</a:t>
            </a:r>
            <a:endParaRPr lang="en-US" sz="1500" dirty="0"/>
          </a:p>
        </p:txBody>
      </p:sp>
      <p:sp>
        <p:nvSpPr>
          <p:cNvPr id="11" name="Text 9"/>
          <p:cNvSpPr txBox="1"/>
          <p:nvPr/>
        </p:nvSpPr>
        <p:spPr>
          <a:xfrm>
            <a:off x="3529584" y="2084832"/>
            <a:ext cx="2331720" cy="548640"/>
          </a:xfrm>
          <a:prstGeom prst="rect">
            <a:avLst/>
          </a:prstGeom>
          <a:noFill/>
          <a:ln/>
        </p:spPr>
        <p:txBody>
          <a:bodyPr wrap="square" lIns="0" tIns="0" rIns="0" bIns="0" rtlCol="0" anchor="t"/>
          <a:lstStyle/>
          <a:p>
            <a:pPr marL="0" indent="0">
              <a:buNone/>
            </a:pPr>
            <a:r>
              <a:rPr lang="en-US" sz="3200" b="1" dirty="0">
                <a:solidFill>
                  <a:schemeClr val="accent2"/>
                </a:solidFill>
                <a:latin typeface="Arial" pitchFamily="34" charset="0"/>
                <a:ea typeface="Arial" pitchFamily="34" charset="-122"/>
                <a:cs typeface="Arial" pitchFamily="34" charset="-120"/>
              </a:rPr>
              <a:t>900 GB/s</a:t>
            </a:r>
            <a:endParaRPr lang="en-US" sz="3200" dirty="0"/>
          </a:p>
        </p:txBody>
      </p:sp>
      <p:sp>
        <p:nvSpPr>
          <p:cNvPr id="12" name="Text 10"/>
          <p:cNvSpPr txBox="1"/>
          <p:nvPr/>
        </p:nvSpPr>
        <p:spPr>
          <a:xfrm>
            <a:off x="3529584" y="2633472"/>
            <a:ext cx="2331720" cy="274320"/>
          </a:xfrm>
          <a:prstGeom prst="rect">
            <a:avLst/>
          </a:prstGeom>
          <a:noFill/>
          <a:ln/>
        </p:spPr>
        <p:txBody>
          <a:bodyPr wrap="square" lIns="0" tIns="0" rIns="0" bIns="0" rtlCol="0" anchor="t"/>
          <a:lstStyle/>
          <a:p>
            <a:pPr marL="0" indent="0">
              <a:buNone/>
            </a:pPr>
            <a:r>
              <a:rPr lang="en-US" sz="1200" dirty="0">
                <a:solidFill>
                  <a:schemeClr val="accent5"/>
                </a:solidFill>
              </a:rPr>
              <a:t>per GPU, 18 links</a:t>
            </a:r>
            <a:endParaRPr lang="en-US" sz="1200" dirty="0"/>
          </a:p>
        </p:txBody>
      </p:sp>
      <p:sp>
        <p:nvSpPr>
          <p:cNvPr id="13" name="Text 11"/>
          <p:cNvSpPr txBox="1"/>
          <p:nvPr/>
        </p:nvSpPr>
        <p:spPr>
          <a:xfrm>
            <a:off x="3529584" y="2999232"/>
            <a:ext cx="2377440" cy="16002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Direct GPU ↔ GPU</a:t>
            </a:r>
            <a:endParaRPr lang="en-US" sz="1300" dirty="0"/>
          </a:p>
          <a:p>
            <a:pPr marL="342900" indent="-342900">
              <a:spcAft>
                <a:spcPts val="400"/>
              </a:spcAft>
              <a:buSzPct val="100000"/>
              <a:buChar char="•"/>
            </a:pPr>
            <a:r>
              <a:rPr lang="en-US" sz="1300" dirty="0">
                <a:solidFill>
                  <a:schemeClr val="tx2"/>
                </a:solidFill>
              </a:rPr>
              <a:t>About 7x PCIe Gen5</a:t>
            </a:r>
            <a:endParaRPr lang="en-US" sz="1300" dirty="0"/>
          </a:p>
          <a:p>
            <a:pPr marL="342900" indent="-342900">
              <a:spcAft>
                <a:spcPts val="400"/>
              </a:spcAft>
              <a:buSzPct val="100000"/>
              <a:buChar char="•"/>
            </a:pPr>
            <a:r>
              <a:rPr lang="en-US" sz="1300" dirty="0">
                <a:solidFill>
                  <a:schemeClr val="tx2"/>
                </a:solidFill>
              </a:rPr>
              <a:t>Up to 8 GPUs per HGX H100/H200 node</a:t>
            </a:r>
            <a:endParaRPr lang="en-US" sz="1300" dirty="0"/>
          </a:p>
        </p:txBody>
      </p:sp>
      <p:sp>
        <p:nvSpPr>
          <p:cNvPr id="14" name="Shape 12"/>
          <p:cNvSpPr/>
          <p:nvPr/>
        </p:nvSpPr>
        <p:spPr>
          <a:xfrm>
            <a:off x="6144768" y="1600200"/>
            <a:ext cx="2651760" cy="3063240"/>
          </a:xfrm>
          <a:prstGeom prst="roundRect">
            <a:avLst>
              <a:gd name="adj" fmla="val 2759"/>
            </a:avLst>
          </a:prstGeom>
          <a:solidFill>
            <a:schemeClr val="bg2"/>
          </a:solidFill>
          <a:ln/>
        </p:spPr>
        <p:txBody>
          <a:bodyPr/>
          <a:lstStyle/>
          <a:p>
            <a:endParaRPr lang="en-US"/>
          </a:p>
        </p:txBody>
      </p:sp>
      <p:sp>
        <p:nvSpPr>
          <p:cNvPr id="15" name="Text 13"/>
          <p:cNvSpPr txBox="1"/>
          <p:nvPr/>
        </p:nvSpPr>
        <p:spPr>
          <a:xfrm>
            <a:off x="6327648" y="1737360"/>
            <a:ext cx="2331720" cy="320040"/>
          </a:xfrm>
          <a:prstGeom prst="rect">
            <a:avLst/>
          </a:prstGeom>
          <a:noFill/>
          <a:ln/>
        </p:spPr>
        <p:txBody>
          <a:bodyPr wrap="square" lIns="0" tIns="0" rIns="0" bIns="0" rtlCol="0" anchor="t"/>
          <a:lstStyle/>
          <a:p>
            <a:pPr marL="0" indent="0">
              <a:buNone/>
            </a:pPr>
            <a:r>
              <a:rPr lang="en-US" sz="1500" b="1" dirty="0">
                <a:solidFill>
                  <a:schemeClr val="tx1"/>
                </a:solidFill>
              </a:rPr>
              <a:t>NVLink 5 (Blackwell)</a:t>
            </a:r>
            <a:endParaRPr lang="en-US" sz="1500" dirty="0"/>
          </a:p>
        </p:txBody>
      </p:sp>
      <p:sp>
        <p:nvSpPr>
          <p:cNvPr id="16" name="Text 14"/>
          <p:cNvSpPr txBox="1"/>
          <p:nvPr/>
        </p:nvSpPr>
        <p:spPr>
          <a:xfrm>
            <a:off x="6327648" y="2084832"/>
            <a:ext cx="2331720" cy="548640"/>
          </a:xfrm>
          <a:prstGeom prst="rect">
            <a:avLst/>
          </a:prstGeom>
          <a:noFill/>
          <a:ln/>
        </p:spPr>
        <p:txBody>
          <a:bodyPr wrap="square" lIns="0" tIns="0" rIns="0" bIns="0" rtlCol="0" anchor="t"/>
          <a:lstStyle/>
          <a:p>
            <a:pPr marL="0" indent="0">
              <a:buNone/>
            </a:pPr>
            <a:r>
              <a:rPr lang="en-US" sz="3200" b="1" dirty="0">
                <a:solidFill>
                  <a:schemeClr val="accent2"/>
                </a:solidFill>
                <a:latin typeface="Arial" pitchFamily="34" charset="0"/>
                <a:ea typeface="Arial" pitchFamily="34" charset="-122"/>
                <a:cs typeface="Arial" pitchFamily="34" charset="-120"/>
              </a:rPr>
              <a:t>1.8 TB/s</a:t>
            </a:r>
            <a:endParaRPr lang="en-US" sz="3200" dirty="0"/>
          </a:p>
        </p:txBody>
      </p:sp>
      <p:sp>
        <p:nvSpPr>
          <p:cNvPr id="17" name="Text 15"/>
          <p:cNvSpPr txBox="1"/>
          <p:nvPr/>
        </p:nvSpPr>
        <p:spPr>
          <a:xfrm>
            <a:off x="6327648" y="2633472"/>
            <a:ext cx="2331720" cy="274320"/>
          </a:xfrm>
          <a:prstGeom prst="rect">
            <a:avLst/>
          </a:prstGeom>
          <a:noFill/>
          <a:ln/>
        </p:spPr>
        <p:txBody>
          <a:bodyPr wrap="square" lIns="0" tIns="0" rIns="0" bIns="0" rtlCol="0" anchor="t"/>
          <a:lstStyle/>
          <a:p>
            <a:pPr marL="0" indent="0">
              <a:buNone/>
            </a:pPr>
            <a:r>
              <a:rPr lang="en-US" sz="1200" dirty="0">
                <a:solidFill>
                  <a:schemeClr val="accent5"/>
                </a:solidFill>
              </a:rPr>
              <a:t>per GPU, 18 links</a:t>
            </a:r>
            <a:endParaRPr lang="en-US" sz="1200" dirty="0"/>
          </a:p>
        </p:txBody>
      </p:sp>
      <p:sp>
        <p:nvSpPr>
          <p:cNvPr id="18" name="Text 16"/>
          <p:cNvSpPr txBox="1"/>
          <p:nvPr/>
        </p:nvSpPr>
        <p:spPr>
          <a:xfrm>
            <a:off x="6327648" y="2999232"/>
            <a:ext cx="2377440" cy="16002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Twice NVLink 4</a:t>
            </a:r>
            <a:endParaRPr lang="en-US" sz="1300" dirty="0"/>
          </a:p>
          <a:p>
            <a:pPr marL="342900" indent="-342900">
              <a:spcAft>
                <a:spcPts val="400"/>
              </a:spcAft>
              <a:buSzPct val="100000"/>
              <a:buChar char="•"/>
            </a:pPr>
            <a:r>
              <a:rPr lang="en-US" sz="1300" dirty="0">
                <a:solidFill>
                  <a:schemeClr val="tx2"/>
                </a:solidFill>
              </a:rPr>
              <a:t>Up to 72 GPUs in one NVLink domain (NVL72)</a:t>
            </a:r>
            <a:endParaRPr lang="en-US" sz="1300" dirty="0"/>
          </a:p>
          <a:p>
            <a:pPr marL="342900" indent="-342900">
              <a:spcAft>
                <a:spcPts val="400"/>
              </a:spcAft>
              <a:buSzPct val="100000"/>
              <a:buChar char="•"/>
            </a:pPr>
            <a:r>
              <a:rPr lang="en-US" sz="1300" dirty="0">
                <a:solidFill>
                  <a:schemeClr val="tx2"/>
                </a:solidFill>
              </a:rPr>
              <a:t>Built for trillion-parameter models</a:t>
            </a:r>
            <a:endParaRPr lang="en-US" sz="1300" dirty="0"/>
          </a:p>
        </p:txBody>
      </p:sp>
      <p:sp>
        <p:nvSpPr>
          <p:cNvPr id="19" name="Shape 17"/>
          <p:cNvSpPr/>
          <p:nvPr/>
        </p:nvSpPr>
        <p:spPr>
          <a:xfrm>
            <a:off x="8942832" y="1600200"/>
            <a:ext cx="2651760" cy="3063240"/>
          </a:xfrm>
          <a:prstGeom prst="roundRect">
            <a:avLst>
              <a:gd name="adj" fmla="val 2759"/>
            </a:avLst>
          </a:prstGeom>
          <a:solidFill>
            <a:schemeClr val="bg2"/>
          </a:solidFill>
          <a:ln/>
        </p:spPr>
        <p:txBody>
          <a:bodyPr/>
          <a:lstStyle/>
          <a:p>
            <a:endParaRPr lang="en-US"/>
          </a:p>
        </p:txBody>
      </p:sp>
      <p:sp>
        <p:nvSpPr>
          <p:cNvPr id="20" name="Text 18"/>
          <p:cNvSpPr txBox="1"/>
          <p:nvPr/>
        </p:nvSpPr>
        <p:spPr>
          <a:xfrm>
            <a:off x="9125712" y="1737360"/>
            <a:ext cx="2331720" cy="320040"/>
          </a:xfrm>
          <a:prstGeom prst="rect">
            <a:avLst/>
          </a:prstGeom>
          <a:noFill/>
          <a:ln/>
        </p:spPr>
        <p:txBody>
          <a:bodyPr wrap="square" lIns="0" tIns="0" rIns="0" bIns="0" rtlCol="0" anchor="t"/>
          <a:lstStyle/>
          <a:p>
            <a:pPr marL="0" indent="0">
              <a:buNone/>
            </a:pPr>
            <a:r>
              <a:rPr lang="en-US" sz="1500" b="1" dirty="0">
                <a:solidFill>
                  <a:schemeClr val="tx1"/>
                </a:solidFill>
              </a:rPr>
              <a:t>NVLink-C2C</a:t>
            </a:r>
            <a:endParaRPr lang="en-US" sz="1500" dirty="0"/>
          </a:p>
        </p:txBody>
      </p:sp>
      <p:sp>
        <p:nvSpPr>
          <p:cNvPr id="21" name="Text 19"/>
          <p:cNvSpPr txBox="1"/>
          <p:nvPr/>
        </p:nvSpPr>
        <p:spPr>
          <a:xfrm>
            <a:off x="9125712" y="2084832"/>
            <a:ext cx="2331720" cy="548640"/>
          </a:xfrm>
          <a:prstGeom prst="rect">
            <a:avLst/>
          </a:prstGeom>
          <a:noFill/>
          <a:ln/>
        </p:spPr>
        <p:txBody>
          <a:bodyPr wrap="square" lIns="0" tIns="0" rIns="0" bIns="0" rtlCol="0" anchor="t"/>
          <a:lstStyle/>
          <a:p>
            <a:pPr marL="0" indent="0">
              <a:buNone/>
            </a:pPr>
            <a:r>
              <a:rPr lang="en-US" sz="3200" b="1" dirty="0">
                <a:solidFill>
                  <a:schemeClr val="accent2"/>
                </a:solidFill>
                <a:latin typeface="Arial" pitchFamily="34" charset="0"/>
                <a:ea typeface="Arial" pitchFamily="34" charset="-122"/>
                <a:cs typeface="Arial" pitchFamily="34" charset="-120"/>
              </a:rPr>
              <a:t>900 GB/s</a:t>
            </a:r>
            <a:endParaRPr lang="en-US" sz="3200" dirty="0"/>
          </a:p>
        </p:txBody>
      </p:sp>
      <p:sp>
        <p:nvSpPr>
          <p:cNvPr id="22" name="Text 20"/>
          <p:cNvSpPr txBox="1"/>
          <p:nvPr/>
        </p:nvSpPr>
        <p:spPr>
          <a:xfrm>
            <a:off x="9125712" y="2633472"/>
            <a:ext cx="2331720" cy="274320"/>
          </a:xfrm>
          <a:prstGeom prst="rect">
            <a:avLst/>
          </a:prstGeom>
          <a:noFill/>
          <a:ln/>
        </p:spPr>
        <p:txBody>
          <a:bodyPr wrap="square" lIns="0" tIns="0" rIns="0" bIns="0" rtlCol="0" anchor="t"/>
          <a:lstStyle/>
          <a:p>
            <a:pPr marL="0" indent="0">
              <a:buNone/>
            </a:pPr>
            <a:r>
              <a:rPr lang="en-US" sz="1200" dirty="0">
                <a:solidFill>
                  <a:schemeClr val="accent5"/>
                </a:solidFill>
              </a:rPr>
              <a:t>CPU ↔ GPU, coherent</a:t>
            </a:r>
            <a:endParaRPr lang="en-US" sz="1200" dirty="0"/>
          </a:p>
        </p:txBody>
      </p:sp>
      <p:sp>
        <p:nvSpPr>
          <p:cNvPr id="23" name="Text 21"/>
          <p:cNvSpPr txBox="1"/>
          <p:nvPr/>
        </p:nvSpPr>
        <p:spPr>
          <a:xfrm>
            <a:off x="9125712" y="2999232"/>
            <a:ext cx="2377440" cy="16002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Joins Grace CPU and GPU in superchips</a:t>
            </a:r>
            <a:endParaRPr lang="en-US" sz="1300" dirty="0"/>
          </a:p>
          <a:p>
            <a:pPr marL="342900" indent="-342900">
              <a:spcAft>
                <a:spcPts val="400"/>
              </a:spcAft>
              <a:buSzPct val="100000"/>
              <a:buChar char="•"/>
            </a:pPr>
            <a:r>
              <a:rPr lang="en-US" sz="1300" dirty="0">
                <a:solidFill>
                  <a:schemeClr val="tx2"/>
                </a:solidFill>
              </a:rPr>
              <a:t>GPU can read CPU memory directly</a:t>
            </a:r>
            <a:endParaRPr lang="en-US" sz="1300" dirty="0"/>
          </a:p>
          <a:p>
            <a:pPr marL="342900" indent="-342900">
              <a:spcAft>
                <a:spcPts val="400"/>
              </a:spcAft>
              <a:buSzPct val="100000"/>
              <a:buChar char="•"/>
            </a:pPr>
            <a:r>
              <a:rPr lang="en-US" sz="1300" dirty="0">
                <a:solidFill>
                  <a:schemeClr val="tx2"/>
                </a:solidFill>
              </a:rPr>
              <a:t>Used in GH200 and GB200</a:t>
            </a:r>
            <a:endParaRPr lang="en-US" sz="1300" dirty="0"/>
          </a:p>
        </p:txBody>
      </p:sp>
      <p:sp>
        <p:nvSpPr>
          <p:cNvPr id="24" name="Shape 22"/>
          <p:cNvSpPr/>
          <p:nvPr/>
        </p:nvSpPr>
        <p:spPr>
          <a:xfrm>
            <a:off x="548640" y="4846320"/>
            <a:ext cx="11064240" cy="1325880"/>
          </a:xfrm>
          <a:prstGeom prst="roundRect">
            <a:avLst>
              <a:gd name="adj" fmla="val 5517"/>
            </a:avLst>
          </a:prstGeom>
          <a:solidFill>
            <a:schemeClr val="tx1"/>
          </a:solidFill>
          <a:ln/>
        </p:spPr>
        <p:txBody>
          <a:bodyPr/>
          <a:lstStyle/>
          <a:p>
            <a:endParaRPr lang="en-US"/>
          </a:p>
        </p:txBody>
      </p:sp>
      <p:sp>
        <p:nvSpPr>
          <p:cNvPr id="25" name="Text 23"/>
          <p:cNvSpPr txBox="1"/>
          <p:nvPr/>
        </p:nvSpPr>
        <p:spPr>
          <a:xfrm>
            <a:off x="777240" y="4937760"/>
            <a:ext cx="3291840" cy="1143000"/>
          </a:xfrm>
          <a:prstGeom prst="rect">
            <a:avLst/>
          </a:prstGeom>
          <a:noFill/>
          <a:ln/>
        </p:spPr>
        <p:txBody>
          <a:bodyPr wrap="square" lIns="0" tIns="0" rIns="0" bIns="0" rtlCol="0" anchor="ctr"/>
          <a:lstStyle/>
          <a:p>
            <a:pPr marL="0" indent="0">
              <a:buNone/>
            </a:pPr>
            <a:r>
              <a:rPr lang="en-US" sz="1600" b="1" dirty="0">
                <a:solidFill>
                  <a:schemeClr val="accent1"/>
                </a:solidFill>
              </a:rPr>
              <a:t>NVSwitch</a:t>
            </a:r>
            <a:endParaRPr lang="en-US" sz="1400" dirty="0"/>
          </a:p>
          <a:p>
            <a:pPr marL="0" indent="0">
              <a:buNone/>
            </a:pPr>
            <a:r>
              <a:rPr lang="en-US" sz="1300" dirty="0">
                <a:solidFill>
                  <a:schemeClr val="bg1"/>
                </a:solidFill>
              </a:rPr>
              <a:t>Switch chips connect every GPU to every other GPU at full NVLink speed, with no hops through the CPU.</a:t>
            </a:r>
            <a:endParaRPr lang="en-US" sz="1400" dirty="0"/>
          </a:p>
        </p:txBody>
      </p:sp>
      <p:sp>
        <p:nvSpPr>
          <p:cNvPr id="26" name="Text 24"/>
          <p:cNvSpPr/>
          <p:nvPr/>
        </p:nvSpPr>
        <p:spPr>
          <a:xfrm>
            <a:off x="4343400" y="4983480"/>
            <a:ext cx="777240" cy="384048"/>
          </a:xfrm>
          <a:prstGeom prst="roundRect">
            <a:avLst>
              <a:gd name="adj" fmla="val 11905"/>
            </a:avLst>
          </a:prstGeom>
          <a:solidFill>
            <a:schemeClr val="accent1"/>
          </a:solidFill>
          <a:ln/>
        </p:spPr>
        <p:txBody>
          <a:bodyPr wrap="square" lIns="381" tIns="381" rIns="381" bIns="381" rtlCol="0" anchor="ctr"/>
          <a:lstStyle/>
          <a:p>
            <a:pPr marL="0" indent="0" algn="ctr">
              <a:buNone/>
            </a:pPr>
            <a:r>
              <a:rPr lang="en-US" sz="1100" b="1" dirty="0">
                <a:solidFill>
                  <a:schemeClr val="tx1"/>
                </a:solidFill>
              </a:rPr>
              <a:t>GPU0</a:t>
            </a:r>
            <a:endParaRPr lang="en-US" sz="1100" dirty="0"/>
          </a:p>
        </p:txBody>
      </p:sp>
      <p:sp>
        <p:nvSpPr>
          <p:cNvPr id="27" name="Text 25"/>
          <p:cNvSpPr/>
          <p:nvPr/>
        </p:nvSpPr>
        <p:spPr>
          <a:xfrm>
            <a:off x="5239512" y="4983480"/>
            <a:ext cx="777240" cy="384048"/>
          </a:xfrm>
          <a:prstGeom prst="roundRect">
            <a:avLst>
              <a:gd name="adj" fmla="val 11905"/>
            </a:avLst>
          </a:prstGeom>
          <a:solidFill>
            <a:schemeClr val="accent1"/>
          </a:solidFill>
          <a:ln/>
        </p:spPr>
        <p:txBody>
          <a:bodyPr wrap="square" lIns="381" tIns="381" rIns="381" bIns="381" rtlCol="0" anchor="ctr"/>
          <a:lstStyle/>
          <a:p>
            <a:pPr marL="0" indent="0" algn="ctr">
              <a:buNone/>
            </a:pPr>
            <a:r>
              <a:rPr lang="en-US" sz="1100" b="1" dirty="0">
                <a:solidFill>
                  <a:schemeClr val="tx1"/>
                </a:solidFill>
              </a:rPr>
              <a:t>GPU1</a:t>
            </a:r>
            <a:endParaRPr lang="en-US" sz="1100" dirty="0"/>
          </a:p>
        </p:txBody>
      </p:sp>
      <p:sp>
        <p:nvSpPr>
          <p:cNvPr id="28" name="Text 26"/>
          <p:cNvSpPr/>
          <p:nvPr/>
        </p:nvSpPr>
        <p:spPr>
          <a:xfrm>
            <a:off x="6135624" y="4983480"/>
            <a:ext cx="777240" cy="384048"/>
          </a:xfrm>
          <a:prstGeom prst="roundRect">
            <a:avLst>
              <a:gd name="adj" fmla="val 11905"/>
            </a:avLst>
          </a:prstGeom>
          <a:solidFill>
            <a:schemeClr val="accent1"/>
          </a:solidFill>
          <a:ln/>
        </p:spPr>
        <p:txBody>
          <a:bodyPr wrap="square" lIns="381" tIns="381" rIns="381" bIns="381" rtlCol="0" anchor="ctr"/>
          <a:lstStyle/>
          <a:p>
            <a:pPr marL="0" indent="0" algn="ctr">
              <a:buNone/>
            </a:pPr>
            <a:r>
              <a:rPr lang="en-US" sz="1100" b="1" dirty="0">
                <a:solidFill>
                  <a:schemeClr val="tx1"/>
                </a:solidFill>
              </a:rPr>
              <a:t>GPU2</a:t>
            </a:r>
            <a:endParaRPr lang="en-US" sz="1100" dirty="0"/>
          </a:p>
        </p:txBody>
      </p:sp>
      <p:sp>
        <p:nvSpPr>
          <p:cNvPr id="29" name="Text 27"/>
          <p:cNvSpPr/>
          <p:nvPr/>
        </p:nvSpPr>
        <p:spPr>
          <a:xfrm>
            <a:off x="7031736" y="4983480"/>
            <a:ext cx="777240" cy="384048"/>
          </a:xfrm>
          <a:prstGeom prst="roundRect">
            <a:avLst>
              <a:gd name="adj" fmla="val 11905"/>
            </a:avLst>
          </a:prstGeom>
          <a:solidFill>
            <a:schemeClr val="accent1"/>
          </a:solidFill>
          <a:ln/>
        </p:spPr>
        <p:txBody>
          <a:bodyPr wrap="square" lIns="381" tIns="381" rIns="381" bIns="381" rtlCol="0" anchor="ctr"/>
          <a:lstStyle/>
          <a:p>
            <a:pPr marL="0" indent="0" algn="ctr">
              <a:buNone/>
            </a:pPr>
            <a:r>
              <a:rPr lang="en-US" sz="1100" b="1" dirty="0">
                <a:solidFill>
                  <a:schemeClr val="tx1"/>
                </a:solidFill>
              </a:rPr>
              <a:t>GPU3</a:t>
            </a:r>
            <a:endParaRPr lang="en-US" sz="1100" dirty="0"/>
          </a:p>
        </p:txBody>
      </p:sp>
      <p:sp>
        <p:nvSpPr>
          <p:cNvPr id="30" name="Text 28"/>
          <p:cNvSpPr/>
          <p:nvPr/>
        </p:nvSpPr>
        <p:spPr>
          <a:xfrm>
            <a:off x="7927848" y="4983480"/>
            <a:ext cx="777240" cy="384048"/>
          </a:xfrm>
          <a:prstGeom prst="roundRect">
            <a:avLst>
              <a:gd name="adj" fmla="val 11905"/>
            </a:avLst>
          </a:prstGeom>
          <a:solidFill>
            <a:schemeClr val="accent1"/>
          </a:solidFill>
          <a:ln/>
        </p:spPr>
        <p:txBody>
          <a:bodyPr wrap="square" lIns="381" tIns="381" rIns="381" bIns="381" rtlCol="0" anchor="ctr"/>
          <a:lstStyle/>
          <a:p>
            <a:pPr marL="0" indent="0" algn="ctr">
              <a:buNone/>
            </a:pPr>
            <a:r>
              <a:rPr lang="en-US" sz="1100" b="1" dirty="0">
                <a:solidFill>
                  <a:schemeClr val="tx1"/>
                </a:solidFill>
              </a:rPr>
              <a:t>GPU4</a:t>
            </a:r>
            <a:endParaRPr lang="en-US" sz="1100" dirty="0"/>
          </a:p>
        </p:txBody>
      </p:sp>
      <p:sp>
        <p:nvSpPr>
          <p:cNvPr id="31" name="Text 29"/>
          <p:cNvSpPr/>
          <p:nvPr/>
        </p:nvSpPr>
        <p:spPr>
          <a:xfrm>
            <a:off x="8823960" y="4983480"/>
            <a:ext cx="777240" cy="384048"/>
          </a:xfrm>
          <a:prstGeom prst="roundRect">
            <a:avLst>
              <a:gd name="adj" fmla="val 11905"/>
            </a:avLst>
          </a:prstGeom>
          <a:solidFill>
            <a:schemeClr val="accent1"/>
          </a:solidFill>
          <a:ln/>
        </p:spPr>
        <p:txBody>
          <a:bodyPr wrap="square" lIns="381" tIns="381" rIns="381" bIns="381" rtlCol="0" anchor="ctr"/>
          <a:lstStyle/>
          <a:p>
            <a:pPr marL="0" indent="0" algn="ctr">
              <a:buNone/>
            </a:pPr>
            <a:r>
              <a:rPr lang="en-US" sz="1100" b="1" dirty="0">
                <a:solidFill>
                  <a:schemeClr val="tx1"/>
                </a:solidFill>
              </a:rPr>
              <a:t>GPU5</a:t>
            </a:r>
            <a:endParaRPr lang="en-US" sz="1100" dirty="0"/>
          </a:p>
        </p:txBody>
      </p:sp>
      <p:sp>
        <p:nvSpPr>
          <p:cNvPr id="32" name="Text 30"/>
          <p:cNvSpPr/>
          <p:nvPr/>
        </p:nvSpPr>
        <p:spPr>
          <a:xfrm>
            <a:off x="9720072" y="4983480"/>
            <a:ext cx="777240" cy="384048"/>
          </a:xfrm>
          <a:prstGeom prst="roundRect">
            <a:avLst>
              <a:gd name="adj" fmla="val 11905"/>
            </a:avLst>
          </a:prstGeom>
          <a:solidFill>
            <a:schemeClr val="accent1"/>
          </a:solidFill>
          <a:ln/>
        </p:spPr>
        <p:txBody>
          <a:bodyPr wrap="square" lIns="381" tIns="381" rIns="381" bIns="381" rtlCol="0" anchor="ctr"/>
          <a:lstStyle/>
          <a:p>
            <a:pPr marL="0" indent="0" algn="ctr">
              <a:buNone/>
            </a:pPr>
            <a:r>
              <a:rPr lang="en-US" sz="1100" b="1" dirty="0">
                <a:solidFill>
                  <a:schemeClr val="tx1"/>
                </a:solidFill>
              </a:rPr>
              <a:t>GPU6</a:t>
            </a:r>
            <a:endParaRPr lang="en-US" sz="1100" dirty="0"/>
          </a:p>
        </p:txBody>
      </p:sp>
      <p:sp>
        <p:nvSpPr>
          <p:cNvPr id="33" name="Text 31"/>
          <p:cNvSpPr/>
          <p:nvPr/>
        </p:nvSpPr>
        <p:spPr>
          <a:xfrm>
            <a:off x="10616184" y="4983480"/>
            <a:ext cx="777240" cy="384048"/>
          </a:xfrm>
          <a:prstGeom prst="roundRect">
            <a:avLst>
              <a:gd name="adj" fmla="val 11905"/>
            </a:avLst>
          </a:prstGeom>
          <a:solidFill>
            <a:schemeClr val="accent1"/>
          </a:solidFill>
          <a:ln/>
        </p:spPr>
        <p:txBody>
          <a:bodyPr wrap="square" lIns="381" tIns="381" rIns="381" bIns="381" rtlCol="0" anchor="ctr"/>
          <a:lstStyle/>
          <a:p>
            <a:pPr marL="0" indent="0" algn="ctr">
              <a:buNone/>
            </a:pPr>
            <a:r>
              <a:rPr lang="en-US" sz="1100" b="1" dirty="0">
                <a:solidFill>
                  <a:schemeClr val="tx1"/>
                </a:solidFill>
              </a:rPr>
              <a:t>GPU7</a:t>
            </a:r>
            <a:endParaRPr lang="en-US" sz="1100" dirty="0"/>
          </a:p>
        </p:txBody>
      </p:sp>
      <p:sp>
        <p:nvSpPr>
          <p:cNvPr id="34" name="Text 32"/>
          <p:cNvSpPr/>
          <p:nvPr/>
        </p:nvSpPr>
        <p:spPr>
          <a:xfrm>
            <a:off x="4343400" y="5669280"/>
            <a:ext cx="7040880" cy="365760"/>
          </a:xfrm>
          <a:prstGeom prst="roundRect">
            <a:avLst>
              <a:gd name="adj" fmla="val 12500"/>
            </a:avLst>
          </a:prstGeom>
          <a:solidFill>
            <a:schemeClr val="accent4"/>
          </a:solidFill>
          <a:ln/>
        </p:spPr>
        <p:txBody>
          <a:bodyPr wrap="square" lIns="381" tIns="381" rIns="381" bIns="381" rtlCol="0" anchor="ctr"/>
          <a:lstStyle/>
          <a:p>
            <a:pPr marL="0" indent="0" algn="ctr">
              <a:buNone/>
            </a:pPr>
            <a:r>
              <a:rPr lang="en-US" sz="1200" b="1" dirty="0">
                <a:solidFill>
                  <a:schemeClr val="bg1"/>
                </a:solidFill>
              </a:rPr>
              <a:t>NVSwitch fabric (all-to-all, non-blocking)</a:t>
            </a:r>
            <a:endParaRPr lang="en-US" sz="1200" dirty="0"/>
          </a:p>
        </p:txBody>
      </p:sp>
      <p:sp>
        <p:nvSpPr>
          <p:cNvPr id="35" name="Shape 33"/>
          <p:cNvSpPr/>
          <p:nvPr/>
        </p:nvSpPr>
        <p:spPr>
          <a:xfrm>
            <a:off x="4732020" y="5367528"/>
            <a:ext cx="914" cy="301752"/>
          </a:xfrm>
          <a:prstGeom prst="line">
            <a:avLst/>
          </a:prstGeom>
          <a:noFill/>
          <a:ln w="19050">
            <a:solidFill>
              <a:srgbClr val="A8E05A"/>
            </a:solidFill>
            <a:prstDash val="solid"/>
          </a:ln>
        </p:spPr>
        <p:txBody>
          <a:bodyPr/>
          <a:lstStyle/>
          <a:p>
            <a:endParaRPr lang="en-US"/>
          </a:p>
        </p:txBody>
      </p:sp>
      <p:sp>
        <p:nvSpPr>
          <p:cNvPr id="36" name="Shape 34"/>
          <p:cNvSpPr/>
          <p:nvPr/>
        </p:nvSpPr>
        <p:spPr>
          <a:xfrm>
            <a:off x="5628132" y="5367528"/>
            <a:ext cx="914" cy="301752"/>
          </a:xfrm>
          <a:prstGeom prst="line">
            <a:avLst/>
          </a:prstGeom>
          <a:noFill/>
          <a:ln w="19050">
            <a:solidFill>
              <a:srgbClr val="A8E05A"/>
            </a:solidFill>
            <a:prstDash val="solid"/>
          </a:ln>
        </p:spPr>
        <p:txBody>
          <a:bodyPr/>
          <a:lstStyle/>
          <a:p>
            <a:endParaRPr lang="en-US"/>
          </a:p>
        </p:txBody>
      </p:sp>
      <p:sp>
        <p:nvSpPr>
          <p:cNvPr id="37" name="Shape 35"/>
          <p:cNvSpPr/>
          <p:nvPr/>
        </p:nvSpPr>
        <p:spPr>
          <a:xfrm>
            <a:off x="6524244" y="5367528"/>
            <a:ext cx="914" cy="301752"/>
          </a:xfrm>
          <a:prstGeom prst="line">
            <a:avLst/>
          </a:prstGeom>
          <a:noFill/>
          <a:ln w="19050">
            <a:solidFill>
              <a:srgbClr val="A8E05A"/>
            </a:solidFill>
            <a:prstDash val="solid"/>
          </a:ln>
        </p:spPr>
        <p:txBody>
          <a:bodyPr/>
          <a:lstStyle/>
          <a:p>
            <a:endParaRPr lang="en-US"/>
          </a:p>
        </p:txBody>
      </p:sp>
      <p:sp>
        <p:nvSpPr>
          <p:cNvPr id="38" name="Shape 36"/>
          <p:cNvSpPr/>
          <p:nvPr/>
        </p:nvSpPr>
        <p:spPr>
          <a:xfrm>
            <a:off x="7420356" y="5367528"/>
            <a:ext cx="914" cy="301752"/>
          </a:xfrm>
          <a:prstGeom prst="line">
            <a:avLst/>
          </a:prstGeom>
          <a:noFill/>
          <a:ln w="19050">
            <a:solidFill>
              <a:srgbClr val="A8E05A"/>
            </a:solidFill>
            <a:prstDash val="solid"/>
          </a:ln>
        </p:spPr>
        <p:txBody>
          <a:bodyPr/>
          <a:lstStyle/>
          <a:p>
            <a:endParaRPr lang="en-US"/>
          </a:p>
        </p:txBody>
      </p:sp>
      <p:sp>
        <p:nvSpPr>
          <p:cNvPr id="39" name="Shape 37"/>
          <p:cNvSpPr/>
          <p:nvPr/>
        </p:nvSpPr>
        <p:spPr>
          <a:xfrm>
            <a:off x="8316468" y="5367528"/>
            <a:ext cx="914" cy="301752"/>
          </a:xfrm>
          <a:prstGeom prst="line">
            <a:avLst/>
          </a:prstGeom>
          <a:noFill/>
          <a:ln w="19050">
            <a:solidFill>
              <a:srgbClr val="A8E05A"/>
            </a:solidFill>
            <a:prstDash val="solid"/>
          </a:ln>
        </p:spPr>
        <p:txBody>
          <a:bodyPr/>
          <a:lstStyle/>
          <a:p>
            <a:endParaRPr lang="en-US"/>
          </a:p>
        </p:txBody>
      </p:sp>
      <p:sp>
        <p:nvSpPr>
          <p:cNvPr id="40" name="Shape 38"/>
          <p:cNvSpPr/>
          <p:nvPr/>
        </p:nvSpPr>
        <p:spPr>
          <a:xfrm>
            <a:off x="9212580" y="5367528"/>
            <a:ext cx="914" cy="301752"/>
          </a:xfrm>
          <a:prstGeom prst="line">
            <a:avLst/>
          </a:prstGeom>
          <a:noFill/>
          <a:ln w="19050">
            <a:solidFill>
              <a:srgbClr val="A8E05A"/>
            </a:solidFill>
            <a:prstDash val="solid"/>
          </a:ln>
        </p:spPr>
        <p:txBody>
          <a:bodyPr/>
          <a:lstStyle/>
          <a:p>
            <a:endParaRPr lang="en-US"/>
          </a:p>
        </p:txBody>
      </p:sp>
      <p:sp>
        <p:nvSpPr>
          <p:cNvPr id="41" name="Shape 39"/>
          <p:cNvSpPr/>
          <p:nvPr/>
        </p:nvSpPr>
        <p:spPr>
          <a:xfrm>
            <a:off x="10108692" y="5367528"/>
            <a:ext cx="914" cy="301752"/>
          </a:xfrm>
          <a:prstGeom prst="line">
            <a:avLst/>
          </a:prstGeom>
          <a:noFill/>
          <a:ln w="19050">
            <a:solidFill>
              <a:srgbClr val="A8E05A"/>
            </a:solidFill>
            <a:prstDash val="solid"/>
          </a:ln>
        </p:spPr>
        <p:txBody>
          <a:bodyPr/>
          <a:lstStyle/>
          <a:p>
            <a:endParaRPr lang="en-US"/>
          </a:p>
        </p:txBody>
      </p:sp>
      <p:sp>
        <p:nvSpPr>
          <p:cNvPr id="42" name="Shape 40"/>
          <p:cNvSpPr/>
          <p:nvPr/>
        </p:nvSpPr>
        <p:spPr>
          <a:xfrm>
            <a:off x="11004804" y="5367528"/>
            <a:ext cx="914" cy="301752"/>
          </a:xfrm>
          <a:prstGeom prst="line">
            <a:avLst/>
          </a:prstGeom>
          <a:noFill/>
          <a:ln w="19050">
            <a:solidFill>
              <a:srgbClr val="A8E05A"/>
            </a:solidFill>
            <a:prstDash val="solid"/>
          </a:ln>
        </p:spPr>
        <p:txBody>
          <a:bodyPr/>
          <a:lstStyle/>
          <a:p>
            <a:endParaRPr lang="en-US"/>
          </a:p>
        </p:txBody>
      </p:sp>
      <p:sp>
        <p:nvSpPr>
          <p:cNvPr id="4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Form factors: PCIe card, SXM module, superchip</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The same GPU architecture comes in different physical packages</a:t>
            </a:r>
            <a:endParaRPr lang="en-US" sz="1600" dirty="0"/>
          </a:p>
        </p:txBody>
      </p:sp>
      <p:sp>
        <p:nvSpPr>
          <p:cNvPr id="4" name="Shape 2"/>
          <p:cNvSpPr/>
          <p:nvPr/>
        </p:nvSpPr>
        <p:spPr>
          <a:xfrm>
            <a:off x="548640" y="1600200"/>
            <a:ext cx="3566160" cy="4572000"/>
          </a:xfrm>
          <a:prstGeom prst="roundRect">
            <a:avLst>
              <a:gd name="adj" fmla="val 2051"/>
            </a:avLst>
          </a:prstGeom>
          <a:solidFill>
            <a:schemeClr val="bg2"/>
          </a:solidFill>
          <a:ln/>
        </p:spPr>
        <p:txBody>
          <a:bodyPr/>
          <a:lstStyle/>
          <a:p>
            <a:endParaRPr lang="en-US"/>
          </a:p>
        </p:txBody>
      </p:sp>
      <p:sp>
        <p:nvSpPr>
          <p:cNvPr id="5" name="Shape 3"/>
          <p:cNvSpPr/>
          <p:nvPr/>
        </p:nvSpPr>
        <p:spPr>
          <a:xfrm>
            <a:off x="777240" y="1783080"/>
            <a:ext cx="3108960" cy="1600200"/>
          </a:xfrm>
          <a:prstGeom prst="roundRect">
            <a:avLst>
              <a:gd name="adj" fmla="val 3429"/>
            </a:avLst>
          </a:prstGeom>
          <a:solidFill>
            <a:schemeClr val="bg1"/>
          </a:solidFill>
          <a:ln/>
        </p:spPr>
        <p:txBody>
          <a:bodyPr/>
          <a:lstStyle/>
          <a:p>
            <a:endParaRPr lang="en-US"/>
          </a:p>
        </p:txBody>
      </p:sp>
      <p:sp>
        <p:nvSpPr>
          <p:cNvPr id="6" name="Shape 4"/>
          <p:cNvSpPr/>
          <p:nvPr/>
        </p:nvSpPr>
        <p:spPr>
          <a:xfrm>
            <a:off x="1051560" y="2148840"/>
            <a:ext cx="2377440" cy="777240"/>
          </a:xfrm>
          <a:prstGeom prst="roundRect">
            <a:avLst>
              <a:gd name="adj" fmla="val 4706"/>
            </a:avLst>
          </a:prstGeom>
          <a:solidFill>
            <a:schemeClr val="tx2"/>
          </a:solidFill>
          <a:ln/>
        </p:spPr>
        <p:txBody>
          <a:bodyPr/>
          <a:lstStyle/>
          <a:p>
            <a:endParaRPr lang="en-US"/>
          </a:p>
        </p:txBody>
      </p:sp>
      <p:sp>
        <p:nvSpPr>
          <p:cNvPr id="7" name="Shape 5"/>
          <p:cNvSpPr/>
          <p:nvPr/>
        </p:nvSpPr>
        <p:spPr>
          <a:xfrm>
            <a:off x="960120" y="2057400"/>
            <a:ext cx="109728" cy="1051560"/>
          </a:xfrm>
          <a:prstGeom prst="rect">
            <a:avLst/>
          </a:prstGeom>
          <a:solidFill>
            <a:schemeClr val="accent5"/>
          </a:solidFill>
          <a:ln/>
        </p:spPr>
        <p:txBody>
          <a:bodyPr/>
          <a:lstStyle/>
          <a:p>
            <a:endParaRPr lang="en-US"/>
          </a:p>
        </p:txBody>
      </p:sp>
      <p:sp>
        <p:nvSpPr>
          <p:cNvPr id="8" name="Shape 6"/>
          <p:cNvSpPr/>
          <p:nvPr/>
        </p:nvSpPr>
        <p:spPr>
          <a:xfrm>
            <a:off x="1371600" y="2926080"/>
            <a:ext cx="91440" cy="164592"/>
          </a:xfrm>
          <a:prstGeom prst="rect">
            <a:avLst/>
          </a:prstGeom>
          <a:solidFill>
            <a:schemeClr val="accent3"/>
          </a:solidFill>
          <a:ln/>
        </p:spPr>
        <p:txBody>
          <a:bodyPr/>
          <a:lstStyle/>
          <a:p>
            <a:endParaRPr lang="en-US"/>
          </a:p>
        </p:txBody>
      </p:sp>
      <p:sp>
        <p:nvSpPr>
          <p:cNvPr id="9" name="Shape 7"/>
          <p:cNvSpPr/>
          <p:nvPr/>
        </p:nvSpPr>
        <p:spPr>
          <a:xfrm>
            <a:off x="1527048" y="2926080"/>
            <a:ext cx="91440" cy="164592"/>
          </a:xfrm>
          <a:prstGeom prst="rect">
            <a:avLst/>
          </a:prstGeom>
          <a:solidFill>
            <a:schemeClr val="accent3"/>
          </a:solidFill>
          <a:ln/>
        </p:spPr>
        <p:txBody>
          <a:bodyPr/>
          <a:lstStyle/>
          <a:p>
            <a:endParaRPr lang="en-US"/>
          </a:p>
        </p:txBody>
      </p:sp>
      <p:sp>
        <p:nvSpPr>
          <p:cNvPr id="10" name="Shape 8"/>
          <p:cNvSpPr/>
          <p:nvPr/>
        </p:nvSpPr>
        <p:spPr>
          <a:xfrm>
            <a:off x="1682496" y="2926080"/>
            <a:ext cx="91440" cy="164592"/>
          </a:xfrm>
          <a:prstGeom prst="rect">
            <a:avLst/>
          </a:prstGeom>
          <a:solidFill>
            <a:schemeClr val="accent3"/>
          </a:solidFill>
          <a:ln/>
        </p:spPr>
        <p:txBody>
          <a:bodyPr/>
          <a:lstStyle/>
          <a:p>
            <a:endParaRPr lang="en-US"/>
          </a:p>
        </p:txBody>
      </p:sp>
      <p:sp>
        <p:nvSpPr>
          <p:cNvPr id="11" name="Shape 9"/>
          <p:cNvSpPr/>
          <p:nvPr/>
        </p:nvSpPr>
        <p:spPr>
          <a:xfrm>
            <a:off x="1837944" y="2926080"/>
            <a:ext cx="91440" cy="164592"/>
          </a:xfrm>
          <a:prstGeom prst="rect">
            <a:avLst/>
          </a:prstGeom>
          <a:solidFill>
            <a:schemeClr val="accent3"/>
          </a:solidFill>
          <a:ln/>
        </p:spPr>
        <p:txBody>
          <a:bodyPr/>
          <a:lstStyle/>
          <a:p>
            <a:endParaRPr lang="en-US"/>
          </a:p>
        </p:txBody>
      </p:sp>
      <p:sp>
        <p:nvSpPr>
          <p:cNvPr id="12" name="Shape 10"/>
          <p:cNvSpPr/>
          <p:nvPr/>
        </p:nvSpPr>
        <p:spPr>
          <a:xfrm>
            <a:off x="1993392" y="2926080"/>
            <a:ext cx="91440" cy="164592"/>
          </a:xfrm>
          <a:prstGeom prst="rect">
            <a:avLst/>
          </a:prstGeom>
          <a:solidFill>
            <a:schemeClr val="accent3"/>
          </a:solidFill>
          <a:ln/>
        </p:spPr>
        <p:txBody>
          <a:bodyPr/>
          <a:lstStyle/>
          <a:p>
            <a:endParaRPr lang="en-US"/>
          </a:p>
        </p:txBody>
      </p:sp>
      <p:sp>
        <p:nvSpPr>
          <p:cNvPr id="13" name="Shape 11"/>
          <p:cNvSpPr/>
          <p:nvPr/>
        </p:nvSpPr>
        <p:spPr>
          <a:xfrm>
            <a:off x="2148840" y="2926080"/>
            <a:ext cx="91440" cy="164592"/>
          </a:xfrm>
          <a:prstGeom prst="rect">
            <a:avLst/>
          </a:prstGeom>
          <a:solidFill>
            <a:schemeClr val="accent3"/>
          </a:solidFill>
          <a:ln/>
        </p:spPr>
        <p:txBody>
          <a:bodyPr/>
          <a:lstStyle/>
          <a:p>
            <a:endParaRPr lang="en-US"/>
          </a:p>
        </p:txBody>
      </p:sp>
      <p:sp>
        <p:nvSpPr>
          <p:cNvPr id="14" name="Shape 12"/>
          <p:cNvSpPr/>
          <p:nvPr/>
        </p:nvSpPr>
        <p:spPr>
          <a:xfrm>
            <a:off x="2304288" y="2926080"/>
            <a:ext cx="91440" cy="164592"/>
          </a:xfrm>
          <a:prstGeom prst="rect">
            <a:avLst/>
          </a:prstGeom>
          <a:solidFill>
            <a:schemeClr val="accent3"/>
          </a:solidFill>
          <a:ln/>
        </p:spPr>
        <p:txBody>
          <a:bodyPr/>
          <a:lstStyle/>
          <a:p>
            <a:endParaRPr lang="en-US"/>
          </a:p>
        </p:txBody>
      </p:sp>
      <p:sp>
        <p:nvSpPr>
          <p:cNvPr id="15" name="Shape 13"/>
          <p:cNvSpPr/>
          <p:nvPr/>
        </p:nvSpPr>
        <p:spPr>
          <a:xfrm>
            <a:off x="2459736" y="2926080"/>
            <a:ext cx="91440" cy="164592"/>
          </a:xfrm>
          <a:prstGeom prst="rect">
            <a:avLst/>
          </a:prstGeom>
          <a:solidFill>
            <a:schemeClr val="accent3"/>
          </a:solidFill>
          <a:ln/>
        </p:spPr>
        <p:txBody>
          <a:bodyPr/>
          <a:lstStyle/>
          <a:p>
            <a:endParaRPr lang="en-US"/>
          </a:p>
        </p:txBody>
      </p:sp>
      <p:sp>
        <p:nvSpPr>
          <p:cNvPr id="16" name="Shape 14"/>
          <p:cNvSpPr/>
          <p:nvPr/>
        </p:nvSpPr>
        <p:spPr>
          <a:xfrm>
            <a:off x="2615184" y="2926080"/>
            <a:ext cx="91440" cy="164592"/>
          </a:xfrm>
          <a:prstGeom prst="rect">
            <a:avLst/>
          </a:prstGeom>
          <a:solidFill>
            <a:schemeClr val="accent3"/>
          </a:solidFill>
          <a:ln/>
        </p:spPr>
        <p:txBody>
          <a:bodyPr/>
          <a:lstStyle/>
          <a:p>
            <a:endParaRPr lang="en-US"/>
          </a:p>
        </p:txBody>
      </p:sp>
      <p:sp>
        <p:nvSpPr>
          <p:cNvPr id="17" name="Shape 15"/>
          <p:cNvSpPr/>
          <p:nvPr/>
        </p:nvSpPr>
        <p:spPr>
          <a:xfrm>
            <a:off x="2770632" y="2926080"/>
            <a:ext cx="91440" cy="164592"/>
          </a:xfrm>
          <a:prstGeom prst="rect">
            <a:avLst/>
          </a:prstGeom>
          <a:solidFill>
            <a:schemeClr val="accent3"/>
          </a:solidFill>
          <a:ln/>
        </p:spPr>
        <p:txBody>
          <a:bodyPr/>
          <a:lstStyle/>
          <a:p>
            <a:endParaRPr lang="en-US"/>
          </a:p>
        </p:txBody>
      </p:sp>
      <p:sp>
        <p:nvSpPr>
          <p:cNvPr id="18" name="Text 16"/>
          <p:cNvSpPr/>
          <p:nvPr/>
        </p:nvSpPr>
        <p:spPr>
          <a:xfrm>
            <a:off x="1783080" y="2286000"/>
            <a:ext cx="1097280" cy="457200"/>
          </a:xfrm>
          <a:prstGeom prst="roundRect">
            <a:avLst>
              <a:gd name="adj" fmla="val 10000"/>
            </a:avLst>
          </a:prstGeom>
          <a:solidFill>
            <a:schemeClr val="accent1"/>
          </a:solidFill>
          <a:ln/>
        </p:spPr>
        <p:txBody>
          <a:bodyPr wrap="square" lIns="381" tIns="381" rIns="381" bIns="381" rtlCol="0" anchor="ctr"/>
          <a:lstStyle/>
          <a:p>
            <a:pPr marL="0" indent="0" algn="ctr">
              <a:buNone/>
            </a:pPr>
            <a:r>
              <a:rPr lang="en-US" sz="1200" b="1" dirty="0">
                <a:solidFill>
                  <a:schemeClr val="tx1"/>
                </a:solidFill>
              </a:rPr>
              <a:t>GPU</a:t>
            </a:r>
            <a:endParaRPr lang="en-US" sz="1200" dirty="0"/>
          </a:p>
        </p:txBody>
      </p:sp>
      <p:sp>
        <p:nvSpPr>
          <p:cNvPr id="19" name="Text 17"/>
          <p:cNvSpPr txBox="1"/>
          <p:nvPr/>
        </p:nvSpPr>
        <p:spPr>
          <a:xfrm>
            <a:off x="777240" y="3566160"/>
            <a:ext cx="3108960" cy="411480"/>
          </a:xfrm>
          <a:prstGeom prst="rect">
            <a:avLst/>
          </a:prstGeom>
          <a:noFill/>
          <a:ln/>
        </p:spPr>
        <p:txBody>
          <a:bodyPr wrap="square" lIns="0" tIns="0" rIns="0" bIns="0" rtlCol="0" anchor="t"/>
          <a:lstStyle/>
          <a:p>
            <a:pPr marL="0" indent="0">
              <a:buNone/>
            </a:pPr>
            <a:r>
              <a:rPr lang="en-US" sz="2000" b="1" dirty="0">
                <a:solidFill>
                  <a:schemeClr val="tx1"/>
                </a:solidFill>
              </a:rPr>
              <a:t>PCIe card</a:t>
            </a:r>
            <a:endParaRPr lang="en-US" sz="2000" dirty="0"/>
          </a:p>
        </p:txBody>
      </p:sp>
      <p:sp>
        <p:nvSpPr>
          <p:cNvPr id="20" name="Text 18"/>
          <p:cNvSpPr txBox="1"/>
          <p:nvPr/>
        </p:nvSpPr>
        <p:spPr>
          <a:xfrm>
            <a:off x="777240" y="4023360"/>
            <a:ext cx="3154680" cy="20574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Fits standard servers; air-cooled</a:t>
            </a:r>
            <a:endParaRPr lang="en-US" sz="1400" dirty="0"/>
          </a:p>
          <a:p>
            <a:pPr marL="342900" indent="-342900">
              <a:spcAft>
                <a:spcPts val="600"/>
              </a:spcAft>
              <a:buSzPct val="100000"/>
              <a:buChar char="•"/>
            </a:pPr>
            <a:r>
              <a:rPr lang="en-US" sz="1400" dirty="0">
                <a:solidFill>
                  <a:schemeClr val="tx2"/>
                </a:solidFill>
              </a:rPr>
              <a:t>72–600 W (e.g. L4, L40S, H100 NVL)</a:t>
            </a:r>
            <a:endParaRPr lang="en-US" sz="1400" dirty="0"/>
          </a:p>
          <a:p>
            <a:pPr marL="342900" indent="-342900">
              <a:spcAft>
                <a:spcPts val="600"/>
              </a:spcAft>
              <a:buSzPct val="100000"/>
              <a:buChar char="•"/>
            </a:pPr>
            <a:r>
              <a:rPr lang="en-US" sz="1400" dirty="0">
                <a:solidFill>
                  <a:schemeClr val="tx2"/>
                </a:solidFill>
              </a:rPr>
              <a:t>Optional NVLink bridge for 2–4 cards</a:t>
            </a:r>
            <a:endParaRPr lang="en-US" sz="1400" dirty="0"/>
          </a:p>
          <a:p>
            <a:pPr marL="342900" indent="-342900">
              <a:spcAft>
                <a:spcPts val="600"/>
              </a:spcAft>
              <a:buSzPct val="100000"/>
              <a:buChar char="•"/>
            </a:pPr>
            <a:r>
              <a:rPr lang="en-US" sz="1400" dirty="0">
                <a:solidFill>
                  <a:schemeClr val="tx2"/>
                </a:solidFill>
              </a:rPr>
              <a:t>Best for inference and mixed enterprise fleets</a:t>
            </a:r>
            <a:endParaRPr lang="en-US" sz="1400" dirty="0"/>
          </a:p>
        </p:txBody>
      </p:sp>
      <p:sp>
        <p:nvSpPr>
          <p:cNvPr id="21" name="Shape 19"/>
          <p:cNvSpPr/>
          <p:nvPr/>
        </p:nvSpPr>
        <p:spPr>
          <a:xfrm>
            <a:off x="4297680" y="1600200"/>
            <a:ext cx="3566160" cy="4572000"/>
          </a:xfrm>
          <a:prstGeom prst="roundRect">
            <a:avLst>
              <a:gd name="adj" fmla="val 2051"/>
            </a:avLst>
          </a:prstGeom>
          <a:solidFill>
            <a:schemeClr val="bg2"/>
          </a:solidFill>
          <a:ln/>
        </p:spPr>
        <p:txBody>
          <a:bodyPr/>
          <a:lstStyle/>
          <a:p>
            <a:endParaRPr lang="en-US"/>
          </a:p>
        </p:txBody>
      </p:sp>
      <p:sp>
        <p:nvSpPr>
          <p:cNvPr id="22" name="Shape 20"/>
          <p:cNvSpPr/>
          <p:nvPr/>
        </p:nvSpPr>
        <p:spPr>
          <a:xfrm>
            <a:off x="4526280" y="1783080"/>
            <a:ext cx="3108960" cy="1600200"/>
          </a:xfrm>
          <a:prstGeom prst="roundRect">
            <a:avLst>
              <a:gd name="adj" fmla="val 3429"/>
            </a:avLst>
          </a:prstGeom>
          <a:solidFill>
            <a:schemeClr val="bg1"/>
          </a:solidFill>
          <a:ln/>
        </p:spPr>
        <p:txBody>
          <a:bodyPr/>
          <a:lstStyle/>
          <a:p>
            <a:endParaRPr lang="en-US"/>
          </a:p>
        </p:txBody>
      </p:sp>
      <p:sp>
        <p:nvSpPr>
          <p:cNvPr id="23" name="Shape 21"/>
          <p:cNvSpPr/>
          <p:nvPr/>
        </p:nvSpPr>
        <p:spPr>
          <a:xfrm>
            <a:off x="4709160" y="1920240"/>
            <a:ext cx="2743200" cy="1325880"/>
          </a:xfrm>
          <a:prstGeom prst="roundRect">
            <a:avLst>
              <a:gd name="adj" fmla="val 2759"/>
            </a:avLst>
          </a:prstGeom>
          <a:solidFill>
            <a:srgbClr val="DCE6DB"/>
          </a:solidFill>
          <a:ln/>
        </p:spPr>
        <p:txBody>
          <a:bodyPr/>
          <a:lstStyle/>
          <a:p>
            <a:endParaRPr lang="en-US"/>
          </a:p>
        </p:txBody>
      </p:sp>
      <p:sp>
        <p:nvSpPr>
          <p:cNvPr id="24" name="Text 22"/>
          <p:cNvSpPr/>
          <p:nvPr/>
        </p:nvSpPr>
        <p:spPr>
          <a:xfrm>
            <a:off x="4846320" y="2057400"/>
            <a:ext cx="548640" cy="502920"/>
          </a:xfrm>
          <a:prstGeom prst="roundRect">
            <a:avLst>
              <a:gd name="adj" fmla="val 9091"/>
            </a:avLst>
          </a:prstGeom>
          <a:solidFill>
            <a:schemeClr val="tx1"/>
          </a:solidFill>
          <a:ln/>
        </p:spPr>
        <p:txBody>
          <a:bodyPr wrap="square" lIns="381" tIns="381" rIns="381" bIns="381" rtlCol="0" anchor="ctr"/>
          <a:lstStyle/>
          <a:p>
            <a:pPr marL="0" indent="0" algn="ctr">
              <a:buNone/>
            </a:pPr>
            <a:r>
              <a:rPr lang="en-US" sz="1000" b="1" dirty="0">
                <a:solidFill>
                  <a:schemeClr val="accent1"/>
                </a:solidFill>
              </a:rPr>
              <a:t>SXM</a:t>
            </a:r>
            <a:endParaRPr lang="en-US" sz="1000" dirty="0"/>
          </a:p>
        </p:txBody>
      </p:sp>
      <p:sp>
        <p:nvSpPr>
          <p:cNvPr id="25" name="Text 23"/>
          <p:cNvSpPr/>
          <p:nvPr/>
        </p:nvSpPr>
        <p:spPr>
          <a:xfrm>
            <a:off x="5504688" y="2057400"/>
            <a:ext cx="548640" cy="502920"/>
          </a:xfrm>
          <a:prstGeom prst="roundRect">
            <a:avLst>
              <a:gd name="adj" fmla="val 9091"/>
            </a:avLst>
          </a:prstGeom>
          <a:solidFill>
            <a:schemeClr val="tx1"/>
          </a:solidFill>
          <a:ln/>
        </p:spPr>
        <p:txBody>
          <a:bodyPr wrap="square" lIns="381" tIns="381" rIns="381" bIns="381" rtlCol="0" anchor="ctr"/>
          <a:lstStyle/>
          <a:p>
            <a:pPr marL="0" indent="0" algn="ctr">
              <a:buNone/>
            </a:pPr>
            <a:r>
              <a:rPr lang="en-US" sz="1000" b="1" dirty="0">
                <a:solidFill>
                  <a:schemeClr val="accent1"/>
                </a:solidFill>
              </a:rPr>
              <a:t>SXM</a:t>
            </a:r>
            <a:endParaRPr lang="en-US" sz="1000" dirty="0"/>
          </a:p>
        </p:txBody>
      </p:sp>
      <p:sp>
        <p:nvSpPr>
          <p:cNvPr id="26" name="Text 24"/>
          <p:cNvSpPr/>
          <p:nvPr/>
        </p:nvSpPr>
        <p:spPr>
          <a:xfrm>
            <a:off x="6163056" y="2057400"/>
            <a:ext cx="548640" cy="502920"/>
          </a:xfrm>
          <a:prstGeom prst="roundRect">
            <a:avLst>
              <a:gd name="adj" fmla="val 9091"/>
            </a:avLst>
          </a:prstGeom>
          <a:solidFill>
            <a:schemeClr val="tx1"/>
          </a:solidFill>
          <a:ln/>
        </p:spPr>
        <p:txBody>
          <a:bodyPr wrap="square" lIns="381" tIns="381" rIns="381" bIns="381" rtlCol="0" anchor="ctr"/>
          <a:lstStyle/>
          <a:p>
            <a:pPr marL="0" indent="0" algn="ctr">
              <a:buNone/>
            </a:pPr>
            <a:r>
              <a:rPr lang="en-US" sz="1000" b="1" dirty="0">
                <a:solidFill>
                  <a:schemeClr val="accent1"/>
                </a:solidFill>
              </a:rPr>
              <a:t>SXM</a:t>
            </a:r>
            <a:endParaRPr lang="en-US" sz="1000" dirty="0"/>
          </a:p>
        </p:txBody>
      </p:sp>
      <p:sp>
        <p:nvSpPr>
          <p:cNvPr id="27" name="Text 25"/>
          <p:cNvSpPr/>
          <p:nvPr/>
        </p:nvSpPr>
        <p:spPr>
          <a:xfrm>
            <a:off x="6821424" y="2057400"/>
            <a:ext cx="548640" cy="502920"/>
          </a:xfrm>
          <a:prstGeom prst="roundRect">
            <a:avLst>
              <a:gd name="adj" fmla="val 9091"/>
            </a:avLst>
          </a:prstGeom>
          <a:solidFill>
            <a:schemeClr val="tx1"/>
          </a:solidFill>
          <a:ln/>
        </p:spPr>
        <p:txBody>
          <a:bodyPr wrap="square" lIns="381" tIns="381" rIns="381" bIns="381" rtlCol="0" anchor="ctr"/>
          <a:lstStyle/>
          <a:p>
            <a:pPr marL="0" indent="0" algn="ctr">
              <a:buNone/>
            </a:pPr>
            <a:r>
              <a:rPr lang="en-US" sz="1000" b="1" dirty="0">
                <a:solidFill>
                  <a:schemeClr val="accent1"/>
                </a:solidFill>
              </a:rPr>
              <a:t>SXM</a:t>
            </a:r>
            <a:endParaRPr lang="en-US" sz="1000" dirty="0"/>
          </a:p>
        </p:txBody>
      </p:sp>
      <p:sp>
        <p:nvSpPr>
          <p:cNvPr id="28" name="Text 26"/>
          <p:cNvSpPr/>
          <p:nvPr/>
        </p:nvSpPr>
        <p:spPr>
          <a:xfrm>
            <a:off x="4846320" y="2633472"/>
            <a:ext cx="548640" cy="502920"/>
          </a:xfrm>
          <a:prstGeom prst="roundRect">
            <a:avLst>
              <a:gd name="adj" fmla="val 9091"/>
            </a:avLst>
          </a:prstGeom>
          <a:solidFill>
            <a:schemeClr val="tx1"/>
          </a:solidFill>
          <a:ln/>
        </p:spPr>
        <p:txBody>
          <a:bodyPr wrap="square" lIns="381" tIns="381" rIns="381" bIns="381" rtlCol="0" anchor="ctr"/>
          <a:lstStyle/>
          <a:p>
            <a:pPr marL="0" indent="0" algn="ctr">
              <a:buNone/>
            </a:pPr>
            <a:r>
              <a:rPr lang="en-US" sz="1000" b="1" dirty="0">
                <a:solidFill>
                  <a:schemeClr val="accent1"/>
                </a:solidFill>
              </a:rPr>
              <a:t>SXM</a:t>
            </a:r>
            <a:endParaRPr lang="en-US" sz="1000" dirty="0"/>
          </a:p>
        </p:txBody>
      </p:sp>
      <p:sp>
        <p:nvSpPr>
          <p:cNvPr id="29" name="Text 27"/>
          <p:cNvSpPr/>
          <p:nvPr/>
        </p:nvSpPr>
        <p:spPr>
          <a:xfrm>
            <a:off x="5504688" y="2633472"/>
            <a:ext cx="548640" cy="502920"/>
          </a:xfrm>
          <a:prstGeom prst="roundRect">
            <a:avLst>
              <a:gd name="adj" fmla="val 9091"/>
            </a:avLst>
          </a:prstGeom>
          <a:solidFill>
            <a:schemeClr val="tx1"/>
          </a:solidFill>
          <a:ln/>
        </p:spPr>
        <p:txBody>
          <a:bodyPr wrap="square" lIns="381" tIns="381" rIns="381" bIns="381" rtlCol="0" anchor="ctr"/>
          <a:lstStyle/>
          <a:p>
            <a:pPr marL="0" indent="0" algn="ctr">
              <a:buNone/>
            </a:pPr>
            <a:r>
              <a:rPr lang="en-US" sz="1000" b="1" dirty="0">
                <a:solidFill>
                  <a:schemeClr val="accent1"/>
                </a:solidFill>
              </a:rPr>
              <a:t>SXM</a:t>
            </a:r>
            <a:endParaRPr lang="en-US" sz="1000" dirty="0"/>
          </a:p>
        </p:txBody>
      </p:sp>
      <p:sp>
        <p:nvSpPr>
          <p:cNvPr id="30" name="Text 28"/>
          <p:cNvSpPr/>
          <p:nvPr/>
        </p:nvSpPr>
        <p:spPr>
          <a:xfrm>
            <a:off x="6163056" y="2633472"/>
            <a:ext cx="548640" cy="502920"/>
          </a:xfrm>
          <a:prstGeom prst="roundRect">
            <a:avLst>
              <a:gd name="adj" fmla="val 9091"/>
            </a:avLst>
          </a:prstGeom>
          <a:solidFill>
            <a:schemeClr val="tx1"/>
          </a:solidFill>
          <a:ln/>
        </p:spPr>
        <p:txBody>
          <a:bodyPr wrap="square" lIns="381" tIns="381" rIns="381" bIns="381" rtlCol="0" anchor="ctr"/>
          <a:lstStyle/>
          <a:p>
            <a:pPr marL="0" indent="0" algn="ctr">
              <a:buNone/>
            </a:pPr>
            <a:r>
              <a:rPr lang="en-US" sz="1000" b="1" dirty="0">
                <a:solidFill>
                  <a:schemeClr val="accent1"/>
                </a:solidFill>
              </a:rPr>
              <a:t>SXM</a:t>
            </a:r>
            <a:endParaRPr lang="en-US" sz="1000" dirty="0"/>
          </a:p>
        </p:txBody>
      </p:sp>
      <p:sp>
        <p:nvSpPr>
          <p:cNvPr id="31" name="Text 29"/>
          <p:cNvSpPr/>
          <p:nvPr/>
        </p:nvSpPr>
        <p:spPr>
          <a:xfrm>
            <a:off x="6821424" y="2633472"/>
            <a:ext cx="548640" cy="502920"/>
          </a:xfrm>
          <a:prstGeom prst="roundRect">
            <a:avLst>
              <a:gd name="adj" fmla="val 9091"/>
            </a:avLst>
          </a:prstGeom>
          <a:solidFill>
            <a:schemeClr val="tx1"/>
          </a:solidFill>
          <a:ln/>
        </p:spPr>
        <p:txBody>
          <a:bodyPr wrap="square" lIns="381" tIns="381" rIns="381" bIns="381" rtlCol="0" anchor="ctr"/>
          <a:lstStyle/>
          <a:p>
            <a:pPr marL="0" indent="0" algn="ctr">
              <a:buNone/>
            </a:pPr>
            <a:r>
              <a:rPr lang="en-US" sz="1000" b="1" dirty="0">
                <a:solidFill>
                  <a:schemeClr val="accent1"/>
                </a:solidFill>
              </a:rPr>
              <a:t>SXM</a:t>
            </a:r>
            <a:endParaRPr lang="en-US" sz="1000" dirty="0"/>
          </a:p>
        </p:txBody>
      </p:sp>
      <p:sp>
        <p:nvSpPr>
          <p:cNvPr id="32" name="Text 30"/>
          <p:cNvSpPr txBox="1"/>
          <p:nvPr/>
        </p:nvSpPr>
        <p:spPr>
          <a:xfrm>
            <a:off x="4526280" y="3566160"/>
            <a:ext cx="3108960" cy="411480"/>
          </a:xfrm>
          <a:prstGeom prst="rect">
            <a:avLst/>
          </a:prstGeom>
          <a:noFill/>
          <a:ln/>
        </p:spPr>
        <p:txBody>
          <a:bodyPr wrap="square" lIns="0" tIns="0" rIns="0" bIns="0" rtlCol="0" anchor="t"/>
          <a:lstStyle/>
          <a:p>
            <a:pPr marL="0" indent="0">
              <a:buNone/>
            </a:pPr>
            <a:r>
              <a:rPr lang="en-US" sz="2000" b="1" dirty="0">
                <a:solidFill>
                  <a:schemeClr val="tx1"/>
                </a:solidFill>
              </a:rPr>
              <a:t>SXM module</a:t>
            </a:r>
            <a:endParaRPr lang="en-US" sz="2000" dirty="0"/>
          </a:p>
        </p:txBody>
      </p:sp>
      <p:sp>
        <p:nvSpPr>
          <p:cNvPr id="33" name="Text 31"/>
          <p:cNvSpPr txBox="1"/>
          <p:nvPr/>
        </p:nvSpPr>
        <p:spPr>
          <a:xfrm>
            <a:off x="4526280" y="4023360"/>
            <a:ext cx="3154680" cy="20574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Mounted on an HGX baseboard of 4 or 8 GPUs</a:t>
            </a:r>
            <a:endParaRPr lang="en-US" sz="1400" dirty="0"/>
          </a:p>
          <a:p>
            <a:pPr marL="342900" indent="-342900">
              <a:spcAft>
                <a:spcPts val="600"/>
              </a:spcAft>
              <a:buSzPct val="100000"/>
              <a:buChar char="•"/>
            </a:pPr>
            <a:r>
              <a:rPr lang="en-US" sz="1400" dirty="0">
                <a:solidFill>
                  <a:schemeClr val="tx2"/>
                </a:solidFill>
              </a:rPr>
              <a:t>Up to 700 W (H100) or 1,000 W+ (B200)</a:t>
            </a:r>
            <a:endParaRPr lang="en-US" sz="1400" dirty="0"/>
          </a:p>
          <a:p>
            <a:pPr marL="342900" indent="-342900">
              <a:spcAft>
                <a:spcPts val="600"/>
              </a:spcAft>
              <a:buSzPct val="100000"/>
              <a:buChar char="•"/>
            </a:pPr>
            <a:r>
              <a:rPr lang="en-US" sz="1400" dirty="0">
                <a:solidFill>
                  <a:schemeClr val="tx2"/>
                </a:solidFill>
              </a:rPr>
              <a:t>Full NVSwitch fabric between all GPUs</a:t>
            </a:r>
            <a:endParaRPr lang="en-US" sz="1400" dirty="0"/>
          </a:p>
          <a:p>
            <a:pPr marL="342900" indent="-342900">
              <a:spcAft>
                <a:spcPts val="600"/>
              </a:spcAft>
              <a:buSzPct val="100000"/>
              <a:buChar char="•"/>
            </a:pPr>
            <a:r>
              <a:rPr lang="en-US" sz="1400" dirty="0">
                <a:solidFill>
                  <a:schemeClr val="tx2"/>
                </a:solidFill>
              </a:rPr>
              <a:t>Best for training and large-model inference</a:t>
            </a:r>
            <a:endParaRPr lang="en-US" sz="1400" dirty="0"/>
          </a:p>
        </p:txBody>
      </p:sp>
      <p:sp>
        <p:nvSpPr>
          <p:cNvPr id="34" name="Shape 32"/>
          <p:cNvSpPr/>
          <p:nvPr/>
        </p:nvSpPr>
        <p:spPr>
          <a:xfrm>
            <a:off x="8046720" y="1600200"/>
            <a:ext cx="3566160" cy="4572000"/>
          </a:xfrm>
          <a:prstGeom prst="roundRect">
            <a:avLst>
              <a:gd name="adj" fmla="val 2051"/>
            </a:avLst>
          </a:prstGeom>
          <a:solidFill>
            <a:schemeClr val="bg2"/>
          </a:solidFill>
          <a:ln/>
        </p:spPr>
        <p:txBody>
          <a:bodyPr/>
          <a:lstStyle/>
          <a:p>
            <a:endParaRPr lang="en-US"/>
          </a:p>
        </p:txBody>
      </p:sp>
      <p:sp>
        <p:nvSpPr>
          <p:cNvPr id="35" name="Shape 33"/>
          <p:cNvSpPr/>
          <p:nvPr/>
        </p:nvSpPr>
        <p:spPr>
          <a:xfrm>
            <a:off x="8275320" y="1783080"/>
            <a:ext cx="3108960" cy="1600200"/>
          </a:xfrm>
          <a:prstGeom prst="roundRect">
            <a:avLst>
              <a:gd name="adj" fmla="val 3429"/>
            </a:avLst>
          </a:prstGeom>
          <a:solidFill>
            <a:schemeClr val="bg1"/>
          </a:solidFill>
          <a:ln/>
        </p:spPr>
        <p:txBody>
          <a:bodyPr/>
          <a:lstStyle/>
          <a:p>
            <a:endParaRPr lang="en-US"/>
          </a:p>
        </p:txBody>
      </p:sp>
      <p:sp>
        <p:nvSpPr>
          <p:cNvPr id="36" name="Text 34"/>
          <p:cNvSpPr/>
          <p:nvPr/>
        </p:nvSpPr>
        <p:spPr>
          <a:xfrm>
            <a:off x="8458200" y="2148840"/>
            <a:ext cx="960120" cy="868680"/>
          </a:xfrm>
          <a:prstGeom prst="roundRect">
            <a:avLst>
              <a:gd name="adj" fmla="val 5263"/>
            </a:avLst>
          </a:prstGeom>
          <a:solidFill>
            <a:schemeClr val="accent4"/>
          </a:solidFill>
          <a:ln/>
        </p:spPr>
        <p:txBody>
          <a:bodyPr wrap="square" lIns="381" tIns="381" rIns="381" bIns="381" rtlCol="0" anchor="ctr"/>
          <a:lstStyle/>
          <a:p>
            <a:pPr marL="0" indent="0" algn="ctr">
              <a:buNone/>
            </a:pPr>
            <a:r>
              <a:rPr lang="en-US" sz="1200" b="1" dirty="0">
                <a:solidFill>
                  <a:schemeClr val="bg1"/>
                </a:solidFill>
              </a:rPr>
              <a:t>Grace</a:t>
            </a:r>
            <a:endParaRPr lang="en-US" sz="1200" dirty="0"/>
          </a:p>
          <a:p>
            <a:pPr marL="0" indent="0" algn="ctr">
              <a:buNone/>
            </a:pPr>
            <a:r>
              <a:rPr lang="en-US" sz="1200" b="1" dirty="0">
                <a:solidFill>
                  <a:schemeClr val="bg1"/>
                </a:solidFill>
              </a:rPr>
              <a:t>CPU</a:t>
            </a:r>
            <a:endParaRPr lang="en-US" sz="1200" dirty="0"/>
          </a:p>
        </p:txBody>
      </p:sp>
      <p:sp>
        <p:nvSpPr>
          <p:cNvPr id="37" name="Text 35"/>
          <p:cNvSpPr/>
          <p:nvPr/>
        </p:nvSpPr>
        <p:spPr>
          <a:xfrm>
            <a:off x="9875520" y="1965960"/>
            <a:ext cx="1325880" cy="548640"/>
          </a:xfrm>
          <a:prstGeom prst="roundRect">
            <a:avLst>
              <a:gd name="adj" fmla="val 8333"/>
            </a:avLst>
          </a:prstGeom>
          <a:solidFill>
            <a:schemeClr val="accent1"/>
          </a:solidFill>
          <a:ln/>
        </p:spPr>
        <p:txBody>
          <a:bodyPr wrap="square" lIns="381" tIns="381" rIns="381" bIns="381" rtlCol="0" anchor="ctr"/>
          <a:lstStyle/>
          <a:p>
            <a:pPr marL="0" indent="0" algn="ctr">
              <a:buNone/>
            </a:pPr>
            <a:r>
              <a:rPr lang="en-US" sz="1200" b="1" dirty="0">
                <a:solidFill>
                  <a:schemeClr val="tx1"/>
                </a:solidFill>
              </a:rPr>
              <a:t>Blackwell</a:t>
            </a:r>
            <a:endParaRPr lang="en-US" sz="1200" dirty="0"/>
          </a:p>
        </p:txBody>
      </p:sp>
      <p:sp>
        <p:nvSpPr>
          <p:cNvPr id="38" name="Text 36"/>
          <p:cNvSpPr/>
          <p:nvPr/>
        </p:nvSpPr>
        <p:spPr>
          <a:xfrm>
            <a:off x="9875520" y="2651760"/>
            <a:ext cx="1325880" cy="548640"/>
          </a:xfrm>
          <a:prstGeom prst="roundRect">
            <a:avLst>
              <a:gd name="adj" fmla="val 8333"/>
            </a:avLst>
          </a:prstGeom>
          <a:solidFill>
            <a:schemeClr val="accent1"/>
          </a:solidFill>
          <a:ln/>
        </p:spPr>
        <p:txBody>
          <a:bodyPr wrap="square" lIns="381" tIns="381" rIns="381" bIns="381" rtlCol="0" anchor="ctr"/>
          <a:lstStyle/>
          <a:p>
            <a:pPr marL="0" indent="0" algn="ctr">
              <a:buNone/>
            </a:pPr>
            <a:r>
              <a:rPr lang="en-US" sz="1200" b="1" dirty="0">
                <a:solidFill>
                  <a:schemeClr val="tx1"/>
                </a:solidFill>
              </a:rPr>
              <a:t>Blackwell</a:t>
            </a:r>
            <a:endParaRPr lang="en-US" sz="1200" dirty="0"/>
          </a:p>
        </p:txBody>
      </p:sp>
      <p:sp>
        <p:nvSpPr>
          <p:cNvPr id="39" name="Shape 37"/>
          <p:cNvSpPr/>
          <p:nvPr/>
        </p:nvSpPr>
        <p:spPr>
          <a:xfrm flipH="1">
            <a:off x="9418320" y="2240280"/>
            <a:ext cx="457200" cy="338328"/>
          </a:xfrm>
          <a:prstGeom prst="line">
            <a:avLst/>
          </a:prstGeom>
          <a:noFill/>
          <a:ln w="31750">
            <a:solidFill>
              <a:schemeClr val="accent2"/>
            </a:solidFill>
            <a:prstDash val="solid"/>
          </a:ln>
        </p:spPr>
        <p:txBody>
          <a:bodyPr/>
          <a:lstStyle/>
          <a:p>
            <a:endParaRPr lang="en-US"/>
          </a:p>
        </p:txBody>
      </p:sp>
      <p:sp>
        <p:nvSpPr>
          <p:cNvPr id="40" name="Shape 38"/>
          <p:cNvSpPr/>
          <p:nvPr/>
        </p:nvSpPr>
        <p:spPr>
          <a:xfrm>
            <a:off x="9418320" y="2578608"/>
            <a:ext cx="457200" cy="347472"/>
          </a:xfrm>
          <a:prstGeom prst="line">
            <a:avLst/>
          </a:prstGeom>
          <a:noFill/>
          <a:ln w="31750">
            <a:solidFill>
              <a:schemeClr val="accent2"/>
            </a:solidFill>
            <a:prstDash val="solid"/>
          </a:ln>
        </p:spPr>
        <p:txBody>
          <a:bodyPr/>
          <a:lstStyle/>
          <a:p>
            <a:endParaRPr lang="en-US"/>
          </a:p>
        </p:txBody>
      </p:sp>
      <p:sp>
        <p:nvSpPr>
          <p:cNvPr id="41" name="Text 39"/>
          <p:cNvSpPr txBox="1"/>
          <p:nvPr/>
        </p:nvSpPr>
        <p:spPr>
          <a:xfrm>
            <a:off x="8275320" y="3566160"/>
            <a:ext cx="3108960" cy="411480"/>
          </a:xfrm>
          <a:prstGeom prst="rect">
            <a:avLst/>
          </a:prstGeom>
          <a:noFill/>
          <a:ln/>
        </p:spPr>
        <p:txBody>
          <a:bodyPr wrap="square" lIns="0" tIns="0" rIns="0" bIns="0" rtlCol="0" anchor="t"/>
          <a:lstStyle/>
          <a:p>
            <a:pPr marL="0" indent="0">
              <a:buNone/>
            </a:pPr>
            <a:r>
              <a:rPr lang="en-US" sz="2000" b="1" dirty="0">
                <a:solidFill>
                  <a:schemeClr val="tx1"/>
                </a:solidFill>
              </a:rPr>
              <a:t>Superchip</a:t>
            </a:r>
            <a:endParaRPr lang="en-US" sz="2000" dirty="0"/>
          </a:p>
        </p:txBody>
      </p:sp>
      <p:sp>
        <p:nvSpPr>
          <p:cNvPr id="42" name="Text 40"/>
          <p:cNvSpPr txBox="1"/>
          <p:nvPr/>
        </p:nvSpPr>
        <p:spPr>
          <a:xfrm>
            <a:off x="8275320" y="4023360"/>
            <a:ext cx="3154680" cy="20574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Grace CPU + GPU on one board via NVLink-C2C</a:t>
            </a:r>
            <a:endParaRPr lang="en-US" sz="1400" dirty="0"/>
          </a:p>
          <a:p>
            <a:pPr marL="342900" indent="-342900">
              <a:spcAft>
                <a:spcPts val="600"/>
              </a:spcAft>
              <a:buSzPct val="100000"/>
              <a:buChar char="•"/>
            </a:pPr>
            <a:r>
              <a:rPr lang="en-US" sz="1400" dirty="0">
                <a:solidFill>
                  <a:schemeClr val="tx2"/>
                </a:solidFill>
              </a:rPr>
              <a:t>GH200, GB200, GB300</a:t>
            </a:r>
            <a:endParaRPr lang="en-US" sz="1400" dirty="0"/>
          </a:p>
          <a:p>
            <a:pPr marL="342900" indent="-342900">
              <a:spcAft>
                <a:spcPts val="600"/>
              </a:spcAft>
              <a:buSzPct val="100000"/>
              <a:buChar char="•"/>
            </a:pPr>
            <a:r>
              <a:rPr lang="en-US" sz="1400" dirty="0">
                <a:solidFill>
                  <a:schemeClr val="tx2"/>
                </a:solidFill>
              </a:rPr>
              <a:t>Built into rack-scale NVL72 systems</a:t>
            </a:r>
            <a:endParaRPr lang="en-US" sz="1400" dirty="0"/>
          </a:p>
          <a:p>
            <a:pPr marL="342900" indent="-342900">
              <a:spcAft>
                <a:spcPts val="600"/>
              </a:spcAft>
              <a:buSzPct val="100000"/>
              <a:buChar char="•"/>
            </a:pPr>
            <a:r>
              <a:rPr lang="en-US" sz="1400" dirty="0">
                <a:solidFill>
                  <a:schemeClr val="tx2"/>
                </a:solidFill>
              </a:rPr>
              <a:t>Best for the largest models; liquid-cooled</a:t>
            </a:r>
            <a:endParaRPr lang="en-US" sz="1400" dirty="0"/>
          </a:p>
        </p:txBody>
      </p:sp>
      <p:sp>
        <p:nvSpPr>
          <p:cNvPr id="4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Board-level components around the GPU</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Power, cooling, firmware and management: everything that keeps the GPU running 24/7</a:t>
            </a:r>
            <a:endParaRPr lang="en-US" sz="1600" dirty="0"/>
          </a:p>
        </p:txBody>
      </p:sp>
      <p:sp>
        <p:nvSpPr>
          <p:cNvPr id="4" name="card"/>
          <p:cNvSpPr/>
          <p:nvPr/>
        </p:nvSpPr>
        <p:spPr>
          <a:xfrm>
            <a:off x="548640" y="1600200"/>
            <a:ext cx="3566160" cy="2194560"/>
          </a:xfrm>
          <a:prstGeom prst="roundRect">
            <a:avLst>
              <a:gd name="adj" fmla="val 3333"/>
            </a:avLst>
          </a:prstGeom>
          <a:solidFill>
            <a:schemeClr val="bg2"/>
          </a:solidFill>
          <a:ln/>
        </p:spPr>
        <p:txBody>
          <a:bodyPr/>
          <a:lstStyle/>
          <a:p>
            <a:endParaRPr lang="en-US"/>
          </a:p>
        </p:txBody>
      </p:sp>
      <p:sp>
        <p:nvSpPr>
          <p:cNvPr id="5" name="Shape 3"/>
          <p:cNvSpPr/>
          <p:nvPr/>
        </p:nvSpPr>
        <p:spPr>
          <a:xfrm>
            <a:off x="749808" y="1801368"/>
            <a:ext cx="548640" cy="548640"/>
          </a:xfrm>
          <a:prstGeom prst="ellipse">
            <a:avLst/>
          </a:prstGeom>
          <a:solidFill>
            <a:schemeClr val="accent1"/>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870509" y="1922069"/>
            <a:ext cx="307238" cy="307238"/>
          </a:xfrm>
          <a:prstGeom prst="rect">
            <a:avLst/>
          </a:prstGeom>
        </p:spPr>
      </p:pic>
      <p:sp>
        <p:nvSpPr>
          <p:cNvPr id="7" name="Text 4"/>
          <p:cNvSpPr txBox="1"/>
          <p:nvPr/>
        </p:nvSpPr>
        <p:spPr>
          <a:xfrm>
            <a:off x="1417320" y="1801368"/>
            <a:ext cx="2514600" cy="548640"/>
          </a:xfrm>
          <a:prstGeom prst="rect">
            <a:avLst/>
          </a:prstGeom>
          <a:noFill/>
          <a:ln/>
        </p:spPr>
        <p:txBody>
          <a:bodyPr wrap="square" lIns="0" tIns="0" rIns="0" bIns="0" rtlCol="0" anchor="ctr"/>
          <a:lstStyle/>
          <a:p>
            <a:pPr marL="0" indent="0">
              <a:buNone/>
            </a:pPr>
            <a:r>
              <a:rPr lang="en-US" sz="1700" b="1" dirty="0">
                <a:solidFill>
                  <a:schemeClr val="tx1"/>
                </a:solidFill>
              </a:rPr>
              <a:t>Power delivery</a:t>
            </a:r>
            <a:endParaRPr lang="en-US" sz="1700" dirty="0"/>
          </a:p>
        </p:txBody>
      </p:sp>
      <p:sp>
        <p:nvSpPr>
          <p:cNvPr id="8" name="Text 5"/>
          <p:cNvSpPr txBox="1"/>
          <p:nvPr/>
        </p:nvSpPr>
        <p:spPr>
          <a:xfrm>
            <a:off x="749808" y="2496312"/>
            <a:ext cx="3163824" cy="1161288"/>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2"/>
                </a:solidFill>
              </a:rPr>
              <a:t>VRMs convert board power to core voltages</a:t>
            </a:r>
            <a:endParaRPr lang="en-US" sz="1300" dirty="0"/>
          </a:p>
          <a:p>
            <a:pPr marL="342900" indent="-342900">
              <a:spcAft>
                <a:spcPts val="500"/>
              </a:spcAft>
              <a:buSzPct val="100000"/>
              <a:buChar char="•"/>
            </a:pPr>
            <a:r>
              <a:rPr lang="en-US" sz="1300" dirty="0">
                <a:solidFill>
                  <a:schemeClr val="tx2"/>
                </a:solidFill>
              </a:rPr>
              <a:t>Power ranges from 72 W (L4) to 1,000 W+ (B200)</a:t>
            </a:r>
            <a:endParaRPr lang="en-US" sz="1300" dirty="0"/>
          </a:p>
          <a:p>
            <a:pPr marL="342900" indent="-342900">
              <a:spcAft>
                <a:spcPts val="500"/>
              </a:spcAft>
              <a:buSzPct val="100000"/>
              <a:buChar char="•"/>
            </a:pPr>
            <a:r>
              <a:rPr lang="en-US" sz="1300" dirty="0">
                <a:solidFill>
                  <a:schemeClr val="tx2"/>
                </a:solidFill>
              </a:rPr>
              <a:t>Power capping trades a little speed for efficiency</a:t>
            </a:r>
            <a:endParaRPr lang="en-US" sz="1300" dirty="0"/>
          </a:p>
        </p:txBody>
      </p:sp>
      <p:sp>
        <p:nvSpPr>
          <p:cNvPr id="9" name="card"/>
          <p:cNvSpPr/>
          <p:nvPr/>
        </p:nvSpPr>
        <p:spPr>
          <a:xfrm>
            <a:off x="4297680" y="1600200"/>
            <a:ext cx="3566160" cy="2194560"/>
          </a:xfrm>
          <a:prstGeom prst="roundRect">
            <a:avLst>
              <a:gd name="adj" fmla="val 3333"/>
            </a:avLst>
          </a:prstGeom>
          <a:solidFill>
            <a:schemeClr val="bg2"/>
          </a:solidFill>
          <a:ln/>
        </p:spPr>
        <p:txBody>
          <a:bodyPr/>
          <a:lstStyle/>
          <a:p>
            <a:endParaRPr lang="en-US"/>
          </a:p>
        </p:txBody>
      </p:sp>
      <p:sp>
        <p:nvSpPr>
          <p:cNvPr id="10" name="Shape 7"/>
          <p:cNvSpPr/>
          <p:nvPr/>
        </p:nvSpPr>
        <p:spPr>
          <a:xfrm>
            <a:off x="4498848" y="1801368"/>
            <a:ext cx="548640" cy="548640"/>
          </a:xfrm>
          <a:prstGeom prst="ellipse">
            <a:avLst/>
          </a:prstGeom>
          <a:solidFill>
            <a:schemeClr val="accent1"/>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4619549" y="1922069"/>
            <a:ext cx="307238" cy="307238"/>
          </a:xfrm>
          <a:prstGeom prst="rect">
            <a:avLst/>
          </a:prstGeom>
        </p:spPr>
      </p:pic>
      <p:sp>
        <p:nvSpPr>
          <p:cNvPr id="12" name="Text 8"/>
          <p:cNvSpPr txBox="1"/>
          <p:nvPr/>
        </p:nvSpPr>
        <p:spPr>
          <a:xfrm>
            <a:off x="5166360" y="1801368"/>
            <a:ext cx="2514600" cy="548640"/>
          </a:xfrm>
          <a:prstGeom prst="rect">
            <a:avLst/>
          </a:prstGeom>
          <a:noFill/>
          <a:ln/>
        </p:spPr>
        <p:txBody>
          <a:bodyPr wrap="square" lIns="0" tIns="0" rIns="0" bIns="0" rtlCol="0" anchor="ctr"/>
          <a:lstStyle/>
          <a:p>
            <a:pPr marL="0" indent="0">
              <a:buNone/>
            </a:pPr>
            <a:r>
              <a:rPr lang="en-US" sz="1700" b="1" dirty="0">
                <a:solidFill>
                  <a:schemeClr val="tx1"/>
                </a:solidFill>
              </a:rPr>
              <a:t>Thermal design</a:t>
            </a:r>
            <a:endParaRPr lang="en-US" sz="1700" dirty="0"/>
          </a:p>
        </p:txBody>
      </p:sp>
      <p:sp>
        <p:nvSpPr>
          <p:cNvPr id="13" name="Text 9"/>
          <p:cNvSpPr txBox="1"/>
          <p:nvPr/>
        </p:nvSpPr>
        <p:spPr>
          <a:xfrm>
            <a:off x="4498848" y="2496312"/>
            <a:ext cx="3163824" cy="1161288"/>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2"/>
                </a:solidFill>
              </a:rPr>
              <a:t>Passive heatsinks rely on server airflow</a:t>
            </a:r>
            <a:endParaRPr lang="en-US" sz="1300" dirty="0"/>
          </a:p>
          <a:p>
            <a:pPr marL="342900" indent="-342900">
              <a:spcAft>
                <a:spcPts val="500"/>
              </a:spcAft>
              <a:buSzPct val="100000"/>
              <a:buChar char="•"/>
            </a:pPr>
            <a:r>
              <a:rPr lang="en-US" sz="1300" dirty="0">
                <a:solidFill>
                  <a:schemeClr val="tx2"/>
                </a:solidFill>
              </a:rPr>
              <a:t>Direct liquid cooling for 1 kW-class GPUs</a:t>
            </a:r>
            <a:endParaRPr lang="en-US" sz="1300" dirty="0"/>
          </a:p>
          <a:p>
            <a:pPr marL="342900" indent="-342900">
              <a:spcAft>
                <a:spcPts val="500"/>
              </a:spcAft>
              <a:buSzPct val="100000"/>
              <a:buChar char="•"/>
            </a:pPr>
            <a:r>
              <a:rPr lang="en-US" sz="1300" dirty="0">
                <a:solidFill>
                  <a:schemeClr val="tx2"/>
                </a:solidFill>
              </a:rPr>
              <a:t>Thermal throttling cuts clocks when too hot</a:t>
            </a:r>
            <a:endParaRPr lang="en-US" sz="1300" dirty="0"/>
          </a:p>
        </p:txBody>
      </p:sp>
      <p:sp>
        <p:nvSpPr>
          <p:cNvPr id="14" name="card"/>
          <p:cNvSpPr/>
          <p:nvPr/>
        </p:nvSpPr>
        <p:spPr>
          <a:xfrm>
            <a:off x="8046720" y="1600200"/>
            <a:ext cx="3566160" cy="2194560"/>
          </a:xfrm>
          <a:prstGeom prst="roundRect">
            <a:avLst>
              <a:gd name="adj" fmla="val 3333"/>
            </a:avLst>
          </a:prstGeom>
          <a:solidFill>
            <a:schemeClr val="bg2"/>
          </a:solidFill>
          <a:ln/>
        </p:spPr>
        <p:txBody>
          <a:bodyPr/>
          <a:lstStyle/>
          <a:p>
            <a:endParaRPr lang="en-US"/>
          </a:p>
        </p:txBody>
      </p:sp>
      <p:sp>
        <p:nvSpPr>
          <p:cNvPr id="15" name="Shape 11"/>
          <p:cNvSpPr/>
          <p:nvPr/>
        </p:nvSpPr>
        <p:spPr>
          <a:xfrm>
            <a:off x="8247888" y="1801368"/>
            <a:ext cx="548640" cy="548640"/>
          </a:xfrm>
          <a:prstGeom prst="ellipse">
            <a:avLst/>
          </a:prstGeom>
          <a:solidFill>
            <a:schemeClr val="accent1"/>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8368589" y="1922069"/>
            <a:ext cx="307238" cy="307238"/>
          </a:xfrm>
          <a:prstGeom prst="rect">
            <a:avLst/>
          </a:prstGeom>
        </p:spPr>
      </p:pic>
      <p:sp>
        <p:nvSpPr>
          <p:cNvPr id="17" name="Text 12"/>
          <p:cNvSpPr txBox="1"/>
          <p:nvPr/>
        </p:nvSpPr>
        <p:spPr>
          <a:xfrm>
            <a:off x="8915400" y="1801368"/>
            <a:ext cx="2514600" cy="548640"/>
          </a:xfrm>
          <a:prstGeom prst="rect">
            <a:avLst/>
          </a:prstGeom>
          <a:noFill/>
          <a:ln/>
        </p:spPr>
        <p:txBody>
          <a:bodyPr wrap="square" lIns="0" tIns="0" rIns="0" bIns="0" rtlCol="0" anchor="ctr"/>
          <a:lstStyle/>
          <a:p>
            <a:pPr marL="0" indent="0">
              <a:buNone/>
            </a:pPr>
            <a:r>
              <a:rPr lang="en-US" sz="1700" b="1" dirty="0">
                <a:solidFill>
                  <a:schemeClr val="tx1"/>
                </a:solidFill>
              </a:rPr>
              <a:t>Firmware and GSP</a:t>
            </a:r>
            <a:endParaRPr lang="en-US" sz="1700" dirty="0"/>
          </a:p>
        </p:txBody>
      </p:sp>
      <p:sp>
        <p:nvSpPr>
          <p:cNvPr id="18" name="Text 13"/>
          <p:cNvSpPr txBox="1"/>
          <p:nvPr/>
        </p:nvSpPr>
        <p:spPr>
          <a:xfrm>
            <a:off x="8247888" y="2496312"/>
            <a:ext cx="3163824" cy="1161288"/>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2"/>
                </a:solidFill>
              </a:rPr>
              <a:t>VBIOS initializes the board</a:t>
            </a:r>
            <a:endParaRPr lang="en-US" sz="1300" dirty="0"/>
          </a:p>
          <a:p>
            <a:pPr marL="342900" indent="-342900">
              <a:spcAft>
                <a:spcPts val="500"/>
              </a:spcAft>
              <a:buSzPct val="100000"/>
              <a:buChar char="•"/>
            </a:pPr>
            <a:r>
              <a:rPr lang="en-US" sz="1300" dirty="0">
                <a:solidFill>
                  <a:schemeClr val="tx2"/>
                </a:solidFill>
              </a:rPr>
              <a:t>GPU System Processor (GSP) offloads driver tasks</a:t>
            </a:r>
            <a:endParaRPr lang="en-US" sz="1300" dirty="0"/>
          </a:p>
          <a:p>
            <a:pPr marL="342900" indent="-342900">
              <a:spcAft>
                <a:spcPts val="500"/>
              </a:spcAft>
              <a:buSzPct val="100000"/>
              <a:buChar char="•"/>
            </a:pPr>
            <a:r>
              <a:rPr lang="en-US" sz="1300" dirty="0">
                <a:solidFill>
                  <a:schemeClr val="tx2"/>
                </a:solidFill>
              </a:rPr>
              <a:t>Firmware updates are part of fleet patching</a:t>
            </a:r>
            <a:endParaRPr lang="en-US" sz="1300" dirty="0"/>
          </a:p>
        </p:txBody>
      </p:sp>
      <p:sp>
        <p:nvSpPr>
          <p:cNvPr id="19" name="card"/>
          <p:cNvSpPr/>
          <p:nvPr/>
        </p:nvSpPr>
        <p:spPr>
          <a:xfrm>
            <a:off x="548640" y="3931920"/>
            <a:ext cx="3566160" cy="2194560"/>
          </a:xfrm>
          <a:prstGeom prst="roundRect">
            <a:avLst>
              <a:gd name="adj" fmla="val 3333"/>
            </a:avLst>
          </a:prstGeom>
          <a:solidFill>
            <a:schemeClr val="bg2"/>
          </a:solidFill>
          <a:ln/>
        </p:spPr>
        <p:txBody>
          <a:bodyPr/>
          <a:lstStyle/>
          <a:p>
            <a:endParaRPr lang="en-US"/>
          </a:p>
        </p:txBody>
      </p:sp>
      <p:sp>
        <p:nvSpPr>
          <p:cNvPr id="20" name="Shape 15"/>
          <p:cNvSpPr/>
          <p:nvPr/>
        </p:nvSpPr>
        <p:spPr>
          <a:xfrm>
            <a:off x="749808" y="4133088"/>
            <a:ext cx="548640" cy="548640"/>
          </a:xfrm>
          <a:prstGeom prst="ellipse">
            <a:avLst/>
          </a:prstGeom>
          <a:solidFill>
            <a:schemeClr val="accent1"/>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870509" y="4253789"/>
            <a:ext cx="307238" cy="307238"/>
          </a:xfrm>
          <a:prstGeom prst="rect">
            <a:avLst/>
          </a:prstGeom>
        </p:spPr>
      </p:pic>
      <p:sp>
        <p:nvSpPr>
          <p:cNvPr id="22" name="Text 16"/>
          <p:cNvSpPr txBox="1"/>
          <p:nvPr/>
        </p:nvSpPr>
        <p:spPr>
          <a:xfrm>
            <a:off x="1417320" y="4133088"/>
            <a:ext cx="2514600" cy="548640"/>
          </a:xfrm>
          <a:prstGeom prst="rect">
            <a:avLst/>
          </a:prstGeom>
          <a:noFill/>
          <a:ln/>
        </p:spPr>
        <p:txBody>
          <a:bodyPr wrap="square" lIns="0" tIns="0" rIns="0" bIns="0" rtlCol="0" anchor="ctr"/>
          <a:lstStyle/>
          <a:p>
            <a:pPr marL="0" indent="0">
              <a:buNone/>
            </a:pPr>
            <a:r>
              <a:rPr lang="en-US" sz="1700" b="1" dirty="0">
                <a:solidFill>
                  <a:schemeClr val="tx1"/>
                </a:solidFill>
              </a:rPr>
              <a:t>Reliability and security</a:t>
            </a:r>
            <a:endParaRPr lang="en-US" sz="1700" dirty="0"/>
          </a:p>
        </p:txBody>
      </p:sp>
      <p:sp>
        <p:nvSpPr>
          <p:cNvPr id="23" name="Text 17"/>
          <p:cNvSpPr txBox="1"/>
          <p:nvPr/>
        </p:nvSpPr>
        <p:spPr>
          <a:xfrm>
            <a:off x="749808" y="4828032"/>
            <a:ext cx="3163824" cy="1161288"/>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2"/>
                </a:solidFill>
              </a:rPr>
              <a:t>ECC on HBM; row remapping isolates bad memory</a:t>
            </a:r>
            <a:endParaRPr lang="en-US" sz="1300" dirty="0"/>
          </a:p>
          <a:p>
            <a:pPr marL="342900" indent="-342900">
              <a:spcAft>
                <a:spcPts val="500"/>
              </a:spcAft>
              <a:buSzPct val="100000"/>
              <a:buChar char="•"/>
            </a:pPr>
            <a:r>
              <a:rPr lang="en-US" sz="1300" dirty="0">
                <a:solidFill>
                  <a:schemeClr val="tx2"/>
                </a:solidFill>
              </a:rPr>
              <a:t>Secure boot and signed firmware</a:t>
            </a:r>
            <a:endParaRPr lang="en-US" sz="1300" dirty="0"/>
          </a:p>
          <a:p>
            <a:pPr marL="342900" indent="-342900">
              <a:spcAft>
                <a:spcPts val="500"/>
              </a:spcAft>
              <a:buSzPct val="100000"/>
              <a:buChar char="•"/>
            </a:pPr>
            <a:r>
              <a:rPr lang="en-US" sz="1300" dirty="0">
                <a:solidFill>
                  <a:schemeClr val="tx2"/>
                </a:solidFill>
              </a:rPr>
              <a:t>Confidential computing on Hopper and Blackwell</a:t>
            </a:r>
            <a:endParaRPr lang="en-US" sz="1300" dirty="0"/>
          </a:p>
        </p:txBody>
      </p:sp>
      <p:sp>
        <p:nvSpPr>
          <p:cNvPr id="24" name="card"/>
          <p:cNvSpPr/>
          <p:nvPr/>
        </p:nvSpPr>
        <p:spPr>
          <a:xfrm>
            <a:off x="4297680" y="3931920"/>
            <a:ext cx="3566160" cy="2194560"/>
          </a:xfrm>
          <a:prstGeom prst="roundRect">
            <a:avLst>
              <a:gd name="adj" fmla="val 3333"/>
            </a:avLst>
          </a:prstGeom>
          <a:solidFill>
            <a:schemeClr val="bg2"/>
          </a:solidFill>
          <a:ln/>
        </p:spPr>
        <p:txBody>
          <a:bodyPr/>
          <a:lstStyle/>
          <a:p>
            <a:endParaRPr lang="en-US"/>
          </a:p>
        </p:txBody>
      </p:sp>
      <p:sp>
        <p:nvSpPr>
          <p:cNvPr id="25" name="Shape 19"/>
          <p:cNvSpPr/>
          <p:nvPr/>
        </p:nvSpPr>
        <p:spPr>
          <a:xfrm>
            <a:off x="4498848" y="4133088"/>
            <a:ext cx="548640" cy="548640"/>
          </a:xfrm>
          <a:prstGeom prst="ellipse">
            <a:avLst/>
          </a:prstGeom>
          <a:solidFill>
            <a:schemeClr val="accent1"/>
          </a:solidFill>
          <a:ln/>
        </p:spPr>
        <p:txBody>
          <a:bodyPr/>
          <a:lstStyle/>
          <a:p>
            <a:endParaRPr lang="en-US"/>
          </a:p>
        </p:txBody>
      </p:sp>
      <p:pic>
        <p:nvPicPr>
          <p:cNvPr id="26" name="Image 4" descr="preencoded.png"/>
          <p:cNvPicPr>
            <a:picLocks noChangeAspect="1"/>
          </p:cNvPicPr>
          <p:nvPr/>
        </p:nvPicPr>
        <p:blipFill>
          <a:blip r:embed="rId7"/>
          <a:stretch>
            <a:fillRect/>
          </a:stretch>
        </p:blipFill>
        <p:spPr>
          <a:xfrm>
            <a:off x="4619549" y="4253789"/>
            <a:ext cx="307238" cy="307238"/>
          </a:xfrm>
          <a:prstGeom prst="rect">
            <a:avLst/>
          </a:prstGeom>
        </p:spPr>
      </p:pic>
      <p:sp>
        <p:nvSpPr>
          <p:cNvPr id="27" name="Text 20"/>
          <p:cNvSpPr txBox="1"/>
          <p:nvPr/>
        </p:nvSpPr>
        <p:spPr>
          <a:xfrm>
            <a:off x="5166360" y="4133088"/>
            <a:ext cx="2514600" cy="548640"/>
          </a:xfrm>
          <a:prstGeom prst="rect">
            <a:avLst/>
          </a:prstGeom>
          <a:noFill/>
          <a:ln/>
        </p:spPr>
        <p:txBody>
          <a:bodyPr wrap="square" lIns="0" tIns="0" rIns="0" bIns="0" rtlCol="0" anchor="ctr"/>
          <a:lstStyle/>
          <a:p>
            <a:pPr marL="0" indent="0">
              <a:buNone/>
            </a:pPr>
            <a:r>
              <a:rPr lang="en-US" sz="1700" b="1" dirty="0">
                <a:solidFill>
                  <a:schemeClr val="tx1"/>
                </a:solidFill>
              </a:rPr>
              <a:t>Telemetry and management</a:t>
            </a:r>
            <a:endParaRPr lang="en-US" sz="1700" dirty="0"/>
          </a:p>
        </p:txBody>
      </p:sp>
      <p:sp>
        <p:nvSpPr>
          <p:cNvPr id="28" name="Text 21"/>
          <p:cNvSpPr txBox="1"/>
          <p:nvPr/>
        </p:nvSpPr>
        <p:spPr>
          <a:xfrm>
            <a:off x="4498848" y="4828032"/>
            <a:ext cx="3163824" cy="1161288"/>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2"/>
                </a:solidFill>
              </a:rPr>
              <a:t>NVML library and the nvidia-smi CLI</a:t>
            </a:r>
            <a:endParaRPr lang="en-US" sz="1300" dirty="0"/>
          </a:p>
          <a:p>
            <a:pPr marL="342900" indent="-342900">
              <a:spcAft>
                <a:spcPts val="500"/>
              </a:spcAft>
              <a:buSzPct val="100000"/>
              <a:buChar char="•"/>
            </a:pPr>
            <a:r>
              <a:rPr lang="en-US" sz="1300" dirty="0">
                <a:solidFill>
                  <a:schemeClr val="tx2"/>
                </a:solidFill>
              </a:rPr>
              <a:t>DCGM for fleet health, diagnostics and metrics</a:t>
            </a:r>
            <a:endParaRPr lang="en-US" sz="1300" dirty="0"/>
          </a:p>
          <a:p>
            <a:pPr marL="342900" indent="-342900">
              <a:spcAft>
                <a:spcPts val="500"/>
              </a:spcAft>
              <a:buSzPct val="100000"/>
              <a:buChar char="•"/>
            </a:pPr>
            <a:r>
              <a:rPr lang="en-US" sz="1300" dirty="0">
                <a:solidFill>
                  <a:schemeClr val="tx2"/>
                </a:solidFill>
              </a:rPr>
              <a:t>Server BMC / Redfish for out-of-band control</a:t>
            </a:r>
            <a:endParaRPr lang="en-US" sz="1300" dirty="0"/>
          </a:p>
        </p:txBody>
      </p:sp>
      <p:sp>
        <p:nvSpPr>
          <p:cNvPr id="29" name="card"/>
          <p:cNvSpPr/>
          <p:nvPr/>
        </p:nvSpPr>
        <p:spPr>
          <a:xfrm>
            <a:off x="8046720" y="3931920"/>
            <a:ext cx="3566160" cy="2194560"/>
          </a:xfrm>
          <a:prstGeom prst="roundRect">
            <a:avLst>
              <a:gd name="adj" fmla="val 3333"/>
            </a:avLst>
          </a:prstGeom>
          <a:solidFill>
            <a:schemeClr val="bg2"/>
          </a:solidFill>
          <a:ln/>
        </p:spPr>
        <p:txBody>
          <a:bodyPr/>
          <a:lstStyle/>
          <a:p>
            <a:endParaRPr lang="en-US"/>
          </a:p>
        </p:txBody>
      </p:sp>
      <p:sp>
        <p:nvSpPr>
          <p:cNvPr id="30" name="Shape 23"/>
          <p:cNvSpPr/>
          <p:nvPr/>
        </p:nvSpPr>
        <p:spPr>
          <a:xfrm>
            <a:off x="8247888" y="4133088"/>
            <a:ext cx="548640" cy="548640"/>
          </a:xfrm>
          <a:prstGeom prst="ellipse">
            <a:avLst/>
          </a:prstGeom>
          <a:solidFill>
            <a:schemeClr val="accent1"/>
          </a:solidFill>
          <a:ln/>
        </p:spPr>
        <p:txBody>
          <a:bodyPr/>
          <a:lstStyle/>
          <a:p>
            <a:endParaRPr lang="en-US"/>
          </a:p>
        </p:txBody>
      </p:sp>
      <p:pic>
        <p:nvPicPr>
          <p:cNvPr id="31" name="Image 5" descr="preencoded.png"/>
          <p:cNvPicPr>
            <a:picLocks noChangeAspect="1"/>
          </p:cNvPicPr>
          <p:nvPr/>
        </p:nvPicPr>
        <p:blipFill>
          <a:blip r:embed="rId8"/>
          <a:stretch>
            <a:fillRect/>
          </a:stretch>
        </p:blipFill>
        <p:spPr>
          <a:xfrm>
            <a:off x="8368589" y="4253789"/>
            <a:ext cx="307238" cy="307238"/>
          </a:xfrm>
          <a:prstGeom prst="rect">
            <a:avLst/>
          </a:prstGeom>
        </p:spPr>
      </p:pic>
      <p:sp>
        <p:nvSpPr>
          <p:cNvPr id="32" name="Text 24"/>
          <p:cNvSpPr txBox="1"/>
          <p:nvPr/>
        </p:nvSpPr>
        <p:spPr>
          <a:xfrm>
            <a:off x="8915400" y="4133088"/>
            <a:ext cx="2514600" cy="548640"/>
          </a:xfrm>
          <a:prstGeom prst="rect">
            <a:avLst/>
          </a:prstGeom>
          <a:noFill/>
          <a:ln/>
        </p:spPr>
        <p:txBody>
          <a:bodyPr wrap="square" lIns="0" tIns="0" rIns="0" bIns="0" rtlCol="0" anchor="ctr"/>
          <a:lstStyle/>
          <a:p>
            <a:pPr marL="0" indent="0">
              <a:buNone/>
            </a:pPr>
            <a:r>
              <a:rPr lang="en-US" sz="1700" b="1" dirty="0">
                <a:solidFill>
                  <a:schemeClr val="tx1"/>
                </a:solidFill>
              </a:rPr>
              <a:t>Partitioning hardware</a:t>
            </a:r>
            <a:endParaRPr lang="en-US" sz="1700" dirty="0"/>
          </a:p>
        </p:txBody>
      </p:sp>
      <p:sp>
        <p:nvSpPr>
          <p:cNvPr id="33" name="Text 25"/>
          <p:cNvSpPr txBox="1"/>
          <p:nvPr/>
        </p:nvSpPr>
        <p:spPr>
          <a:xfrm>
            <a:off x="8247888" y="4828032"/>
            <a:ext cx="3163824" cy="1161288"/>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2"/>
                </a:solidFill>
              </a:rPr>
              <a:t>Multi-Instance GPU (MIG): up to 7 isolated GPUs</a:t>
            </a:r>
            <a:endParaRPr lang="en-US" sz="1300" dirty="0"/>
          </a:p>
          <a:p>
            <a:pPr marL="342900" indent="-342900">
              <a:spcAft>
                <a:spcPts val="500"/>
              </a:spcAft>
              <a:buSzPct val="100000"/>
              <a:buChar char="•"/>
            </a:pPr>
            <a:r>
              <a:rPr lang="en-US" sz="1300" dirty="0">
                <a:solidFill>
                  <a:schemeClr val="tx2"/>
                </a:solidFill>
              </a:rPr>
              <a:t>Each slice gets its own SMs, cache and memory</a:t>
            </a:r>
            <a:endParaRPr lang="en-US" sz="1300" dirty="0"/>
          </a:p>
          <a:p>
            <a:pPr marL="342900" indent="-342900">
              <a:spcAft>
                <a:spcPts val="500"/>
              </a:spcAft>
              <a:buSzPct val="100000"/>
              <a:buChar char="•"/>
            </a:pPr>
            <a:r>
              <a:rPr lang="en-US" sz="1300" dirty="0">
                <a:solidFill>
                  <a:schemeClr val="tx2"/>
                </a:solidFill>
              </a:rPr>
              <a:t>A100, H100, H200, B200 and later</a:t>
            </a:r>
            <a:endParaRPr lang="en-US" sz="1300" dirty="0"/>
          </a:p>
        </p:txBody>
      </p:sp>
      <p:sp>
        <p:nvSpPr>
          <p:cNvPr id="34"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The software stack that makes the hardware useful</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From the driver up to AI platforms: NVIDIA's real advantage is the full stack</a:t>
            </a:r>
            <a:endParaRPr lang="en-US" sz="1600" dirty="0"/>
          </a:p>
        </p:txBody>
      </p:sp>
      <p:sp>
        <p:nvSpPr>
          <p:cNvPr id="4" name="Shape 2"/>
          <p:cNvSpPr/>
          <p:nvPr/>
        </p:nvSpPr>
        <p:spPr>
          <a:xfrm>
            <a:off x="548640" y="1600200"/>
            <a:ext cx="6949440" cy="676656"/>
          </a:xfrm>
          <a:prstGeom prst="roundRect">
            <a:avLst>
              <a:gd name="adj" fmla="val 6757"/>
            </a:avLst>
          </a:prstGeom>
          <a:solidFill>
            <a:schemeClr val="accent1"/>
          </a:solidFill>
          <a:ln/>
        </p:spPr>
        <p:txBody>
          <a:bodyPr/>
          <a:lstStyle/>
          <a:p>
            <a:endParaRPr lang="en-US"/>
          </a:p>
        </p:txBody>
      </p:sp>
      <p:sp>
        <p:nvSpPr>
          <p:cNvPr id="5" name="Text 3"/>
          <p:cNvSpPr txBox="1"/>
          <p:nvPr/>
        </p:nvSpPr>
        <p:spPr>
          <a:xfrm>
            <a:off x="731520" y="1600200"/>
            <a:ext cx="2423160" cy="676656"/>
          </a:xfrm>
          <a:prstGeom prst="rect">
            <a:avLst/>
          </a:prstGeom>
          <a:noFill/>
          <a:ln/>
        </p:spPr>
        <p:txBody>
          <a:bodyPr wrap="square" lIns="0" tIns="0" rIns="0" bIns="0" rtlCol="0" anchor="ctr"/>
          <a:lstStyle/>
          <a:p>
            <a:pPr marL="0" indent="0">
              <a:buNone/>
            </a:pPr>
            <a:r>
              <a:rPr lang="en-US" sz="1400" b="1" dirty="0">
                <a:solidFill>
                  <a:schemeClr val="tx1"/>
                </a:solidFill>
              </a:rPr>
              <a:t>AI platforms and services</a:t>
            </a:r>
            <a:endParaRPr lang="en-US" sz="1400" dirty="0"/>
          </a:p>
        </p:txBody>
      </p:sp>
      <p:sp>
        <p:nvSpPr>
          <p:cNvPr id="6" name="Text 4"/>
          <p:cNvSpPr txBox="1"/>
          <p:nvPr/>
        </p:nvSpPr>
        <p:spPr>
          <a:xfrm>
            <a:off x="3200400" y="1600200"/>
            <a:ext cx="4206240" cy="676656"/>
          </a:xfrm>
          <a:prstGeom prst="rect">
            <a:avLst/>
          </a:prstGeom>
          <a:noFill/>
          <a:ln/>
        </p:spPr>
        <p:txBody>
          <a:bodyPr wrap="square" lIns="0" tIns="0" rIns="0" bIns="0" rtlCol="0" anchor="ctr"/>
          <a:lstStyle/>
          <a:p>
            <a:pPr marL="0" indent="0">
              <a:buNone/>
            </a:pPr>
            <a:r>
              <a:rPr lang="en-US" sz="1300" dirty="0">
                <a:solidFill>
                  <a:schemeClr val="tx1"/>
                </a:solidFill>
              </a:rPr>
              <a:t>NeMo · NIM microservices · Triton Inference Server · Dynamo · RAPIDS</a:t>
            </a:r>
            <a:endParaRPr lang="en-US" sz="1300" dirty="0"/>
          </a:p>
        </p:txBody>
      </p:sp>
      <p:sp>
        <p:nvSpPr>
          <p:cNvPr id="7" name="Shape 5"/>
          <p:cNvSpPr/>
          <p:nvPr/>
        </p:nvSpPr>
        <p:spPr>
          <a:xfrm>
            <a:off x="548640" y="2368296"/>
            <a:ext cx="6949440" cy="676656"/>
          </a:xfrm>
          <a:prstGeom prst="roundRect">
            <a:avLst>
              <a:gd name="adj" fmla="val 6757"/>
            </a:avLst>
          </a:prstGeom>
          <a:solidFill>
            <a:srgbClr val="8CCB2E"/>
          </a:solidFill>
          <a:ln/>
        </p:spPr>
        <p:txBody>
          <a:bodyPr/>
          <a:lstStyle/>
          <a:p>
            <a:endParaRPr lang="en-US"/>
          </a:p>
        </p:txBody>
      </p:sp>
      <p:sp>
        <p:nvSpPr>
          <p:cNvPr id="8" name="Text 6"/>
          <p:cNvSpPr txBox="1"/>
          <p:nvPr/>
        </p:nvSpPr>
        <p:spPr>
          <a:xfrm>
            <a:off x="731520" y="2368296"/>
            <a:ext cx="2423160" cy="676656"/>
          </a:xfrm>
          <a:prstGeom prst="rect">
            <a:avLst/>
          </a:prstGeom>
          <a:noFill/>
          <a:ln/>
        </p:spPr>
        <p:txBody>
          <a:bodyPr wrap="square" lIns="0" tIns="0" rIns="0" bIns="0" rtlCol="0" anchor="ctr"/>
          <a:lstStyle/>
          <a:p>
            <a:pPr marL="0" indent="0">
              <a:buNone/>
            </a:pPr>
            <a:r>
              <a:rPr lang="en-US" sz="1400" b="1" dirty="0">
                <a:solidFill>
                  <a:schemeClr val="tx1"/>
                </a:solidFill>
              </a:rPr>
              <a:t>Frameworks</a:t>
            </a:r>
            <a:endParaRPr lang="en-US" sz="1400" dirty="0"/>
          </a:p>
        </p:txBody>
      </p:sp>
      <p:sp>
        <p:nvSpPr>
          <p:cNvPr id="9" name="Text 7"/>
          <p:cNvSpPr txBox="1"/>
          <p:nvPr/>
        </p:nvSpPr>
        <p:spPr>
          <a:xfrm>
            <a:off x="3200400" y="2368296"/>
            <a:ext cx="4206240" cy="676656"/>
          </a:xfrm>
          <a:prstGeom prst="rect">
            <a:avLst/>
          </a:prstGeom>
          <a:noFill/>
          <a:ln/>
        </p:spPr>
        <p:txBody>
          <a:bodyPr wrap="square" lIns="0" tIns="0" rIns="0" bIns="0" rtlCol="0" anchor="ctr"/>
          <a:lstStyle/>
          <a:p>
            <a:pPr marL="0" indent="0">
              <a:buNone/>
            </a:pPr>
            <a:r>
              <a:rPr lang="en-US" sz="1300" dirty="0">
                <a:solidFill>
                  <a:schemeClr val="tx1"/>
                </a:solidFill>
              </a:rPr>
              <a:t>PyTorch · JAX · TensorFlow · vLLM · SGLang · TensorRT-LLM</a:t>
            </a:r>
            <a:endParaRPr lang="en-US" sz="1300" dirty="0"/>
          </a:p>
        </p:txBody>
      </p:sp>
      <p:sp>
        <p:nvSpPr>
          <p:cNvPr id="10" name="Shape 8"/>
          <p:cNvSpPr/>
          <p:nvPr/>
        </p:nvSpPr>
        <p:spPr>
          <a:xfrm>
            <a:off x="548640" y="3136392"/>
            <a:ext cx="6949440" cy="676656"/>
          </a:xfrm>
          <a:prstGeom prst="roundRect">
            <a:avLst>
              <a:gd name="adj" fmla="val 6757"/>
            </a:avLst>
          </a:prstGeom>
          <a:solidFill>
            <a:schemeClr val="accent2"/>
          </a:solidFill>
          <a:ln/>
        </p:spPr>
        <p:txBody>
          <a:bodyPr/>
          <a:lstStyle/>
          <a:p>
            <a:endParaRPr lang="en-US"/>
          </a:p>
        </p:txBody>
      </p:sp>
      <p:sp>
        <p:nvSpPr>
          <p:cNvPr id="11" name="Text 9"/>
          <p:cNvSpPr txBox="1"/>
          <p:nvPr/>
        </p:nvSpPr>
        <p:spPr>
          <a:xfrm>
            <a:off x="731520" y="3136392"/>
            <a:ext cx="2423160" cy="676656"/>
          </a:xfrm>
          <a:prstGeom prst="rect">
            <a:avLst/>
          </a:prstGeom>
          <a:noFill/>
          <a:ln/>
        </p:spPr>
        <p:txBody>
          <a:bodyPr wrap="square" lIns="0" tIns="0" rIns="0" bIns="0" rtlCol="0" anchor="ctr"/>
          <a:lstStyle/>
          <a:p>
            <a:pPr marL="0" indent="0">
              <a:buNone/>
            </a:pPr>
            <a:r>
              <a:rPr lang="en-US" sz="1400" b="1" dirty="0">
                <a:solidFill>
                  <a:schemeClr val="bg1"/>
                </a:solidFill>
              </a:rPr>
              <a:t>CUDA-X libraries</a:t>
            </a:r>
            <a:endParaRPr lang="en-US" sz="1400" dirty="0"/>
          </a:p>
        </p:txBody>
      </p:sp>
      <p:sp>
        <p:nvSpPr>
          <p:cNvPr id="12" name="Text 10"/>
          <p:cNvSpPr txBox="1"/>
          <p:nvPr/>
        </p:nvSpPr>
        <p:spPr>
          <a:xfrm>
            <a:off x="3200400" y="3136392"/>
            <a:ext cx="4206240" cy="676656"/>
          </a:xfrm>
          <a:prstGeom prst="rect">
            <a:avLst/>
          </a:prstGeom>
          <a:noFill/>
          <a:ln/>
        </p:spPr>
        <p:txBody>
          <a:bodyPr wrap="square" lIns="0" tIns="0" rIns="0" bIns="0" rtlCol="0" anchor="ctr"/>
          <a:lstStyle/>
          <a:p>
            <a:pPr marL="0" indent="0">
              <a:buNone/>
            </a:pPr>
            <a:r>
              <a:rPr lang="en-US" sz="1300" dirty="0">
                <a:solidFill>
                  <a:schemeClr val="bg1"/>
                </a:solidFill>
              </a:rPr>
              <a:t>cuBLAS · cuDNN · NCCL · TensorRT · CUTLASS · cuDF</a:t>
            </a:r>
            <a:endParaRPr lang="en-US" sz="1300" dirty="0"/>
          </a:p>
        </p:txBody>
      </p:sp>
      <p:sp>
        <p:nvSpPr>
          <p:cNvPr id="13" name="Shape 11"/>
          <p:cNvSpPr/>
          <p:nvPr/>
        </p:nvSpPr>
        <p:spPr>
          <a:xfrm>
            <a:off x="548640" y="3904488"/>
            <a:ext cx="6949440" cy="676656"/>
          </a:xfrm>
          <a:prstGeom prst="roundRect">
            <a:avLst>
              <a:gd name="adj" fmla="val 6757"/>
            </a:avLst>
          </a:prstGeom>
          <a:solidFill>
            <a:schemeClr val="tx2"/>
          </a:solidFill>
          <a:ln/>
        </p:spPr>
        <p:txBody>
          <a:bodyPr/>
          <a:lstStyle/>
          <a:p>
            <a:endParaRPr lang="en-US"/>
          </a:p>
        </p:txBody>
      </p:sp>
      <p:sp>
        <p:nvSpPr>
          <p:cNvPr id="14" name="Text 12"/>
          <p:cNvSpPr txBox="1"/>
          <p:nvPr/>
        </p:nvSpPr>
        <p:spPr>
          <a:xfrm>
            <a:off x="731520" y="3904488"/>
            <a:ext cx="2423160" cy="676656"/>
          </a:xfrm>
          <a:prstGeom prst="rect">
            <a:avLst/>
          </a:prstGeom>
          <a:noFill/>
          <a:ln/>
        </p:spPr>
        <p:txBody>
          <a:bodyPr wrap="square" lIns="0" tIns="0" rIns="0" bIns="0" rtlCol="0" anchor="ctr"/>
          <a:lstStyle/>
          <a:p>
            <a:pPr marL="0" indent="0">
              <a:buNone/>
            </a:pPr>
            <a:r>
              <a:rPr lang="en-US" sz="1400" b="1" dirty="0">
                <a:solidFill>
                  <a:schemeClr val="bg1"/>
                </a:solidFill>
              </a:rPr>
              <a:t>CUDA toolkit and runtime</a:t>
            </a:r>
            <a:endParaRPr lang="en-US" sz="1400" dirty="0"/>
          </a:p>
        </p:txBody>
      </p:sp>
      <p:sp>
        <p:nvSpPr>
          <p:cNvPr id="15" name="Text 13"/>
          <p:cNvSpPr txBox="1"/>
          <p:nvPr/>
        </p:nvSpPr>
        <p:spPr>
          <a:xfrm>
            <a:off x="3200400" y="3904488"/>
            <a:ext cx="4206240" cy="676656"/>
          </a:xfrm>
          <a:prstGeom prst="rect">
            <a:avLst/>
          </a:prstGeom>
          <a:noFill/>
          <a:ln/>
        </p:spPr>
        <p:txBody>
          <a:bodyPr wrap="square" lIns="0" tIns="0" rIns="0" bIns="0" rtlCol="0" anchor="ctr"/>
          <a:lstStyle/>
          <a:p>
            <a:pPr marL="0" indent="0">
              <a:buNone/>
            </a:pPr>
            <a:r>
              <a:rPr lang="en-US" sz="1300" dirty="0">
                <a:solidFill>
                  <a:schemeClr val="bg1"/>
                </a:solidFill>
              </a:rPr>
              <a:t>nvcc compiler · CUDA runtime API · Nsight profilers</a:t>
            </a:r>
            <a:endParaRPr lang="en-US" sz="1300" dirty="0"/>
          </a:p>
        </p:txBody>
      </p:sp>
      <p:sp>
        <p:nvSpPr>
          <p:cNvPr id="16" name="Shape 14"/>
          <p:cNvSpPr/>
          <p:nvPr/>
        </p:nvSpPr>
        <p:spPr>
          <a:xfrm>
            <a:off x="548640" y="4672584"/>
            <a:ext cx="6949440" cy="676656"/>
          </a:xfrm>
          <a:prstGeom prst="roundRect">
            <a:avLst>
              <a:gd name="adj" fmla="val 6757"/>
            </a:avLst>
          </a:prstGeom>
          <a:solidFill>
            <a:srgbClr val="2A332C"/>
          </a:solidFill>
          <a:ln/>
        </p:spPr>
        <p:txBody>
          <a:bodyPr/>
          <a:lstStyle/>
          <a:p>
            <a:endParaRPr lang="en-US"/>
          </a:p>
        </p:txBody>
      </p:sp>
      <p:sp>
        <p:nvSpPr>
          <p:cNvPr id="17" name="Text 15"/>
          <p:cNvSpPr txBox="1"/>
          <p:nvPr/>
        </p:nvSpPr>
        <p:spPr>
          <a:xfrm>
            <a:off x="731520" y="4672584"/>
            <a:ext cx="2423160" cy="676656"/>
          </a:xfrm>
          <a:prstGeom prst="rect">
            <a:avLst/>
          </a:prstGeom>
          <a:noFill/>
          <a:ln/>
        </p:spPr>
        <p:txBody>
          <a:bodyPr wrap="square" lIns="0" tIns="0" rIns="0" bIns="0" rtlCol="0" anchor="ctr"/>
          <a:lstStyle/>
          <a:p>
            <a:pPr marL="0" indent="0">
              <a:buNone/>
            </a:pPr>
            <a:r>
              <a:rPr lang="en-US" sz="1400" b="1" dirty="0">
                <a:solidFill>
                  <a:schemeClr val="bg1"/>
                </a:solidFill>
              </a:rPr>
              <a:t>Driver and firmware</a:t>
            </a:r>
            <a:endParaRPr lang="en-US" sz="1400" dirty="0"/>
          </a:p>
        </p:txBody>
      </p:sp>
      <p:sp>
        <p:nvSpPr>
          <p:cNvPr id="18" name="Text 16"/>
          <p:cNvSpPr txBox="1"/>
          <p:nvPr/>
        </p:nvSpPr>
        <p:spPr>
          <a:xfrm>
            <a:off x="3200400" y="4672584"/>
            <a:ext cx="4206240" cy="676656"/>
          </a:xfrm>
          <a:prstGeom prst="rect">
            <a:avLst/>
          </a:prstGeom>
          <a:noFill/>
          <a:ln/>
        </p:spPr>
        <p:txBody>
          <a:bodyPr wrap="square" lIns="0" tIns="0" rIns="0" bIns="0" rtlCol="0" anchor="ctr"/>
          <a:lstStyle/>
          <a:p>
            <a:pPr marL="0" indent="0">
              <a:buNone/>
            </a:pPr>
            <a:r>
              <a:rPr lang="en-US" sz="1300" dirty="0">
                <a:solidFill>
                  <a:schemeClr val="bg1"/>
                </a:solidFill>
              </a:rPr>
              <a:t>Kernel driver · GSP firmware · Fabric Manager · NVML</a:t>
            </a:r>
            <a:endParaRPr lang="en-US" sz="1300" dirty="0"/>
          </a:p>
        </p:txBody>
      </p:sp>
      <p:sp>
        <p:nvSpPr>
          <p:cNvPr id="19" name="Shape 17"/>
          <p:cNvSpPr/>
          <p:nvPr/>
        </p:nvSpPr>
        <p:spPr>
          <a:xfrm>
            <a:off x="548640" y="5440680"/>
            <a:ext cx="6949440" cy="676656"/>
          </a:xfrm>
          <a:prstGeom prst="roundRect">
            <a:avLst>
              <a:gd name="adj" fmla="val 6757"/>
            </a:avLst>
          </a:prstGeom>
          <a:solidFill>
            <a:schemeClr val="tx1"/>
          </a:solidFill>
          <a:ln/>
        </p:spPr>
        <p:txBody>
          <a:bodyPr/>
          <a:lstStyle/>
          <a:p>
            <a:endParaRPr lang="en-US"/>
          </a:p>
        </p:txBody>
      </p:sp>
      <p:sp>
        <p:nvSpPr>
          <p:cNvPr id="20" name="Text 18"/>
          <p:cNvSpPr txBox="1"/>
          <p:nvPr/>
        </p:nvSpPr>
        <p:spPr>
          <a:xfrm>
            <a:off x="731520" y="5440680"/>
            <a:ext cx="2423160" cy="676656"/>
          </a:xfrm>
          <a:prstGeom prst="rect">
            <a:avLst/>
          </a:prstGeom>
          <a:noFill/>
          <a:ln/>
        </p:spPr>
        <p:txBody>
          <a:bodyPr wrap="square" lIns="0" tIns="0" rIns="0" bIns="0" rtlCol="0" anchor="ctr"/>
          <a:lstStyle/>
          <a:p>
            <a:pPr marL="0" indent="0">
              <a:buNone/>
            </a:pPr>
            <a:r>
              <a:rPr lang="en-US" sz="1400" b="1" dirty="0">
                <a:solidFill>
                  <a:schemeClr val="bg1"/>
                </a:solidFill>
              </a:rPr>
              <a:t>GPU hardware</a:t>
            </a:r>
            <a:endParaRPr lang="en-US" sz="1400" dirty="0"/>
          </a:p>
        </p:txBody>
      </p:sp>
      <p:sp>
        <p:nvSpPr>
          <p:cNvPr id="21" name="Text 19"/>
          <p:cNvSpPr txBox="1"/>
          <p:nvPr/>
        </p:nvSpPr>
        <p:spPr>
          <a:xfrm>
            <a:off x="3200400" y="5440680"/>
            <a:ext cx="4206240" cy="676656"/>
          </a:xfrm>
          <a:prstGeom prst="rect">
            <a:avLst/>
          </a:prstGeom>
          <a:noFill/>
          <a:ln/>
        </p:spPr>
        <p:txBody>
          <a:bodyPr wrap="square" lIns="0" tIns="0" rIns="0" bIns="0" rtlCol="0" anchor="ctr"/>
          <a:lstStyle/>
          <a:p>
            <a:pPr marL="0" indent="0">
              <a:buNone/>
            </a:pPr>
            <a:r>
              <a:rPr lang="en-US" sz="1300" dirty="0">
                <a:solidFill>
                  <a:schemeClr val="bg1"/>
                </a:solidFill>
              </a:rPr>
              <a:t>SMs · Tensor Cores · HBM · NVLink</a:t>
            </a:r>
            <a:endParaRPr lang="en-US" sz="1300" dirty="0"/>
          </a:p>
        </p:txBody>
      </p:sp>
      <p:sp>
        <p:nvSpPr>
          <p:cNvPr id="22" name="card"/>
          <p:cNvSpPr/>
          <p:nvPr/>
        </p:nvSpPr>
        <p:spPr>
          <a:xfrm>
            <a:off x="7772400" y="1600200"/>
            <a:ext cx="3840480" cy="1417320"/>
          </a:xfrm>
          <a:prstGeom prst="roundRect">
            <a:avLst>
              <a:gd name="adj" fmla="val 5161"/>
            </a:avLst>
          </a:prstGeom>
          <a:solidFill>
            <a:schemeClr val="bg2"/>
          </a:solidFill>
          <a:ln/>
        </p:spPr>
        <p:txBody>
          <a:bodyPr/>
          <a:lstStyle/>
          <a:p>
            <a:endParaRPr lang="en-US"/>
          </a:p>
        </p:txBody>
      </p:sp>
      <p:sp>
        <p:nvSpPr>
          <p:cNvPr id="23" name="Text 21"/>
          <p:cNvSpPr txBox="1"/>
          <p:nvPr/>
        </p:nvSpPr>
        <p:spPr>
          <a:xfrm>
            <a:off x="7973568" y="1801368"/>
            <a:ext cx="3438144" cy="411480"/>
          </a:xfrm>
          <a:prstGeom prst="rect">
            <a:avLst/>
          </a:prstGeom>
          <a:noFill/>
          <a:ln/>
        </p:spPr>
        <p:txBody>
          <a:bodyPr wrap="square" lIns="0" tIns="0" rIns="0" bIns="0" rtlCol="0" anchor="t"/>
          <a:lstStyle/>
          <a:p>
            <a:pPr marL="0" indent="0">
              <a:buNone/>
            </a:pPr>
            <a:r>
              <a:rPr lang="en-US" sz="1500" b="1" dirty="0">
                <a:solidFill>
                  <a:schemeClr val="tx1"/>
                </a:solidFill>
              </a:rPr>
              <a:t>Version compatibility</a:t>
            </a:r>
            <a:endParaRPr lang="en-US" sz="1500" dirty="0"/>
          </a:p>
        </p:txBody>
      </p:sp>
      <p:sp>
        <p:nvSpPr>
          <p:cNvPr id="24" name="Text 22"/>
          <p:cNvSpPr txBox="1"/>
          <p:nvPr/>
        </p:nvSpPr>
        <p:spPr>
          <a:xfrm>
            <a:off x="7973568" y="2258568"/>
            <a:ext cx="3438144" cy="621792"/>
          </a:xfrm>
          <a:prstGeom prst="rect">
            <a:avLst/>
          </a:prstGeom>
          <a:noFill/>
          <a:ln/>
        </p:spPr>
        <p:txBody>
          <a:bodyPr wrap="square" lIns="0" tIns="0" rIns="0" bIns="0" rtlCol="0" anchor="t"/>
          <a:lstStyle/>
          <a:p>
            <a:pPr marL="0" indent="0">
              <a:buNone/>
            </a:pPr>
            <a:r>
              <a:rPr lang="en-US" sz="1300" dirty="0">
                <a:solidFill>
                  <a:schemeClr val="tx2"/>
                </a:solidFill>
              </a:rPr>
              <a:t>The driver must support the CUDA version your containers were built with. Pin and test versions together.</a:t>
            </a:r>
            <a:endParaRPr lang="en-US" sz="1300" dirty="0"/>
          </a:p>
        </p:txBody>
      </p:sp>
      <p:sp>
        <p:nvSpPr>
          <p:cNvPr id="25" name="card"/>
          <p:cNvSpPr/>
          <p:nvPr/>
        </p:nvSpPr>
        <p:spPr>
          <a:xfrm>
            <a:off x="7772400" y="3154680"/>
            <a:ext cx="3840480" cy="1417320"/>
          </a:xfrm>
          <a:prstGeom prst="roundRect">
            <a:avLst>
              <a:gd name="adj" fmla="val 5161"/>
            </a:avLst>
          </a:prstGeom>
          <a:solidFill>
            <a:schemeClr val="bg2"/>
          </a:solidFill>
          <a:ln/>
        </p:spPr>
        <p:txBody>
          <a:bodyPr/>
          <a:lstStyle/>
          <a:p>
            <a:endParaRPr lang="en-US"/>
          </a:p>
        </p:txBody>
      </p:sp>
      <p:sp>
        <p:nvSpPr>
          <p:cNvPr id="26" name="Text 24"/>
          <p:cNvSpPr txBox="1"/>
          <p:nvPr/>
        </p:nvSpPr>
        <p:spPr>
          <a:xfrm>
            <a:off x="7973568" y="3355848"/>
            <a:ext cx="3438144" cy="411480"/>
          </a:xfrm>
          <a:prstGeom prst="rect">
            <a:avLst/>
          </a:prstGeom>
          <a:noFill/>
          <a:ln/>
        </p:spPr>
        <p:txBody>
          <a:bodyPr wrap="square" lIns="0" tIns="0" rIns="0" bIns="0" rtlCol="0" anchor="t"/>
          <a:lstStyle/>
          <a:p>
            <a:pPr marL="0" indent="0">
              <a:buNone/>
            </a:pPr>
            <a:r>
              <a:rPr lang="en-US" sz="1500" b="1" dirty="0">
                <a:solidFill>
                  <a:schemeClr val="tx1"/>
                </a:solidFill>
              </a:rPr>
              <a:t>NCCL: the multi-GPU glue</a:t>
            </a:r>
            <a:endParaRPr lang="en-US" sz="1500" dirty="0"/>
          </a:p>
        </p:txBody>
      </p:sp>
      <p:sp>
        <p:nvSpPr>
          <p:cNvPr id="27" name="Text 25"/>
          <p:cNvSpPr txBox="1"/>
          <p:nvPr/>
        </p:nvSpPr>
        <p:spPr>
          <a:xfrm>
            <a:off x="7973568" y="3813048"/>
            <a:ext cx="3438144" cy="621792"/>
          </a:xfrm>
          <a:prstGeom prst="rect">
            <a:avLst/>
          </a:prstGeom>
          <a:noFill/>
          <a:ln/>
        </p:spPr>
        <p:txBody>
          <a:bodyPr wrap="square" lIns="0" tIns="0" rIns="0" bIns="0" rtlCol="0" anchor="t"/>
          <a:lstStyle/>
          <a:p>
            <a:pPr marL="0" indent="0">
              <a:buNone/>
            </a:pPr>
            <a:r>
              <a:rPr lang="en-US" sz="1300" dirty="0">
                <a:solidFill>
                  <a:schemeClr val="tx2"/>
                </a:solidFill>
              </a:rPr>
              <a:t>All-reduce and all-gather over NVLink and InfiniBand. Its performance drives training scaling.</a:t>
            </a:r>
            <a:endParaRPr lang="en-US" sz="1300" dirty="0"/>
          </a:p>
        </p:txBody>
      </p:sp>
      <p:sp>
        <p:nvSpPr>
          <p:cNvPr id="28" name="card"/>
          <p:cNvSpPr/>
          <p:nvPr/>
        </p:nvSpPr>
        <p:spPr>
          <a:xfrm>
            <a:off x="7772400" y="4709160"/>
            <a:ext cx="3840480" cy="1463040"/>
          </a:xfrm>
          <a:prstGeom prst="roundRect">
            <a:avLst>
              <a:gd name="adj" fmla="val 5000"/>
            </a:avLst>
          </a:prstGeom>
          <a:solidFill>
            <a:schemeClr val="bg2"/>
          </a:solidFill>
          <a:ln/>
        </p:spPr>
        <p:txBody>
          <a:bodyPr/>
          <a:lstStyle/>
          <a:p>
            <a:endParaRPr lang="en-US"/>
          </a:p>
        </p:txBody>
      </p:sp>
      <p:sp>
        <p:nvSpPr>
          <p:cNvPr id="29" name="Text 27"/>
          <p:cNvSpPr txBox="1"/>
          <p:nvPr/>
        </p:nvSpPr>
        <p:spPr>
          <a:xfrm>
            <a:off x="7973568" y="4910328"/>
            <a:ext cx="3438144" cy="411480"/>
          </a:xfrm>
          <a:prstGeom prst="rect">
            <a:avLst/>
          </a:prstGeom>
          <a:noFill/>
          <a:ln/>
        </p:spPr>
        <p:txBody>
          <a:bodyPr wrap="square" lIns="0" tIns="0" rIns="0" bIns="0" rtlCol="0" anchor="t"/>
          <a:lstStyle/>
          <a:p>
            <a:pPr marL="0" indent="0">
              <a:buNone/>
            </a:pPr>
            <a:r>
              <a:rPr lang="en-US" sz="1500" b="1" dirty="0">
                <a:solidFill>
                  <a:schemeClr val="tx1"/>
                </a:solidFill>
              </a:rPr>
              <a:t>Containers from NGC</a:t>
            </a:r>
            <a:endParaRPr lang="en-US" sz="1500" dirty="0"/>
          </a:p>
        </p:txBody>
      </p:sp>
      <p:sp>
        <p:nvSpPr>
          <p:cNvPr id="30" name="Text 28"/>
          <p:cNvSpPr txBox="1"/>
          <p:nvPr/>
        </p:nvSpPr>
        <p:spPr>
          <a:xfrm>
            <a:off x="7973568" y="5367528"/>
            <a:ext cx="3438144" cy="667512"/>
          </a:xfrm>
          <a:prstGeom prst="rect">
            <a:avLst/>
          </a:prstGeom>
          <a:noFill/>
          <a:ln/>
        </p:spPr>
        <p:txBody>
          <a:bodyPr wrap="square" lIns="0" tIns="0" rIns="0" bIns="0" rtlCol="0" anchor="t"/>
          <a:lstStyle/>
          <a:p>
            <a:pPr marL="0" indent="0">
              <a:buNone/>
            </a:pPr>
            <a:r>
              <a:rPr lang="en-US" sz="1300" dirty="0">
                <a:solidFill>
                  <a:schemeClr val="tx2"/>
                </a:solidFill>
              </a:rPr>
              <a:t>NVIDIA's NGC catalog publishes tested containers that bundle CUDA, libraries and frameworks.</a:t>
            </a:r>
            <a:endParaRPr lang="en-US" sz="1300" dirty="0"/>
          </a:p>
        </p:txBody>
      </p:sp>
      <p:sp>
        <p:nvSpPr>
          <p:cNvPr id="31"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1463040"/>
            <a:ext cx="2743200" cy="1371600"/>
          </a:xfrm>
          <a:prstGeom prst="rect">
            <a:avLst/>
          </a:prstGeom>
          <a:noFill/>
          <a:ln/>
        </p:spPr>
        <p:txBody>
          <a:bodyPr wrap="square" lIns="0" tIns="0" rIns="0" bIns="0" rtlCol="0" anchor="t"/>
          <a:lstStyle/>
          <a:p>
            <a:pPr marL="0" indent="0">
              <a:buNone/>
            </a:pPr>
            <a:r>
              <a:rPr lang="en-US" sz="8800" b="1" dirty="0">
                <a:solidFill>
                  <a:schemeClr val="accent1"/>
                </a:solidFill>
              </a:rPr>
              <a:t>02</a:t>
            </a:r>
            <a:endParaRPr lang="en-US" sz="8800" dirty="0"/>
          </a:p>
        </p:txBody>
      </p:sp>
      <p:sp>
        <p:nvSpPr>
          <p:cNvPr id="3" name="Text 0"/>
          <p:cNvSpPr>
            <a:spLocks noGrp="1"/>
          </p:cNvSpPr>
          <p:nvPr>
            <p:ph type="title" idx="101" hasCustomPrompt="1"/>
          </p:nvPr>
        </p:nvSpPr>
        <p:spPr>
          <a:xfrm>
            <a:off x="640080" y="2743200"/>
            <a:ext cx="7498080" cy="1371600"/>
          </a:xfrm>
          <a:prstGeom prst="rect">
            <a:avLst/>
          </a:prstGeom>
          <a:noFill/>
          <a:ln/>
        </p:spPr>
        <p:txBody>
          <a:bodyPr wrap="square" lIns="0" tIns="0" rIns="0" bIns="0" rtlCol="0" anchor="t"/>
          <a:lstStyle/>
          <a:p>
            <a:pPr marL="0" indent="0" algn="l">
              <a:buNone/>
            </a:pPr>
            <a:r>
              <a:rPr lang="en-US" sz="3600" b="1" dirty="0">
                <a:solidFill>
                  <a:schemeClr val="bg1"/>
                </a:solidFill>
              </a:rPr>
              <a:t>NVIDIA GPU types</a:t>
            </a:r>
            <a:endParaRPr lang="en-US" sz="3600" dirty="0"/>
          </a:p>
        </p:txBody>
      </p:sp>
      <p:sp>
        <p:nvSpPr>
          <p:cNvPr id="4" name="Text 0"/>
          <p:cNvSpPr>
            <a:spLocks noGrp="1"/>
          </p:cNvSpPr>
          <p:nvPr>
            <p:ph type="body" idx="102" hasCustomPrompt="1"/>
          </p:nvPr>
        </p:nvSpPr>
        <p:spPr>
          <a:xfrm>
            <a:off x="640080" y="4297680"/>
            <a:ext cx="6949440" cy="1280160"/>
          </a:xfrm>
          <a:prstGeom prst="rect">
            <a:avLst/>
          </a:prstGeom>
          <a:noFill/>
          <a:ln/>
        </p:spPr>
        <p:txBody>
          <a:bodyPr wrap="square" lIns="0" tIns="0" rIns="0" bIns="0" rtlCol="0" anchor="t"/>
          <a:lstStyle/>
          <a:p>
            <a:pPr marL="0" indent="0">
              <a:buNone/>
            </a:pPr>
            <a:r>
              <a:rPr lang="en-US" sz="1800" dirty="0">
                <a:solidFill>
                  <a:srgbClr val="C9D3CC"/>
                </a:solidFill>
              </a:rPr>
              <a:t>Architecture generations, product families and how to choose the right GPU for a workload</a:t>
            </a:r>
            <a:endParaRPr lang="en-US" sz="1800" dirty="0"/>
          </a:p>
        </p:txBody>
      </p:sp>
      <p:sp>
        <p:nvSpPr>
          <p:cNvPr id="5" name="Shape 3"/>
          <p:cNvSpPr/>
          <p:nvPr/>
        </p:nvSpPr>
        <p:spPr>
          <a:xfrm>
            <a:off x="8503920" y="1188720"/>
            <a:ext cx="396240" cy="400304"/>
          </a:xfrm>
          <a:prstGeom prst="roundRect">
            <a:avLst>
              <a:gd name="adj" fmla="val 9231"/>
            </a:avLst>
          </a:prstGeom>
          <a:solidFill>
            <a:schemeClr val="accent1"/>
          </a:solidFill>
          <a:ln/>
        </p:spPr>
        <p:txBody>
          <a:bodyPr/>
          <a:lstStyle/>
          <a:p>
            <a:endParaRPr lang="en-US"/>
          </a:p>
        </p:txBody>
      </p:sp>
      <p:sp>
        <p:nvSpPr>
          <p:cNvPr id="6" name="Shape 4"/>
          <p:cNvSpPr/>
          <p:nvPr/>
        </p:nvSpPr>
        <p:spPr>
          <a:xfrm>
            <a:off x="9009888" y="1188720"/>
            <a:ext cx="396240" cy="400304"/>
          </a:xfrm>
          <a:prstGeom prst="roundRect">
            <a:avLst>
              <a:gd name="adj" fmla="val 9231"/>
            </a:avLst>
          </a:prstGeom>
          <a:solidFill>
            <a:schemeClr val="accent1">
              <a:alpha val="20000"/>
            </a:schemeClr>
          </a:solidFill>
          <a:ln/>
        </p:spPr>
        <p:txBody>
          <a:bodyPr/>
          <a:lstStyle/>
          <a:p>
            <a:endParaRPr lang="en-US"/>
          </a:p>
        </p:txBody>
      </p:sp>
      <p:sp>
        <p:nvSpPr>
          <p:cNvPr id="7" name="Shape 5"/>
          <p:cNvSpPr/>
          <p:nvPr/>
        </p:nvSpPr>
        <p:spPr>
          <a:xfrm>
            <a:off x="9515856" y="1188720"/>
            <a:ext cx="396240" cy="400304"/>
          </a:xfrm>
          <a:prstGeom prst="roundRect">
            <a:avLst>
              <a:gd name="adj" fmla="val 9231"/>
            </a:avLst>
          </a:prstGeom>
          <a:solidFill>
            <a:schemeClr val="accent1">
              <a:alpha val="45000"/>
            </a:schemeClr>
          </a:solidFill>
          <a:ln/>
        </p:spPr>
        <p:txBody>
          <a:bodyPr/>
          <a:lstStyle/>
          <a:p>
            <a:endParaRPr lang="en-US"/>
          </a:p>
        </p:txBody>
      </p:sp>
      <p:sp>
        <p:nvSpPr>
          <p:cNvPr id="8" name="Shape 6"/>
          <p:cNvSpPr/>
          <p:nvPr/>
        </p:nvSpPr>
        <p:spPr>
          <a:xfrm>
            <a:off x="10021824" y="1188720"/>
            <a:ext cx="396240" cy="400304"/>
          </a:xfrm>
          <a:prstGeom prst="roundRect">
            <a:avLst>
              <a:gd name="adj" fmla="val 9231"/>
            </a:avLst>
          </a:prstGeom>
          <a:solidFill>
            <a:schemeClr val="accent1">
              <a:alpha val="75000"/>
            </a:schemeClr>
          </a:solidFill>
          <a:ln/>
        </p:spPr>
        <p:txBody>
          <a:bodyPr/>
          <a:lstStyle/>
          <a:p>
            <a:endParaRPr lang="en-US"/>
          </a:p>
        </p:txBody>
      </p:sp>
      <p:sp>
        <p:nvSpPr>
          <p:cNvPr id="9" name="Shape 7"/>
          <p:cNvSpPr/>
          <p:nvPr/>
        </p:nvSpPr>
        <p:spPr>
          <a:xfrm>
            <a:off x="10527792" y="1188720"/>
            <a:ext cx="396240" cy="400304"/>
          </a:xfrm>
          <a:prstGeom prst="roundRect">
            <a:avLst>
              <a:gd name="adj" fmla="val 9231"/>
            </a:avLst>
          </a:prstGeom>
          <a:solidFill>
            <a:schemeClr val="accent1"/>
          </a:solidFill>
          <a:ln/>
        </p:spPr>
        <p:txBody>
          <a:bodyPr/>
          <a:lstStyle/>
          <a:p>
            <a:endParaRPr lang="en-US"/>
          </a:p>
        </p:txBody>
      </p:sp>
      <p:sp>
        <p:nvSpPr>
          <p:cNvPr id="10" name="Shape 8"/>
          <p:cNvSpPr/>
          <p:nvPr/>
        </p:nvSpPr>
        <p:spPr>
          <a:xfrm>
            <a:off x="11033760" y="1188720"/>
            <a:ext cx="396240" cy="400304"/>
          </a:xfrm>
          <a:prstGeom prst="roundRect">
            <a:avLst>
              <a:gd name="adj" fmla="val 9231"/>
            </a:avLst>
          </a:prstGeom>
          <a:solidFill>
            <a:schemeClr val="accent1">
              <a:alpha val="20000"/>
            </a:schemeClr>
          </a:solidFill>
          <a:ln/>
        </p:spPr>
        <p:txBody>
          <a:bodyPr/>
          <a:lstStyle/>
          <a:p>
            <a:endParaRPr lang="en-US"/>
          </a:p>
        </p:txBody>
      </p:sp>
      <p:sp>
        <p:nvSpPr>
          <p:cNvPr id="11" name="Shape 9"/>
          <p:cNvSpPr/>
          <p:nvPr/>
        </p:nvSpPr>
        <p:spPr>
          <a:xfrm>
            <a:off x="8503920" y="1698752"/>
            <a:ext cx="396240" cy="400304"/>
          </a:xfrm>
          <a:prstGeom prst="roundRect">
            <a:avLst>
              <a:gd name="adj" fmla="val 9231"/>
            </a:avLst>
          </a:prstGeom>
          <a:solidFill>
            <a:schemeClr val="accent1">
              <a:alpha val="20000"/>
            </a:schemeClr>
          </a:solidFill>
          <a:ln/>
        </p:spPr>
        <p:txBody>
          <a:bodyPr/>
          <a:lstStyle/>
          <a:p>
            <a:endParaRPr lang="en-US"/>
          </a:p>
        </p:txBody>
      </p:sp>
      <p:sp>
        <p:nvSpPr>
          <p:cNvPr id="12" name="Shape 10"/>
          <p:cNvSpPr/>
          <p:nvPr/>
        </p:nvSpPr>
        <p:spPr>
          <a:xfrm>
            <a:off x="9009888" y="1698752"/>
            <a:ext cx="396240" cy="400304"/>
          </a:xfrm>
          <a:prstGeom prst="roundRect">
            <a:avLst>
              <a:gd name="adj" fmla="val 9231"/>
            </a:avLst>
          </a:prstGeom>
          <a:solidFill>
            <a:schemeClr val="accent1">
              <a:alpha val="20000"/>
            </a:schemeClr>
          </a:solidFill>
          <a:ln/>
        </p:spPr>
        <p:txBody>
          <a:bodyPr/>
          <a:lstStyle/>
          <a:p>
            <a:endParaRPr lang="en-US"/>
          </a:p>
        </p:txBody>
      </p:sp>
      <p:sp>
        <p:nvSpPr>
          <p:cNvPr id="13" name="Shape 11"/>
          <p:cNvSpPr/>
          <p:nvPr/>
        </p:nvSpPr>
        <p:spPr>
          <a:xfrm>
            <a:off x="9515856" y="1698752"/>
            <a:ext cx="396240" cy="400304"/>
          </a:xfrm>
          <a:prstGeom prst="roundRect">
            <a:avLst>
              <a:gd name="adj" fmla="val 9231"/>
            </a:avLst>
          </a:prstGeom>
          <a:solidFill>
            <a:schemeClr val="accent1">
              <a:alpha val="20000"/>
            </a:schemeClr>
          </a:solidFill>
          <a:ln/>
        </p:spPr>
        <p:txBody>
          <a:bodyPr/>
          <a:lstStyle/>
          <a:p>
            <a:endParaRPr lang="en-US"/>
          </a:p>
        </p:txBody>
      </p:sp>
      <p:sp>
        <p:nvSpPr>
          <p:cNvPr id="14" name="Shape 12"/>
          <p:cNvSpPr/>
          <p:nvPr/>
        </p:nvSpPr>
        <p:spPr>
          <a:xfrm>
            <a:off x="10021824" y="1698752"/>
            <a:ext cx="396240" cy="400304"/>
          </a:xfrm>
          <a:prstGeom prst="roundRect">
            <a:avLst>
              <a:gd name="adj" fmla="val 9231"/>
            </a:avLst>
          </a:prstGeom>
          <a:solidFill>
            <a:schemeClr val="accent1">
              <a:alpha val="20000"/>
            </a:schemeClr>
          </a:solidFill>
          <a:ln/>
        </p:spPr>
        <p:txBody>
          <a:bodyPr/>
          <a:lstStyle/>
          <a:p>
            <a:endParaRPr lang="en-US"/>
          </a:p>
        </p:txBody>
      </p:sp>
      <p:sp>
        <p:nvSpPr>
          <p:cNvPr id="15" name="Shape 13"/>
          <p:cNvSpPr/>
          <p:nvPr/>
        </p:nvSpPr>
        <p:spPr>
          <a:xfrm>
            <a:off x="10527792" y="1698752"/>
            <a:ext cx="396240" cy="400304"/>
          </a:xfrm>
          <a:prstGeom prst="roundRect">
            <a:avLst>
              <a:gd name="adj" fmla="val 9231"/>
            </a:avLst>
          </a:prstGeom>
          <a:solidFill>
            <a:schemeClr val="accent1">
              <a:alpha val="20000"/>
            </a:schemeClr>
          </a:solidFill>
          <a:ln/>
        </p:spPr>
        <p:txBody>
          <a:bodyPr/>
          <a:lstStyle/>
          <a:p>
            <a:endParaRPr lang="en-US"/>
          </a:p>
        </p:txBody>
      </p:sp>
      <p:sp>
        <p:nvSpPr>
          <p:cNvPr id="16" name="Shape 14"/>
          <p:cNvSpPr/>
          <p:nvPr/>
        </p:nvSpPr>
        <p:spPr>
          <a:xfrm>
            <a:off x="11033760" y="1698752"/>
            <a:ext cx="396240" cy="400304"/>
          </a:xfrm>
          <a:prstGeom prst="roundRect">
            <a:avLst>
              <a:gd name="adj" fmla="val 9231"/>
            </a:avLst>
          </a:prstGeom>
          <a:solidFill>
            <a:schemeClr val="accent1">
              <a:alpha val="20000"/>
            </a:schemeClr>
          </a:solidFill>
          <a:ln/>
        </p:spPr>
        <p:txBody>
          <a:bodyPr/>
          <a:lstStyle/>
          <a:p>
            <a:endParaRPr lang="en-US"/>
          </a:p>
        </p:txBody>
      </p:sp>
      <p:sp>
        <p:nvSpPr>
          <p:cNvPr id="17" name="Shape 15"/>
          <p:cNvSpPr/>
          <p:nvPr/>
        </p:nvSpPr>
        <p:spPr>
          <a:xfrm>
            <a:off x="8503920" y="2208784"/>
            <a:ext cx="396240" cy="400304"/>
          </a:xfrm>
          <a:prstGeom prst="roundRect">
            <a:avLst>
              <a:gd name="adj" fmla="val 9231"/>
            </a:avLst>
          </a:prstGeom>
          <a:solidFill>
            <a:schemeClr val="accent1">
              <a:alpha val="45000"/>
            </a:schemeClr>
          </a:solidFill>
          <a:ln/>
        </p:spPr>
        <p:txBody>
          <a:bodyPr/>
          <a:lstStyle/>
          <a:p>
            <a:endParaRPr lang="en-US"/>
          </a:p>
        </p:txBody>
      </p:sp>
      <p:sp>
        <p:nvSpPr>
          <p:cNvPr id="18" name="Shape 16"/>
          <p:cNvSpPr/>
          <p:nvPr/>
        </p:nvSpPr>
        <p:spPr>
          <a:xfrm>
            <a:off x="9009888" y="2208784"/>
            <a:ext cx="396240" cy="400304"/>
          </a:xfrm>
          <a:prstGeom prst="roundRect">
            <a:avLst>
              <a:gd name="adj" fmla="val 9231"/>
            </a:avLst>
          </a:prstGeom>
          <a:solidFill>
            <a:schemeClr val="accent1">
              <a:alpha val="20000"/>
            </a:schemeClr>
          </a:solidFill>
          <a:ln/>
        </p:spPr>
        <p:txBody>
          <a:bodyPr/>
          <a:lstStyle/>
          <a:p>
            <a:endParaRPr lang="en-US"/>
          </a:p>
        </p:txBody>
      </p:sp>
      <p:sp>
        <p:nvSpPr>
          <p:cNvPr id="19" name="Shape 17"/>
          <p:cNvSpPr/>
          <p:nvPr/>
        </p:nvSpPr>
        <p:spPr>
          <a:xfrm>
            <a:off x="9515856" y="2208784"/>
            <a:ext cx="396240" cy="400304"/>
          </a:xfrm>
          <a:prstGeom prst="roundRect">
            <a:avLst>
              <a:gd name="adj" fmla="val 9231"/>
            </a:avLst>
          </a:prstGeom>
          <a:solidFill>
            <a:schemeClr val="accent1"/>
          </a:solidFill>
          <a:ln/>
        </p:spPr>
        <p:txBody>
          <a:bodyPr/>
          <a:lstStyle/>
          <a:p>
            <a:endParaRPr lang="en-US"/>
          </a:p>
        </p:txBody>
      </p:sp>
      <p:sp>
        <p:nvSpPr>
          <p:cNvPr id="20" name="Shape 18"/>
          <p:cNvSpPr/>
          <p:nvPr/>
        </p:nvSpPr>
        <p:spPr>
          <a:xfrm>
            <a:off x="10021824" y="2208784"/>
            <a:ext cx="396240" cy="400304"/>
          </a:xfrm>
          <a:prstGeom prst="roundRect">
            <a:avLst>
              <a:gd name="adj" fmla="val 9231"/>
            </a:avLst>
          </a:prstGeom>
          <a:solidFill>
            <a:schemeClr val="accent1">
              <a:alpha val="75000"/>
            </a:schemeClr>
          </a:solidFill>
          <a:ln/>
        </p:spPr>
        <p:txBody>
          <a:bodyPr/>
          <a:lstStyle/>
          <a:p>
            <a:endParaRPr lang="en-US"/>
          </a:p>
        </p:txBody>
      </p:sp>
      <p:sp>
        <p:nvSpPr>
          <p:cNvPr id="21" name="Shape 19"/>
          <p:cNvSpPr/>
          <p:nvPr/>
        </p:nvSpPr>
        <p:spPr>
          <a:xfrm>
            <a:off x="10527792" y="2208784"/>
            <a:ext cx="396240" cy="400304"/>
          </a:xfrm>
          <a:prstGeom prst="roundRect">
            <a:avLst>
              <a:gd name="adj" fmla="val 9231"/>
            </a:avLst>
          </a:prstGeom>
          <a:solidFill>
            <a:schemeClr val="accent1">
              <a:alpha val="45000"/>
            </a:schemeClr>
          </a:solidFill>
          <a:ln/>
        </p:spPr>
        <p:txBody>
          <a:bodyPr/>
          <a:lstStyle/>
          <a:p>
            <a:endParaRPr lang="en-US"/>
          </a:p>
        </p:txBody>
      </p:sp>
      <p:sp>
        <p:nvSpPr>
          <p:cNvPr id="22" name="Shape 20"/>
          <p:cNvSpPr/>
          <p:nvPr/>
        </p:nvSpPr>
        <p:spPr>
          <a:xfrm>
            <a:off x="11033760" y="2208784"/>
            <a:ext cx="396240" cy="400304"/>
          </a:xfrm>
          <a:prstGeom prst="roundRect">
            <a:avLst>
              <a:gd name="adj" fmla="val 9231"/>
            </a:avLst>
          </a:prstGeom>
          <a:solidFill>
            <a:schemeClr val="accent1">
              <a:alpha val="20000"/>
            </a:schemeClr>
          </a:solidFill>
          <a:ln/>
        </p:spPr>
        <p:txBody>
          <a:bodyPr/>
          <a:lstStyle/>
          <a:p>
            <a:endParaRPr lang="en-US"/>
          </a:p>
        </p:txBody>
      </p:sp>
      <p:sp>
        <p:nvSpPr>
          <p:cNvPr id="23" name="Shape 21"/>
          <p:cNvSpPr/>
          <p:nvPr/>
        </p:nvSpPr>
        <p:spPr>
          <a:xfrm>
            <a:off x="8503920" y="2718816"/>
            <a:ext cx="396240" cy="400304"/>
          </a:xfrm>
          <a:prstGeom prst="roundRect">
            <a:avLst>
              <a:gd name="adj" fmla="val 9231"/>
            </a:avLst>
          </a:prstGeom>
          <a:solidFill>
            <a:schemeClr val="accent1">
              <a:alpha val="75000"/>
            </a:schemeClr>
          </a:solidFill>
          <a:ln/>
        </p:spPr>
        <p:txBody>
          <a:bodyPr/>
          <a:lstStyle/>
          <a:p>
            <a:endParaRPr lang="en-US"/>
          </a:p>
        </p:txBody>
      </p:sp>
      <p:sp>
        <p:nvSpPr>
          <p:cNvPr id="24" name="Shape 22"/>
          <p:cNvSpPr/>
          <p:nvPr/>
        </p:nvSpPr>
        <p:spPr>
          <a:xfrm>
            <a:off x="9009888" y="2718816"/>
            <a:ext cx="396240" cy="400304"/>
          </a:xfrm>
          <a:prstGeom prst="roundRect">
            <a:avLst>
              <a:gd name="adj" fmla="val 9231"/>
            </a:avLst>
          </a:prstGeom>
          <a:solidFill>
            <a:schemeClr val="accent1">
              <a:alpha val="20000"/>
            </a:schemeClr>
          </a:solidFill>
          <a:ln/>
        </p:spPr>
        <p:txBody>
          <a:bodyPr/>
          <a:lstStyle/>
          <a:p>
            <a:endParaRPr lang="en-US"/>
          </a:p>
        </p:txBody>
      </p:sp>
      <p:sp>
        <p:nvSpPr>
          <p:cNvPr id="25" name="Shape 23"/>
          <p:cNvSpPr/>
          <p:nvPr/>
        </p:nvSpPr>
        <p:spPr>
          <a:xfrm>
            <a:off x="9515856" y="2718816"/>
            <a:ext cx="396240" cy="400304"/>
          </a:xfrm>
          <a:prstGeom prst="roundRect">
            <a:avLst>
              <a:gd name="adj" fmla="val 9231"/>
            </a:avLst>
          </a:prstGeom>
          <a:solidFill>
            <a:schemeClr val="accent1">
              <a:alpha val="75000"/>
            </a:schemeClr>
          </a:solidFill>
          <a:ln/>
        </p:spPr>
        <p:txBody>
          <a:bodyPr/>
          <a:lstStyle/>
          <a:p>
            <a:endParaRPr lang="en-US"/>
          </a:p>
        </p:txBody>
      </p:sp>
      <p:sp>
        <p:nvSpPr>
          <p:cNvPr id="26" name="Shape 24"/>
          <p:cNvSpPr/>
          <p:nvPr/>
        </p:nvSpPr>
        <p:spPr>
          <a:xfrm>
            <a:off x="10021824" y="2718816"/>
            <a:ext cx="396240" cy="400304"/>
          </a:xfrm>
          <a:prstGeom prst="roundRect">
            <a:avLst>
              <a:gd name="adj" fmla="val 9231"/>
            </a:avLst>
          </a:prstGeom>
          <a:solidFill>
            <a:schemeClr val="accent1">
              <a:alpha val="20000"/>
            </a:schemeClr>
          </a:solidFill>
          <a:ln/>
        </p:spPr>
        <p:txBody>
          <a:bodyPr/>
          <a:lstStyle/>
          <a:p>
            <a:endParaRPr lang="en-US"/>
          </a:p>
        </p:txBody>
      </p:sp>
      <p:sp>
        <p:nvSpPr>
          <p:cNvPr id="27" name="Shape 25"/>
          <p:cNvSpPr/>
          <p:nvPr/>
        </p:nvSpPr>
        <p:spPr>
          <a:xfrm>
            <a:off x="10527792" y="2718816"/>
            <a:ext cx="396240" cy="400304"/>
          </a:xfrm>
          <a:prstGeom prst="roundRect">
            <a:avLst>
              <a:gd name="adj" fmla="val 9231"/>
            </a:avLst>
          </a:prstGeom>
          <a:solidFill>
            <a:schemeClr val="accent1">
              <a:alpha val="75000"/>
            </a:schemeClr>
          </a:solidFill>
          <a:ln/>
        </p:spPr>
        <p:txBody>
          <a:bodyPr/>
          <a:lstStyle/>
          <a:p>
            <a:endParaRPr lang="en-US"/>
          </a:p>
        </p:txBody>
      </p:sp>
      <p:sp>
        <p:nvSpPr>
          <p:cNvPr id="28" name="Shape 26"/>
          <p:cNvSpPr/>
          <p:nvPr/>
        </p:nvSpPr>
        <p:spPr>
          <a:xfrm>
            <a:off x="11033760" y="2718816"/>
            <a:ext cx="396240" cy="400304"/>
          </a:xfrm>
          <a:prstGeom prst="roundRect">
            <a:avLst>
              <a:gd name="adj" fmla="val 9231"/>
            </a:avLst>
          </a:prstGeom>
          <a:solidFill>
            <a:schemeClr val="accent1">
              <a:alpha val="20000"/>
            </a:schemeClr>
          </a:solidFill>
          <a:ln/>
        </p:spPr>
        <p:txBody>
          <a:bodyPr/>
          <a:lstStyle/>
          <a:p>
            <a:endParaRPr lang="en-US"/>
          </a:p>
        </p:txBody>
      </p:sp>
      <p:sp>
        <p:nvSpPr>
          <p:cNvPr id="29" name="Shape 27"/>
          <p:cNvSpPr/>
          <p:nvPr/>
        </p:nvSpPr>
        <p:spPr>
          <a:xfrm>
            <a:off x="8503920" y="3228848"/>
            <a:ext cx="396240" cy="400304"/>
          </a:xfrm>
          <a:prstGeom prst="roundRect">
            <a:avLst>
              <a:gd name="adj" fmla="val 9231"/>
            </a:avLst>
          </a:prstGeom>
          <a:solidFill>
            <a:schemeClr val="accent1"/>
          </a:solidFill>
          <a:ln/>
        </p:spPr>
        <p:txBody>
          <a:bodyPr/>
          <a:lstStyle/>
          <a:p>
            <a:endParaRPr lang="en-US"/>
          </a:p>
        </p:txBody>
      </p:sp>
      <p:sp>
        <p:nvSpPr>
          <p:cNvPr id="30" name="Shape 28"/>
          <p:cNvSpPr/>
          <p:nvPr/>
        </p:nvSpPr>
        <p:spPr>
          <a:xfrm>
            <a:off x="9009888" y="3228848"/>
            <a:ext cx="396240" cy="400304"/>
          </a:xfrm>
          <a:prstGeom prst="roundRect">
            <a:avLst>
              <a:gd name="adj" fmla="val 9231"/>
            </a:avLst>
          </a:prstGeom>
          <a:solidFill>
            <a:schemeClr val="accent1">
              <a:alpha val="20000"/>
            </a:schemeClr>
          </a:solidFill>
          <a:ln/>
        </p:spPr>
        <p:txBody>
          <a:bodyPr/>
          <a:lstStyle/>
          <a:p>
            <a:endParaRPr lang="en-US"/>
          </a:p>
        </p:txBody>
      </p:sp>
      <p:sp>
        <p:nvSpPr>
          <p:cNvPr id="31" name="Shape 29"/>
          <p:cNvSpPr/>
          <p:nvPr/>
        </p:nvSpPr>
        <p:spPr>
          <a:xfrm>
            <a:off x="9515856" y="3228848"/>
            <a:ext cx="396240" cy="400304"/>
          </a:xfrm>
          <a:prstGeom prst="roundRect">
            <a:avLst>
              <a:gd name="adj" fmla="val 9231"/>
            </a:avLst>
          </a:prstGeom>
          <a:solidFill>
            <a:schemeClr val="accent1">
              <a:alpha val="45000"/>
            </a:schemeClr>
          </a:solidFill>
          <a:ln/>
        </p:spPr>
        <p:txBody>
          <a:bodyPr/>
          <a:lstStyle/>
          <a:p>
            <a:endParaRPr lang="en-US"/>
          </a:p>
        </p:txBody>
      </p:sp>
      <p:sp>
        <p:nvSpPr>
          <p:cNvPr id="32" name="Shape 30"/>
          <p:cNvSpPr/>
          <p:nvPr/>
        </p:nvSpPr>
        <p:spPr>
          <a:xfrm>
            <a:off x="10021824" y="3228848"/>
            <a:ext cx="396240" cy="400304"/>
          </a:xfrm>
          <a:prstGeom prst="roundRect">
            <a:avLst>
              <a:gd name="adj" fmla="val 9231"/>
            </a:avLst>
          </a:prstGeom>
          <a:solidFill>
            <a:schemeClr val="accent1">
              <a:alpha val="75000"/>
            </a:schemeClr>
          </a:solidFill>
          <a:ln/>
        </p:spPr>
        <p:txBody>
          <a:bodyPr/>
          <a:lstStyle/>
          <a:p>
            <a:endParaRPr lang="en-US"/>
          </a:p>
        </p:txBody>
      </p:sp>
      <p:sp>
        <p:nvSpPr>
          <p:cNvPr id="33" name="Shape 31"/>
          <p:cNvSpPr/>
          <p:nvPr/>
        </p:nvSpPr>
        <p:spPr>
          <a:xfrm>
            <a:off x="10527792" y="3228848"/>
            <a:ext cx="396240" cy="400304"/>
          </a:xfrm>
          <a:prstGeom prst="roundRect">
            <a:avLst>
              <a:gd name="adj" fmla="val 9231"/>
            </a:avLst>
          </a:prstGeom>
          <a:solidFill>
            <a:schemeClr val="accent1"/>
          </a:solidFill>
          <a:ln/>
        </p:spPr>
        <p:txBody>
          <a:bodyPr/>
          <a:lstStyle/>
          <a:p>
            <a:endParaRPr lang="en-US"/>
          </a:p>
        </p:txBody>
      </p:sp>
      <p:sp>
        <p:nvSpPr>
          <p:cNvPr id="34" name="Shape 32"/>
          <p:cNvSpPr/>
          <p:nvPr/>
        </p:nvSpPr>
        <p:spPr>
          <a:xfrm>
            <a:off x="11033760" y="3228848"/>
            <a:ext cx="396240" cy="400304"/>
          </a:xfrm>
          <a:prstGeom prst="roundRect">
            <a:avLst>
              <a:gd name="adj" fmla="val 9231"/>
            </a:avLst>
          </a:prstGeom>
          <a:solidFill>
            <a:schemeClr val="accent1">
              <a:alpha val="20000"/>
            </a:schemeClr>
          </a:solidFill>
          <a:ln/>
        </p:spPr>
        <p:txBody>
          <a:bodyPr/>
          <a:lstStyle/>
          <a:p>
            <a:endParaRPr lang="en-US"/>
          </a:p>
        </p:txBody>
      </p:sp>
      <p:sp>
        <p:nvSpPr>
          <p:cNvPr id="35" name="Shape 33"/>
          <p:cNvSpPr/>
          <p:nvPr/>
        </p:nvSpPr>
        <p:spPr>
          <a:xfrm>
            <a:off x="8503920" y="3738880"/>
            <a:ext cx="396240" cy="400304"/>
          </a:xfrm>
          <a:prstGeom prst="roundRect">
            <a:avLst>
              <a:gd name="adj" fmla="val 9231"/>
            </a:avLst>
          </a:prstGeom>
          <a:solidFill>
            <a:schemeClr val="accent1">
              <a:alpha val="20000"/>
            </a:schemeClr>
          </a:solidFill>
          <a:ln/>
        </p:spPr>
        <p:txBody>
          <a:bodyPr/>
          <a:lstStyle/>
          <a:p>
            <a:endParaRPr lang="en-US"/>
          </a:p>
        </p:txBody>
      </p:sp>
      <p:sp>
        <p:nvSpPr>
          <p:cNvPr id="36" name="Shape 34"/>
          <p:cNvSpPr/>
          <p:nvPr/>
        </p:nvSpPr>
        <p:spPr>
          <a:xfrm>
            <a:off x="9009888" y="3738880"/>
            <a:ext cx="396240" cy="400304"/>
          </a:xfrm>
          <a:prstGeom prst="roundRect">
            <a:avLst>
              <a:gd name="adj" fmla="val 9231"/>
            </a:avLst>
          </a:prstGeom>
          <a:solidFill>
            <a:schemeClr val="accent1">
              <a:alpha val="20000"/>
            </a:schemeClr>
          </a:solidFill>
          <a:ln/>
        </p:spPr>
        <p:txBody>
          <a:bodyPr/>
          <a:lstStyle/>
          <a:p>
            <a:endParaRPr lang="en-US"/>
          </a:p>
        </p:txBody>
      </p:sp>
      <p:sp>
        <p:nvSpPr>
          <p:cNvPr id="37" name="Shape 35"/>
          <p:cNvSpPr/>
          <p:nvPr/>
        </p:nvSpPr>
        <p:spPr>
          <a:xfrm>
            <a:off x="9515856" y="3738880"/>
            <a:ext cx="396240" cy="400304"/>
          </a:xfrm>
          <a:prstGeom prst="roundRect">
            <a:avLst>
              <a:gd name="adj" fmla="val 9231"/>
            </a:avLst>
          </a:prstGeom>
          <a:solidFill>
            <a:schemeClr val="accent1">
              <a:alpha val="20000"/>
            </a:schemeClr>
          </a:solidFill>
          <a:ln/>
        </p:spPr>
        <p:txBody>
          <a:bodyPr/>
          <a:lstStyle/>
          <a:p>
            <a:endParaRPr lang="en-US"/>
          </a:p>
        </p:txBody>
      </p:sp>
      <p:sp>
        <p:nvSpPr>
          <p:cNvPr id="38" name="Shape 36"/>
          <p:cNvSpPr/>
          <p:nvPr/>
        </p:nvSpPr>
        <p:spPr>
          <a:xfrm>
            <a:off x="10021824" y="3738880"/>
            <a:ext cx="396240" cy="400304"/>
          </a:xfrm>
          <a:prstGeom prst="roundRect">
            <a:avLst>
              <a:gd name="adj" fmla="val 9231"/>
            </a:avLst>
          </a:prstGeom>
          <a:solidFill>
            <a:schemeClr val="accent1">
              <a:alpha val="20000"/>
            </a:schemeClr>
          </a:solidFill>
          <a:ln/>
        </p:spPr>
        <p:txBody>
          <a:bodyPr/>
          <a:lstStyle/>
          <a:p>
            <a:endParaRPr lang="en-US"/>
          </a:p>
        </p:txBody>
      </p:sp>
      <p:sp>
        <p:nvSpPr>
          <p:cNvPr id="39" name="Shape 37"/>
          <p:cNvSpPr/>
          <p:nvPr/>
        </p:nvSpPr>
        <p:spPr>
          <a:xfrm>
            <a:off x="10527792" y="3738880"/>
            <a:ext cx="396240" cy="400304"/>
          </a:xfrm>
          <a:prstGeom prst="roundRect">
            <a:avLst>
              <a:gd name="adj" fmla="val 9231"/>
            </a:avLst>
          </a:prstGeom>
          <a:solidFill>
            <a:schemeClr val="accent1">
              <a:alpha val="20000"/>
            </a:schemeClr>
          </a:solidFill>
          <a:ln/>
        </p:spPr>
        <p:txBody>
          <a:bodyPr/>
          <a:lstStyle/>
          <a:p>
            <a:endParaRPr lang="en-US"/>
          </a:p>
        </p:txBody>
      </p:sp>
      <p:sp>
        <p:nvSpPr>
          <p:cNvPr id="40" name="Shape 38"/>
          <p:cNvSpPr/>
          <p:nvPr/>
        </p:nvSpPr>
        <p:spPr>
          <a:xfrm>
            <a:off x="11033760" y="3738880"/>
            <a:ext cx="396240" cy="400304"/>
          </a:xfrm>
          <a:prstGeom prst="roundRect">
            <a:avLst>
              <a:gd name="adj" fmla="val 9231"/>
            </a:avLst>
          </a:prstGeom>
          <a:solidFill>
            <a:schemeClr val="accent1">
              <a:alpha val="20000"/>
            </a:schemeClr>
          </a:solidFill>
          <a:ln/>
        </p:spPr>
        <p:txBody>
          <a:bodyPr/>
          <a:lstStyle/>
          <a:p>
            <a:endParaRPr lang="en-US"/>
          </a:p>
        </p:txBody>
      </p:sp>
      <p:sp>
        <p:nvSpPr>
          <p:cNvPr id="41" name="Shape 39"/>
          <p:cNvSpPr/>
          <p:nvPr/>
        </p:nvSpPr>
        <p:spPr>
          <a:xfrm>
            <a:off x="8503920" y="4248912"/>
            <a:ext cx="396240" cy="400304"/>
          </a:xfrm>
          <a:prstGeom prst="roundRect">
            <a:avLst>
              <a:gd name="adj" fmla="val 9231"/>
            </a:avLst>
          </a:prstGeom>
          <a:solidFill>
            <a:schemeClr val="accent1">
              <a:alpha val="45000"/>
            </a:schemeClr>
          </a:solidFill>
          <a:ln/>
        </p:spPr>
        <p:txBody>
          <a:bodyPr/>
          <a:lstStyle/>
          <a:p>
            <a:endParaRPr lang="en-US"/>
          </a:p>
        </p:txBody>
      </p:sp>
      <p:sp>
        <p:nvSpPr>
          <p:cNvPr id="42" name="Shape 40"/>
          <p:cNvSpPr/>
          <p:nvPr/>
        </p:nvSpPr>
        <p:spPr>
          <a:xfrm>
            <a:off x="9009888" y="4248912"/>
            <a:ext cx="396240" cy="400304"/>
          </a:xfrm>
          <a:prstGeom prst="roundRect">
            <a:avLst>
              <a:gd name="adj" fmla="val 9231"/>
            </a:avLst>
          </a:prstGeom>
          <a:solidFill>
            <a:schemeClr val="accent1">
              <a:alpha val="20000"/>
            </a:schemeClr>
          </a:solidFill>
          <a:ln/>
        </p:spPr>
        <p:txBody>
          <a:bodyPr/>
          <a:lstStyle/>
          <a:p>
            <a:endParaRPr lang="en-US"/>
          </a:p>
        </p:txBody>
      </p:sp>
      <p:sp>
        <p:nvSpPr>
          <p:cNvPr id="43" name="Shape 41"/>
          <p:cNvSpPr/>
          <p:nvPr/>
        </p:nvSpPr>
        <p:spPr>
          <a:xfrm>
            <a:off x="9515856" y="4248912"/>
            <a:ext cx="396240" cy="400304"/>
          </a:xfrm>
          <a:prstGeom prst="roundRect">
            <a:avLst>
              <a:gd name="adj" fmla="val 9231"/>
            </a:avLst>
          </a:prstGeom>
          <a:solidFill>
            <a:schemeClr val="accent1"/>
          </a:solidFill>
          <a:ln/>
        </p:spPr>
        <p:txBody>
          <a:bodyPr/>
          <a:lstStyle/>
          <a:p>
            <a:endParaRPr lang="en-US"/>
          </a:p>
        </p:txBody>
      </p:sp>
      <p:sp>
        <p:nvSpPr>
          <p:cNvPr id="44" name="Shape 42"/>
          <p:cNvSpPr/>
          <p:nvPr/>
        </p:nvSpPr>
        <p:spPr>
          <a:xfrm>
            <a:off x="10021824" y="4248912"/>
            <a:ext cx="396240" cy="400304"/>
          </a:xfrm>
          <a:prstGeom prst="roundRect">
            <a:avLst>
              <a:gd name="adj" fmla="val 9231"/>
            </a:avLst>
          </a:prstGeom>
          <a:solidFill>
            <a:schemeClr val="accent1">
              <a:alpha val="75000"/>
            </a:schemeClr>
          </a:solidFill>
          <a:ln/>
        </p:spPr>
        <p:txBody>
          <a:bodyPr/>
          <a:lstStyle/>
          <a:p>
            <a:endParaRPr lang="en-US"/>
          </a:p>
        </p:txBody>
      </p:sp>
      <p:sp>
        <p:nvSpPr>
          <p:cNvPr id="45" name="Shape 43"/>
          <p:cNvSpPr/>
          <p:nvPr/>
        </p:nvSpPr>
        <p:spPr>
          <a:xfrm>
            <a:off x="10527792" y="4248912"/>
            <a:ext cx="396240" cy="400304"/>
          </a:xfrm>
          <a:prstGeom prst="roundRect">
            <a:avLst>
              <a:gd name="adj" fmla="val 9231"/>
            </a:avLst>
          </a:prstGeom>
          <a:solidFill>
            <a:schemeClr val="accent1">
              <a:alpha val="45000"/>
            </a:schemeClr>
          </a:solidFill>
          <a:ln/>
        </p:spPr>
        <p:txBody>
          <a:bodyPr/>
          <a:lstStyle/>
          <a:p>
            <a:endParaRPr lang="en-US"/>
          </a:p>
        </p:txBody>
      </p:sp>
      <p:sp>
        <p:nvSpPr>
          <p:cNvPr id="46" name="Shape 44"/>
          <p:cNvSpPr/>
          <p:nvPr/>
        </p:nvSpPr>
        <p:spPr>
          <a:xfrm>
            <a:off x="11033760" y="4248912"/>
            <a:ext cx="396240" cy="400304"/>
          </a:xfrm>
          <a:prstGeom prst="roundRect">
            <a:avLst>
              <a:gd name="adj" fmla="val 9231"/>
            </a:avLst>
          </a:prstGeom>
          <a:solidFill>
            <a:schemeClr val="accent1">
              <a:alpha val="20000"/>
            </a:schemeClr>
          </a:solidFill>
          <a:ln/>
        </p:spPr>
        <p:txBody>
          <a:bodyPr/>
          <a:lstStyle/>
          <a:p>
            <a:endParaRPr lang="en-US"/>
          </a:p>
        </p:txBody>
      </p:sp>
      <p:sp>
        <p:nvSpPr>
          <p:cNvPr id="47" name="Shape 45"/>
          <p:cNvSpPr/>
          <p:nvPr/>
        </p:nvSpPr>
        <p:spPr>
          <a:xfrm>
            <a:off x="8503920" y="4758944"/>
            <a:ext cx="396240" cy="400304"/>
          </a:xfrm>
          <a:prstGeom prst="roundRect">
            <a:avLst>
              <a:gd name="adj" fmla="val 9231"/>
            </a:avLst>
          </a:prstGeom>
          <a:solidFill>
            <a:schemeClr val="accent1">
              <a:alpha val="75000"/>
            </a:schemeClr>
          </a:solidFill>
          <a:ln/>
        </p:spPr>
        <p:txBody>
          <a:bodyPr/>
          <a:lstStyle/>
          <a:p>
            <a:endParaRPr lang="en-US"/>
          </a:p>
        </p:txBody>
      </p:sp>
      <p:sp>
        <p:nvSpPr>
          <p:cNvPr id="48" name="Shape 46"/>
          <p:cNvSpPr/>
          <p:nvPr/>
        </p:nvSpPr>
        <p:spPr>
          <a:xfrm>
            <a:off x="9009888" y="4758944"/>
            <a:ext cx="396240" cy="400304"/>
          </a:xfrm>
          <a:prstGeom prst="roundRect">
            <a:avLst>
              <a:gd name="adj" fmla="val 9231"/>
            </a:avLst>
          </a:prstGeom>
          <a:solidFill>
            <a:schemeClr val="accent1">
              <a:alpha val="20000"/>
            </a:schemeClr>
          </a:solidFill>
          <a:ln/>
        </p:spPr>
        <p:txBody>
          <a:bodyPr/>
          <a:lstStyle/>
          <a:p>
            <a:endParaRPr lang="en-US"/>
          </a:p>
        </p:txBody>
      </p:sp>
      <p:sp>
        <p:nvSpPr>
          <p:cNvPr id="49" name="Shape 47"/>
          <p:cNvSpPr/>
          <p:nvPr/>
        </p:nvSpPr>
        <p:spPr>
          <a:xfrm>
            <a:off x="9515856" y="4758944"/>
            <a:ext cx="396240" cy="400304"/>
          </a:xfrm>
          <a:prstGeom prst="roundRect">
            <a:avLst>
              <a:gd name="adj" fmla="val 9231"/>
            </a:avLst>
          </a:prstGeom>
          <a:solidFill>
            <a:schemeClr val="accent1">
              <a:alpha val="75000"/>
            </a:schemeClr>
          </a:solidFill>
          <a:ln/>
        </p:spPr>
        <p:txBody>
          <a:bodyPr/>
          <a:lstStyle/>
          <a:p>
            <a:endParaRPr lang="en-US"/>
          </a:p>
        </p:txBody>
      </p:sp>
      <p:sp>
        <p:nvSpPr>
          <p:cNvPr id="50" name="Shape 48"/>
          <p:cNvSpPr/>
          <p:nvPr/>
        </p:nvSpPr>
        <p:spPr>
          <a:xfrm>
            <a:off x="10021824" y="4758944"/>
            <a:ext cx="396240" cy="400304"/>
          </a:xfrm>
          <a:prstGeom prst="roundRect">
            <a:avLst>
              <a:gd name="adj" fmla="val 9231"/>
            </a:avLst>
          </a:prstGeom>
          <a:solidFill>
            <a:schemeClr val="accent1">
              <a:alpha val="20000"/>
            </a:schemeClr>
          </a:solidFill>
          <a:ln/>
        </p:spPr>
        <p:txBody>
          <a:bodyPr/>
          <a:lstStyle/>
          <a:p>
            <a:endParaRPr lang="en-US"/>
          </a:p>
        </p:txBody>
      </p:sp>
      <p:sp>
        <p:nvSpPr>
          <p:cNvPr id="51" name="Shape 49"/>
          <p:cNvSpPr/>
          <p:nvPr/>
        </p:nvSpPr>
        <p:spPr>
          <a:xfrm>
            <a:off x="10527792" y="4758944"/>
            <a:ext cx="396240" cy="400304"/>
          </a:xfrm>
          <a:prstGeom prst="roundRect">
            <a:avLst>
              <a:gd name="adj" fmla="val 9231"/>
            </a:avLst>
          </a:prstGeom>
          <a:solidFill>
            <a:schemeClr val="accent1">
              <a:alpha val="75000"/>
            </a:schemeClr>
          </a:solidFill>
          <a:ln/>
        </p:spPr>
        <p:txBody>
          <a:bodyPr/>
          <a:lstStyle/>
          <a:p>
            <a:endParaRPr lang="en-US"/>
          </a:p>
        </p:txBody>
      </p:sp>
      <p:sp>
        <p:nvSpPr>
          <p:cNvPr id="52" name="Shape 50"/>
          <p:cNvSpPr/>
          <p:nvPr/>
        </p:nvSpPr>
        <p:spPr>
          <a:xfrm>
            <a:off x="11033760" y="4758944"/>
            <a:ext cx="396240" cy="400304"/>
          </a:xfrm>
          <a:prstGeom prst="roundRect">
            <a:avLst>
              <a:gd name="adj" fmla="val 9231"/>
            </a:avLst>
          </a:prstGeom>
          <a:solidFill>
            <a:schemeClr val="accent1">
              <a:alpha val="20000"/>
            </a:schemeClr>
          </a:solidFill>
          <a:ln/>
        </p:spPr>
        <p:txBody>
          <a:bodyPr/>
          <a:lstStyle/>
          <a:p>
            <a:endParaRPr lang="en-US"/>
          </a:p>
        </p:txBody>
      </p:sp>
      <p:sp>
        <p:nvSpPr>
          <p:cNvPr id="53" name="Shape 51"/>
          <p:cNvSpPr/>
          <p:nvPr/>
        </p:nvSpPr>
        <p:spPr>
          <a:xfrm>
            <a:off x="8503920" y="5268976"/>
            <a:ext cx="396240" cy="400304"/>
          </a:xfrm>
          <a:prstGeom prst="roundRect">
            <a:avLst>
              <a:gd name="adj" fmla="val 9231"/>
            </a:avLst>
          </a:prstGeom>
          <a:solidFill>
            <a:schemeClr val="accent1"/>
          </a:solidFill>
          <a:ln/>
        </p:spPr>
        <p:txBody>
          <a:bodyPr/>
          <a:lstStyle/>
          <a:p>
            <a:endParaRPr lang="en-US"/>
          </a:p>
        </p:txBody>
      </p:sp>
      <p:sp>
        <p:nvSpPr>
          <p:cNvPr id="54" name="Shape 52"/>
          <p:cNvSpPr/>
          <p:nvPr/>
        </p:nvSpPr>
        <p:spPr>
          <a:xfrm>
            <a:off x="9009888" y="5268976"/>
            <a:ext cx="396240" cy="400304"/>
          </a:xfrm>
          <a:prstGeom prst="roundRect">
            <a:avLst>
              <a:gd name="adj" fmla="val 9231"/>
            </a:avLst>
          </a:prstGeom>
          <a:solidFill>
            <a:schemeClr val="accent1">
              <a:alpha val="20000"/>
            </a:schemeClr>
          </a:solidFill>
          <a:ln/>
        </p:spPr>
        <p:txBody>
          <a:bodyPr/>
          <a:lstStyle/>
          <a:p>
            <a:endParaRPr lang="en-US"/>
          </a:p>
        </p:txBody>
      </p:sp>
      <p:sp>
        <p:nvSpPr>
          <p:cNvPr id="55" name="Shape 53"/>
          <p:cNvSpPr/>
          <p:nvPr/>
        </p:nvSpPr>
        <p:spPr>
          <a:xfrm>
            <a:off x="9515856" y="5268976"/>
            <a:ext cx="396240" cy="400304"/>
          </a:xfrm>
          <a:prstGeom prst="roundRect">
            <a:avLst>
              <a:gd name="adj" fmla="val 9231"/>
            </a:avLst>
          </a:prstGeom>
          <a:solidFill>
            <a:schemeClr val="accent1">
              <a:alpha val="45000"/>
            </a:schemeClr>
          </a:solidFill>
          <a:ln/>
        </p:spPr>
        <p:txBody>
          <a:bodyPr/>
          <a:lstStyle/>
          <a:p>
            <a:endParaRPr lang="en-US"/>
          </a:p>
        </p:txBody>
      </p:sp>
      <p:sp>
        <p:nvSpPr>
          <p:cNvPr id="56" name="Shape 54"/>
          <p:cNvSpPr/>
          <p:nvPr/>
        </p:nvSpPr>
        <p:spPr>
          <a:xfrm>
            <a:off x="10021824" y="5268976"/>
            <a:ext cx="396240" cy="400304"/>
          </a:xfrm>
          <a:prstGeom prst="roundRect">
            <a:avLst>
              <a:gd name="adj" fmla="val 9231"/>
            </a:avLst>
          </a:prstGeom>
          <a:solidFill>
            <a:schemeClr val="accent1">
              <a:alpha val="75000"/>
            </a:schemeClr>
          </a:solidFill>
          <a:ln/>
        </p:spPr>
        <p:txBody>
          <a:bodyPr/>
          <a:lstStyle/>
          <a:p>
            <a:endParaRPr lang="en-US"/>
          </a:p>
        </p:txBody>
      </p:sp>
      <p:sp>
        <p:nvSpPr>
          <p:cNvPr id="57" name="Shape 55"/>
          <p:cNvSpPr/>
          <p:nvPr/>
        </p:nvSpPr>
        <p:spPr>
          <a:xfrm>
            <a:off x="10527792" y="5268976"/>
            <a:ext cx="396240" cy="400304"/>
          </a:xfrm>
          <a:prstGeom prst="roundRect">
            <a:avLst>
              <a:gd name="adj" fmla="val 9231"/>
            </a:avLst>
          </a:prstGeom>
          <a:solidFill>
            <a:schemeClr val="accent1"/>
          </a:solidFill>
          <a:ln/>
        </p:spPr>
        <p:txBody>
          <a:bodyPr/>
          <a:lstStyle/>
          <a:p>
            <a:endParaRPr lang="en-US"/>
          </a:p>
        </p:txBody>
      </p:sp>
      <p:sp>
        <p:nvSpPr>
          <p:cNvPr id="58" name="Shape 56"/>
          <p:cNvSpPr/>
          <p:nvPr/>
        </p:nvSpPr>
        <p:spPr>
          <a:xfrm>
            <a:off x="11033760" y="5268976"/>
            <a:ext cx="396240" cy="400304"/>
          </a:xfrm>
          <a:prstGeom prst="roundRect">
            <a:avLst>
              <a:gd name="adj" fmla="val 9231"/>
            </a:avLst>
          </a:prstGeom>
          <a:solidFill>
            <a:schemeClr val="accent1">
              <a:alpha val="20000"/>
            </a:schemeClr>
          </a:solidFill>
          <a:ln/>
        </p:spPr>
        <p:txBody>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Architecture generations at a glance</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Roughly a new data center architecture every two years, now moving to a yearly cadence</a:t>
            </a:r>
            <a:endParaRPr lang="en-US" sz="1600" dirty="0"/>
          </a:p>
        </p:txBody>
      </p:sp>
      <p:sp>
        <p:nvSpPr>
          <p:cNvPr id="4" name="Shape 2"/>
          <p:cNvSpPr/>
          <p:nvPr/>
        </p:nvSpPr>
        <p:spPr>
          <a:xfrm>
            <a:off x="822960" y="2743200"/>
            <a:ext cx="10561320" cy="914"/>
          </a:xfrm>
          <a:prstGeom prst="line">
            <a:avLst/>
          </a:prstGeom>
          <a:noFill/>
          <a:ln w="25400">
            <a:solidFill>
              <a:schemeClr val="accent5"/>
            </a:solidFill>
            <a:prstDash val="solid"/>
          </a:ln>
        </p:spPr>
        <p:txBody>
          <a:bodyPr/>
          <a:lstStyle/>
          <a:p>
            <a:endParaRPr lang="en-US"/>
          </a:p>
        </p:txBody>
      </p:sp>
      <p:sp>
        <p:nvSpPr>
          <p:cNvPr id="5" name="Text 3"/>
          <p:cNvSpPr txBox="1"/>
          <p:nvPr/>
        </p:nvSpPr>
        <p:spPr>
          <a:xfrm>
            <a:off x="365760" y="2057400"/>
            <a:ext cx="1188720" cy="365760"/>
          </a:xfrm>
          <a:prstGeom prst="rect">
            <a:avLst/>
          </a:prstGeom>
          <a:noFill/>
          <a:ln/>
        </p:spPr>
        <p:txBody>
          <a:bodyPr wrap="square" lIns="0" tIns="0" rIns="0" bIns="0" rtlCol="0" anchor="t"/>
          <a:lstStyle/>
          <a:p>
            <a:pPr marL="0" indent="0" algn="ctr">
              <a:buNone/>
            </a:pPr>
            <a:r>
              <a:rPr lang="en-US" sz="1600" b="1" dirty="0">
                <a:solidFill>
                  <a:schemeClr val="accent2"/>
                </a:solidFill>
              </a:rPr>
              <a:t>2016</a:t>
            </a:r>
            <a:endParaRPr lang="en-US" sz="1600" dirty="0"/>
          </a:p>
        </p:txBody>
      </p:sp>
      <p:sp>
        <p:nvSpPr>
          <p:cNvPr id="6" name="Shape 4"/>
          <p:cNvSpPr/>
          <p:nvPr/>
        </p:nvSpPr>
        <p:spPr>
          <a:xfrm>
            <a:off x="813816" y="2596896"/>
            <a:ext cx="292608" cy="292608"/>
          </a:xfrm>
          <a:prstGeom prst="ellipse">
            <a:avLst/>
          </a:prstGeom>
          <a:solidFill>
            <a:schemeClr val="accent1"/>
          </a:solidFill>
          <a:ln w="25400">
            <a:solidFill>
              <a:schemeClr val="accent1"/>
            </a:solidFill>
            <a:prstDash val="solid"/>
          </a:ln>
        </p:spPr>
        <p:txBody>
          <a:bodyPr/>
          <a:lstStyle/>
          <a:p>
            <a:endParaRPr lang="en-US"/>
          </a:p>
        </p:txBody>
      </p:sp>
      <p:sp>
        <p:nvSpPr>
          <p:cNvPr id="7" name="Text 5"/>
          <p:cNvSpPr txBox="1"/>
          <p:nvPr/>
        </p:nvSpPr>
        <p:spPr>
          <a:xfrm>
            <a:off x="338328" y="3063240"/>
            <a:ext cx="1243584" cy="594360"/>
          </a:xfrm>
          <a:prstGeom prst="rect">
            <a:avLst/>
          </a:prstGeom>
          <a:noFill/>
          <a:ln/>
        </p:spPr>
        <p:txBody>
          <a:bodyPr wrap="square" lIns="0" tIns="0" rIns="0" bIns="0" rtlCol="0" anchor="t"/>
          <a:lstStyle/>
          <a:p>
            <a:pPr marL="0" indent="0" algn="ctr">
              <a:buNone/>
            </a:pPr>
            <a:r>
              <a:rPr lang="en-US" sz="1500" b="1" dirty="0">
                <a:solidFill>
                  <a:schemeClr val="tx1"/>
                </a:solidFill>
              </a:rPr>
              <a:t>Pascal</a:t>
            </a:r>
            <a:endParaRPr lang="en-US" sz="1500" dirty="0"/>
          </a:p>
        </p:txBody>
      </p:sp>
      <p:sp>
        <p:nvSpPr>
          <p:cNvPr id="8" name="Text 6"/>
          <p:cNvSpPr txBox="1"/>
          <p:nvPr/>
        </p:nvSpPr>
        <p:spPr>
          <a:xfrm>
            <a:off x="338328" y="3657600"/>
            <a:ext cx="1243584" cy="320040"/>
          </a:xfrm>
          <a:prstGeom prst="rect">
            <a:avLst/>
          </a:prstGeom>
          <a:noFill/>
          <a:ln/>
        </p:spPr>
        <p:txBody>
          <a:bodyPr wrap="square" lIns="0" tIns="0" rIns="0" bIns="0" rtlCol="0" anchor="t"/>
          <a:lstStyle/>
          <a:p>
            <a:pPr marL="0" indent="0" algn="ctr">
              <a:buNone/>
            </a:pPr>
            <a:r>
              <a:rPr lang="en-US" sz="1200" b="1" dirty="0">
                <a:solidFill>
                  <a:schemeClr val="accent2"/>
                </a:solidFill>
              </a:rPr>
              <a:t>P100</a:t>
            </a:r>
            <a:endParaRPr lang="en-US" sz="1200" dirty="0"/>
          </a:p>
        </p:txBody>
      </p:sp>
      <p:sp>
        <p:nvSpPr>
          <p:cNvPr id="9" name="Text 7"/>
          <p:cNvSpPr txBox="1"/>
          <p:nvPr/>
        </p:nvSpPr>
        <p:spPr>
          <a:xfrm>
            <a:off x="338328" y="4023360"/>
            <a:ext cx="1243584" cy="914400"/>
          </a:xfrm>
          <a:prstGeom prst="rect">
            <a:avLst/>
          </a:prstGeom>
          <a:noFill/>
          <a:ln/>
        </p:spPr>
        <p:txBody>
          <a:bodyPr wrap="square" lIns="0" tIns="0" rIns="0" bIns="0" rtlCol="0" anchor="t"/>
          <a:lstStyle/>
          <a:p>
            <a:pPr marL="0" indent="0" algn="ctr">
              <a:buNone/>
            </a:pPr>
            <a:r>
              <a:rPr lang="en-US" sz="1200" dirty="0">
                <a:solidFill>
                  <a:schemeClr val="tx2"/>
                </a:solidFill>
              </a:rPr>
              <a:t>First HBM2 and NVLink</a:t>
            </a:r>
            <a:endParaRPr lang="en-US" sz="1200" dirty="0"/>
          </a:p>
        </p:txBody>
      </p:sp>
      <p:sp>
        <p:nvSpPr>
          <p:cNvPr id="10" name="Text 8"/>
          <p:cNvSpPr txBox="1"/>
          <p:nvPr/>
        </p:nvSpPr>
        <p:spPr>
          <a:xfrm>
            <a:off x="1668780" y="2057400"/>
            <a:ext cx="1188720" cy="365760"/>
          </a:xfrm>
          <a:prstGeom prst="rect">
            <a:avLst/>
          </a:prstGeom>
          <a:noFill/>
          <a:ln/>
        </p:spPr>
        <p:txBody>
          <a:bodyPr wrap="square" lIns="0" tIns="0" rIns="0" bIns="0" rtlCol="0" anchor="t"/>
          <a:lstStyle/>
          <a:p>
            <a:pPr marL="0" indent="0" algn="ctr">
              <a:buNone/>
            </a:pPr>
            <a:r>
              <a:rPr lang="en-US" sz="1600" b="1" dirty="0">
                <a:solidFill>
                  <a:schemeClr val="accent2"/>
                </a:solidFill>
              </a:rPr>
              <a:t>2017</a:t>
            </a:r>
            <a:endParaRPr lang="en-US" sz="1600" dirty="0"/>
          </a:p>
        </p:txBody>
      </p:sp>
      <p:sp>
        <p:nvSpPr>
          <p:cNvPr id="11" name="Shape 9"/>
          <p:cNvSpPr/>
          <p:nvPr/>
        </p:nvSpPr>
        <p:spPr>
          <a:xfrm>
            <a:off x="2116836" y="2596896"/>
            <a:ext cx="292608" cy="292608"/>
          </a:xfrm>
          <a:prstGeom prst="ellipse">
            <a:avLst/>
          </a:prstGeom>
          <a:solidFill>
            <a:schemeClr val="accent1"/>
          </a:solidFill>
          <a:ln w="25400">
            <a:solidFill>
              <a:schemeClr val="accent1"/>
            </a:solidFill>
            <a:prstDash val="solid"/>
          </a:ln>
        </p:spPr>
        <p:txBody>
          <a:bodyPr/>
          <a:lstStyle/>
          <a:p>
            <a:endParaRPr lang="en-US"/>
          </a:p>
        </p:txBody>
      </p:sp>
      <p:sp>
        <p:nvSpPr>
          <p:cNvPr id="12" name="Text 10"/>
          <p:cNvSpPr txBox="1"/>
          <p:nvPr/>
        </p:nvSpPr>
        <p:spPr>
          <a:xfrm>
            <a:off x="1641348" y="3063240"/>
            <a:ext cx="1243584" cy="594360"/>
          </a:xfrm>
          <a:prstGeom prst="rect">
            <a:avLst/>
          </a:prstGeom>
          <a:noFill/>
          <a:ln/>
        </p:spPr>
        <p:txBody>
          <a:bodyPr wrap="square" lIns="0" tIns="0" rIns="0" bIns="0" rtlCol="0" anchor="t"/>
          <a:lstStyle/>
          <a:p>
            <a:pPr marL="0" indent="0" algn="ctr">
              <a:buNone/>
            </a:pPr>
            <a:r>
              <a:rPr lang="en-US" sz="1500" b="1" dirty="0">
                <a:solidFill>
                  <a:schemeClr val="tx1"/>
                </a:solidFill>
              </a:rPr>
              <a:t>Volta</a:t>
            </a:r>
            <a:endParaRPr lang="en-US" sz="1500" dirty="0"/>
          </a:p>
        </p:txBody>
      </p:sp>
      <p:sp>
        <p:nvSpPr>
          <p:cNvPr id="13" name="Text 11"/>
          <p:cNvSpPr txBox="1"/>
          <p:nvPr/>
        </p:nvSpPr>
        <p:spPr>
          <a:xfrm>
            <a:off x="1641348" y="3657600"/>
            <a:ext cx="1243584" cy="320040"/>
          </a:xfrm>
          <a:prstGeom prst="rect">
            <a:avLst/>
          </a:prstGeom>
          <a:noFill/>
          <a:ln/>
        </p:spPr>
        <p:txBody>
          <a:bodyPr wrap="square" lIns="0" tIns="0" rIns="0" bIns="0" rtlCol="0" anchor="t"/>
          <a:lstStyle/>
          <a:p>
            <a:pPr marL="0" indent="0" algn="ctr">
              <a:buNone/>
            </a:pPr>
            <a:r>
              <a:rPr lang="en-US" sz="1200" b="1" dirty="0">
                <a:solidFill>
                  <a:schemeClr val="accent2"/>
                </a:solidFill>
              </a:rPr>
              <a:t>V100</a:t>
            </a:r>
            <a:endParaRPr lang="en-US" sz="1200" dirty="0"/>
          </a:p>
        </p:txBody>
      </p:sp>
      <p:sp>
        <p:nvSpPr>
          <p:cNvPr id="14" name="Text 12"/>
          <p:cNvSpPr txBox="1"/>
          <p:nvPr/>
        </p:nvSpPr>
        <p:spPr>
          <a:xfrm>
            <a:off x="1641348" y="4023360"/>
            <a:ext cx="1243584" cy="914400"/>
          </a:xfrm>
          <a:prstGeom prst="rect">
            <a:avLst/>
          </a:prstGeom>
          <a:noFill/>
          <a:ln/>
        </p:spPr>
        <p:txBody>
          <a:bodyPr wrap="square" lIns="0" tIns="0" rIns="0" bIns="0" rtlCol="0" anchor="t"/>
          <a:lstStyle/>
          <a:p>
            <a:pPr marL="0" indent="0" algn="ctr">
              <a:buNone/>
            </a:pPr>
            <a:r>
              <a:rPr lang="en-US" sz="1200" dirty="0">
                <a:solidFill>
                  <a:schemeClr val="tx2"/>
                </a:solidFill>
              </a:rPr>
              <a:t>1st-gen Tensor Cores</a:t>
            </a:r>
            <a:endParaRPr lang="en-US" sz="1200" dirty="0"/>
          </a:p>
        </p:txBody>
      </p:sp>
      <p:sp>
        <p:nvSpPr>
          <p:cNvPr id="15" name="Text 13"/>
          <p:cNvSpPr txBox="1"/>
          <p:nvPr/>
        </p:nvSpPr>
        <p:spPr>
          <a:xfrm>
            <a:off x="2971800" y="2057400"/>
            <a:ext cx="1188720" cy="365760"/>
          </a:xfrm>
          <a:prstGeom prst="rect">
            <a:avLst/>
          </a:prstGeom>
          <a:noFill/>
          <a:ln/>
        </p:spPr>
        <p:txBody>
          <a:bodyPr wrap="square" lIns="0" tIns="0" rIns="0" bIns="0" rtlCol="0" anchor="t"/>
          <a:lstStyle/>
          <a:p>
            <a:pPr marL="0" indent="0" algn="ctr">
              <a:buNone/>
            </a:pPr>
            <a:r>
              <a:rPr lang="en-US" sz="1600" b="1" dirty="0">
                <a:solidFill>
                  <a:schemeClr val="accent2"/>
                </a:solidFill>
              </a:rPr>
              <a:t>2018</a:t>
            </a:r>
            <a:endParaRPr lang="en-US" sz="1600" dirty="0"/>
          </a:p>
        </p:txBody>
      </p:sp>
      <p:sp>
        <p:nvSpPr>
          <p:cNvPr id="16" name="Shape 14"/>
          <p:cNvSpPr/>
          <p:nvPr/>
        </p:nvSpPr>
        <p:spPr>
          <a:xfrm>
            <a:off x="3419856" y="2596896"/>
            <a:ext cx="292608" cy="292608"/>
          </a:xfrm>
          <a:prstGeom prst="ellipse">
            <a:avLst/>
          </a:prstGeom>
          <a:solidFill>
            <a:schemeClr val="accent1"/>
          </a:solidFill>
          <a:ln w="25400">
            <a:solidFill>
              <a:schemeClr val="accent1"/>
            </a:solidFill>
            <a:prstDash val="solid"/>
          </a:ln>
        </p:spPr>
        <p:txBody>
          <a:bodyPr/>
          <a:lstStyle/>
          <a:p>
            <a:endParaRPr lang="en-US"/>
          </a:p>
        </p:txBody>
      </p:sp>
      <p:sp>
        <p:nvSpPr>
          <p:cNvPr id="17" name="Text 15"/>
          <p:cNvSpPr txBox="1"/>
          <p:nvPr/>
        </p:nvSpPr>
        <p:spPr>
          <a:xfrm>
            <a:off x="2944368" y="3063240"/>
            <a:ext cx="1243584" cy="594360"/>
          </a:xfrm>
          <a:prstGeom prst="rect">
            <a:avLst/>
          </a:prstGeom>
          <a:noFill/>
          <a:ln/>
        </p:spPr>
        <p:txBody>
          <a:bodyPr wrap="square" lIns="0" tIns="0" rIns="0" bIns="0" rtlCol="0" anchor="t"/>
          <a:lstStyle/>
          <a:p>
            <a:pPr marL="0" indent="0" algn="ctr">
              <a:buNone/>
            </a:pPr>
            <a:r>
              <a:rPr lang="en-US" sz="1500" b="1" dirty="0">
                <a:solidFill>
                  <a:schemeClr val="tx1"/>
                </a:solidFill>
              </a:rPr>
              <a:t>Turing</a:t>
            </a:r>
            <a:endParaRPr lang="en-US" sz="1500" dirty="0"/>
          </a:p>
        </p:txBody>
      </p:sp>
      <p:sp>
        <p:nvSpPr>
          <p:cNvPr id="18" name="Text 16"/>
          <p:cNvSpPr txBox="1"/>
          <p:nvPr/>
        </p:nvSpPr>
        <p:spPr>
          <a:xfrm>
            <a:off x="2944368" y="3657600"/>
            <a:ext cx="1243584" cy="320040"/>
          </a:xfrm>
          <a:prstGeom prst="rect">
            <a:avLst/>
          </a:prstGeom>
          <a:noFill/>
          <a:ln/>
        </p:spPr>
        <p:txBody>
          <a:bodyPr wrap="square" lIns="0" tIns="0" rIns="0" bIns="0" rtlCol="0" anchor="t"/>
          <a:lstStyle/>
          <a:p>
            <a:pPr marL="0" indent="0" algn="ctr">
              <a:buNone/>
            </a:pPr>
            <a:r>
              <a:rPr lang="en-US" sz="1200" b="1" dirty="0">
                <a:solidFill>
                  <a:schemeClr val="accent2"/>
                </a:solidFill>
              </a:rPr>
              <a:t>T4</a:t>
            </a:r>
            <a:endParaRPr lang="en-US" sz="1200" dirty="0"/>
          </a:p>
        </p:txBody>
      </p:sp>
      <p:sp>
        <p:nvSpPr>
          <p:cNvPr id="19" name="Text 17"/>
          <p:cNvSpPr txBox="1"/>
          <p:nvPr/>
        </p:nvSpPr>
        <p:spPr>
          <a:xfrm>
            <a:off x="2944368" y="4023360"/>
            <a:ext cx="1243584" cy="914400"/>
          </a:xfrm>
          <a:prstGeom prst="rect">
            <a:avLst/>
          </a:prstGeom>
          <a:noFill/>
          <a:ln/>
        </p:spPr>
        <p:txBody>
          <a:bodyPr wrap="square" lIns="0" tIns="0" rIns="0" bIns="0" rtlCol="0" anchor="t"/>
          <a:lstStyle/>
          <a:p>
            <a:pPr marL="0" indent="0" algn="ctr">
              <a:buNone/>
            </a:pPr>
            <a:r>
              <a:rPr lang="en-US" sz="1200" dirty="0">
                <a:solidFill>
                  <a:schemeClr val="tx2"/>
                </a:solidFill>
              </a:rPr>
              <a:t>INT8 / INT4 inference, RT cores</a:t>
            </a:r>
            <a:endParaRPr lang="en-US" sz="1200" dirty="0"/>
          </a:p>
        </p:txBody>
      </p:sp>
      <p:sp>
        <p:nvSpPr>
          <p:cNvPr id="20" name="Text 18"/>
          <p:cNvSpPr txBox="1"/>
          <p:nvPr/>
        </p:nvSpPr>
        <p:spPr>
          <a:xfrm>
            <a:off x="4274820" y="2057400"/>
            <a:ext cx="1188720" cy="365760"/>
          </a:xfrm>
          <a:prstGeom prst="rect">
            <a:avLst/>
          </a:prstGeom>
          <a:noFill/>
          <a:ln/>
        </p:spPr>
        <p:txBody>
          <a:bodyPr wrap="square" lIns="0" tIns="0" rIns="0" bIns="0" rtlCol="0" anchor="t"/>
          <a:lstStyle/>
          <a:p>
            <a:pPr marL="0" indent="0" algn="ctr">
              <a:buNone/>
            </a:pPr>
            <a:r>
              <a:rPr lang="en-US" sz="1600" b="1" dirty="0">
                <a:solidFill>
                  <a:schemeClr val="accent2"/>
                </a:solidFill>
              </a:rPr>
              <a:t>2020</a:t>
            </a:r>
            <a:endParaRPr lang="en-US" sz="1600" dirty="0"/>
          </a:p>
        </p:txBody>
      </p:sp>
      <p:sp>
        <p:nvSpPr>
          <p:cNvPr id="21" name="Shape 19"/>
          <p:cNvSpPr/>
          <p:nvPr/>
        </p:nvSpPr>
        <p:spPr>
          <a:xfrm>
            <a:off x="4722876" y="2596896"/>
            <a:ext cx="292608" cy="292608"/>
          </a:xfrm>
          <a:prstGeom prst="ellipse">
            <a:avLst/>
          </a:prstGeom>
          <a:solidFill>
            <a:schemeClr val="accent1"/>
          </a:solidFill>
          <a:ln w="25400">
            <a:solidFill>
              <a:schemeClr val="accent1"/>
            </a:solidFill>
            <a:prstDash val="solid"/>
          </a:ln>
        </p:spPr>
        <p:txBody>
          <a:bodyPr/>
          <a:lstStyle/>
          <a:p>
            <a:endParaRPr lang="en-US"/>
          </a:p>
        </p:txBody>
      </p:sp>
      <p:sp>
        <p:nvSpPr>
          <p:cNvPr id="22" name="Text 20"/>
          <p:cNvSpPr txBox="1"/>
          <p:nvPr/>
        </p:nvSpPr>
        <p:spPr>
          <a:xfrm>
            <a:off x="4247388" y="3063240"/>
            <a:ext cx="1243584" cy="594360"/>
          </a:xfrm>
          <a:prstGeom prst="rect">
            <a:avLst/>
          </a:prstGeom>
          <a:noFill/>
          <a:ln/>
        </p:spPr>
        <p:txBody>
          <a:bodyPr wrap="square" lIns="0" tIns="0" rIns="0" bIns="0" rtlCol="0" anchor="t"/>
          <a:lstStyle/>
          <a:p>
            <a:pPr marL="0" indent="0" algn="ctr">
              <a:buNone/>
            </a:pPr>
            <a:r>
              <a:rPr lang="en-US" sz="1500" b="1" dirty="0">
                <a:solidFill>
                  <a:schemeClr val="tx1"/>
                </a:solidFill>
              </a:rPr>
              <a:t>Ampere</a:t>
            </a:r>
            <a:endParaRPr lang="en-US" sz="1500" dirty="0"/>
          </a:p>
        </p:txBody>
      </p:sp>
      <p:sp>
        <p:nvSpPr>
          <p:cNvPr id="23" name="Text 21"/>
          <p:cNvSpPr txBox="1"/>
          <p:nvPr/>
        </p:nvSpPr>
        <p:spPr>
          <a:xfrm>
            <a:off x="4247388" y="3657600"/>
            <a:ext cx="1243584" cy="320040"/>
          </a:xfrm>
          <a:prstGeom prst="rect">
            <a:avLst/>
          </a:prstGeom>
          <a:noFill/>
          <a:ln/>
        </p:spPr>
        <p:txBody>
          <a:bodyPr wrap="square" lIns="0" tIns="0" rIns="0" bIns="0" rtlCol="0" anchor="t"/>
          <a:lstStyle/>
          <a:p>
            <a:pPr marL="0" indent="0" algn="ctr">
              <a:buNone/>
            </a:pPr>
            <a:r>
              <a:rPr lang="en-US" sz="1200" b="1" dirty="0">
                <a:solidFill>
                  <a:schemeClr val="accent2"/>
                </a:solidFill>
              </a:rPr>
              <a:t>A100</a:t>
            </a:r>
            <a:endParaRPr lang="en-US" sz="1200" dirty="0"/>
          </a:p>
        </p:txBody>
      </p:sp>
      <p:sp>
        <p:nvSpPr>
          <p:cNvPr id="24" name="Text 22"/>
          <p:cNvSpPr txBox="1"/>
          <p:nvPr/>
        </p:nvSpPr>
        <p:spPr>
          <a:xfrm>
            <a:off x="4247388" y="4023360"/>
            <a:ext cx="1243584" cy="914400"/>
          </a:xfrm>
          <a:prstGeom prst="rect">
            <a:avLst/>
          </a:prstGeom>
          <a:noFill/>
          <a:ln/>
        </p:spPr>
        <p:txBody>
          <a:bodyPr wrap="square" lIns="0" tIns="0" rIns="0" bIns="0" rtlCol="0" anchor="t"/>
          <a:lstStyle/>
          <a:p>
            <a:pPr marL="0" indent="0" algn="ctr">
              <a:buNone/>
            </a:pPr>
            <a:r>
              <a:rPr lang="en-US" sz="1200" dirty="0">
                <a:solidFill>
                  <a:schemeClr val="tx2"/>
                </a:solidFill>
              </a:rPr>
              <a:t>TF32, BF16, MIG, sparsity</a:t>
            </a:r>
            <a:endParaRPr lang="en-US" sz="1200" dirty="0"/>
          </a:p>
        </p:txBody>
      </p:sp>
      <p:sp>
        <p:nvSpPr>
          <p:cNvPr id="25" name="Text 23"/>
          <p:cNvSpPr txBox="1"/>
          <p:nvPr/>
        </p:nvSpPr>
        <p:spPr>
          <a:xfrm>
            <a:off x="5577840" y="2057400"/>
            <a:ext cx="1188720" cy="365760"/>
          </a:xfrm>
          <a:prstGeom prst="rect">
            <a:avLst/>
          </a:prstGeom>
          <a:noFill/>
          <a:ln/>
        </p:spPr>
        <p:txBody>
          <a:bodyPr wrap="square" lIns="0" tIns="0" rIns="0" bIns="0" rtlCol="0" anchor="t"/>
          <a:lstStyle/>
          <a:p>
            <a:pPr marL="0" indent="0" algn="ctr">
              <a:buNone/>
            </a:pPr>
            <a:r>
              <a:rPr lang="en-US" sz="1600" b="1" dirty="0">
                <a:solidFill>
                  <a:schemeClr val="accent2"/>
                </a:solidFill>
              </a:rPr>
              <a:t>2022</a:t>
            </a:r>
            <a:endParaRPr lang="en-US" sz="1600" dirty="0"/>
          </a:p>
        </p:txBody>
      </p:sp>
      <p:sp>
        <p:nvSpPr>
          <p:cNvPr id="26" name="Shape 24"/>
          <p:cNvSpPr/>
          <p:nvPr/>
        </p:nvSpPr>
        <p:spPr>
          <a:xfrm>
            <a:off x="6025896" y="2596896"/>
            <a:ext cx="292608" cy="292608"/>
          </a:xfrm>
          <a:prstGeom prst="ellipse">
            <a:avLst/>
          </a:prstGeom>
          <a:solidFill>
            <a:schemeClr val="accent1"/>
          </a:solidFill>
          <a:ln w="25400">
            <a:solidFill>
              <a:schemeClr val="accent1"/>
            </a:solidFill>
            <a:prstDash val="solid"/>
          </a:ln>
        </p:spPr>
        <p:txBody>
          <a:bodyPr/>
          <a:lstStyle/>
          <a:p>
            <a:endParaRPr lang="en-US"/>
          </a:p>
        </p:txBody>
      </p:sp>
      <p:sp>
        <p:nvSpPr>
          <p:cNvPr id="27" name="Text 25"/>
          <p:cNvSpPr txBox="1"/>
          <p:nvPr/>
        </p:nvSpPr>
        <p:spPr>
          <a:xfrm>
            <a:off x="5550408" y="3063240"/>
            <a:ext cx="1243584" cy="594360"/>
          </a:xfrm>
          <a:prstGeom prst="rect">
            <a:avLst/>
          </a:prstGeom>
          <a:noFill/>
          <a:ln/>
        </p:spPr>
        <p:txBody>
          <a:bodyPr wrap="square" lIns="0" tIns="0" rIns="0" bIns="0" rtlCol="0" anchor="t"/>
          <a:lstStyle/>
          <a:p>
            <a:pPr marL="0" indent="0" algn="ctr">
              <a:buNone/>
            </a:pPr>
            <a:r>
              <a:rPr lang="en-US" sz="1500" b="1" dirty="0">
                <a:solidFill>
                  <a:schemeClr val="tx1"/>
                </a:solidFill>
              </a:rPr>
              <a:t>Hopper</a:t>
            </a:r>
            <a:endParaRPr lang="en-US" sz="1500" dirty="0"/>
          </a:p>
        </p:txBody>
      </p:sp>
      <p:sp>
        <p:nvSpPr>
          <p:cNvPr id="28" name="Text 26"/>
          <p:cNvSpPr txBox="1"/>
          <p:nvPr/>
        </p:nvSpPr>
        <p:spPr>
          <a:xfrm>
            <a:off x="5550408" y="3657600"/>
            <a:ext cx="1243584" cy="320040"/>
          </a:xfrm>
          <a:prstGeom prst="rect">
            <a:avLst/>
          </a:prstGeom>
          <a:noFill/>
          <a:ln/>
        </p:spPr>
        <p:txBody>
          <a:bodyPr wrap="square" lIns="0" tIns="0" rIns="0" bIns="0" rtlCol="0" anchor="t"/>
          <a:lstStyle/>
          <a:p>
            <a:pPr marL="0" indent="0" algn="ctr">
              <a:buNone/>
            </a:pPr>
            <a:r>
              <a:rPr lang="en-US" sz="1200" b="1" dirty="0">
                <a:solidFill>
                  <a:schemeClr val="accent2"/>
                </a:solidFill>
              </a:rPr>
              <a:t>H100, H200</a:t>
            </a:r>
            <a:endParaRPr lang="en-US" sz="1200" dirty="0"/>
          </a:p>
        </p:txBody>
      </p:sp>
      <p:sp>
        <p:nvSpPr>
          <p:cNvPr id="29" name="Text 27"/>
          <p:cNvSpPr txBox="1"/>
          <p:nvPr/>
        </p:nvSpPr>
        <p:spPr>
          <a:xfrm>
            <a:off x="5550408" y="4023360"/>
            <a:ext cx="1243584" cy="914400"/>
          </a:xfrm>
          <a:prstGeom prst="rect">
            <a:avLst/>
          </a:prstGeom>
          <a:noFill/>
          <a:ln/>
        </p:spPr>
        <p:txBody>
          <a:bodyPr wrap="square" lIns="0" tIns="0" rIns="0" bIns="0" rtlCol="0" anchor="t"/>
          <a:lstStyle/>
          <a:p>
            <a:pPr marL="0" indent="0" algn="ctr">
              <a:buNone/>
            </a:pPr>
            <a:r>
              <a:rPr lang="en-US" sz="1200" dirty="0">
                <a:solidFill>
                  <a:schemeClr val="tx2"/>
                </a:solidFill>
              </a:rPr>
              <a:t>FP8 Transformer Engine</a:t>
            </a:r>
            <a:endParaRPr lang="en-US" sz="1200" dirty="0"/>
          </a:p>
        </p:txBody>
      </p:sp>
      <p:sp>
        <p:nvSpPr>
          <p:cNvPr id="30" name="Text 28"/>
          <p:cNvSpPr txBox="1"/>
          <p:nvPr/>
        </p:nvSpPr>
        <p:spPr>
          <a:xfrm>
            <a:off x="6880860" y="2057400"/>
            <a:ext cx="1188720" cy="365760"/>
          </a:xfrm>
          <a:prstGeom prst="rect">
            <a:avLst/>
          </a:prstGeom>
          <a:noFill/>
          <a:ln/>
        </p:spPr>
        <p:txBody>
          <a:bodyPr wrap="square" lIns="0" tIns="0" rIns="0" bIns="0" rtlCol="0" anchor="t"/>
          <a:lstStyle/>
          <a:p>
            <a:pPr marL="0" indent="0" algn="ctr">
              <a:buNone/>
            </a:pPr>
            <a:r>
              <a:rPr lang="en-US" sz="1600" b="1" dirty="0">
                <a:solidFill>
                  <a:schemeClr val="accent2"/>
                </a:solidFill>
              </a:rPr>
              <a:t>2022</a:t>
            </a:r>
            <a:endParaRPr lang="en-US" sz="1600" dirty="0"/>
          </a:p>
        </p:txBody>
      </p:sp>
      <p:sp>
        <p:nvSpPr>
          <p:cNvPr id="31" name="Shape 29"/>
          <p:cNvSpPr/>
          <p:nvPr/>
        </p:nvSpPr>
        <p:spPr>
          <a:xfrm>
            <a:off x="7328916" y="2596896"/>
            <a:ext cx="292608" cy="292608"/>
          </a:xfrm>
          <a:prstGeom prst="ellipse">
            <a:avLst/>
          </a:prstGeom>
          <a:solidFill>
            <a:schemeClr val="accent1"/>
          </a:solidFill>
          <a:ln w="25400">
            <a:solidFill>
              <a:schemeClr val="accent1"/>
            </a:solidFill>
            <a:prstDash val="solid"/>
          </a:ln>
        </p:spPr>
        <p:txBody>
          <a:bodyPr/>
          <a:lstStyle/>
          <a:p>
            <a:endParaRPr lang="en-US"/>
          </a:p>
        </p:txBody>
      </p:sp>
      <p:sp>
        <p:nvSpPr>
          <p:cNvPr id="32" name="Text 30"/>
          <p:cNvSpPr txBox="1"/>
          <p:nvPr/>
        </p:nvSpPr>
        <p:spPr>
          <a:xfrm>
            <a:off x="6853428" y="3063240"/>
            <a:ext cx="1243584" cy="594360"/>
          </a:xfrm>
          <a:prstGeom prst="rect">
            <a:avLst/>
          </a:prstGeom>
          <a:noFill/>
          <a:ln/>
        </p:spPr>
        <p:txBody>
          <a:bodyPr wrap="square" lIns="0" tIns="0" rIns="0" bIns="0" rtlCol="0" anchor="t"/>
          <a:lstStyle/>
          <a:p>
            <a:pPr marL="0" indent="0" algn="ctr">
              <a:buNone/>
            </a:pPr>
            <a:r>
              <a:rPr lang="en-US" sz="1500" b="1" dirty="0">
                <a:solidFill>
                  <a:schemeClr val="tx1"/>
                </a:solidFill>
              </a:rPr>
              <a:t>Ada Lovelace</a:t>
            </a:r>
            <a:endParaRPr lang="en-US" sz="1500" dirty="0"/>
          </a:p>
        </p:txBody>
      </p:sp>
      <p:sp>
        <p:nvSpPr>
          <p:cNvPr id="33" name="Text 31"/>
          <p:cNvSpPr txBox="1"/>
          <p:nvPr/>
        </p:nvSpPr>
        <p:spPr>
          <a:xfrm>
            <a:off x="6853428" y="3657600"/>
            <a:ext cx="1243584" cy="320040"/>
          </a:xfrm>
          <a:prstGeom prst="rect">
            <a:avLst/>
          </a:prstGeom>
          <a:noFill/>
          <a:ln/>
        </p:spPr>
        <p:txBody>
          <a:bodyPr wrap="square" lIns="0" tIns="0" rIns="0" bIns="0" rtlCol="0" anchor="t"/>
          <a:lstStyle/>
          <a:p>
            <a:pPr marL="0" indent="0" algn="ctr">
              <a:buNone/>
            </a:pPr>
            <a:r>
              <a:rPr lang="en-US" sz="1200" b="1" dirty="0">
                <a:solidFill>
                  <a:schemeClr val="accent2"/>
                </a:solidFill>
              </a:rPr>
              <a:t>L40S, L4</a:t>
            </a:r>
            <a:endParaRPr lang="en-US" sz="1200" dirty="0"/>
          </a:p>
        </p:txBody>
      </p:sp>
      <p:sp>
        <p:nvSpPr>
          <p:cNvPr id="34" name="Text 32"/>
          <p:cNvSpPr txBox="1"/>
          <p:nvPr/>
        </p:nvSpPr>
        <p:spPr>
          <a:xfrm>
            <a:off x="6853428" y="4023360"/>
            <a:ext cx="1243584" cy="914400"/>
          </a:xfrm>
          <a:prstGeom prst="rect">
            <a:avLst/>
          </a:prstGeom>
          <a:noFill/>
          <a:ln/>
        </p:spPr>
        <p:txBody>
          <a:bodyPr wrap="square" lIns="0" tIns="0" rIns="0" bIns="0" rtlCol="0" anchor="t"/>
          <a:lstStyle/>
          <a:p>
            <a:pPr marL="0" indent="0" algn="ctr">
              <a:buNone/>
            </a:pPr>
            <a:r>
              <a:rPr lang="en-US" sz="1200" dirty="0">
                <a:solidFill>
                  <a:schemeClr val="tx2"/>
                </a:solidFill>
              </a:rPr>
              <a:t>FP8 for inference and graphics</a:t>
            </a:r>
            <a:endParaRPr lang="en-US" sz="1200" dirty="0"/>
          </a:p>
        </p:txBody>
      </p:sp>
      <p:sp>
        <p:nvSpPr>
          <p:cNvPr id="35" name="Text 33"/>
          <p:cNvSpPr txBox="1"/>
          <p:nvPr/>
        </p:nvSpPr>
        <p:spPr>
          <a:xfrm>
            <a:off x="8183880" y="2057400"/>
            <a:ext cx="1188720" cy="365760"/>
          </a:xfrm>
          <a:prstGeom prst="rect">
            <a:avLst/>
          </a:prstGeom>
          <a:noFill/>
          <a:ln/>
        </p:spPr>
        <p:txBody>
          <a:bodyPr wrap="square" lIns="0" tIns="0" rIns="0" bIns="0" rtlCol="0" anchor="t"/>
          <a:lstStyle/>
          <a:p>
            <a:pPr marL="0" indent="0" algn="ctr">
              <a:buNone/>
            </a:pPr>
            <a:r>
              <a:rPr lang="en-US" sz="1600" b="1" dirty="0">
                <a:solidFill>
                  <a:schemeClr val="accent2"/>
                </a:solidFill>
              </a:rPr>
              <a:t>2024</a:t>
            </a:r>
            <a:endParaRPr lang="en-US" sz="1600" dirty="0"/>
          </a:p>
        </p:txBody>
      </p:sp>
      <p:sp>
        <p:nvSpPr>
          <p:cNvPr id="36" name="Shape 34"/>
          <p:cNvSpPr/>
          <p:nvPr/>
        </p:nvSpPr>
        <p:spPr>
          <a:xfrm>
            <a:off x="8631936" y="2596896"/>
            <a:ext cx="292608" cy="292608"/>
          </a:xfrm>
          <a:prstGeom prst="ellipse">
            <a:avLst/>
          </a:prstGeom>
          <a:solidFill>
            <a:schemeClr val="accent1"/>
          </a:solidFill>
          <a:ln w="25400">
            <a:solidFill>
              <a:schemeClr val="accent1"/>
            </a:solidFill>
            <a:prstDash val="solid"/>
          </a:ln>
        </p:spPr>
        <p:txBody>
          <a:bodyPr/>
          <a:lstStyle/>
          <a:p>
            <a:endParaRPr lang="en-US"/>
          </a:p>
        </p:txBody>
      </p:sp>
      <p:sp>
        <p:nvSpPr>
          <p:cNvPr id="37" name="Text 35"/>
          <p:cNvSpPr txBox="1"/>
          <p:nvPr/>
        </p:nvSpPr>
        <p:spPr>
          <a:xfrm>
            <a:off x="8156448" y="3063240"/>
            <a:ext cx="1243584" cy="594360"/>
          </a:xfrm>
          <a:prstGeom prst="rect">
            <a:avLst/>
          </a:prstGeom>
          <a:noFill/>
          <a:ln/>
        </p:spPr>
        <p:txBody>
          <a:bodyPr wrap="square" lIns="0" tIns="0" rIns="0" bIns="0" rtlCol="0" anchor="t"/>
          <a:lstStyle/>
          <a:p>
            <a:pPr marL="0" indent="0" algn="ctr">
              <a:buNone/>
            </a:pPr>
            <a:r>
              <a:rPr lang="en-US" sz="1500" b="1" dirty="0">
                <a:solidFill>
                  <a:schemeClr val="tx1"/>
                </a:solidFill>
              </a:rPr>
              <a:t>Blackwell</a:t>
            </a:r>
            <a:endParaRPr lang="en-US" sz="1500" dirty="0"/>
          </a:p>
        </p:txBody>
      </p:sp>
      <p:sp>
        <p:nvSpPr>
          <p:cNvPr id="38" name="Text 36"/>
          <p:cNvSpPr txBox="1"/>
          <p:nvPr/>
        </p:nvSpPr>
        <p:spPr>
          <a:xfrm>
            <a:off x="8156448" y="3657600"/>
            <a:ext cx="1243584" cy="320040"/>
          </a:xfrm>
          <a:prstGeom prst="rect">
            <a:avLst/>
          </a:prstGeom>
          <a:noFill/>
          <a:ln/>
        </p:spPr>
        <p:txBody>
          <a:bodyPr wrap="square" lIns="0" tIns="0" rIns="0" bIns="0" rtlCol="0" anchor="t"/>
          <a:lstStyle/>
          <a:p>
            <a:pPr marL="0" indent="0" algn="ctr">
              <a:buNone/>
            </a:pPr>
            <a:r>
              <a:rPr lang="en-US" sz="1200" b="1" dirty="0">
                <a:solidFill>
                  <a:schemeClr val="accent2"/>
                </a:solidFill>
              </a:rPr>
              <a:t>B200, GB200</a:t>
            </a:r>
            <a:endParaRPr lang="en-US" sz="1200" dirty="0"/>
          </a:p>
        </p:txBody>
      </p:sp>
      <p:sp>
        <p:nvSpPr>
          <p:cNvPr id="39" name="Text 37"/>
          <p:cNvSpPr txBox="1"/>
          <p:nvPr/>
        </p:nvSpPr>
        <p:spPr>
          <a:xfrm>
            <a:off x="8156448" y="4023360"/>
            <a:ext cx="1243584" cy="914400"/>
          </a:xfrm>
          <a:prstGeom prst="rect">
            <a:avLst/>
          </a:prstGeom>
          <a:noFill/>
          <a:ln/>
        </p:spPr>
        <p:txBody>
          <a:bodyPr wrap="square" lIns="0" tIns="0" rIns="0" bIns="0" rtlCol="0" anchor="t"/>
          <a:lstStyle/>
          <a:p>
            <a:pPr marL="0" indent="0" algn="ctr">
              <a:buNone/>
            </a:pPr>
            <a:r>
              <a:rPr lang="en-US" sz="1200" dirty="0">
                <a:solidFill>
                  <a:schemeClr val="tx2"/>
                </a:solidFill>
              </a:rPr>
              <a:t>FP4, NVLink 5, dual-die</a:t>
            </a:r>
            <a:endParaRPr lang="en-US" sz="1200" dirty="0"/>
          </a:p>
        </p:txBody>
      </p:sp>
      <p:sp>
        <p:nvSpPr>
          <p:cNvPr id="40" name="Text 38"/>
          <p:cNvSpPr txBox="1"/>
          <p:nvPr/>
        </p:nvSpPr>
        <p:spPr>
          <a:xfrm>
            <a:off x="9486900" y="2057400"/>
            <a:ext cx="1188720" cy="365760"/>
          </a:xfrm>
          <a:prstGeom prst="rect">
            <a:avLst/>
          </a:prstGeom>
          <a:noFill/>
          <a:ln/>
        </p:spPr>
        <p:txBody>
          <a:bodyPr wrap="square" lIns="0" tIns="0" rIns="0" bIns="0" rtlCol="0" anchor="t"/>
          <a:lstStyle/>
          <a:p>
            <a:pPr marL="0" indent="0" algn="ctr">
              <a:buNone/>
            </a:pPr>
            <a:r>
              <a:rPr lang="en-US" sz="1600" b="1" dirty="0">
                <a:solidFill>
                  <a:schemeClr val="accent2"/>
                </a:solidFill>
              </a:rPr>
              <a:t>2025</a:t>
            </a:r>
            <a:endParaRPr lang="en-US" sz="1600" dirty="0"/>
          </a:p>
        </p:txBody>
      </p:sp>
      <p:sp>
        <p:nvSpPr>
          <p:cNvPr id="41" name="Shape 39"/>
          <p:cNvSpPr/>
          <p:nvPr/>
        </p:nvSpPr>
        <p:spPr>
          <a:xfrm>
            <a:off x="9934956" y="2596896"/>
            <a:ext cx="292608" cy="292608"/>
          </a:xfrm>
          <a:prstGeom prst="ellipse">
            <a:avLst/>
          </a:prstGeom>
          <a:solidFill>
            <a:schemeClr val="accent1"/>
          </a:solidFill>
          <a:ln w="25400">
            <a:solidFill>
              <a:schemeClr val="accent1"/>
            </a:solidFill>
            <a:prstDash val="solid"/>
          </a:ln>
        </p:spPr>
        <p:txBody>
          <a:bodyPr/>
          <a:lstStyle/>
          <a:p>
            <a:endParaRPr lang="en-US"/>
          </a:p>
        </p:txBody>
      </p:sp>
      <p:sp>
        <p:nvSpPr>
          <p:cNvPr id="42" name="Text 40"/>
          <p:cNvSpPr txBox="1"/>
          <p:nvPr/>
        </p:nvSpPr>
        <p:spPr>
          <a:xfrm>
            <a:off x="9459468" y="3063240"/>
            <a:ext cx="1243584" cy="594360"/>
          </a:xfrm>
          <a:prstGeom prst="rect">
            <a:avLst/>
          </a:prstGeom>
          <a:noFill/>
          <a:ln/>
        </p:spPr>
        <p:txBody>
          <a:bodyPr wrap="square" lIns="0" tIns="0" rIns="0" bIns="0" rtlCol="0" anchor="t"/>
          <a:lstStyle/>
          <a:p>
            <a:pPr marL="0" indent="0" algn="ctr">
              <a:buNone/>
            </a:pPr>
            <a:r>
              <a:rPr lang="en-US" sz="1500" b="1" dirty="0">
                <a:solidFill>
                  <a:schemeClr val="tx1"/>
                </a:solidFill>
              </a:rPr>
              <a:t>Blackwell Ultra</a:t>
            </a:r>
            <a:endParaRPr lang="en-US" sz="1500" dirty="0"/>
          </a:p>
        </p:txBody>
      </p:sp>
      <p:sp>
        <p:nvSpPr>
          <p:cNvPr id="43" name="Text 41"/>
          <p:cNvSpPr txBox="1"/>
          <p:nvPr/>
        </p:nvSpPr>
        <p:spPr>
          <a:xfrm>
            <a:off x="9459468" y="3657600"/>
            <a:ext cx="1243584" cy="320040"/>
          </a:xfrm>
          <a:prstGeom prst="rect">
            <a:avLst/>
          </a:prstGeom>
          <a:noFill/>
          <a:ln/>
        </p:spPr>
        <p:txBody>
          <a:bodyPr wrap="square" lIns="0" tIns="0" rIns="0" bIns="0" rtlCol="0" anchor="t"/>
          <a:lstStyle/>
          <a:p>
            <a:pPr marL="0" indent="0" algn="ctr">
              <a:buNone/>
            </a:pPr>
            <a:r>
              <a:rPr lang="en-US" sz="1200" b="1" dirty="0">
                <a:solidFill>
                  <a:schemeClr val="accent2"/>
                </a:solidFill>
              </a:rPr>
              <a:t>B300, GB300</a:t>
            </a:r>
            <a:endParaRPr lang="en-US" sz="1200" dirty="0"/>
          </a:p>
        </p:txBody>
      </p:sp>
      <p:sp>
        <p:nvSpPr>
          <p:cNvPr id="44" name="Text 42"/>
          <p:cNvSpPr txBox="1"/>
          <p:nvPr/>
        </p:nvSpPr>
        <p:spPr>
          <a:xfrm>
            <a:off x="9459468" y="4023360"/>
            <a:ext cx="1243584" cy="914400"/>
          </a:xfrm>
          <a:prstGeom prst="rect">
            <a:avLst/>
          </a:prstGeom>
          <a:noFill/>
          <a:ln/>
        </p:spPr>
        <p:txBody>
          <a:bodyPr wrap="square" lIns="0" tIns="0" rIns="0" bIns="0" rtlCol="0" anchor="t"/>
          <a:lstStyle/>
          <a:p>
            <a:pPr marL="0" indent="0" algn="ctr">
              <a:buNone/>
            </a:pPr>
            <a:r>
              <a:rPr lang="en-US" sz="1200" dirty="0">
                <a:solidFill>
                  <a:schemeClr val="tx2"/>
                </a:solidFill>
              </a:rPr>
              <a:t>288 GB HBM3e, faster NVFP4</a:t>
            </a:r>
            <a:endParaRPr lang="en-US" sz="1200" dirty="0"/>
          </a:p>
        </p:txBody>
      </p:sp>
      <p:sp>
        <p:nvSpPr>
          <p:cNvPr id="45" name="Text 43"/>
          <p:cNvSpPr txBox="1"/>
          <p:nvPr/>
        </p:nvSpPr>
        <p:spPr>
          <a:xfrm>
            <a:off x="10789920" y="2057400"/>
            <a:ext cx="1188720" cy="365760"/>
          </a:xfrm>
          <a:prstGeom prst="rect">
            <a:avLst/>
          </a:prstGeom>
          <a:noFill/>
          <a:ln/>
        </p:spPr>
        <p:txBody>
          <a:bodyPr wrap="square" lIns="0" tIns="0" rIns="0" bIns="0" rtlCol="0" anchor="t"/>
          <a:lstStyle/>
          <a:p>
            <a:pPr marL="0" indent="0" algn="ctr">
              <a:buNone/>
            </a:pPr>
            <a:r>
              <a:rPr lang="en-US" sz="1600" b="1" dirty="0">
                <a:solidFill>
                  <a:schemeClr val="accent5"/>
                </a:solidFill>
              </a:rPr>
              <a:t>2026</a:t>
            </a:r>
            <a:endParaRPr lang="en-US" sz="1600" dirty="0"/>
          </a:p>
        </p:txBody>
      </p:sp>
      <p:sp>
        <p:nvSpPr>
          <p:cNvPr id="46" name="Shape 44"/>
          <p:cNvSpPr/>
          <p:nvPr/>
        </p:nvSpPr>
        <p:spPr>
          <a:xfrm>
            <a:off x="11237976" y="2596896"/>
            <a:ext cx="292608" cy="292608"/>
          </a:xfrm>
          <a:prstGeom prst="ellipse">
            <a:avLst/>
          </a:prstGeom>
          <a:solidFill>
            <a:schemeClr val="bg1"/>
          </a:solidFill>
          <a:ln w="25400">
            <a:solidFill>
              <a:schemeClr val="accent5"/>
            </a:solidFill>
            <a:prstDash val="dash"/>
          </a:ln>
        </p:spPr>
        <p:txBody>
          <a:bodyPr/>
          <a:lstStyle/>
          <a:p>
            <a:endParaRPr lang="en-US"/>
          </a:p>
        </p:txBody>
      </p:sp>
      <p:sp>
        <p:nvSpPr>
          <p:cNvPr id="47" name="Text 45"/>
          <p:cNvSpPr txBox="1"/>
          <p:nvPr/>
        </p:nvSpPr>
        <p:spPr>
          <a:xfrm>
            <a:off x="10762488" y="3063240"/>
            <a:ext cx="1243584" cy="594360"/>
          </a:xfrm>
          <a:prstGeom prst="rect">
            <a:avLst/>
          </a:prstGeom>
          <a:noFill/>
          <a:ln/>
        </p:spPr>
        <p:txBody>
          <a:bodyPr wrap="square" lIns="0" tIns="0" rIns="0" bIns="0" rtlCol="0" anchor="t"/>
          <a:lstStyle/>
          <a:p>
            <a:pPr marL="0" indent="0" algn="ctr">
              <a:buNone/>
            </a:pPr>
            <a:r>
              <a:rPr lang="en-US" sz="1500" b="1" dirty="0">
                <a:solidFill>
                  <a:schemeClr val="tx1"/>
                </a:solidFill>
              </a:rPr>
              <a:t>Rubin</a:t>
            </a:r>
            <a:endParaRPr lang="en-US" sz="1500" dirty="0"/>
          </a:p>
        </p:txBody>
      </p:sp>
      <p:sp>
        <p:nvSpPr>
          <p:cNvPr id="48" name="Text 46"/>
          <p:cNvSpPr txBox="1"/>
          <p:nvPr/>
        </p:nvSpPr>
        <p:spPr>
          <a:xfrm>
            <a:off x="10762488" y="3657600"/>
            <a:ext cx="1243584" cy="320040"/>
          </a:xfrm>
          <a:prstGeom prst="rect">
            <a:avLst/>
          </a:prstGeom>
          <a:noFill/>
          <a:ln/>
        </p:spPr>
        <p:txBody>
          <a:bodyPr wrap="square" lIns="0" tIns="0" rIns="0" bIns="0" rtlCol="0" anchor="t"/>
          <a:lstStyle/>
          <a:p>
            <a:pPr marL="0" indent="0" algn="ctr">
              <a:buNone/>
            </a:pPr>
            <a:r>
              <a:rPr lang="en-US" sz="1200" b="1" dirty="0">
                <a:solidFill>
                  <a:schemeClr val="accent2"/>
                </a:solidFill>
              </a:rPr>
              <a:t>Vera Rubin</a:t>
            </a:r>
            <a:endParaRPr lang="en-US" sz="1200" dirty="0"/>
          </a:p>
        </p:txBody>
      </p:sp>
      <p:sp>
        <p:nvSpPr>
          <p:cNvPr id="49" name="Text 47"/>
          <p:cNvSpPr txBox="1"/>
          <p:nvPr/>
        </p:nvSpPr>
        <p:spPr>
          <a:xfrm>
            <a:off x="10762488" y="4023360"/>
            <a:ext cx="1243584" cy="914400"/>
          </a:xfrm>
          <a:prstGeom prst="rect">
            <a:avLst/>
          </a:prstGeom>
          <a:noFill/>
          <a:ln/>
        </p:spPr>
        <p:txBody>
          <a:bodyPr wrap="square" lIns="0" tIns="0" rIns="0" bIns="0" rtlCol="0" anchor="t"/>
          <a:lstStyle/>
          <a:p>
            <a:pPr marL="0" indent="0" algn="ctr">
              <a:buNone/>
            </a:pPr>
            <a:r>
              <a:rPr lang="en-US" sz="1200" dirty="0">
                <a:solidFill>
                  <a:schemeClr val="tx2"/>
                </a:solidFill>
              </a:rPr>
              <a:t>HBM4, NVLink 6 (roadmap)</a:t>
            </a:r>
            <a:endParaRPr lang="en-US" sz="1200" dirty="0"/>
          </a:p>
        </p:txBody>
      </p:sp>
      <p:sp>
        <p:nvSpPr>
          <p:cNvPr id="50" name="Shape 48"/>
          <p:cNvSpPr/>
          <p:nvPr/>
        </p:nvSpPr>
        <p:spPr>
          <a:xfrm>
            <a:off x="548640" y="5029200"/>
            <a:ext cx="11064240" cy="868680"/>
          </a:xfrm>
          <a:prstGeom prst="roundRect">
            <a:avLst>
              <a:gd name="adj" fmla="val 8421"/>
            </a:avLst>
          </a:prstGeom>
          <a:solidFill>
            <a:schemeClr val="bg2"/>
          </a:solidFill>
          <a:ln/>
        </p:spPr>
        <p:txBody>
          <a:bodyPr/>
          <a:lstStyle/>
          <a:p>
            <a:endParaRPr lang="en-US"/>
          </a:p>
        </p:txBody>
      </p:sp>
      <p:pic>
        <p:nvPicPr>
          <p:cNvPr id="51" name="Image 0" descr="preencoded.png"/>
          <p:cNvPicPr>
            <a:picLocks noChangeAspect="1"/>
          </p:cNvPicPr>
          <p:nvPr/>
        </p:nvPicPr>
        <p:blipFill>
          <a:blip r:embed="rId3"/>
          <a:stretch>
            <a:fillRect/>
          </a:stretch>
        </p:blipFill>
        <p:spPr>
          <a:xfrm>
            <a:off x="777240" y="5280660"/>
            <a:ext cx="365760" cy="365760"/>
          </a:xfrm>
          <a:prstGeom prst="rect">
            <a:avLst/>
          </a:prstGeom>
        </p:spPr>
      </p:pic>
      <p:sp>
        <p:nvSpPr>
          <p:cNvPr id="52" name="Text 49"/>
          <p:cNvSpPr txBox="1"/>
          <p:nvPr/>
        </p:nvSpPr>
        <p:spPr>
          <a:xfrm>
            <a:off x="1325880" y="5029200"/>
            <a:ext cx="10058400" cy="868680"/>
          </a:xfrm>
          <a:prstGeom prst="rect">
            <a:avLst/>
          </a:prstGeom>
          <a:noFill/>
          <a:ln/>
        </p:spPr>
        <p:txBody>
          <a:bodyPr wrap="square" lIns="0" tIns="0" rIns="0" bIns="0" rtlCol="0" anchor="ctr"/>
          <a:lstStyle/>
          <a:p>
            <a:pPr marL="0" indent="0">
              <a:buNone/>
            </a:pPr>
            <a:r>
              <a:rPr lang="en-US" sz="1400" dirty="0">
                <a:solidFill>
                  <a:schemeClr val="tx1"/>
                </a:solidFill>
              </a:rPr>
              <a:t>Architectures are named after scientists: Blaise Pascal, Alessandro Volta, Alan Turing, André-Marie Ampère, Grace Hopper, Ada Lovelace, David Blackwell and Vera Rubin.</a:t>
            </a:r>
            <a:endParaRPr lang="en-US" sz="1400" dirty="0"/>
          </a:p>
        </p:txBody>
      </p:sp>
      <p:sp>
        <p:nvSpPr>
          <p:cNvPr id="5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Product families by market segment</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One architecture is sold in several segments, each tuned for different buyers and duty cycles</a:t>
            </a:r>
            <a:endParaRPr lang="en-US" sz="1600" dirty="0"/>
          </a:p>
        </p:txBody>
      </p:sp>
      <p:sp>
        <p:nvSpPr>
          <p:cNvPr id="4" name="Shape 2"/>
          <p:cNvSpPr/>
          <p:nvPr/>
        </p:nvSpPr>
        <p:spPr>
          <a:xfrm>
            <a:off x="548640" y="1600200"/>
            <a:ext cx="2103120" cy="4572000"/>
          </a:xfrm>
          <a:prstGeom prst="roundRect">
            <a:avLst>
              <a:gd name="adj" fmla="val 3478"/>
            </a:avLst>
          </a:prstGeom>
          <a:solidFill>
            <a:schemeClr val="tx1"/>
          </a:solidFill>
          <a:ln/>
        </p:spPr>
        <p:txBody>
          <a:bodyPr/>
          <a:lstStyle/>
          <a:p>
            <a:endParaRPr lang="en-US"/>
          </a:p>
        </p:txBody>
      </p:sp>
      <p:sp>
        <p:nvSpPr>
          <p:cNvPr id="5" name="Shape 3"/>
          <p:cNvSpPr/>
          <p:nvPr/>
        </p:nvSpPr>
        <p:spPr>
          <a:xfrm>
            <a:off x="731520" y="1783080"/>
            <a:ext cx="566928" cy="566928"/>
          </a:xfrm>
          <a:prstGeom prst="ellipse">
            <a:avLst/>
          </a:prstGeom>
          <a:solidFill>
            <a:schemeClr val="accent1"/>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856244" y="1907804"/>
            <a:ext cx="317480" cy="317480"/>
          </a:xfrm>
          <a:prstGeom prst="rect">
            <a:avLst/>
          </a:prstGeom>
        </p:spPr>
      </p:pic>
      <p:sp>
        <p:nvSpPr>
          <p:cNvPr id="7" name="Text 4"/>
          <p:cNvSpPr txBox="1"/>
          <p:nvPr/>
        </p:nvSpPr>
        <p:spPr>
          <a:xfrm>
            <a:off x="731520" y="2468880"/>
            <a:ext cx="1783080" cy="685800"/>
          </a:xfrm>
          <a:prstGeom prst="rect">
            <a:avLst/>
          </a:prstGeom>
          <a:noFill/>
          <a:ln/>
        </p:spPr>
        <p:txBody>
          <a:bodyPr wrap="square" lIns="0" tIns="0" rIns="0" bIns="0" rtlCol="0" anchor="t"/>
          <a:lstStyle/>
          <a:p>
            <a:pPr marL="0" indent="0">
              <a:buNone/>
            </a:pPr>
            <a:r>
              <a:rPr lang="en-US" sz="1700" b="1" dirty="0">
                <a:solidFill>
                  <a:schemeClr val="bg1"/>
                </a:solidFill>
              </a:rPr>
              <a:t>Data center</a:t>
            </a:r>
            <a:endParaRPr lang="en-US" sz="1700" dirty="0"/>
          </a:p>
        </p:txBody>
      </p:sp>
      <p:sp>
        <p:nvSpPr>
          <p:cNvPr id="8" name="Text 5"/>
          <p:cNvSpPr txBox="1"/>
          <p:nvPr/>
        </p:nvSpPr>
        <p:spPr>
          <a:xfrm>
            <a:off x="731520" y="3200400"/>
            <a:ext cx="1828800" cy="1828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D5DED7"/>
                </a:solidFill>
              </a:rPr>
              <a:t>H100, H200</a:t>
            </a:r>
            <a:endParaRPr lang="en-US" sz="1400" dirty="0"/>
          </a:p>
          <a:p>
            <a:pPr marL="342900" indent="-342900">
              <a:spcAft>
                <a:spcPts val="600"/>
              </a:spcAft>
              <a:buSzPct val="100000"/>
              <a:buChar char="•"/>
            </a:pPr>
            <a:r>
              <a:rPr lang="en-US" sz="1400" dirty="0">
                <a:solidFill>
                  <a:srgbClr val="D5DED7"/>
                </a:solidFill>
              </a:rPr>
              <a:t>B200, B300</a:t>
            </a:r>
            <a:endParaRPr lang="en-US" sz="1400" dirty="0"/>
          </a:p>
          <a:p>
            <a:pPr marL="342900" indent="-342900">
              <a:spcAft>
                <a:spcPts val="600"/>
              </a:spcAft>
              <a:buSzPct val="100000"/>
              <a:buChar char="•"/>
            </a:pPr>
            <a:r>
              <a:rPr lang="en-US" sz="1400" dirty="0">
                <a:solidFill>
                  <a:srgbClr val="D5DED7"/>
                </a:solidFill>
              </a:rPr>
              <a:t>L40S, L4</a:t>
            </a:r>
            <a:endParaRPr lang="en-US" sz="1400" dirty="0"/>
          </a:p>
          <a:p>
            <a:pPr marL="342900" indent="-342900">
              <a:spcAft>
                <a:spcPts val="600"/>
              </a:spcAft>
              <a:buSzPct val="100000"/>
              <a:buChar char="•"/>
            </a:pPr>
            <a:r>
              <a:rPr lang="en-US" sz="1400" dirty="0">
                <a:solidFill>
                  <a:srgbClr val="D5DED7"/>
                </a:solidFill>
              </a:rPr>
              <a:t>RTX PRO 6000 Server</a:t>
            </a:r>
            <a:endParaRPr lang="en-US" sz="1400" dirty="0"/>
          </a:p>
        </p:txBody>
      </p:sp>
      <p:sp>
        <p:nvSpPr>
          <p:cNvPr id="9" name="Text 6"/>
          <p:cNvSpPr txBox="1"/>
          <p:nvPr/>
        </p:nvSpPr>
        <p:spPr>
          <a:xfrm>
            <a:off x="731520" y="5166360"/>
            <a:ext cx="1783080" cy="868680"/>
          </a:xfrm>
          <a:prstGeom prst="rect">
            <a:avLst/>
          </a:prstGeom>
          <a:noFill/>
          <a:ln/>
        </p:spPr>
        <p:txBody>
          <a:bodyPr wrap="square" lIns="0" tIns="0" rIns="0" bIns="0" rtlCol="0" anchor="t"/>
          <a:lstStyle/>
          <a:p>
            <a:pPr marL="0" indent="0">
              <a:buNone/>
            </a:pPr>
            <a:r>
              <a:rPr lang="en-US" sz="1200" b="1" dirty="0">
                <a:solidFill>
                  <a:schemeClr val="accent1"/>
                </a:solidFill>
              </a:rPr>
              <a:t>Typical use</a:t>
            </a:r>
            <a:endParaRPr lang="en-US" sz="1400" dirty="0"/>
          </a:p>
          <a:p>
            <a:pPr marL="0" indent="0">
              <a:buNone/>
            </a:pPr>
            <a:r>
              <a:rPr lang="en-US" sz="1200" dirty="0">
                <a:solidFill>
                  <a:schemeClr val="bg1"/>
                </a:solidFill>
              </a:rPr>
              <a:t>Training, inference, HPC, VDI</a:t>
            </a:r>
            <a:endParaRPr lang="en-US" sz="1400" dirty="0"/>
          </a:p>
        </p:txBody>
      </p:sp>
      <p:sp>
        <p:nvSpPr>
          <p:cNvPr id="10" name="Shape 7"/>
          <p:cNvSpPr/>
          <p:nvPr/>
        </p:nvSpPr>
        <p:spPr>
          <a:xfrm>
            <a:off x="2788920" y="1600200"/>
            <a:ext cx="2103120" cy="4572000"/>
          </a:xfrm>
          <a:prstGeom prst="roundRect">
            <a:avLst>
              <a:gd name="adj" fmla="val 3478"/>
            </a:avLst>
          </a:prstGeom>
          <a:solidFill>
            <a:schemeClr val="bg2"/>
          </a:solidFill>
          <a:ln/>
        </p:spPr>
        <p:txBody>
          <a:bodyPr/>
          <a:lstStyle/>
          <a:p>
            <a:endParaRPr lang="en-US"/>
          </a:p>
        </p:txBody>
      </p:sp>
      <p:sp>
        <p:nvSpPr>
          <p:cNvPr id="11" name="Shape 8"/>
          <p:cNvSpPr/>
          <p:nvPr/>
        </p:nvSpPr>
        <p:spPr>
          <a:xfrm>
            <a:off x="2971800" y="1783080"/>
            <a:ext cx="566928" cy="566928"/>
          </a:xfrm>
          <a:prstGeom prst="ellipse">
            <a:avLst/>
          </a:prstGeom>
          <a:solidFill>
            <a:schemeClr val="accent1"/>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3096524" y="1907804"/>
            <a:ext cx="317480" cy="317480"/>
          </a:xfrm>
          <a:prstGeom prst="rect">
            <a:avLst/>
          </a:prstGeom>
        </p:spPr>
      </p:pic>
      <p:sp>
        <p:nvSpPr>
          <p:cNvPr id="13" name="Text 9"/>
          <p:cNvSpPr txBox="1"/>
          <p:nvPr/>
        </p:nvSpPr>
        <p:spPr>
          <a:xfrm>
            <a:off x="2971800" y="2468880"/>
            <a:ext cx="1783080" cy="685800"/>
          </a:xfrm>
          <a:prstGeom prst="rect">
            <a:avLst/>
          </a:prstGeom>
          <a:noFill/>
          <a:ln/>
        </p:spPr>
        <p:txBody>
          <a:bodyPr wrap="square" lIns="0" tIns="0" rIns="0" bIns="0" rtlCol="0" anchor="t"/>
          <a:lstStyle/>
          <a:p>
            <a:pPr marL="0" indent="0">
              <a:buNone/>
            </a:pPr>
            <a:r>
              <a:rPr lang="en-US" sz="1700" b="1" dirty="0">
                <a:solidFill>
                  <a:schemeClr val="tx1"/>
                </a:solidFill>
              </a:rPr>
              <a:t>Superchip / rack scale</a:t>
            </a:r>
            <a:endParaRPr lang="en-US" sz="1700" dirty="0"/>
          </a:p>
        </p:txBody>
      </p:sp>
      <p:sp>
        <p:nvSpPr>
          <p:cNvPr id="14" name="Text 10"/>
          <p:cNvSpPr txBox="1"/>
          <p:nvPr/>
        </p:nvSpPr>
        <p:spPr>
          <a:xfrm>
            <a:off x="2971800" y="3200400"/>
            <a:ext cx="1828800" cy="1828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GH200</a:t>
            </a:r>
            <a:endParaRPr lang="en-US" sz="1400" dirty="0"/>
          </a:p>
          <a:p>
            <a:pPr marL="342900" indent="-342900">
              <a:spcAft>
                <a:spcPts val="600"/>
              </a:spcAft>
              <a:buSzPct val="100000"/>
              <a:buChar char="•"/>
            </a:pPr>
            <a:r>
              <a:rPr lang="en-US" sz="1400" dirty="0">
                <a:solidFill>
                  <a:schemeClr val="tx2"/>
                </a:solidFill>
              </a:rPr>
              <a:t>GB200 NVL72</a:t>
            </a:r>
            <a:endParaRPr lang="en-US" sz="1400" dirty="0"/>
          </a:p>
          <a:p>
            <a:pPr marL="342900" indent="-342900">
              <a:spcAft>
                <a:spcPts val="600"/>
              </a:spcAft>
              <a:buSzPct val="100000"/>
              <a:buChar char="•"/>
            </a:pPr>
            <a:r>
              <a:rPr lang="en-US" sz="1400" dirty="0">
                <a:solidFill>
                  <a:schemeClr val="tx2"/>
                </a:solidFill>
              </a:rPr>
              <a:t>GB300 NVL72</a:t>
            </a:r>
            <a:endParaRPr lang="en-US" sz="1400" dirty="0"/>
          </a:p>
          <a:p>
            <a:pPr marL="342900" indent="-342900">
              <a:spcAft>
                <a:spcPts val="600"/>
              </a:spcAft>
              <a:buSzPct val="100000"/>
              <a:buChar char="•"/>
            </a:pPr>
            <a:r>
              <a:rPr lang="en-US" sz="1400" dirty="0">
                <a:solidFill>
                  <a:schemeClr val="tx2"/>
                </a:solidFill>
              </a:rPr>
              <a:t>DGX GB200 / GB300</a:t>
            </a:r>
            <a:endParaRPr lang="en-US" sz="1400" dirty="0"/>
          </a:p>
        </p:txBody>
      </p:sp>
      <p:sp>
        <p:nvSpPr>
          <p:cNvPr id="15" name="Text 11"/>
          <p:cNvSpPr txBox="1"/>
          <p:nvPr/>
        </p:nvSpPr>
        <p:spPr>
          <a:xfrm>
            <a:off x="2971800" y="5166360"/>
            <a:ext cx="1783080" cy="868680"/>
          </a:xfrm>
          <a:prstGeom prst="rect">
            <a:avLst/>
          </a:prstGeom>
          <a:noFill/>
          <a:ln/>
        </p:spPr>
        <p:txBody>
          <a:bodyPr wrap="square" lIns="0" tIns="0" rIns="0" bIns="0" rtlCol="0" anchor="t"/>
          <a:lstStyle/>
          <a:p>
            <a:pPr marL="0" indent="0">
              <a:buNone/>
            </a:pPr>
            <a:r>
              <a:rPr lang="en-US" sz="1200" b="1" dirty="0">
                <a:solidFill>
                  <a:schemeClr val="accent2"/>
                </a:solidFill>
              </a:rPr>
              <a:t>Typical use</a:t>
            </a:r>
            <a:endParaRPr lang="en-US" sz="1400" dirty="0"/>
          </a:p>
          <a:p>
            <a:pPr marL="0" indent="0">
              <a:buNone/>
            </a:pPr>
            <a:r>
              <a:rPr lang="en-US" sz="1200" dirty="0">
                <a:solidFill>
                  <a:schemeClr val="tx1"/>
                </a:solidFill>
              </a:rPr>
              <a:t>Frontier training, very large inference</a:t>
            </a:r>
            <a:endParaRPr lang="en-US" sz="1400" dirty="0"/>
          </a:p>
        </p:txBody>
      </p:sp>
      <p:sp>
        <p:nvSpPr>
          <p:cNvPr id="16" name="Shape 12"/>
          <p:cNvSpPr/>
          <p:nvPr/>
        </p:nvSpPr>
        <p:spPr>
          <a:xfrm>
            <a:off x="5029200" y="1600200"/>
            <a:ext cx="2103120" cy="4572000"/>
          </a:xfrm>
          <a:prstGeom prst="roundRect">
            <a:avLst>
              <a:gd name="adj" fmla="val 3478"/>
            </a:avLst>
          </a:prstGeom>
          <a:solidFill>
            <a:schemeClr val="bg2"/>
          </a:solidFill>
          <a:ln/>
        </p:spPr>
        <p:txBody>
          <a:bodyPr/>
          <a:lstStyle/>
          <a:p>
            <a:endParaRPr lang="en-US"/>
          </a:p>
        </p:txBody>
      </p:sp>
      <p:sp>
        <p:nvSpPr>
          <p:cNvPr id="17" name="Shape 13"/>
          <p:cNvSpPr/>
          <p:nvPr/>
        </p:nvSpPr>
        <p:spPr>
          <a:xfrm>
            <a:off x="5212080" y="1783080"/>
            <a:ext cx="566928" cy="566928"/>
          </a:xfrm>
          <a:prstGeom prst="ellipse">
            <a:avLst/>
          </a:prstGeom>
          <a:solidFill>
            <a:schemeClr val="accent1"/>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5336804" y="1907804"/>
            <a:ext cx="317480" cy="317480"/>
          </a:xfrm>
          <a:prstGeom prst="rect">
            <a:avLst/>
          </a:prstGeom>
        </p:spPr>
      </p:pic>
      <p:sp>
        <p:nvSpPr>
          <p:cNvPr id="19" name="Text 14"/>
          <p:cNvSpPr txBox="1"/>
          <p:nvPr/>
        </p:nvSpPr>
        <p:spPr>
          <a:xfrm>
            <a:off x="5212080" y="2468880"/>
            <a:ext cx="1783080" cy="685800"/>
          </a:xfrm>
          <a:prstGeom prst="rect">
            <a:avLst/>
          </a:prstGeom>
          <a:noFill/>
          <a:ln/>
        </p:spPr>
        <p:txBody>
          <a:bodyPr wrap="square" lIns="0" tIns="0" rIns="0" bIns="0" rtlCol="0" anchor="t"/>
          <a:lstStyle/>
          <a:p>
            <a:pPr marL="0" indent="0">
              <a:buNone/>
            </a:pPr>
            <a:r>
              <a:rPr lang="en-US" sz="1700" b="1" dirty="0">
                <a:solidFill>
                  <a:schemeClr val="tx1"/>
                </a:solidFill>
              </a:rPr>
              <a:t>Workstation</a:t>
            </a:r>
            <a:endParaRPr lang="en-US" sz="1700" dirty="0"/>
          </a:p>
        </p:txBody>
      </p:sp>
      <p:sp>
        <p:nvSpPr>
          <p:cNvPr id="20" name="Text 15"/>
          <p:cNvSpPr txBox="1"/>
          <p:nvPr/>
        </p:nvSpPr>
        <p:spPr>
          <a:xfrm>
            <a:off x="5212080" y="3200400"/>
            <a:ext cx="1828800" cy="1828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RTX PRO 6000 Blackwell</a:t>
            </a:r>
            <a:endParaRPr lang="en-US" sz="1400" dirty="0"/>
          </a:p>
          <a:p>
            <a:pPr marL="342900" indent="-342900">
              <a:spcAft>
                <a:spcPts val="600"/>
              </a:spcAft>
              <a:buSzPct val="100000"/>
              <a:buChar char="•"/>
            </a:pPr>
            <a:r>
              <a:rPr lang="en-US" sz="1400" dirty="0">
                <a:solidFill>
                  <a:schemeClr val="tx2"/>
                </a:solidFill>
              </a:rPr>
              <a:t>RTX PRO 4000–5000</a:t>
            </a:r>
            <a:endParaRPr lang="en-US" sz="1400" dirty="0"/>
          </a:p>
          <a:p>
            <a:pPr marL="342900" indent="-342900">
              <a:spcAft>
                <a:spcPts val="600"/>
              </a:spcAft>
              <a:buSzPct val="100000"/>
              <a:buChar char="•"/>
            </a:pPr>
            <a:r>
              <a:rPr lang="en-US" sz="1400" dirty="0">
                <a:solidFill>
                  <a:schemeClr val="tx2"/>
                </a:solidFill>
              </a:rPr>
              <a:t>RTX 6000 Ada</a:t>
            </a:r>
            <a:endParaRPr lang="en-US" sz="1400" dirty="0"/>
          </a:p>
          <a:p>
            <a:pPr marL="342900" indent="-342900">
              <a:spcAft>
                <a:spcPts val="600"/>
              </a:spcAft>
              <a:buSzPct val="100000"/>
              <a:buChar char="•"/>
            </a:pPr>
            <a:r>
              <a:rPr lang="en-US" sz="1400" dirty="0">
                <a:solidFill>
                  <a:schemeClr val="tx2"/>
                </a:solidFill>
              </a:rPr>
              <a:t>DGX Spark / Station</a:t>
            </a:r>
            <a:endParaRPr lang="en-US" sz="1400" dirty="0"/>
          </a:p>
        </p:txBody>
      </p:sp>
      <p:sp>
        <p:nvSpPr>
          <p:cNvPr id="21" name="Text 16"/>
          <p:cNvSpPr txBox="1"/>
          <p:nvPr/>
        </p:nvSpPr>
        <p:spPr>
          <a:xfrm>
            <a:off x="5212080" y="5166360"/>
            <a:ext cx="1783080" cy="868680"/>
          </a:xfrm>
          <a:prstGeom prst="rect">
            <a:avLst/>
          </a:prstGeom>
          <a:noFill/>
          <a:ln/>
        </p:spPr>
        <p:txBody>
          <a:bodyPr wrap="square" lIns="0" tIns="0" rIns="0" bIns="0" rtlCol="0" anchor="t"/>
          <a:lstStyle/>
          <a:p>
            <a:pPr marL="0" indent="0">
              <a:buNone/>
            </a:pPr>
            <a:r>
              <a:rPr lang="en-US" sz="1200" b="1" dirty="0">
                <a:solidFill>
                  <a:schemeClr val="accent2"/>
                </a:solidFill>
              </a:rPr>
              <a:t>Typical use</a:t>
            </a:r>
            <a:endParaRPr lang="en-US" sz="1400" dirty="0"/>
          </a:p>
          <a:p>
            <a:pPr marL="0" indent="0">
              <a:buNone/>
            </a:pPr>
            <a:r>
              <a:rPr lang="en-US" sz="1200" dirty="0">
                <a:solidFill>
                  <a:schemeClr val="tx1"/>
                </a:solidFill>
              </a:rPr>
              <a:t>Local development, design, small fine-tunes</a:t>
            </a:r>
            <a:endParaRPr lang="en-US" sz="1400" dirty="0"/>
          </a:p>
        </p:txBody>
      </p:sp>
      <p:sp>
        <p:nvSpPr>
          <p:cNvPr id="22" name="Shape 17"/>
          <p:cNvSpPr/>
          <p:nvPr/>
        </p:nvSpPr>
        <p:spPr>
          <a:xfrm>
            <a:off x="7269480" y="1600200"/>
            <a:ext cx="2103120" cy="4572000"/>
          </a:xfrm>
          <a:prstGeom prst="roundRect">
            <a:avLst>
              <a:gd name="adj" fmla="val 3478"/>
            </a:avLst>
          </a:prstGeom>
          <a:solidFill>
            <a:schemeClr val="bg2"/>
          </a:solidFill>
          <a:ln/>
        </p:spPr>
        <p:txBody>
          <a:bodyPr/>
          <a:lstStyle/>
          <a:p>
            <a:endParaRPr lang="en-US"/>
          </a:p>
        </p:txBody>
      </p:sp>
      <p:sp>
        <p:nvSpPr>
          <p:cNvPr id="23" name="Shape 18"/>
          <p:cNvSpPr/>
          <p:nvPr/>
        </p:nvSpPr>
        <p:spPr>
          <a:xfrm>
            <a:off x="7452360" y="1783080"/>
            <a:ext cx="566928" cy="566928"/>
          </a:xfrm>
          <a:prstGeom prst="ellipse">
            <a:avLst/>
          </a:prstGeom>
          <a:solidFill>
            <a:schemeClr val="accent1"/>
          </a:solidFill>
          <a:ln/>
        </p:spPr>
        <p:txBody>
          <a:bodyPr/>
          <a:lstStyle/>
          <a:p>
            <a:endParaRPr lang="en-US"/>
          </a:p>
        </p:txBody>
      </p:sp>
      <p:pic>
        <p:nvPicPr>
          <p:cNvPr id="24" name="Image 3" descr="preencoded.png"/>
          <p:cNvPicPr>
            <a:picLocks noChangeAspect="1"/>
          </p:cNvPicPr>
          <p:nvPr/>
        </p:nvPicPr>
        <p:blipFill>
          <a:blip r:embed="rId6"/>
          <a:stretch>
            <a:fillRect/>
          </a:stretch>
        </p:blipFill>
        <p:spPr>
          <a:xfrm>
            <a:off x="7577084" y="1907804"/>
            <a:ext cx="317480" cy="317480"/>
          </a:xfrm>
          <a:prstGeom prst="rect">
            <a:avLst/>
          </a:prstGeom>
        </p:spPr>
      </p:pic>
      <p:sp>
        <p:nvSpPr>
          <p:cNvPr id="25" name="Text 19"/>
          <p:cNvSpPr txBox="1"/>
          <p:nvPr/>
        </p:nvSpPr>
        <p:spPr>
          <a:xfrm>
            <a:off x="7452360" y="2468880"/>
            <a:ext cx="1783080" cy="685800"/>
          </a:xfrm>
          <a:prstGeom prst="rect">
            <a:avLst/>
          </a:prstGeom>
          <a:noFill/>
          <a:ln/>
        </p:spPr>
        <p:txBody>
          <a:bodyPr wrap="square" lIns="0" tIns="0" rIns="0" bIns="0" rtlCol="0" anchor="t"/>
          <a:lstStyle/>
          <a:p>
            <a:pPr marL="0" indent="0">
              <a:buNone/>
            </a:pPr>
            <a:r>
              <a:rPr lang="en-US" sz="1700" b="1" dirty="0">
                <a:solidFill>
                  <a:schemeClr val="tx1"/>
                </a:solidFill>
              </a:rPr>
              <a:t>Consumer</a:t>
            </a:r>
            <a:endParaRPr lang="en-US" sz="1700" dirty="0"/>
          </a:p>
        </p:txBody>
      </p:sp>
      <p:sp>
        <p:nvSpPr>
          <p:cNvPr id="26" name="Text 20"/>
          <p:cNvSpPr txBox="1"/>
          <p:nvPr/>
        </p:nvSpPr>
        <p:spPr>
          <a:xfrm>
            <a:off x="7452360" y="3200400"/>
            <a:ext cx="1828800" cy="1828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GeForce RTX 5090</a:t>
            </a:r>
            <a:endParaRPr lang="en-US" sz="1400" dirty="0"/>
          </a:p>
          <a:p>
            <a:pPr marL="342900" indent="-342900">
              <a:spcAft>
                <a:spcPts val="600"/>
              </a:spcAft>
              <a:buSzPct val="100000"/>
              <a:buChar char="•"/>
            </a:pPr>
            <a:r>
              <a:rPr lang="en-US" sz="1400" dirty="0">
                <a:solidFill>
                  <a:schemeClr val="tx2"/>
                </a:solidFill>
              </a:rPr>
              <a:t>GeForce RTX 5080</a:t>
            </a:r>
            <a:endParaRPr lang="en-US" sz="1400" dirty="0"/>
          </a:p>
          <a:p>
            <a:pPr marL="342900" indent="-342900">
              <a:spcAft>
                <a:spcPts val="600"/>
              </a:spcAft>
              <a:buSzPct val="100000"/>
              <a:buChar char="•"/>
            </a:pPr>
            <a:r>
              <a:rPr lang="en-US" sz="1400" dirty="0">
                <a:solidFill>
                  <a:schemeClr val="tx2"/>
                </a:solidFill>
              </a:rPr>
              <a:t>GeForce RTX 40 series</a:t>
            </a:r>
            <a:endParaRPr lang="en-US" sz="1400" dirty="0"/>
          </a:p>
          <a:p>
            <a:pPr marL="342900" indent="-342900">
              <a:spcAft>
                <a:spcPts val="600"/>
              </a:spcAft>
              <a:buSzPct val="100000"/>
              <a:buChar char="•"/>
            </a:pPr>
            <a:r>
              <a:rPr lang="en-US" sz="1400" dirty="0">
                <a:solidFill>
                  <a:schemeClr val="tx2"/>
                </a:solidFill>
              </a:rPr>
              <a:t>Laptop GPUs</a:t>
            </a:r>
            <a:endParaRPr lang="en-US" sz="1400" dirty="0"/>
          </a:p>
        </p:txBody>
      </p:sp>
      <p:sp>
        <p:nvSpPr>
          <p:cNvPr id="27" name="Text 21"/>
          <p:cNvSpPr txBox="1"/>
          <p:nvPr/>
        </p:nvSpPr>
        <p:spPr>
          <a:xfrm>
            <a:off x="7452360" y="5166360"/>
            <a:ext cx="1783080" cy="868680"/>
          </a:xfrm>
          <a:prstGeom prst="rect">
            <a:avLst/>
          </a:prstGeom>
          <a:noFill/>
          <a:ln/>
        </p:spPr>
        <p:txBody>
          <a:bodyPr wrap="square" lIns="0" tIns="0" rIns="0" bIns="0" rtlCol="0" anchor="t"/>
          <a:lstStyle/>
          <a:p>
            <a:pPr marL="0" indent="0">
              <a:buNone/>
            </a:pPr>
            <a:r>
              <a:rPr lang="en-US" sz="1200" b="1" dirty="0">
                <a:solidFill>
                  <a:schemeClr val="accent2"/>
                </a:solidFill>
              </a:rPr>
              <a:t>Typical use</a:t>
            </a:r>
            <a:endParaRPr lang="en-US" sz="1400" dirty="0"/>
          </a:p>
          <a:p>
            <a:pPr marL="0" indent="0">
              <a:buNone/>
            </a:pPr>
            <a:r>
              <a:rPr lang="en-US" sz="1200" dirty="0">
                <a:solidFill>
                  <a:schemeClr val="tx1"/>
                </a:solidFill>
              </a:rPr>
              <a:t>Gaming, hobby and learning AI</a:t>
            </a:r>
            <a:endParaRPr lang="en-US" sz="1400" dirty="0"/>
          </a:p>
        </p:txBody>
      </p:sp>
      <p:sp>
        <p:nvSpPr>
          <p:cNvPr id="28" name="Shape 22"/>
          <p:cNvSpPr/>
          <p:nvPr/>
        </p:nvSpPr>
        <p:spPr>
          <a:xfrm>
            <a:off x="9509760" y="1600200"/>
            <a:ext cx="2103120" cy="4572000"/>
          </a:xfrm>
          <a:prstGeom prst="roundRect">
            <a:avLst>
              <a:gd name="adj" fmla="val 3478"/>
            </a:avLst>
          </a:prstGeom>
          <a:solidFill>
            <a:schemeClr val="bg2"/>
          </a:solidFill>
          <a:ln/>
        </p:spPr>
        <p:txBody>
          <a:bodyPr/>
          <a:lstStyle/>
          <a:p>
            <a:endParaRPr lang="en-US"/>
          </a:p>
        </p:txBody>
      </p:sp>
      <p:sp>
        <p:nvSpPr>
          <p:cNvPr id="29" name="Shape 23"/>
          <p:cNvSpPr/>
          <p:nvPr/>
        </p:nvSpPr>
        <p:spPr>
          <a:xfrm>
            <a:off x="9692640" y="1783080"/>
            <a:ext cx="566928" cy="566928"/>
          </a:xfrm>
          <a:prstGeom prst="ellipse">
            <a:avLst/>
          </a:prstGeom>
          <a:solidFill>
            <a:schemeClr val="accent1"/>
          </a:solidFill>
          <a:ln/>
        </p:spPr>
        <p:txBody>
          <a:bodyPr/>
          <a:lstStyle/>
          <a:p>
            <a:endParaRPr lang="en-US"/>
          </a:p>
        </p:txBody>
      </p:sp>
      <p:pic>
        <p:nvPicPr>
          <p:cNvPr id="30" name="Image 4" descr="preencoded.png"/>
          <p:cNvPicPr>
            <a:picLocks noChangeAspect="1"/>
          </p:cNvPicPr>
          <p:nvPr/>
        </p:nvPicPr>
        <p:blipFill>
          <a:blip r:embed="rId7"/>
          <a:stretch>
            <a:fillRect/>
          </a:stretch>
        </p:blipFill>
        <p:spPr>
          <a:xfrm>
            <a:off x="9817364" y="1907804"/>
            <a:ext cx="317480" cy="317480"/>
          </a:xfrm>
          <a:prstGeom prst="rect">
            <a:avLst/>
          </a:prstGeom>
        </p:spPr>
      </p:pic>
      <p:sp>
        <p:nvSpPr>
          <p:cNvPr id="31" name="Text 24"/>
          <p:cNvSpPr txBox="1"/>
          <p:nvPr/>
        </p:nvSpPr>
        <p:spPr>
          <a:xfrm>
            <a:off x="9692640" y="2468880"/>
            <a:ext cx="1783080" cy="685800"/>
          </a:xfrm>
          <a:prstGeom prst="rect">
            <a:avLst/>
          </a:prstGeom>
          <a:noFill/>
          <a:ln/>
        </p:spPr>
        <p:txBody>
          <a:bodyPr wrap="square" lIns="0" tIns="0" rIns="0" bIns="0" rtlCol="0" anchor="t"/>
          <a:lstStyle/>
          <a:p>
            <a:pPr marL="0" indent="0">
              <a:buNone/>
            </a:pPr>
            <a:r>
              <a:rPr lang="en-US" sz="1700" b="1" dirty="0">
                <a:solidFill>
                  <a:schemeClr val="tx1"/>
                </a:solidFill>
              </a:rPr>
              <a:t>Edge / embedded</a:t>
            </a:r>
            <a:endParaRPr lang="en-US" sz="1700" dirty="0"/>
          </a:p>
        </p:txBody>
      </p:sp>
      <p:sp>
        <p:nvSpPr>
          <p:cNvPr id="32" name="Text 25"/>
          <p:cNvSpPr txBox="1"/>
          <p:nvPr/>
        </p:nvSpPr>
        <p:spPr>
          <a:xfrm>
            <a:off x="9692640" y="3200400"/>
            <a:ext cx="1828800" cy="1828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Jetson Orin</a:t>
            </a:r>
            <a:endParaRPr lang="en-US" sz="1400" dirty="0"/>
          </a:p>
          <a:p>
            <a:pPr marL="342900" indent="-342900">
              <a:spcAft>
                <a:spcPts val="600"/>
              </a:spcAft>
              <a:buSzPct val="100000"/>
              <a:buChar char="•"/>
            </a:pPr>
            <a:r>
              <a:rPr lang="en-US" sz="1400" dirty="0">
                <a:solidFill>
                  <a:schemeClr val="tx2"/>
                </a:solidFill>
              </a:rPr>
              <a:t>Jetson Thor</a:t>
            </a:r>
            <a:endParaRPr lang="en-US" sz="1400" dirty="0"/>
          </a:p>
          <a:p>
            <a:pPr marL="342900" indent="-342900">
              <a:spcAft>
                <a:spcPts val="600"/>
              </a:spcAft>
              <a:buSzPct val="100000"/>
              <a:buChar char="•"/>
            </a:pPr>
            <a:r>
              <a:rPr lang="en-US" sz="1400" dirty="0">
                <a:solidFill>
                  <a:schemeClr val="tx2"/>
                </a:solidFill>
              </a:rPr>
              <a:t>IGX Orin</a:t>
            </a:r>
            <a:endParaRPr lang="en-US" sz="1400" dirty="0"/>
          </a:p>
          <a:p>
            <a:pPr marL="342900" indent="-342900">
              <a:spcAft>
                <a:spcPts val="600"/>
              </a:spcAft>
              <a:buSzPct val="100000"/>
              <a:buChar char="•"/>
            </a:pPr>
            <a:r>
              <a:rPr lang="en-US" sz="1400" dirty="0">
                <a:solidFill>
                  <a:schemeClr val="tx2"/>
                </a:solidFill>
              </a:rPr>
              <a:t>DRIVE (automotive)</a:t>
            </a:r>
            <a:endParaRPr lang="en-US" sz="1400" dirty="0"/>
          </a:p>
        </p:txBody>
      </p:sp>
      <p:sp>
        <p:nvSpPr>
          <p:cNvPr id="33" name="Text 26"/>
          <p:cNvSpPr txBox="1"/>
          <p:nvPr/>
        </p:nvSpPr>
        <p:spPr>
          <a:xfrm>
            <a:off x="9692640" y="5166360"/>
            <a:ext cx="1783080" cy="868680"/>
          </a:xfrm>
          <a:prstGeom prst="rect">
            <a:avLst/>
          </a:prstGeom>
          <a:noFill/>
          <a:ln/>
        </p:spPr>
        <p:txBody>
          <a:bodyPr wrap="square" lIns="0" tIns="0" rIns="0" bIns="0" rtlCol="0" anchor="t"/>
          <a:lstStyle/>
          <a:p>
            <a:pPr marL="0" indent="0">
              <a:buNone/>
            </a:pPr>
            <a:r>
              <a:rPr lang="en-US" sz="1200" b="1" dirty="0">
                <a:solidFill>
                  <a:schemeClr val="accent2"/>
                </a:solidFill>
              </a:rPr>
              <a:t>Typical use</a:t>
            </a:r>
            <a:endParaRPr lang="en-US" sz="1400" dirty="0"/>
          </a:p>
          <a:p>
            <a:pPr marL="0" indent="0">
              <a:buNone/>
            </a:pPr>
            <a:r>
              <a:rPr lang="en-US" sz="1200" dirty="0">
                <a:solidFill>
                  <a:schemeClr val="tx1"/>
                </a:solidFill>
              </a:rPr>
              <a:t>Robotics, vision, autonomous machines</a:t>
            </a:r>
            <a:endParaRPr lang="en-US" sz="1400" dirty="0"/>
          </a:p>
        </p:txBody>
      </p:sp>
      <p:sp>
        <p:nvSpPr>
          <p:cNvPr id="34"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Decoding NVIDIA product names</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Worked example: GB200 NVL72</a:t>
            </a:r>
            <a:endParaRPr lang="en-US" sz="1600" dirty="0"/>
          </a:p>
        </p:txBody>
      </p:sp>
      <p:sp>
        <p:nvSpPr>
          <p:cNvPr id="4" name="Text 2"/>
          <p:cNvSpPr/>
          <p:nvPr/>
        </p:nvSpPr>
        <p:spPr>
          <a:xfrm>
            <a:off x="2511400" y="1554480"/>
            <a:ext cx="1097280" cy="960120"/>
          </a:xfrm>
          <a:prstGeom prst="roundRect">
            <a:avLst>
              <a:gd name="adj" fmla="val 4762"/>
            </a:avLst>
          </a:prstGeom>
          <a:solidFill>
            <a:schemeClr val="accent4"/>
          </a:solidFill>
          <a:ln/>
        </p:spPr>
        <p:txBody>
          <a:bodyPr wrap="square" lIns="381" tIns="381" rIns="381" bIns="381" rtlCol="0" anchor="ctr"/>
          <a:lstStyle/>
          <a:p>
            <a:pPr marL="0" indent="0" algn="ctr">
              <a:buNone/>
            </a:pPr>
            <a:r>
              <a:rPr lang="en-US" sz="4400" b="1" dirty="0">
                <a:solidFill>
                  <a:schemeClr val="bg1"/>
                </a:solidFill>
              </a:rPr>
              <a:t>G</a:t>
            </a:r>
            <a:endParaRPr lang="en-US" sz="4400" dirty="0"/>
          </a:p>
        </p:txBody>
      </p:sp>
      <p:sp>
        <p:nvSpPr>
          <p:cNvPr id="5" name="Text 3"/>
          <p:cNvSpPr txBox="1"/>
          <p:nvPr/>
        </p:nvSpPr>
        <p:spPr>
          <a:xfrm>
            <a:off x="2237080" y="2606040"/>
            <a:ext cx="1645920" cy="640080"/>
          </a:xfrm>
          <a:prstGeom prst="rect">
            <a:avLst/>
          </a:prstGeom>
          <a:noFill/>
          <a:ln/>
        </p:spPr>
        <p:txBody>
          <a:bodyPr wrap="square" lIns="0" tIns="0" rIns="0" bIns="0" rtlCol="0" anchor="t"/>
          <a:lstStyle/>
          <a:p>
            <a:pPr marL="0" indent="0" algn="ctr">
              <a:buNone/>
            </a:pPr>
            <a:r>
              <a:rPr lang="en-US" sz="1300" dirty="0">
                <a:solidFill>
                  <a:schemeClr val="tx2"/>
                </a:solidFill>
              </a:rPr>
              <a:t>Grace CPU</a:t>
            </a:r>
            <a:endParaRPr lang="en-US" sz="1300" dirty="0"/>
          </a:p>
          <a:p>
            <a:pPr marL="0" indent="0" algn="ctr">
              <a:buNone/>
            </a:pPr>
            <a:r>
              <a:rPr lang="en-US" sz="1300" dirty="0">
                <a:solidFill>
                  <a:schemeClr val="tx2"/>
                </a:solidFill>
              </a:rPr>
              <a:t>(Arm, 72 cores)</a:t>
            </a:r>
            <a:endParaRPr lang="en-US" sz="1300" dirty="0"/>
          </a:p>
        </p:txBody>
      </p:sp>
      <p:sp>
        <p:nvSpPr>
          <p:cNvPr id="6" name="Text 4"/>
          <p:cNvSpPr/>
          <p:nvPr/>
        </p:nvSpPr>
        <p:spPr>
          <a:xfrm>
            <a:off x="3773272" y="1554480"/>
            <a:ext cx="1097280" cy="960120"/>
          </a:xfrm>
          <a:prstGeom prst="roundRect">
            <a:avLst>
              <a:gd name="adj" fmla="val 4762"/>
            </a:avLst>
          </a:prstGeom>
          <a:solidFill>
            <a:schemeClr val="accent1"/>
          </a:solidFill>
          <a:ln/>
        </p:spPr>
        <p:txBody>
          <a:bodyPr wrap="square" lIns="381" tIns="381" rIns="381" bIns="381" rtlCol="0" anchor="ctr"/>
          <a:lstStyle/>
          <a:p>
            <a:pPr marL="0" indent="0" algn="ctr">
              <a:buNone/>
            </a:pPr>
            <a:r>
              <a:rPr lang="en-US" sz="4400" b="1" dirty="0">
                <a:solidFill>
                  <a:schemeClr val="tx1"/>
                </a:solidFill>
              </a:rPr>
              <a:t>B</a:t>
            </a:r>
            <a:endParaRPr lang="en-US" sz="4400" dirty="0"/>
          </a:p>
        </p:txBody>
      </p:sp>
      <p:sp>
        <p:nvSpPr>
          <p:cNvPr id="7" name="Text 5"/>
          <p:cNvSpPr txBox="1"/>
          <p:nvPr/>
        </p:nvSpPr>
        <p:spPr>
          <a:xfrm>
            <a:off x="3498952" y="2606040"/>
            <a:ext cx="1645920" cy="640080"/>
          </a:xfrm>
          <a:prstGeom prst="rect">
            <a:avLst/>
          </a:prstGeom>
          <a:noFill/>
          <a:ln/>
        </p:spPr>
        <p:txBody>
          <a:bodyPr wrap="square" lIns="0" tIns="0" rIns="0" bIns="0" rtlCol="0" anchor="t"/>
          <a:lstStyle/>
          <a:p>
            <a:pPr marL="0" indent="0" algn="ctr">
              <a:buNone/>
            </a:pPr>
            <a:r>
              <a:rPr lang="en-US" sz="1300" dirty="0">
                <a:solidFill>
                  <a:schemeClr val="tx2"/>
                </a:solidFill>
              </a:rPr>
              <a:t>Blackwell</a:t>
            </a:r>
            <a:endParaRPr lang="en-US" sz="1300" dirty="0"/>
          </a:p>
          <a:p>
            <a:pPr marL="0" indent="0" algn="ctr">
              <a:buNone/>
            </a:pPr>
            <a:r>
              <a:rPr lang="en-US" sz="1300" dirty="0">
                <a:solidFill>
                  <a:schemeClr val="tx2"/>
                </a:solidFill>
              </a:rPr>
              <a:t>architecture</a:t>
            </a:r>
            <a:endParaRPr lang="en-US" sz="1300" dirty="0"/>
          </a:p>
        </p:txBody>
      </p:sp>
      <p:sp>
        <p:nvSpPr>
          <p:cNvPr id="8" name="Text 6"/>
          <p:cNvSpPr/>
          <p:nvPr/>
        </p:nvSpPr>
        <p:spPr>
          <a:xfrm>
            <a:off x="5035144" y="1554480"/>
            <a:ext cx="1828800" cy="960120"/>
          </a:xfrm>
          <a:prstGeom prst="roundRect">
            <a:avLst>
              <a:gd name="adj" fmla="val 4762"/>
            </a:avLst>
          </a:prstGeom>
          <a:solidFill>
            <a:schemeClr val="tx2"/>
          </a:solidFill>
          <a:ln/>
        </p:spPr>
        <p:txBody>
          <a:bodyPr wrap="square" lIns="381" tIns="381" rIns="381" bIns="381" rtlCol="0" anchor="ctr"/>
          <a:lstStyle/>
          <a:p>
            <a:pPr marL="0" indent="0" algn="ctr">
              <a:buNone/>
            </a:pPr>
            <a:r>
              <a:rPr lang="en-US" sz="4400" b="1" dirty="0">
                <a:solidFill>
                  <a:schemeClr val="bg1"/>
                </a:solidFill>
              </a:rPr>
              <a:t>200</a:t>
            </a:r>
            <a:endParaRPr lang="en-US" sz="4400" dirty="0"/>
          </a:p>
        </p:txBody>
      </p:sp>
      <p:sp>
        <p:nvSpPr>
          <p:cNvPr id="9" name="Text 7"/>
          <p:cNvSpPr txBox="1"/>
          <p:nvPr/>
        </p:nvSpPr>
        <p:spPr>
          <a:xfrm>
            <a:off x="4760824" y="2606040"/>
            <a:ext cx="2377440" cy="640080"/>
          </a:xfrm>
          <a:prstGeom prst="rect">
            <a:avLst/>
          </a:prstGeom>
          <a:noFill/>
          <a:ln/>
        </p:spPr>
        <p:txBody>
          <a:bodyPr wrap="square" lIns="0" tIns="0" rIns="0" bIns="0" rtlCol="0" anchor="t"/>
          <a:lstStyle/>
          <a:p>
            <a:pPr marL="0" indent="0" algn="ctr">
              <a:buNone/>
            </a:pPr>
            <a:r>
              <a:rPr lang="en-US" sz="1300" dirty="0">
                <a:solidFill>
                  <a:schemeClr val="tx2"/>
                </a:solidFill>
              </a:rPr>
              <a:t>Tier / generation</a:t>
            </a:r>
            <a:endParaRPr lang="en-US" sz="1300" dirty="0"/>
          </a:p>
          <a:p>
            <a:pPr marL="0" indent="0" algn="ctr">
              <a:buNone/>
            </a:pPr>
            <a:r>
              <a:rPr lang="en-US" sz="1300" dirty="0">
                <a:solidFill>
                  <a:schemeClr val="tx2"/>
                </a:solidFill>
              </a:rPr>
              <a:t>(100, 200, 300)</a:t>
            </a:r>
            <a:endParaRPr lang="en-US" sz="1300" dirty="0"/>
          </a:p>
        </p:txBody>
      </p:sp>
      <p:sp>
        <p:nvSpPr>
          <p:cNvPr id="10" name="Text 8"/>
          <p:cNvSpPr/>
          <p:nvPr/>
        </p:nvSpPr>
        <p:spPr>
          <a:xfrm>
            <a:off x="7028536" y="1554480"/>
            <a:ext cx="2651760" cy="960120"/>
          </a:xfrm>
          <a:prstGeom prst="roundRect">
            <a:avLst>
              <a:gd name="adj" fmla="val 4762"/>
            </a:avLst>
          </a:prstGeom>
          <a:solidFill>
            <a:schemeClr val="tx1"/>
          </a:solidFill>
          <a:ln/>
        </p:spPr>
        <p:txBody>
          <a:bodyPr wrap="square" lIns="381" tIns="381" rIns="381" bIns="381" rtlCol="0" anchor="ctr"/>
          <a:lstStyle/>
          <a:p>
            <a:pPr marL="0" indent="0" algn="ctr">
              <a:buNone/>
            </a:pPr>
            <a:r>
              <a:rPr lang="en-US" sz="4400" b="1" dirty="0">
                <a:solidFill>
                  <a:schemeClr val="accent1"/>
                </a:solidFill>
              </a:rPr>
              <a:t>NVL72</a:t>
            </a:r>
            <a:endParaRPr lang="en-US" sz="4400" dirty="0"/>
          </a:p>
        </p:txBody>
      </p:sp>
      <p:sp>
        <p:nvSpPr>
          <p:cNvPr id="11" name="Text 9"/>
          <p:cNvSpPr txBox="1"/>
          <p:nvPr/>
        </p:nvSpPr>
        <p:spPr>
          <a:xfrm>
            <a:off x="6754216" y="2606040"/>
            <a:ext cx="3200400" cy="640080"/>
          </a:xfrm>
          <a:prstGeom prst="rect">
            <a:avLst/>
          </a:prstGeom>
          <a:noFill/>
          <a:ln/>
        </p:spPr>
        <p:txBody>
          <a:bodyPr wrap="square" lIns="0" tIns="0" rIns="0" bIns="0" rtlCol="0" anchor="t"/>
          <a:lstStyle/>
          <a:p>
            <a:pPr marL="0" indent="0" algn="ctr">
              <a:buNone/>
            </a:pPr>
            <a:r>
              <a:rPr lang="en-US" sz="1300" dirty="0">
                <a:solidFill>
                  <a:schemeClr val="tx2"/>
                </a:solidFill>
              </a:rPr>
              <a:t>72 GPUs in one</a:t>
            </a:r>
            <a:endParaRPr lang="en-US" sz="1300" dirty="0"/>
          </a:p>
          <a:p>
            <a:pPr marL="0" indent="0" algn="ctr">
              <a:buNone/>
            </a:pPr>
            <a:r>
              <a:rPr lang="en-US" sz="1300" dirty="0">
                <a:solidFill>
                  <a:schemeClr val="tx2"/>
                </a:solidFill>
              </a:rPr>
              <a:t>NVLink domain</a:t>
            </a:r>
            <a:endParaRPr lang="en-US" sz="13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3429000"/>
          <a:ext cx="5486400" cy="2688336"/>
        </p:xfrm>
        <a:graphic>
          <a:graphicData uri="http://schemas.openxmlformats.org/drawingml/2006/table">
            <a:tbl>
              <a:tblPr/>
              <a:tblGrid>
                <a:gridCol w="109728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384048">
                <a:tc>
                  <a:txBody>
                    <a:bodyPr/>
                    <a:lstStyle/>
                    <a:p>
                      <a:pPr marL="0" indent="0">
                        <a:buNone/>
                      </a:pPr>
                      <a:r>
                        <a:rPr lang="en-US" sz="1300" b="1" dirty="0">
                          <a:solidFill>
                            <a:schemeClr val="bg1"/>
                          </a:solidFill>
                        </a:rPr>
                        <a:t>Prefix</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tx1"/>
                    </a:solidFill>
                  </a:tcPr>
                </a:tc>
                <a:tc>
                  <a:txBody>
                    <a:bodyPr/>
                    <a:lstStyle/>
                    <a:p>
                      <a:pPr marL="0" indent="0">
                        <a:buNone/>
                      </a:pPr>
                      <a:r>
                        <a:rPr lang="en-US" sz="1300" b="1" dirty="0">
                          <a:solidFill>
                            <a:schemeClr val="bg1"/>
                          </a:solidFill>
                        </a:rPr>
                        <a:t>Architecture</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tx1"/>
                    </a:solidFill>
                  </a:tcPr>
                </a:tc>
                <a:tc>
                  <a:txBody>
                    <a:bodyPr/>
                    <a:lstStyle/>
                    <a:p>
                      <a:pPr marL="0" indent="0">
                        <a:buNone/>
                      </a:pPr>
                      <a:r>
                        <a:rPr lang="en-US" sz="1300" b="1" dirty="0">
                          <a:solidFill>
                            <a:schemeClr val="bg1"/>
                          </a:solidFill>
                        </a:rPr>
                        <a:t>Examples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384048">
                <a:tc>
                  <a:txBody>
                    <a:bodyPr/>
                    <a:lstStyle/>
                    <a:p>
                      <a:pPr marL="0" indent="0">
                        <a:buNone/>
                      </a:pPr>
                      <a:r>
                        <a:rPr lang="en-US" sz="1300" b="1" dirty="0">
                          <a:solidFill>
                            <a:schemeClr val="tx1"/>
                          </a:solidFill>
                        </a:rPr>
                        <a:t>V / T</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Volta / Turing</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V100, T4</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84048">
                <a:tc>
                  <a:txBody>
                    <a:bodyPr/>
                    <a:lstStyle/>
                    <a:p>
                      <a:pPr marL="0" indent="0">
                        <a:buNone/>
                      </a:pPr>
                      <a:r>
                        <a:rPr lang="en-US" sz="1300" b="1" dirty="0">
                          <a:solidFill>
                            <a:schemeClr val="tx1"/>
                          </a:solidFill>
                        </a:rPr>
                        <a:t>A</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Ampere</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A100, A10, A2</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84048">
                <a:tc>
                  <a:txBody>
                    <a:bodyPr/>
                    <a:lstStyle/>
                    <a:p>
                      <a:pPr marL="0" indent="0">
                        <a:buNone/>
                      </a:pPr>
                      <a:r>
                        <a:rPr lang="en-US" sz="1300" b="1" dirty="0">
                          <a:solidFill>
                            <a:schemeClr val="tx1"/>
                          </a:solidFill>
                        </a:rPr>
                        <a:t>H</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Hopper</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H100, H200</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84048">
                <a:tc>
                  <a:txBody>
                    <a:bodyPr/>
                    <a:lstStyle/>
                    <a:p>
                      <a:pPr marL="0" indent="0">
                        <a:buNone/>
                      </a:pPr>
                      <a:r>
                        <a:rPr lang="en-US" sz="1300" b="1" dirty="0">
                          <a:solidFill>
                            <a:schemeClr val="tx1"/>
                          </a:solidFill>
                        </a:rPr>
                        <a:t>L</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Ada Lovelace (data center)</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L40S, L4</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84048">
                <a:tc>
                  <a:txBody>
                    <a:bodyPr/>
                    <a:lstStyle/>
                    <a:p>
                      <a:pPr marL="0" indent="0">
                        <a:buNone/>
                      </a:pPr>
                      <a:r>
                        <a:rPr lang="en-US" sz="1300" b="1" dirty="0">
                          <a:solidFill>
                            <a:schemeClr val="tx1"/>
                          </a:solidFill>
                        </a:rPr>
                        <a:t>B</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Blackwell</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B200, B300</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384048">
                <a:tc>
                  <a:txBody>
                    <a:bodyPr/>
                    <a:lstStyle/>
                    <a:p>
                      <a:pPr marL="0" indent="0">
                        <a:buNone/>
                      </a:pPr>
                      <a:r>
                        <a:rPr lang="en-US" sz="1300" b="1" dirty="0">
                          <a:solidFill>
                            <a:schemeClr val="tx1"/>
                          </a:solidFill>
                        </a:rPr>
                        <a:t>GH / GB</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Grace + Hopper / Blackwell</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GH200, GB200</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graphicFrame>
        <p:nvGraphicFramePr>
          <p:cNvPr id="39" name="Table 1"/>
          <p:cNvGraphicFramePr>
            <a:graphicFrameLocks noGrp="1"/>
          </p:cNvGraphicFramePr>
          <p:nvPr>
            <p:extLst>
              <p:ext uri="{D42A27DB-BD31-4B8C-83A1-F6EECF244321}">
                <p14:modId xmlns:p14="http://schemas.microsoft.com/office/powerpoint/2010/main" val="1579011935"/>
              </p:ext>
            </p:extLst>
          </p:nvPr>
        </p:nvGraphicFramePr>
        <p:xfrm>
          <a:off x="6263640" y="3429000"/>
          <a:ext cx="5349240" cy="2776728"/>
        </p:xfrm>
        <a:graphic>
          <a:graphicData uri="http://schemas.openxmlformats.org/drawingml/2006/table">
            <a:tbl>
              <a:tblPr/>
              <a:tblGrid>
                <a:gridCol w="160020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tblGrid>
              <a:tr h="384048">
                <a:tc>
                  <a:txBody>
                    <a:bodyPr/>
                    <a:lstStyle/>
                    <a:p>
                      <a:pPr marL="0" indent="0">
                        <a:buNone/>
                      </a:pPr>
                      <a:r>
                        <a:rPr lang="en-US" sz="1300" b="1" dirty="0">
                          <a:solidFill>
                            <a:schemeClr val="bg1"/>
                          </a:solidFill>
                        </a:rPr>
                        <a:t>Suffix / term</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tx1"/>
                    </a:solidFill>
                  </a:tcPr>
                </a:tc>
                <a:tc>
                  <a:txBody>
                    <a:bodyPr/>
                    <a:lstStyle/>
                    <a:p>
                      <a:pPr marL="0" indent="0">
                        <a:buNone/>
                      </a:pPr>
                      <a:r>
                        <a:rPr lang="en-US" sz="1300" b="1" dirty="0">
                          <a:solidFill>
                            <a:schemeClr val="bg1"/>
                          </a:solidFill>
                        </a:rPr>
                        <a:t>Meaning</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384048">
                <a:tc>
                  <a:txBody>
                    <a:bodyPr/>
                    <a:lstStyle/>
                    <a:p>
                      <a:pPr marL="0" indent="0">
                        <a:buNone/>
                      </a:pPr>
                      <a:r>
                        <a:rPr lang="en-US" sz="1300" b="1" dirty="0">
                          <a:solidFill>
                            <a:schemeClr val="tx1"/>
                          </a:solidFill>
                        </a:rPr>
                        <a:t>SXM</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Socketed module on an HGX baseboard</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84048">
                <a:tc>
                  <a:txBody>
                    <a:bodyPr/>
                    <a:lstStyle/>
                    <a:p>
                      <a:pPr marL="0" indent="0">
                        <a:buNone/>
                      </a:pPr>
                      <a:r>
                        <a:rPr lang="en-US" sz="1300" b="1" dirty="0">
                          <a:solidFill>
                            <a:schemeClr val="tx1"/>
                          </a:solidFill>
                        </a:rPr>
                        <a:t>PCIe</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Standard add-in card</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84048">
                <a:tc>
                  <a:txBody>
                    <a:bodyPr/>
                    <a:lstStyle/>
                    <a:p>
                      <a:pPr marL="0" indent="0">
                        <a:buNone/>
                      </a:pPr>
                      <a:r>
                        <a:rPr lang="en-US" sz="1300" b="1" dirty="0">
                          <a:solidFill>
                            <a:schemeClr val="tx1"/>
                          </a:solidFill>
                        </a:rPr>
                        <a:t>NVL (card)</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PCIe card pairs with NVLink bridges (H100 NVL, H200 NVL)</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84048">
                <a:tc>
                  <a:txBody>
                    <a:bodyPr/>
                    <a:lstStyle/>
                    <a:p>
                      <a:pPr marL="0" indent="0">
                        <a:buNone/>
                      </a:pPr>
                      <a:r>
                        <a:rPr lang="en-US" sz="1300" b="1" dirty="0">
                          <a:solidFill>
                            <a:schemeClr val="tx1"/>
                          </a:solidFill>
                        </a:rPr>
                        <a:t>NVL72 (rack)</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Rack where 72 GPUs share one NVLink domain</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84048">
                <a:tc>
                  <a:txBody>
                    <a:bodyPr/>
                    <a:lstStyle/>
                    <a:p>
                      <a:pPr marL="0" indent="0">
                        <a:buNone/>
                      </a:pPr>
                      <a:r>
                        <a:rPr lang="en-US" sz="1300" b="1" dirty="0">
                          <a:solidFill>
                            <a:schemeClr val="tx1"/>
                          </a:solidFill>
                        </a:rPr>
                        <a:t>Ultra / x00</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Mid-cycle upgrade, e.g. Blackwell Ultra = B300</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384048">
                <a:tc>
                  <a:txBody>
                    <a:bodyPr/>
                    <a:lstStyle/>
                    <a:p>
                      <a:pPr marL="0" indent="0">
                        <a:buNone/>
                      </a:pPr>
                      <a:r>
                        <a:rPr lang="en-US" sz="1300" b="1" dirty="0">
                          <a:solidFill>
                            <a:schemeClr val="tx1"/>
                          </a:solidFill>
                        </a:rPr>
                        <a:t>RTX PRO / GeForce</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Professional / consumer graphics lines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Data center GPU comparison</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Key specs side by side (approximate, per GPU)</a:t>
            </a:r>
            <a:endParaRPr lang="en-US" sz="16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3840480"/>
        </p:xfrm>
        <a:graphic>
          <a:graphicData uri="http://schemas.openxmlformats.org/drawingml/2006/table">
            <a:tbl>
              <a:tblPr/>
              <a:tblGrid>
                <a:gridCol w="8229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051560">
                  <a:extLst>
                    <a:ext uri="{9D8B030D-6E8A-4147-A177-3AD203B41FA5}">
                      <a16:colId xmlns:a16="http://schemas.microsoft.com/office/drawing/2014/main" val="20005"/>
                    </a:ext>
                  </a:extLst>
                </a:gridCol>
                <a:gridCol w="1463040">
                  <a:extLst>
                    <a:ext uri="{9D8B030D-6E8A-4147-A177-3AD203B41FA5}">
                      <a16:colId xmlns:a16="http://schemas.microsoft.com/office/drawing/2014/main" val="20006"/>
                    </a:ext>
                  </a:extLst>
                </a:gridCol>
                <a:gridCol w="2377440">
                  <a:extLst>
                    <a:ext uri="{9D8B030D-6E8A-4147-A177-3AD203B41FA5}">
                      <a16:colId xmlns:a16="http://schemas.microsoft.com/office/drawing/2014/main" val="20007"/>
                    </a:ext>
                  </a:extLst>
                </a:gridCol>
              </a:tblGrid>
              <a:tr h="548640">
                <a:tc>
                  <a:txBody>
                    <a:bodyPr/>
                    <a:lstStyle/>
                    <a:p>
                      <a:pPr marL="0" indent="0">
                        <a:buNone/>
                      </a:pPr>
                      <a:r>
                        <a:rPr lang="en-US" sz="1300" b="1" dirty="0">
                          <a:solidFill>
                            <a:schemeClr val="bg1"/>
                          </a:solidFill>
                        </a:rPr>
                        <a:t>GPU</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tx1"/>
                    </a:solidFill>
                  </a:tcPr>
                </a:tc>
                <a:tc>
                  <a:txBody>
                    <a:bodyPr/>
                    <a:lstStyle/>
                    <a:p>
                      <a:pPr marL="0" indent="0">
                        <a:buNone/>
                      </a:pPr>
                      <a:r>
                        <a:rPr lang="en-US" sz="1300" b="1" dirty="0">
                          <a:solidFill>
                            <a:schemeClr val="bg1"/>
                          </a:solidFill>
                        </a:rPr>
                        <a:t>Architecture</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tx1"/>
                    </a:solidFill>
                  </a:tcPr>
                </a:tc>
                <a:tc>
                  <a:txBody>
                    <a:bodyPr/>
                    <a:lstStyle/>
                    <a:p>
                      <a:pPr marL="0" indent="0">
                        <a:buNone/>
                      </a:pPr>
                      <a:r>
                        <a:rPr lang="en-US" sz="1300" b="1" dirty="0">
                          <a:solidFill>
                            <a:schemeClr val="bg1"/>
                          </a:solidFill>
                        </a:rPr>
                        <a:t>Memory</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tx1"/>
                    </a:solidFill>
                  </a:tcPr>
                </a:tc>
                <a:tc>
                  <a:txBody>
                    <a:bodyPr/>
                    <a:lstStyle/>
                    <a:p>
                      <a:pPr marL="0" indent="0">
                        <a:buNone/>
                      </a:pPr>
                      <a:r>
                        <a:rPr lang="en-US" sz="1300" b="1" dirty="0">
                          <a:solidFill>
                            <a:schemeClr val="bg1"/>
                          </a:solidFill>
                        </a:rPr>
                        <a:t>Bandwidth</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tx1"/>
                    </a:solidFill>
                  </a:tcPr>
                </a:tc>
                <a:tc>
                  <a:txBody>
                    <a:bodyPr/>
                    <a:lstStyle/>
                    <a:p>
                      <a:pPr marL="0" indent="0">
                        <a:buNone/>
                      </a:pPr>
                      <a:r>
                        <a:rPr lang="en-US" sz="1300" b="1" dirty="0">
                          <a:solidFill>
                            <a:schemeClr val="bg1"/>
                          </a:solidFill>
                        </a:rPr>
                        <a:t>FP8 dense</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tx1"/>
                    </a:solidFill>
                  </a:tcPr>
                </a:tc>
                <a:tc>
                  <a:txBody>
                    <a:bodyPr/>
                    <a:lstStyle/>
                    <a:p>
                      <a:pPr marL="0" indent="0">
                        <a:buNone/>
                      </a:pPr>
                      <a:r>
                        <a:rPr lang="en-US" sz="1300" b="1" dirty="0">
                          <a:solidFill>
                            <a:schemeClr val="bg1"/>
                          </a:solidFill>
                        </a:rPr>
                        <a:t>Max power</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tx1"/>
                    </a:solidFill>
                  </a:tcPr>
                </a:tc>
                <a:tc>
                  <a:txBody>
                    <a:bodyPr/>
                    <a:lstStyle/>
                    <a:p>
                      <a:pPr marL="0" indent="0">
                        <a:buNone/>
                      </a:pPr>
                      <a:r>
                        <a:rPr lang="en-US" sz="1300" b="1" dirty="0">
                          <a:solidFill>
                            <a:schemeClr val="bg1"/>
                          </a:solidFill>
                        </a:rPr>
                        <a:t>Form factor</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tx1"/>
                    </a:solidFill>
                  </a:tcPr>
                </a:tc>
                <a:tc>
                  <a:txBody>
                    <a:bodyPr/>
                    <a:lstStyle/>
                    <a:p>
                      <a:pPr marL="0" indent="0">
                        <a:buNone/>
                      </a:pPr>
                      <a:r>
                        <a:rPr lang="en-US" sz="1300" b="1" dirty="0">
                          <a:solidFill>
                            <a:schemeClr val="bg1"/>
                          </a:solidFill>
                        </a:rPr>
                        <a:t>Sweet spot</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548640">
                <a:tc>
                  <a:txBody>
                    <a:bodyPr/>
                    <a:lstStyle/>
                    <a:p>
                      <a:pPr marL="0" indent="0">
                        <a:buNone/>
                      </a:pPr>
                      <a:r>
                        <a:rPr lang="en-US" sz="1300" b="1" dirty="0">
                          <a:solidFill>
                            <a:schemeClr val="tx1"/>
                          </a:solidFill>
                        </a:rPr>
                        <a:t>A100</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Ampere</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80 GB HBM2e</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2.0 TB/s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No FP8</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400 W</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SXM / PCIe</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Installed-base training and inference</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48640">
                <a:tc>
                  <a:txBody>
                    <a:bodyPr/>
                    <a:lstStyle/>
                    <a:p>
                      <a:pPr marL="0" indent="0">
                        <a:buNone/>
                      </a:pPr>
                      <a:r>
                        <a:rPr lang="en-US" sz="1300" b="1" dirty="0">
                          <a:solidFill>
                            <a:schemeClr val="tx1"/>
                          </a:solidFill>
                        </a:rPr>
                        <a:t>H100</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Hopper</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80 GB HBM3</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3.35 TB/s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~1,979 TFLOPS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700 W</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SXM (PCIe, NVL)</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Training and LLM inference</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48640">
                <a:tc>
                  <a:txBody>
                    <a:bodyPr/>
                    <a:lstStyle/>
                    <a:p>
                      <a:pPr marL="0" indent="0">
                        <a:buNone/>
                      </a:pPr>
                      <a:r>
                        <a:rPr lang="en-US" sz="1300" b="1" dirty="0">
                          <a:solidFill>
                            <a:schemeClr val="tx1"/>
                          </a:solidFill>
                        </a:rPr>
                        <a:t>H200</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Hopper</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141 GB HBM3e</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4.8 TB/s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~1,979 TFLOPS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700 W</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SXM / NVL</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Memory-hungry LLM inference</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48640">
                <a:tc>
                  <a:txBody>
                    <a:bodyPr/>
                    <a:lstStyle/>
                    <a:p>
                      <a:pPr marL="0" indent="0">
                        <a:buNone/>
                      </a:pPr>
                      <a:r>
                        <a:rPr lang="en-US" sz="1300" b="1" dirty="0">
                          <a:solidFill>
                            <a:schemeClr val="tx1"/>
                          </a:solidFill>
                        </a:rPr>
                        <a:t>B200</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Blackwell</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180 GB HBM3e</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8 TB/s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~4,500 TFLOPS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~1,000 W</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SXM (HGX)</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Large-scale training, FP4 inference</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48640">
                <a:tc>
                  <a:txBody>
                    <a:bodyPr/>
                    <a:lstStyle/>
                    <a:p>
                      <a:pPr marL="0" indent="0">
                        <a:buNone/>
                      </a:pPr>
                      <a:r>
                        <a:rPr lang="en-US" sz="1300" b="1" dirty="0">
                          <a:solidFill>
                            <a:schemeClr val="tx1"/>
                          </a:solidFill>
                        </a:rPr>
                        <a:t>L40S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Ada Lovelace</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48 GB GDDR6</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864 GB/s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~733 TFLOPS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350 W</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PCIe</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Inference, fine-tuning, graphics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548640">
                <a:tc>
                  <a:txBody>
                    <a:bodyPr/>
                    <a:lstStyle/>
                    <a:p>
                      <a:pPr marL="0" indent="0">
                        <a:buNone/>
                      </a:pPr>
                      <a:r>
                        <a:rPr lang="en-US" sz="1300" b="1" dirty="0">
                          <a:solidFill>
                            <a:schemeClr val="tx1"/>
                          </a:solidFill>
                        </a:rPr>
                        <a:t>L4</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Ada Lovelace</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24 GB GDDR6</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300 GB/s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~242 TFLOPS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72 W</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PCIe low-profile</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Video, vision, small-model inference</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5" name="Shape 2"/>
          <p:cNvSpPr/>
          <p:nvPr/>
        </p:nvSpPr>
        <p:spPr>
          <a:xfrm>
            <a:off x="548640" y="5623560"/>
            <a:ext cx="11064240" cy="548640"/>
          </a:xfrm>
          <a:prstGeom prst="roundRect">
            <a:avLst>
              <a:gd name="adj" fmla="val 13333"/>
            </a:avLst>
          </a:prstGeom>
          <a:solidFill>
            <a:schemeClr val="tx1"/>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777240" y="5715000"/>
            <a:ext cx="365760" cy="365760"/>
          </a:xfrm>
          <a:prstGeom prst="rect">
            <a:avLst/>
          </a:prstGeom>
        </p:spPr>
      </p:pic>
      <p:sp>
        <p:nvSpPr>
          <p:cNvPr id="7" name="Text 3"/>
          <p:cNvSpPr txBox="1"/>
          <p:nvPr/>
        </p:nvSpPr>
        <p:spPr>
          <a:xfrm>
            <a:off x="1325880" y="5623560"/>
            <a:ext cx="10058400" cy="548640"/>
          </a:xfrm>
          <a:prstGeom prst="rect">
            <a:avLst/>
          </a:prstGeom>
          <a:noFill/>
          <a:ln/>
        </p:spPr>
        <p:txBody>
          <a:bodyPr wrap="square" lIns="0" tIns="0" rIns="0" bIns="0" rtlCol="0" anchor="ctr"/>
          <a:lstStyle/>
          <a:p>
            <a:pPr marL="0" indent="0">
              <a:buNone/>
            </a:pPr>
            <a:r>
              <a:rPr lang="en-US" sz="1400" dirty="0">
                <a:solidFill>
                  <a:schemeClr val="bg1"/>
                </a:solidFill>
              </a:rPr>
              <a:t>Datasheets often quote FP8/FP4 "with sparsity", which is 2x the dense figure. Compare dense numbers with dense numbers.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Choosing a GPU for the workload</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Start from the workload's bottleneck (compute, memory or communication), not from the newest product</a:t>
            </a:r>
            <a:endParaRPr lang="en-US" sz="1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4535424"/>
        </p:xfrm>
        <a:graphic>
          <a:graphicData uri="http://schemas.openxmlformats.org/drawingml/2006/table">
            <a:tbl>
              <a:tblPr/>
              <a:tblGrid>
                <a:gridCol w="28346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3291840">
                  <a:extLst>
                    <a:ext uri="{9D8B030D-6E8A-4147-A177-3AD203B41FA5}">
                      <a16:colId xmlns:a16="http://schemas.microsoft.com/office/drawing/2014/main" val="20003"/>
                    </a:ext>
                  </a:extLst>
                </a:gridCol>
              </a:tblGrid>
              <a:tr h="566928">
                <a:tc>
                  <a:txBody>
                    <a:bodyPr/>
                    <a:lstStyle/>
                    <a:p>
                      <a:pPr marL="0" indent="0">
                        <a:buNone/>
                      </a:pPr>
                      <a:r>
                        <a:rPr lang="en-US" sz="1300" b="1" dirty="0">
                          <a:solidFill>
                            <a:schemeClr val="bg1"/>
                          </a:solidFill>
                        </a:rPr>
                        <a:t>Workload</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tx1"/>
                    </a:solidFill>
                  </a:tcPr>
                </a:tc>
                <a:tc>
                  <a:txBody>
                    <a:bodyPr/>
                    <a:lstStyle/>
                    <a:p>
                      <a:pPr marL="0" indent="0">
                        <a:buNone/>
                      </a:pPr>
                      <a:r>
                        <a:rPr lang="en-US" sz="1300" b="1" dirty="0">
                          <a:solidFill>
                            <a:schemeClr val="bg1"/>
                          </a:solidFill>
                        </a:rPr>
                        <a:t>Main bottleneck</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tx1"/>
                    </a:solidFill>
                  </a:tcPr>
                </a:tc>
                <a:tc>
                  <a:txBody>
                    <a:bodyPr/>
                    <a:lstStyle/>
                    <a:p>
                      <a:pPr marL="0" indent="0">
                        <a:buNone/>
                      </a:pPr>
                      <a:r>
                        <a:rPr lang="en-US" sz="1300" b="1" dirty="0">
                          <a:solidFill>
                            <a:schemeClr val="bg1"/>
                          </a:solidFill>
                        </a:rPr>
                        <a:t>Typical GPU choice</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tx1"/>
                    </a:solidFill>
                  </a:tcPr>
                </a:tc>
                <a:tc>
                  <a:txBody>
                    <a:bodyPr/>
                    <a:lstStyle/>
                    <a:p>
                      <a:pPr marL="0" indent="0">
                        <a:buNone/>
                      </a:pPr>
                      <a:r>
                        <a:rPr lang="en-US" sz="1300" b="1" dirty="0">
                          <a:solidFill>
                            <a:schemeClr val="bg1"/>
                          </a:solidFill>
                        </a:rPr>
                        <a:t>Why</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566928">
                <a:tc>
                  <a:txBody>
                    <a:bodyPr/>
                    <a:lstStyle/>
                    <a:p>
                      <a:pPr marL="0" indent="0">
                        <a:buNone/>
                      </a:pPr>
                      <a:r>
                        <a:rPr lang="en-US" sz="1300" b="1" dirty="0">
                          <a:solidFill>
                            <a:schemeClr val="tx1"/>
                          </a:solidFill>
                        </a:rPr>
                        <a:t>Frontier / foundation model pre-training</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Compute + interconnect</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GB200 / GB300 NVL72, HGX B200 / B300</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Largest NVLink domains, FP8/FP4, scale-out fabric</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66928">
                <a:tc>
                  <a:txBody>
                    <a:bodyPr/>
                    <a:lstStyle/>
                    <a:p>
                      <a:pPr marL="0" indent="0">
                        <a:buNone/>
                      </a:pPr>
                      <a:r>
                        <a:rPr lang="en-US" sz="1300" b="1" dirty="0">
                          <a:solidFill>
                            <a:schemeClr val="tx1"/>
                          </a:solidFill>
                        </a:rPr>
                        <a:t>Full fine-tuning of 30–70B+ models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Memory + interconnect</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HGX H100 / H200 / B200 (8 GPUs)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NVSwitch for sharded training (FSDP / ZeRO)</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66928">
                <a:tc>
                  <a:txBody>
                    <a:bodyPr/>
                    <a:lstStyle/>
                    <a:p>
                      <a:pPr marL="0" indent="0">
                        <a:buNone/>
                      </a:pPr>
                      <a:r>
                        <a:rPr lang="en-US" sz="1300" b="1" dirty="0">
                          <a:solidFill>
                            <a:schemeClr val="tx1"/>
                          </a:solidFill>
                        </a:rPr>
                        <a:t>LoRA / QLoRA fine-tuning</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Memory</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L40S, H100 NVL, RTX PRO 6000</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Adapters fit on 1–2 GPUs; PCIe is enough</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66928">
                <a:tc>
                  <a:txBody>
                    <a:bodyPr/>
                    <a:lstStyle/>
                    <a:p>
                      <a:pPr marL="0" indent="0">
                        <a:buNone/>
                      </a:pPr>
                      <a:r>
                        <a:rPr lang="en-US" sz="1300" b="1" dirty="0">
                          <a:solidFill>
                            <a:schemeClr val="tx1"/>
                          </a:solidFill>
                        </a:rPr>
                        <a:t>High-volume LLM inference</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Memory bandwidth</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H200, B200, GB200 NVL72</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Large, fast HBM keeps KV cache and batch sizes up</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66928">
                <a:tc>
                  <a:txBody>
                    <a:bodyPr/>
                    <a:lstStyle/>
                    <a:p>
                      <a:pPr marL="0" indent="0">
                        <a:buNone/>
                      </a:pPr>
                      <a:r>
                        <a:rPr lang="en-US" sz="1300" b="1" dirty="0">
                          <a:solidFill>
                            <a:schemeClr val="tx1"/>
                          </a:solidFill>
                        </a:rPr>
                        <a:t>Cost-efficient inference, vision, video</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Price / performance</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L4, L40S, RTX PRO 6000 Server</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Low power, PCIe, video engines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566928">
                <a:tc>
                  <a:txBody>
                    <a:bodyPr/>
                    <a:lstStyle/>
                    <a:p>
                      <a:pPr marL="0" indent="0">
                        <a:buNone/>
                      </a:pPr>
                      <a:r>
                        <a:rPr lang="en-US" sz="1300" b="1" dirty="0">
                          <a:solidFill>
                            <a:schemeClr val="tx1"/>
                          </a:solidFill>
                        </a:rPr>
                        <a:t>Rendering, digital twins + AI</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Graphics + AI</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L40S, RTX PRO 6000 Blackwell</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RT cores, display and graphics features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566928">
                <a:tc>
                  <a:txBody>
                    <a:bodyPr/>
                    <a:lstStyle/>
                    <a:p>
                      <a:pPr marL="0" indent="0">
                        <a:buNone/>
                      </a:pPr>
                      <a:r>
                        <a:rPr lang="en-US" sz="1300" b="1" dirty="0">
                          <a:solidFill>
                            <a:schemeClr val="tx1"/>
                          </a:solidFill>
                        </a:rPr>
                        <a:t>Robotics and edge inference</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Power + size</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Jetson Orin / Thor, IGX</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Tens of watts, rugged modules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Superchips and rack-scale systems</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Grace CPUs and Blackwell GPUs joined into a single, liquid-cooled 72-GPU NVLink domain</a:t>
            </a:r>
            <a:endParaRPr lang="en-US" sz="1600" dirty="0"/>
          </a:p>
        </p:txBody>
      </p:sp>
      <p:sp>
        <p:nvSpPr>
          <p:cNvPr id="4" name="Shape 2"/>
          <p:cNvSpPr/>
          <p:nvPr/>
        </p:nvSpPr>
        <p:spPr>
          <a:xfrm>
            <a:off x="548640" y="1600200"/>
            <a:ext cx="6675120" cy="2057400"/>
          </a:xfrm>
          <a:prstGeom prst="roundRect">
            <a:avLst>
              <a:gd name="adj" fmla="val 3556"/>
            </a:avLst>
          </a:prstGeom>
          <a:solidFill>
            <a:schemeClr val="bg2"/>
          </a:solidFill>
          <a:ln/>
        </p:spPr>
        <p:txBody>
          <a:bodyPr/>
          <a:lstStyle/>
          <a:p>
            <a:endParaRPr lang="en-US"/>
          </a:p>
        </p:txBody>
      </p:sp>
      <p:sp>
        <p:nvSpPr>
          <p:cNvPr id="5" name="Text 3"/>
          <p:cNvSpPr txBox="1"/>
          <p:nvPr/>
        </p:nvSpPr>
        <p:spPr>
          <a:xfrm>
            <a:off x="777240" y="1691640"/>
            <a:ext cx="2743200" cy="365760"/>
          </a:xfrm>
          <a:prstGeom prst="rect">
            <a:avLst/>
          </a:prstGeom>
          <a:noFill/>
          <a:ln/>
        </p:spPr>
        <p:txBody>
          <a:bodyPr wrap="square" lIns="0" tIns="0" rIns="0" bIns="0" rtlCol="0" anchor="t"/>
          <a:lstStyle/>
          <a:p>
            <a:pPr marL="0" indent="0">
              <a:buNone/>
            </a:pPr>
            <a:r>
              <a:rPr lang="en-US" sz="1600" b="1" dirty="0">
                <a:solidFill>
                  <a:schemeClr val="tx1"/>
                </a:solidFill>
              </a:rPr>
              <a:t>GB200 superchip</a:t>
            </a:r>
            <a:endParaRPr lang="en-US" sz="1600" dirty="0"/>
          </a:p>
        </p:txBody>
      </p:sp>
      <p:sp>
        <p:nvSpPr>
          <p:cNvPr id="6" name="Text 4"/>
          <p:cNvSpPr/>
          <p:nvPr/>
        </p:nvSpPr>
        <p:spPr>
          <a:xfrm>
            <a:off x="822960" y="2240280"/>
            <a:ext cx="1554480" cy="1143000"/>
          </a:xfrm>
          <a:prstGeom prst="roundRect">
            <a:avLst>
              <a:gd name="adj" fmla="val 4000"/>
            </a:avLst>
          </a:prstGeom>
          <a:solidFill>
            <a:schemeClr val="accent4"/>
          </a:solidFill>
          <a:ln/>
        </p:spPr>
        <p:txBody>
          <a:bodyPr wrap="square" lIns="381" tIns="381" rIns="381" bIns="381" rtlCol="0" anchor="ctr"/>
          <a:lstStyle/>
          <a:p>
            <a:pPr marL="0" indent="0" algn="ctr">
              <a:buNone/>
            </a:pPr>
            <a:r>
              <a:rPr lang="en-US" sz="1200" b="1" dirty="0">
                <a:solidFill>
                  <a:schemeClr val="bg1"/>
                </a:solidFill>
              </a:rPr>
              <a:t>Grace CPU</a:t>
            </a:r>
            <a:endParaRPr lang="en-US" sz="1200" dirty="0"/>
          </a:p>
          <a:p>
            <a:pPr marL="0" indent="0" algn="ctr">
              <a:buNone/>
            </a:pPr>
            <a:r>
              <a:rPr lang="en-US" sz="1200" b="1" dirty="0">
                <a:solidFill>
                  <a:schemeClr val="bg1"/>
                </a:solidFill>
              </a:rPr>
              <a:t>72 Arm cores</a:t>
            </a:r>
            <a:endParaRPr lang="en-US" sz="1200" dirty="0"/>
          </a:p>
          <a:p>
            <a:pPr marL="0" indent="0" algn="ctr">
              <a:buNone/>
            </a:pPr>
            <a:r>
              <a:rPr lang="en-US" sz="1200" b="1" dirty="0">
                <a:solidFill>
                  <a:schemeClr val="bg1"/>
                </a:solidFill>
              </a:rPr>
              <a:t>LPDDR5X</a:t>
            </a:r>
            <a:endParaRPr lang="en-US" sz="1200" dirty="0"/>
          </a:p>
        </p:txBody>
      </p:sp>
      <p:sp>
        <p:nvSpPr>
          <p:cNvPr id="7" name="Text 5"/>
          <p:cNvSpPr/>
          <p:nvPr/>
        </p:nvSpPr>
        <p:spPr>
          <a:xfrm>
            <a:off x="3566160" y="2103120"/>
            <a:ext cx="1554480" cy="594360"/>
          </a:xfrm>
          <a:prstGeom prst="roundRect">
            <a:avLst>
              <a:gd name="adj" fmla="val 7692"/>
            </a:avLst>
          </a:prstGeom>
          <a:solidFill>
            <a:schemeClr val="accent1"/>
          </a:solidFill>
          <a:ln/>
        </p:spPr>
        <p:txBody>
          <a:bodyPr wrap="square" lIns="381" tIns="381" rIns="381" bIns="381" rtlCol="0" anchor="ctr"/>
          <a:lstStyle/>
          <a:p>
            <a:pPr marL="0" indent="0" algn="ctr">
              <a:buNone/>
            </a:pPr>
            <a:r>
              <a:rPr lang="en-US" sz="1300" b="1" dirty="0">
                <a:solidFill>
                  <a:schemeClr val="tx1"/>
                </a:solidFill>
              </a:rPr>
              <a:t>B200 GPU</a:t>
            </a:r>
            <a:endParaRPr lang="en-US" sz="1300" dirty="0"/>
          </a:p>
        </p:txBody>
      </p:sp>
      <p:sp>
        <p:nvSpPr>
          <p:cNvPr id="8" name="Text 6"/>
          <p:cNvSpPr/>
          <p:nvPr/>
        </p:nvSpPr>
        <p:spPr>
          <a:xfrm>
            <a:off x="3566160" y="2880360"/>
            <a:ext cx="1554480" cy="594360"/>
          </a:xfrm>
          <a:prstGeom prst="roundRect">
            <a:avLst>
              <a:gd name="adj" fmla="val 7692"/>
            </a:avLst>
          </a:prstGeom>
          <a:solidFill>
            <a:schemeClr val="accent1"/>
          </a:solidFill>
          <a:ln/>
        </p:spPr>
        <p:txBody>
          <a:bodyPr wrap="square" lIns="381" tIns="381" rIns="381" bIns="381" rtlCol="0" anchor="ctr"/>
          <a:lstStyle/>
          <a:p>
            <a:pPr marL="0" indent="0" algn="ctr">
              <a:buNone/>
            </a:pPr>
            <a:r>
              <a:rPr lang="en-US" sz="1300" b="1" dirty="0">
                <a:solidFill>
                  <a:schemeClr val="tx1"/>
                </a:solidFill>
              </a:rPr>
              <a:t>B200 GPU</a:t>
            </a:r>
            <a:endParaRPr lang="en-US" sz="1300" dirty="0"/>
          </a:p>
        </p:txBody>
      </p:sp>
      <p:sp>
        <p:nvSpPr>
          <p:cNvPr id="9" name="Shape 7"/>
          <p:cNvSpPr/>
          <p:nvPr/>
        </p:nvSpPr>
        <p:spPr>
          <a:xfrm flipH="1">
            <a:off x="2377440" y="2395728"/>
            <a:ext cx="1188720" cy="411480"/>
          </a:xfrm>
          <a:prstGeom prst="line">
            <a:avLst/>
          </a:prstGeom>
          <a:noFill/>
          <a:ln w="38100">
            <a:solidFill>
              <a:schemeClr val="accent2"/>
            </a:solidFill>
            <a:prstDash val="solid"/>
          </a:ln>
        </p:spPr>
        <p:txBody>
          <a:bodyPr/>
          <a:lstStyle/>
          <a:p>
            <a:endParaRPr lang="en-US"/>
          </a:p>
        </p:txBody>
      </p:sp>
      <p:sp>
        <p:nvSpPr>
          <p:cNvPr id="10" name="Shape 8"/>
          <p:cNvSpPr/>
          <p:nvPr/>
        </p:nvSpPr>
        <p:spPr>
          <a:xfrm>
            <a:off x="2377440" y="2807208"/>
            <a:ext cx="1188720" cy="365760"/>
          </a:xfrm>
          <a:prstGeom prst="line">
            <a:avLst/>
          </a:prstGeom>
          <a:noFill/>
          <a:ln w="38100">
            <a:solidFill>
              <a:schemeClr val="accent2"/>
            </a:solidFill>
            <a:prstDash val="solid"/>
          </a:ln>
        </p:spPr>
        <p:txBody>
          <a:bodyPr/>
          <a:lstStyle/>
          <a:p>
            <a:endParaRPr lang="en-US"/>
          </a:p>
        </p:txBody>
      </p:sp>
      <p:sp>
        <p:nvSpPr>
          <p:cNvPr id="11" name="Text 9"/>
          <p:cNvSpPr txBox="1"/>
          <p:nvPr/>
        </p:nvSpPr>
        <p:spPr>
          <a:xfrm>
            <a:off x="2395728" y="3200400"/>
            <a:ext cx="1143000" cy="384048"/>
          </a:xfrm>
          <a:prstGeom prst="rect">
            <a:avLst/>
          </a:prstGeom>
          <a:noFill/>
          <a:ln/>
        </p:spPr>
        <p:txBody>
          <a:bodyPr wrap="square" lIns="0" tIns="0" rIns="0" bIns="0" rtlCol="0" anchor="ctr"/>
          <a:lstStyle/>
          <a:p>
            <a:pPr marL="0" indent="0" algn="ctr">
              <a:buNone/>
            </a:pPr>
            <a:r>
              <a:rPr lang="en-US" sz="1000" b="1" dirty="0">
                <a:solidFill>
                  <a:schemeClr val="accent2"/>
                </a:solidFill>
              </a:rPr>
              <a:t>NVLink-C2C</a:t>
            </a:r>
            <a:endParaRPr lang="en-US" sz="1000" dirty="0"/>
          </a:p>
          <a:p>
            <a:pPr marL="0" indent="0" algn="ctr">
              <a:buNone/>
            </a:pPr>
            <a:r>
              <a:rPr lang="en-US" sz="1000" b="1" dirty="0">
                <a:solidFill>
                  <a:schemeClr val="accent2"/>
                </a:solidFill>
              </a:rPr>
              <a:t>900 GB/s</a:t>
            </a:r>
            <a:endParaRPr lang="en-US" sz="1000" dirty="0"/>
          </a:p>
        </p:txBody>
      </p:sp>
      <p:sp>
        <p:nvSpPr>
          <p:cNvPr id="12" name="Text 10"/>
          <p:cNvSpPr txBox="1"/>
          <p:nvPr/>
        </p:nvSpPr>
        <p:spPr>
          <a:xfrm>
            <a:off x="5349240" y="2103120"/>
            <a:ext cx="1783080" cy="146304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1 CPU + 2 GPUs</a:t>
            </a:r>
            <a:endParaRPr lang="en-US" sz="1200" dirty="0"/>
          </a:p>
          <a:p>
            <a:pPr marL="342900" indent="-342900">
              <a:spcAft>
                <a:spcPts val="400"/>
              </a:spcAft>
              <a:buSzPct val="100000"/>
              <a:buChar char="•"/>
            </a:pPr>
            <a:r>
              <a:rPr lang="en-US" sz="1200" dirty="0">
                <a:solidFill>
                  <a:schemeClr val="tx2"/>
                </a:solidFill>
              </a:rPr>
              <a:t>GPUs can use CPU memory coherently</a:t>
            </a:r>
            <a:endParaRPr lang="en-US" sz="1200" dirty="0"/>
          </a:p>
          <a:p>
            <a:pPr marL="342900" indent="-342900">
              <a:spcAft>
                <a:spcPts val="400"/>
              </a:spcAft>
              <a:buSzPct val="100000"/>
              <a:buChar char="•"/>
            </a:pPr>
            <a:r>
              <a:rPr lang="en-US" sz="1200" dirty="0">
                <a:solidFill>
                  <a:schemeClr val="tx2"/>
                </a:solidFill>
              </a:rPr>
              <a:t>GH200: 1 Grace + 1 Hopper GPU</a:t>
            </a:r>
            <a:endParaRPr lang="en-US" sz="1200" dirty="0"/>
          </a:p>
        </p:txBody>
      </p:sp>
      <p:sp>
        <p:nvSpPr>
          <p:cNvPr id="13" name="card"/>
          <p:cNvSpPr/>
          <p:nvPr/>
        </p:nvSpPr>
        <p:spPr>
          <a:xfrm>
            <a:off x="548640" y="3794760"/>
            <a:ext cx="6675120" cy="2377440"/>
          </a:xfrm>
          <a:prstGeom prst="roundRect">
            <a:avLst>
              <a:gd name="adj" fmla="val 3077"/>
            </a:avLst>
          </a:prstGeom>
          <a:solidFill>
            <a:schemeClr val="bg2"/>
          </a:solidFill>
          <a:ln/>
        </p:spPr>
        <p:txBody>
          <a:bodyPr/>
          <a:lstStyle/>
          <a:p>
            <a:endParaRPr lang="en-US"/>
          </a:p>
        </p:txBody>
      </p:sp>
      <p:sp>
        <p:nvSpPr>
          <p:cNvPr id="14" name="Shape 12"/>
          <p:cNvSpPr/>
          <p:nvPr/>
        </p:nvSpPr>
        <p:spPr>
          <a:xfrm>
            <a:off x="749808" y="3995928"/>
            <a:ext cx="548640" cy="548640"/>
          </a:xfrm>
          <a:prstGeom prst="ellipse">
            <a:avLst/>
          </a:prstGeom>
          <a:solidFill>
            <a:schemeClr val="accent1"/>
          </a:solidFill>
          <a:ln/>
        </p:spPr>
        <p:txBody>
          <a:bodyPr/>
          <a:lstStyle/>
          <a:p>
            <a:endParaRPr lang="en-US"/>
          </a:p>
        </p:txBody>
      </p:sp>
      <p:pic>
        <p:nvPicPr>
          <p:cNvPr id="15" name="Image 0" descr="preencoded.png"/>
          <p:cNvPicPr>
            <a:picLocks noChangeAspect="1"/>
          </p:cNvPicPr>
          <p:nvPr/>
        </p:nvPicPr>
        <p:blipFill>
          <a:blip r:embed="rId3"/>
          <a:stretch>
            <a:fillRect/>
          </a:stretch>
        </p:blipFill>
        <p:spPr>
          <a:xfrm>
            <a:off x="870509" y="4116629"/>
            <a:ext cx="307238" cy="307238"/>
          </a:xfrm>
          <a:prstGeom prst="rect">
            <a:avLst/>
          </a:prstGeom>
        </p:spPr>
      </p:pic>
      <p:sp>
        <p:nvSpPr>
          <p:cNvPr id="16" name="Text 13"/>
          <p:cNvSpPr txBox="1"/>
          <p:nvPr/>
        </p:nvSpPr>
        <p:spPr>
          <a:xfrm>
            <a:off x="1417320" y="3995928"/>
            <a:ext cx="5623560" cy="548640"/>
          </a:xfrm>
          <a:prstGeom prst="rect">
            <a:avLst/>
          </a:prstGeom>
          <a:noFill/>
          <a:ln/>
        </p:spPr>
        <p:txBody>
          <a:bodyPr wrap="square" lIns="0" tIns="0" rIns="0" bIns="0" rtlCol="0" anchor="ctr"/>
          <a:lstStyle/>
          <a:p>
            <a:pPr marL="0" indent="0">
              <a:buNone/>
            </a:pPr>
            <a:r>
              <a:rPr lang="en-US" sz="1600" b="1" dirty="0">
                <a:solidFill>
                  <a:schemeClr val="tx1"/>
                </a:solidFill>
              </a:rPr>
              <a:t>Why rack scale?</a:t>
            </a:r>
            <a:endParaRPr lang="en-US" sz="1600" dirty="0"/>
          </a:p>
        </p:txBody>
      </p:sp>
      <p:sp>
        <p:nvSpPr>
          <p:cNvPr id="17" name="Text 14"/>
          <p:cNvSpPr txBox="1"/>
          <p:nvPr/>
        </p:nvSpPr>
        <p:spPr>
          <a:xfrm>
            <a:off x="749808" y="4690872"/>
            <a:ext cx="6272784" cy="1344168"/>
          </a:xfrm>
          <a:prstGeom prst="rect">
            <a:avLst/>
          </a:prstGeom>
          <a:noFill/>
          <a:ln/>
        </p:spPr>
        <p:txBody>
          <a:bodyPr wrap="square" lIns="0" tIns="0" rIns="0" bIns="0" rtlCol="0" anchor="t"/>
          <a:lstStyle/>
          <a:p>
            <a:pPr marL="342900" indent="-342900">
              <a:spcAft>
                <a:spcPts val="500"/>
              </a:spcAft>
              <a:buSzPct val="100000"/>
              <a:buChar char="•"/>
            </a:pPr>
            <a:r>
              <a:rPr lang="en-US" sz="1400" b="1" dirty="0">
                <a:solidFill>
                  <a:schemeClr val="tx2"/>
                </a:solidFill>
              </a:rPr>
              <a:t>One NVLink domain: </a:t>
            </a:r>
            <a:r>
              <a:rPr lang="en-US" sz="1400" dirty="0">
                <a:solidFill>
                  <a:schemeClr val="tx2"/>
                </a:solidFill>
              </a:rPr>
              <a:t>72 GPUs act like one big GPU for tensor and expert parallelism.</a:t>
            </a:r>
            <a:endParaRPr lang="en-US" sz="1400" dirty="0"/>
          </a:p>
          <a:p>
            <a:pPr marL="342900" indent="-342900">
              <a:spcAft>
                <a:spcPts val="500"/>
              </a:spcAft>
              <a:buSzPct val="100000"/>
              <a:buChar char="•"/>
            </a:pPr>
            <a:r>
              <a:rPr lang="en-US" sz="1400" b="1" dirty="0">
                <a:solidFill>
                  <a:schemeClr val="tx2"/>
                </a:solidFill>
              </a:rPr>
              <a:t>Copper NVLink spine </a:t>
            </a:r>
            <a:r>
              <a:rPr lang="en-US" sz="1400" dirty="0">
                <a:solidFill>
                  <a:schemeClr val="tx2"/>
                </a:solidFill>
              </a:rPr>
              <a:t>in the rack avoids optical transceivers, saving power and cost.</a:t>
            </a:r>
            <a:endParaRPr lang="en-US" sz="1400" dirty="0"/>
          </a:p>
          <a:p>
            <a:pPr marL="342900" indent="-342900">
              <a:spcAft>
                <a:spcPts val="500"/>
              </a:spcAft>
              <a:buSzPct val="100000"/>
              <a:buChar char="•"/>
            </a:pPr>
            <a:r>
              <a:rPr lang="en-US" sz="1400" b="1" dirty="0">
                <a:solidFill>
                  <a:schemeClr val="tx2"/>
                </a:solidFill>
              </a:rPr>
              <a:t>Trade-off: </a:t>
            </a:r>
            <a:r>
              <a:rPr lang="en-US" sz="1400" dirty="0">
                <a:solidFill>
                  <a:schemeClr val="tx2"/>
                </a:solidFill>
              </a:rPr>
              <a:t>needs ~120 kW+ per rack, liquid cooling and new facility design.</a:t>
            </a:r>
            <a:endParaRPr lang="en-US" sz="1400" dirty="0"/>
          </a:p>
        </p:txBody>
      </p:sp>
      <p:sp>
        <p:nvSpPr>
          <p:cNvPr id="18" name="Shape 15"/>
          <p:cNvSpPr/>
          <p:nvPr/>
        </p:nvSpPr>
        <p:spPr>
          <a:xfrm>
            <a:off x="7543800" y="1600200"/>
            <a:ext cx="1600200" cy="4206240"/>
          </a:xfrm>
          <a:prstGeom prst="roundRect">
            <a:avLst>
              <a:gd name="adj" fmla="val 2286"/>
            </a:avLst>
          </a:prstGeom>
          <a:solidFill>
            <a:schemeClr val="tx1"/>
          </a:solidFill>
          <a:ln/>
        </p:spPr>
        <p:txBody>
          <a:bodyPr/>
          <a:lstStyle/>
          <a:p>
            <a:endParaRPr lang="en-US"/>
          </a:p>
        </p:txBody>
      </p:sp>
      <p:sp>
        <p:nvSpPr>
          <p:cNvPr id="19" name="Shape 16"/>
          <p:cNvSpPr/>
          <p:nvPr/>
        </p:nvSpPr>
        <p:spPr>
          <a:xfrm>
            <a:off x="7653528" y="1719072"/>
            <a:ext cx="1380744" cy="109728"/>
          </a:xfrm>
          <a:prstGeom prst="rect">
            <a:avLst/>
          </a:prstGeom>
          <a:solidFill>
            <a:schemeClr val="accent1"/>
          </a:solidFill>
          <a:ln/>
        </p:spPr>
        <p:txBody>
          <a:bodyPr/>
          <a:lstStyle/>
          <a:p>
            <a:endParaRPr lang="en-US"/>
          </a:p>
        </p:txBody>
      </p:sp>
      <p:sp>
        <p:nvSpPr>
          <p:cNvPr id="20" name="Shape 17"/>
          <p:cNvSpPr/>
          <p:nvPr/>
        </p:nvSpPr>
        <p:spPr>
          <a:xfrm>
            <a:off x="7653528" y="1865376"/>
            <a:ext cx="1380744" cy="109728"/>
          </a:xfrm>
          <a:prstGeom prst="rect">
            <a:avLst/>
          </a:prstGeom>
          <a:solidFill>
            <a:schemeClr val="accent1"/>
          </a:solidFill>
          <a:ln/>
        </p:spPr>
        <p:txBody>
          <a:bodyPr/>
          <a:lstStyle/>
          <a:p>
            <a:endParaRPr lang="en-US"/>
          </a:p>
        </p:txBody>
      </p:sp>
      <p:sp>
        <p:nvSpPr>
          <p:cNvPr id="21" name="Shape 18"/>
          <p:cNvSpPr/>
          <p:nvPr/>
        </p:nvSpPr>
        <p:spPr>
          <a:xfrm>
            <a:off x="7653528" y="2011680"/>
            <a:ext cx="1380744" cy="109728"/>
          </a:xfrm>
          <a:prstGeom prst="rect">
            <a:avLst/>
          </a:prstGeom>
          <a:solidFill>
            <a:schemeClr val="accent1"/>
          </a:solidFill>
          <a:ln/>
        </p:spPr>
        <p:txBody>
          <a:bodyPr/>
          <a:lstStyle/>
          <a:p>
            <a:endParaRPr lang="en-US"/>
          </a:p>
        </p:txBody>
      </p:sp>
      <p:sp>
        <p:nvSpPr>
          <p:cNvPr id="22" name="Shape 19"/>
          <p:cNvSpPr/>
          <p:nvPr/>
        </p:nvSpPr>
        <p:spPr>
          <a:xfrm>
            <a:off x="7653528" y="2157984"/>
            <a:ext cx="1380744" cy="109728"/>
          </a:xfrm>
          <a:prstGeom prst="rect">
            <a:avLst/>
          </a:prstGeom>
          <a:solidFill>
            <a:schemeClr val="accent1"/>
          </a:solidFill>
          <a:ln/>
        </p:spPr>
        <p:txBody>
          <a:bodyPr/>
          <a:lstStyle/>
          <a:p>
            <a:endParaRPr lang="en-US"/>
          </a:p>
        </p:txBody>
      </p:sp>
      <p:sp>
        <p:nvSpPr>
          <p:cNvPr id="23" name="Shape 20"/>
          <p:cNvSpPr/>
          <p:nvPr/>
        </p:nvSpPr>
        <p:spPr>
          <a:xfrm>
            <a:off x="7653528" y="2304288"/>
            <a:ext cx="1380744" cy="109728"/>
          </a:xfrm>
          <a:prstGeom prst="rect">
            <a:avLst/>
          </a:prstGeom>
          <a:solidFill>
            <a:schemeClr val="accent1"/>
          </a:solidFill>
          <a:ln/>
        </p:spPr>
        <p:txBody>
          <a:bodyPr/>
          <a:lstStyle/>
          <a:p>
            <a:endParaRPr lang="en-US"/>
          </a:p>
        </p:txBody>
      </p:sp>
      <p:sp>
        <p:nvSpPr>
          <p:cNvPr id="24" name="Shape 21"/>
          <p:cNvSpPr/>
          <p:nvPr/>
        </p:nvSpPr>
        <p:spPr>
          <a:xfrm>
            <a:off x="7653528" y="2450592"/>
            <a:ext cx="1380744" cy="109728"/>
          </a:xfrm>
          <a:prstGeom prst="rect">
            <a:avLst/>
          </a:prstGeom>
          <a:solidFill>
            <a:schemeClr val="accent1"/>
          </a:solidFill>
          <a:ln/>
        </p:spPr>
        <p:txBody>
          <a:bodyPr/>
          <a:lstStyle/>
          <a:p>
            <a:endParaRPr lang="en-US"/>
          </a:p>
        </p:txBody>
      </p:sp>
      <p:sp>
        <p:nvSpPr>
          <p:cNvPr id="25" name="Shape 22"/>
          <p:cNvSpPr/>
          <p:nvPr/>
        </p:nvSpPr>
        <p:spPr>
          <a:xfrm>
            <a:off x="7653528" y="2596896"/>
            <a:ext cx="1380744" cy="109728"/>
          </a:xfrm>
          <a:prstGeom prst="rect">
            <a:avLst/>
          </a:prstGeom>
          <a:solidFill>
            <a:schemeClr val="accent1"/>
          </a:solidFill>
          <a:ln/>
        </p:spPr>
        <p:txBody>
          <a:bodyPr/>
          <a:lstStyle/>
          <a:p>
            <a:endParaRPr lang="en-US"/>
          </a:p>
        </p:txBody>
      </p:sp>
      <p:sp>
        <p:nvSpPr>
          <p:cNvPr id="26" name="Shape 23"/>
          <p:cNvSpPr/>
          <p:nvPr/>
        </p:nvSpPr>
        <p:spPr>
          <a:xfrm>
            <a:off x="7653528" y="2743200"/>
            <a:ext cx="1380744" cy="109728"/>
          </a:xfrm>
          <a:prstGeom prst="rect">
            <a:avLst/>
          </a:prstGeom>
          <a:solidFill>
            <a:schemeClr val="accent1"/>
          </a:solidFill>
          <a:ln/>
        </p:spPr>
        <p:txBody>
          <a:bodyPr/>
          <a:lstStyle/>
          <a:p>
            <a:endParaRPr lang="en-US"/>
          </a:p>
        </p:txBody>
      </p:sp>
      <p:sp>
        <p:nvSpPr>
          <p:cNvPr id="27" name="Shape 24"/>
          <p:cNvSpPr/>
          <p:nvPr/>
        </p:nvSpPr>
        <p:spPr>
          <a:xfrm>
            <a:off x="7653528" y="2889504"/>
            <a:ext cx="1380744" cy="109728"/>
          </a:xfrm>
          <a:prstGeom prst="rect">
            <a:avLst/>
          </a:prstGeom>
          <a:solidFill>
            <a:schemeClr val="accent1"/>
          </a:solidFill>
          <a:ln/>
        </p:spPr>
        <p:txBody>
          <a:bodyPr/>
          <a:lstStyle/>
          <a:p>
            <a:endParaRPr lang="en-US"/>
          </a:p>
        </p:txBody>
      </p:sp>
      <p:sp>
        <p:nvSpPr>
          <p:cNvPr id="28" name="Shape 25"/>
          <p:cNvSpPr/>
          <p:nvPr/>
        </p:nvSpPr>
        <p:spPr>
          <a:xfrm>
            <a:off x="7653528" y="3035808"/>
            <a:ext cx="1380744" cy="109728"/>
          </a:xfrm>
          <a:prstGeom prst="rect">
            <a:avLst/>
          </a:prstGeom>
          <a:solidFill>
            <a:schemeClr val="accent1"/>
          </a:solidFill>
          <a:ln/>
        </p:spPr>
        <p:txBody>
          <a:bodyPr/>
          <a:lstStyle/>
          <a:p>
            <a:endParaRPr lang="en-US"/>
          </a:p>
        </p:txBody>
      </p:sp>
      <p:sp>
        <p:nvSpPr>
          <p:cNvPr id="29" name="Shape 26"/>
          <p:cNvSpPr/>
          <p:nvPr/>
        </p:nvSpPr>
        <p:spPr>
          <a:xfrm>
            <a:off x="7653528" y="3182112"/>
            <a:ext cx="1380744" cy="109728"/>
          </a:xfrm>
          <a:prstGeom prst="rect">
            <a:avLst/>
          </a:prstGeom>
          <a:solidFill>
            <a:schemeClr val="accent4"/>
          </a:solidFill>
          <a:ln/>
        </p:spPr>
        <p:txBody>
          <a:bodyPr/>
          <a:lstStyle/>
          <a:p>
            <a:endParaRPr lang="en-US"/>
          </a:p>
        </p:txBody>
      </p:sp>
      <p:sp>
        <p:nvSpPr>
          <p:cNvPr id="30" name="Shape 27"/>
          <p:cNvSpPr/>
          <p:nvPr/>
        </p:nvSpPr>
        <p:spPr>
          <a:xfrm>
            <a:off x="7653528" y="3328416"/>
            <a:ext cx="1380744" cy="109728"/>
          </a:xfrm>
          <a:prstGeom prst="rect">
            <a:avLst/>
          </a:prstGeom>
          <a:solidFill>
            <a:schemeClr val="accent4"/>
          </a:solidFill>
          <a:ln/>
        </p:spPr>
        <p:txBody>
          <a:bodyPr/>
          <a:lstStyle/>
          <a:p>
            <a:endParaRPr lang="en-US"/>
          </a:p>
        </p:txBody>
      </p:sp>
      <p:sp>
        <p:nvSpPr>
          <p:cNvPr id="31" name="Shape 28"/>
          <p:cNvSpPr/>
          <p:nvPr/>
        </p:nvSpPr>
        <p:spPr>
          <a:xfrm>
            <a:off x="7653528" y="3474720"/>
            <a:ext cx="1380744" cy="109728"/>
          </a:xfrm>
          <a:prstGeom prst="rect">
            <a:avLst/>
          </a:prstGeom>
          <a:solidFill>
            <a:schemeClr val="accent4"/>
          </a:solidFill>
          <a:ln/>
        </p:spPr>
        <p:txBody>
          <a:bodyPr/>
          <a:lstStyle/>
          <a:p>
            <a:endParaRPr lang="en-US"/>
          </a:p>
        </p:txBody>
      </p:sp>
      <p:sp>
        <p:nvSpPr>
          <p:cNvPr id="32" name="Shape 29"/>
          <p:cNvSpPr/>
          <p:nvPr/>
        </p:nvSpPr>
        <p:spPr>
          <a:xfrm>
            <a:off x="7653528" y="3621024"/>
            <a:ext cx="1380744" cy="109728"/>
          </a:xfrm>
          <a:prstGeom prst="rect">
            <a:avLst/>
          </a:prstGeom>
          <a:solidFill>
            <a:schemeClr val="accent4"/>
          </a:solidFill>
          <a:ln/>
        </p:spPr>
        <p:txBody>
          <a:bodyPr/>
          <a:lstStyle/>
          <a:p>
            <a:endParaRPr lang="en-US"/>
          </a:p>
        </p:txBody>
      </p:sp>
      <p:sp>
        <p:nvSpPr>
          <p:cNvPr id="33" name="Shape 30"/>
          <p:cNvSpPr/>
          <p:nvPr/>
        </p:nvSpPr>
        <p:spPr>
          <a:xfrm>
            <a:off x="7653528" y="3767328"/>
            <a:ext cx="1380744" cy="109728"/>
          </a:xfrm>
          <a:prstGeom prst="rect">
            <a:avLst/>
          </a:prstGeom>
          <a:solidFill>
            <a:schemeClr val="accent4"/>
          </a:solidFill>
          <a:ln/>
        </p:spPr>
        <p:txBody>
          <a:bodyPr/>
          <a:lstStyle/>
          <a:p>
            <a:endParaRPr lang="en-US"/>
          </a:p>
        </p:txBody>
      </p:sp>
      <p:sp>
        <p:nvSpPr>
          <p:cNvPr id="34" name="Shape 31"/>
          <p:cNvSpPr/>
          <p:nvPr/>
        </p:nvSpPr>
        <p:spPr>
          <a:xfrm>
            <a:off x="7653528" y="3913632"/>
            <a:ext cx="1380744" cy="109728"/>
          </a:xfrm>
          <a:prstGeom prst="rect">
            <a:avLst/>
          </a:prstGeom>
          <a:solidFill>
            <a:schemeClr val="accent4"/>
          </a:solidFill>
          <a:ln/>
        </p:spPr>
        <p:txBody>
          <a:bodyPr/>
          <a:lstStyle/>
          <a:p>
            <a:endParaRPr lang="en-US"/>
          </a:p>
        </p:txBody>
      </p:sp>
      <p:sp>
        <p:nvSpPr>
          <p:cNvPr id="35" name="Shape 32"/>
          <p:cNvSpPr/>
          <p:nvPr/>
        </p:nvSpPr>
        <p:spPr>
          <a:xfrm>
            <a:off x="7653528" y="4059936"/>
            <a:ext cx="1380744" cy="109728"/>
          </a:xfrm>
          <a:prstGeom prst="rect">
            <a:avLst/>
          </a:prstGeom>
          <a:solidFill>
            <a:schemeClr val="accent4"/>
          </a:solidFill>
          <a:ln/>
        </p:spPr>
        <p:txBody>
          <a:bodyPr/>
          <a:lstStyle/>
          <a:p>
            <a:endParaRPr lang="en-US"/>
          </a:p>
        </p:txBody>
      </p:sp>
      <p:sp>
        <p:nvSpPr>
          <p:cNvPr id="36" name="Shape 33"/>
          <p:cNvSpPr/>
          <p:nvPr/>
        </p:nvSpPr>
        <p:spPr>
          <a:xfrm>
            <a:off x="7653528" y="4206240"/>
            <a:ext cx="1380744" cy="109728"/>
          </a:xfrm>
          <a:prstGeom prst="rect">
            <a:avLst/>
          </a:prstGeom>
          <a:solidFill>
            <a:schemeClr val="accent4"/>
          </a:solidFill>
          <a:ln/>
        </p:spPr>
        <p:txBody>
          <a:bodyPr/>
          <a:lstStyle/>
          <a:p>
            <a:endParaRPr lang="en-US"/>
          </a:p>
        </p:txBody>
      </p:sp>
      <p:sp>
        <p:nvSpPr>
          <p:cNvPr id="37" name="Shape 34"/>
          <p:cNvSpPr/>
          <p:nvPr/>
        </p:nvSpPr>
        <p:spPr>
          <a:xfrm>
            <a:off x="7653528" y="4352544"/>
            <a:ext cx="1380744" cy="109728"/>
          </a:xfrm>
          <a:prstGeom prst="rect">
            <a:avLst/>
          </a:prstGeom>
          <a:solidFill>
            <a:schemeClr val="accent4"/>
          </a:solidFill>
          <a:ln/>
        </p:spPr>
        <p:txBody>
          <a:bodyPr/>
          <a:lstStyle/>
          <a:p>
            <a:endParaRPr lang="en-US"/>
          </a:p>
        </p:txBody>
      </p:sp>
      <p:sp>
        <p:nvSpPr>
          <p:cNvPr id="38" name="Shape 35"/>
          <p:cNvSpPr/>
          <p:nvPr/>
        </p:nvSpPr>
        <p:spPr>
          <a:xfrm>
            <a:off x="7653528" y="4498848"/>
            <a:ext cx="1380744" cy="109728"/>
          </a:xfrm>
          <a:prstGeom prst="rect">
            <a:avLst/>
          </a:prstGeom>
          <a:solidFill>
            <a:schemeClr val="accent1"/>
          </a:solidFill>
          <a:ln/>
        </p:spPr>
        <p:txBody>
          <a:bodyPr/>
          <a:lstStyle/>
          <a:p>
            <a:endParaRPr lang="en-US"/>
          </a:p>
        </p:txBody>
      </p:sp>
      <p:sp>
        <p:nvSpPr>
          <p:cNvPr id="39" name="Shape 36"/>
          <p:cNvSpPr/>
          <p:nvPr/>
        </p:nvSpPr>
        <p:spPr>
          <a:xfrm>
            <a:off x="7653528" y="4645152"/>
            <a:ext cx="1380744" cy="109728"/>
          </a:xfrm>
          <a:prstGeom prst="rect">
            <a:avLst/>
          </a:prstGeom>
          <a:solidFill>
            <a:schemeClr val="accent1"/>
          </a:solidFill>
          <a:ln/>
        </p:spPr>
        <p:txBody>
          <a:bodyPr/>
          <a:lstStyle/>
          <a:p>
            <a:endParaRPr lang="en-US"/>
          </a:p>
        </p:txBody>
      </p:sp>
      <p:sp>
        <p:nvSpPr>
          <p:cNvPr id="40" name="Shape 37"/>
          <p:cNvSpPr/>
          <p:nvPr/>
        </p:nvSpPr>
        <p:spPr>
          <a:xfrm>
            <a:off x="7653528" y="4791456"/>
            <a:ext cx="1380744" cy="109728"/>
          </a:xfrm>
          <a:prstGeom prst="rect">
            <a:avLst/>
          </a:prstGeom>
          <a:solidFill>
            <a:schemeClr val="accent1"/>
          </a:solidFill>
          <a:ln/>
        </p:spPr>
        <p:txBody>
          <a:bodyPr/>
          <a:lstStyle/>
          <a:p>
            <a:endParaRPr lang="en-US"/>
          </a:p>
        </p:txBody>
      </p:sp>
      <p:sp>
        <p:nvSpPr>
          <p:cNvPr id="41" name="Shape 38"/>
          <p:cNvSpPr/>
          <p:nvPr/>
        </p:nvSpPr>
        <p:spPr>
          <a:xfrm>
            <a:off x="7653528" y="4937760"/>
            <a:ext cx="1380744" cy="109728"/>
          </a:xfrm>
          <a:prstGeom prst="rect">
            <a:avLst/>
          </a:prstGeom>
          <a:solidFill>
            <a:schemeClr val="accent1"/>
          </a:solidFill>
          <a:ln/>
        </p:spPr>
        <p:txBody>
          <a:bodyPr/>
          <a:lstStyle/>
          <a:p>
            <a:endParaRPr lang="en-US"/>
          </a:p>
        </p:txBody>
      </p:sp>
      <p:sp>
        <p:nvSpPr>
          <p:cNvPr id="42" name="Shape 39"/>
          <p:cNvSpPr/>
          <p:nvPr/>
        </p:nvSpPr>
        <p:spPr>
          <a:xfrm>
            <a:off x="7653528" y="5084064"/>
            <a:ext cx="1380744" cy="109728"/>
          </a:xfrm>
          <a:prstGeom prst="rect">
            <a:avLst/>
          </a:prstGeom>
          <a:solidFill>
            <a:schemeClr val="accent1"/>
          </a:solidFill>
          <a:ln/>
        </p:spPr>
        <p:txBody>
          <a:bodyPr/>
          <a:lstStyle/>
          <a:p>
            <a:endParaRPr lang="en-US"/>
          </a:p>
        </p:txBody>
      </p:sp>
      <p:sp>
        <p:nvSpPr>
          <p:cNvPr id="43" name="Shape 40"/>
          <p:cNvSpPr/>
          <p:nvPr/>
        </p:nvSpPr>
        <p:spPr>
          <a:xfrm>
            <a:off x="7653528" y="5230368"/>
            <a:ext cx="1380744" cy="109728"/>
          </a:xfrm>
          <a:prstGeom prst="rect">
            <a:avLst/>
          </a:prstGeom>
          <a:solidFill>
            <a:schemeClr val="accent1"/>
          </a:solidFill>
          <a:ln/>
        </p:spPr>
        <p:txBody>
          <a:bodyPr/>
          <a:lstStyle/>
          <a:p>
            <a:endParaRPr lang="en-US"/>
          </a:p>
        </p:txBody>
      </p:sp>
      <p:sp>
        <p:nvSpPr>
          <p:cNvPr id="44" name="Shape 41"/>
          <p:cNvSpPr/>
          <p:nvPr/>
        </p:nvSpPr>
        <p:spPr>
          <a:xfrm>
            <a:off x="7653528" y="5376672"/>
            <a:ext cx="1380744" cy="109728"/>
          </a:xfrm>
          <a:prstGeom prst="rect">
            <a:avLst/>
          </a:prstGeom>
          <a:solidFill>
            <a:schemeClr val="accent1"/>
          </a:solidFill>
          <a:ln/>
        </p:spPr>
        <p:txBody>
          <a:bodyPr/>
          <a:lstStyle/>
          <a:p>
            <a:endParaRPr lang="en-US"/>
          </a:p>
        </p:txBody>
      </p:sp>
      <p:sp>
        <p:nvSpPr>
          <p:cNvPr id="45" name="Shape 42"/>
          <p:cNvSpPr/>
          <p:nvPr/>
        </p:nvSpPr>
        <p:spPr>
          <a:xfrm>
            <a:off x="7653528" y="5522976"/>
            <a:ext cx="1380744" cy="109728"/>
          </a:xfrm>
          <a:prstGeom prst="rect">
            <a:avLst/>
          </a:prstGeom>
          <a:solidFill>
            <a:schemeClr val="accent1"/>
          </a:solidFill>
          <a:ln/>
        </p:spPr>
        <p:txBody>
          <a:bodyPr/>
          <a:lstStyle/>
          <a:p>
            <a:endParaRPr lang="en-US"/>
          </a:p>
        </p:txBody>
      </p:sp>
      <p:sp>
        <p:nvSpPr>
          <p:cNvPr id="46" name="Text 43"/>
          <p:cNvSpPr txBox="1"/>
          <p:nvPr/>
        </p:nvSpPr>
        <p:spPr>
          <a:xfrm>
            <a:off x="7543800" y="5852160"/>
            <a:ext cx="1828800" cy="457200"/>
          </a:xfrm>
          <a:prstGeom prst="rect">
            <a:avLst/>
          </a:prstGeom>
          <a:noFill/>
          <a:ln/>
        </p:spPr>
        <p:txBody>
          <a:bodyPr wrap="square" lIns="0" tIns="0" rIns="0" bIns="0" rtlCol="0" anchor="t"/>
          <a:lstStyle/>
          <a:p>
            <a:pPr marL="0" indent="0">
              <a:buNone/>
            </a:pPr>
            <a:r>
              <a:rPr lang="en-US" sz="1000" dirty="0">
                <a:solidFill>
                  <a:schemeClr val="accent1"/>
                </a:solidFill>
              </a:rPr>
              <a:t>■ </a:t>
            </a:r>
            <a:r>
              <a:rPr lang="en-US" sz="1000" dirty="0">
                <a:solidFill>
                  <a:schemeClr val="tx2"/>
                </a:solidFill>
              </a:rPr>
              <a:t>compute tray</a:t>
            </a:r>
            <a:endParaRPr lang="en-US" sz="1000" dirty="0"/>
          </a:p>
          <a:p>
            <a:pPr marL="0" indent="0">
              <a:buNone/>
            </a:pPr>
            <a:r>
              <a:rPr lang="en-US" sz="1000" dirty="0">
                <a:solidFill>
                  <a:schemeClr val="accent4"/>
                </a:solidFill>
              </a:rPr>
              <a:t>■ </a:t>
            </a:r>
            <a:r>
              <a:rPr lang="en-US" sz="1000" dirty="0">
                <a:solidFill>
                  <a:schemeClr val="tx2"/>
                </a:solidFill>
              </a:rPr>
              <a:t>NVLink switch tray</a:t>
            </a:r>
            <a:endParaRPr lang="en-US" sz="1000" dirty="0"/>
          </a:p>
        </p:txBody>
      </p:sp>
      <p:sp>
        <p:nvSpPr>
          <p:cNvPr id="47" name="Text 44"/>
          <p:cNvSpPr txBox="1"/>
          <p:nvPr/>
        </p:nvSpPr>
        <p:spPr>
          <a:xfrm>
            <a:off x="9418320" y="1600200"/>
            <a:ext cx="2194560" cy="594360"/>
          </a:xfrm>
          <a:prstGeom prst="rect">
            <a:avLst/>
          </a:prstGeom>
          <a:noFill/>
          <a:ln/>
        </p:spPr>
        <p:txBody>
          <a:bodyPr wrap="square" lIns="0" tIns="0" rIns="0" bIns="0" rtlCol="0" anchor="t"/>
          <a:lstStyle/>
          <a:p>
            <a:pPr marL="0" indent="0">
              <a:buNone/>
            </a:pPr>
            <a:r>
              <a:rPr lang="en-US" sz="3200" b="1" dirty="0">
                <a:solidFill>
                  <a:schemeClr val="accent2"/>
                </a:solidFill>
                <a:latin typeface="Arial" pitchFamily="34" charset="0"/>
                <a:ea typeface="Arial" pitchFamily="34" charset="-122"/>
                <a:cs typeface="Arial" pitchFamily="34" charset="-120"/>
              </a:rPr>
              <a:t>72</a:t>
            </a:r>
            <a:endParaRPr lang="en-US" sz="3200" dirty="0"/>
          </a:p>
        </p:txBody>
      </p:sp>
      <p:sp>
        <p:nvSpPr>
          <p:cNvPr id="48" name="Text 45"/>
          <p:cNvSpPr txBox="1"/>
          <p:nvPr/>
        </p:nvSpPr>
        <p:spPr>
          <a:xfrm>
            <a:off x="9418320" y="2221992"/>
            <a:ext cx="2194560" cy="502920"/>
          </a:xfrm>
          <a:prstGeom prst="rect">
            <a:avLst/>
          </a:prstGeom>
          <a:noFill/>
          <a:ln/>
        </p:spPr>
        <p:txBody>
          <a:bodyPr wrap="square" lIns="0" tIns="0" rIns="0" bIns="0" rtlCol="0" anchor="t"/>
          <a:lstStyle/>
          <a:p>
            <a:pPr marL="0" indent="0">
              <a:buNone/>
            </a:pPr>
            <a:r>
              <a:rPr lang="en-US" sz="1300" dirty="0">
                <a:solidFill>
                  <a:schemeClr val="tx2"/>
                </a:solidFill>
              </a:rPr>
              <a:t>Blackwell GPUs + 36 Grace CPUs</a:t>
            </a:r>
            <a:endParaRPr lang="en-US" sz="1300" dirty="0"/>
          </a:p>
        </p:txBody>
      </p:sp>
      <p:sp>
        <p:nvSpPr>
          <p:cNvPr id="49" name="Text 46"/>
          <p:cNvSpPr txBox="1"/>
          <p:nvPr/>
        </p:nvSpPr>
        <p:spPr>
          <a:xfrm>
            <a:off x="9418320" y="2743200"/>
            <a:ext cx="2194560" cy="594360"/>
          </a:xfrm>
          <a:prstGeom prst="rect">
            <a:avLst/>
          </a:prstGeom>
          <a:noFill/>
          <a:ln/>
        </p:spPr>
        <p:txBody>
          <a:bodyPr wrap="square" lIns="0" tIns="0" rIns="0" bIns="0" rtlCol="0" anchor="t"/>
          <a:lstStyle/>
          <a:p>
            <a:pPr marL="0" indent="0">
              <a:buNone/>
            </a:pPr>
            <a:r>
              <a:rPr lang="en-US" sz="2800" b="1" dirty="0">
                <a:solidFill>
                  <a:schemeClr val="accent2"/>
                </a:solidFill>
                <a:latin typeface="Arial" pitchFamily="34" charset="0"/>
                <a:ea typeface="Arial" pitchFamily="34" charset="-122"/>
                <a:cs typeface="Arial" pitchFamily="34" charset="-120"/>
              </a:rPr>
              <a:t>130 TB/s</a:t>
            </a:r>
            <a:endParaRPr lang="en-US" sz="2800" dirty="0"/>
          </a:p>
        </p:txBody>
      </p:sp>
      <p:sp>
        <p:nvSpPr>
          <p:cNvPr id="50" name="Text 47"/>
          <p:cNvSpPr txBox="1"/>
          <p:nvPr/>
        </p:nvSpPr>
        <p:spPr>
          <a:xfrm>
            <a:off x="9418320" y="3364992"/>
            <a:ext cx="2194560" cy="502920"/>
          </a:xfrm>
          <a:prstGeom prst="rect">
            <a:avLst/>
          </a:prstGeom>
          <a:noFill/>
          <a:ln/>
        </p:spPr>
        <p:txBody>
          <a:bodyPr wrap="square" lIns="0" tIns="0" rIns="0" bIns="0" rtlCol="0" anchor="t"/>
          <a:lstStyle/>
          <a:p>
            <a:pPr marL="0" indent="0">
              <a:buNone/>
            </a:pPr>
            <a:r>
              <a:rPr lang="en-US" sz="1300" dirty="0">
                <a:solidFill>
                  <a:schemeClr val="tx2"/>
                </a:solidFill>
              </a:rPr>
              <a:t>total NVLink bandwidth</a:t>
            </a:r>
            <a:endParaRPr lang="en-US" sz="1300" dirty="0"/>
          </a:p>
        </p:txBody>
      </p:sp>
      <p:sp>
        <p:nvSpPr>
          <p:cNvPr id="51" name="Text 48"/>
          <p:cNvSpPr txBox="1"/>
          <p:nvPr/>
        </p:nvSpPr>
        <p:spPr>
          <a:xfrm>
            <a:off x="9418320" y="3886200"/>
            <a:ext cx="2194560" cy="594360"/>
          </a:xfrm>
          <a:prstGeom prst="rect">
            <a:avLst/>
          </a:prstGeom>
          <a:noFill/>
          <a:ln/>
        </p:spPr>
        <p:txBody>
          <a:bodyPr wrap="square" lIns="0" tIns="0" rIns="0" bIns="0" rtlCol="0" anchor="t"/>
          <a:lstStyle/>
          <a:p>
            <a:pPr marL="0" indent="0">
              <a:buNone/>
            </a:pPr>
            <a:r>
              <a:rPr lang="en-US" sz="2800" b="1" dirty="0">
                <a:solidFill>
                  <a:schemeClr val="accent2"/>
                </a:solidFill>
                <a:latin typeface="Arial" pitchFamily="34" charset="0"/>
                <a:ea typeface="Arial" pitchFamily="34" charset="-122"/>
                <a:cs typeface="Arial" pitchFamily="34" charset="-120"/>
              </a:rPr>
              <a:t>~13.4 TB</a:t>
            </a:r>
            <a:endParaRPr lang="en-US" sz="2800" dirty="0"/>
          </a:p>
        </p:txBody>
      </p:sp>
      <p:sp>
        <p:nvSpPr>
          <p:cNvPr id="52" name="Text 49"/>
          <p:cNvSpPr txBox="1"/>
          <p:nvPr/>
        </p:nvSpPr>
        <p:spPr>
          <a:xfrm>
            <a:off x="9418320" y="4507992"/>
            <a:ext cx="2194560" cy="502920"/>
          </a:xfrm>
          <a:prstGeom prst="rect">
            <a:avLst/>
          </a:prstGeom>
          <a:noFill/>
          <a:ln/>
        </p:spPr>
        <p:txBody>
          <a:bodyPr wrap="square" lIns="0" tIns="0" rIns="0" bIns="0" rtlCol="0" anchor="t"/>
          <a:lstStyle/>
          <a:p>
            <a:pPr marL="0" indent="0">
              <a:buNone/>
            </a:pPr>
            <a:r>
              <a:rPr lang="en-US" sz="1300" dirty="0">
                <a:solidFill>
                  <a:schemeClr val="tx2"/>
                </a:solidFill>
              </a:rPr>
              <a:t>HBM3e in one rack (GB200)</a:t>
            </a:r>
            <a:endParaRPr lang="en-US" sz="1300" dirty="0"/>
          </a:p>
        </p:txBody>
      </p:sp>
      <p:sp>
        <p:nvSpPr>
          <p:cNvPr id="53" name="Text 50"/>
          <p:cNvSpPr txBox="1"/>
          <p:nvPr/>
        </p:nvSpPr>
        <p:spPr>
          <a:xfrm>
            <a:off x="9418320" y="5029200"/>
            <a:ext cx="2194560" cy="594360"/>
          </a:xfrm>
          <a:prstGeom prst="rect">
            <a:avLst/>
          </a:prstGeom>
          <a:noFill/>
          <a:ln/>
        </p:spPr>
        <p:txBody>
          <a:bodyPr wrap="square" lIns="0" tIns="0" rIns="0" bIns="0" rtlCol="0" anchor="t"/>
          <a:lstStyle/>
          <a:p>
            <a:pPr marL="0" indent="0">
              <a:buNone/>
            </a:pPr>
            <a:r>
              <a:rPr lang="en-US" sz="2800" b="1" dirty="0">
                <a:solidFill>
                  <a:schemeClr val="accent2"/>
                </a:solidFill>
                <a:latin typeface="Arial" pitchFamily="34" charset="0"/>
                <a:ea typeface="Arial" pitchFamily="34" charset="-122"/>
                <a:cs typeface="Arial" pitchFamily="34" charset="-120"/>
              </a:rPr>
              <a:t>~120 kW</a:t>
            </a:r>
            <a:endParaRPr lang="en-US" sz="2800" dirty="0"/>
          </a:p>
        </p:txBody>
      </p:sp>
      <p:sp>
        <p:nvSpPr>
          <p:cNvPr id="54" name="Text 51"/>
          <p:cNvSpPr txBox="1"/>
          <p:nvPr/>
        </p:nvSpPr>
        <p:spPr>
          <a:xfrm>
            <a:off x="9418320" y="5650992"/>
            <a:ext cx="2194560" cy="502920"/>
          </a:xfrm>
          <a:prstGeom prst="rect">
            <a:avLst/>
          </a:prstGeom>
          <a:noFill/>
          <a:ln/>
        </p:spPr>
        <p:txBody>
          <a:bodyPr wrap="square" lIns="0" tIns="0" rIns="0" bIns="0" rtlCol="0" anchor="t"/>
          <a:lstStyle/>
          <a:p>
            <a:pPr marL="0" indent="0">
              <a:buNone/>
            </a:pPr>
            <a:r>
              <a:rPr lang="en-US" sz="1300" dirty="0">
                <a:solidFill>
                  <a:schemeClr val="tx2"/>
                </a:solidFill>
              </a:rPr>
              <a:t>per rack, liquid-cooled</a:t>
            </a:r>
            <a:endParaRPr lang="en-US" sz="1300" dirty="0"/>
          </a:p>
        </p:txBody>
      </p:sp>
      <p:sp>
        <p:nvSpPr>
          <p:cNvPr id="5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Data center vs workstation vs consumer GPUs</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Why you should not build a production AI cluster from gaming cards</a:t>
            </a:r>
            <a:endParaRPr lang="en-US" sz="1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7680960" cy="4279392"/>
        </p:xfrm>
        <a:graphic>
          <a:graphicData uri="http://schemas.openxmlformats.org/drawingml/2006/table">
            <a:tbl>
              <a:tblPr/>
              <a:tblGrid>
                <a:gridCol w="301752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475488">
                <a:tc>
                  <a:txBody>
                    <a:bodyPr/>
                    <a:lstStyle/>
                    <a:p>
                      <a:pPr marL="0" indent="0">
                        <a:buNone/>
                      </a:pPr>
                      <a:r>
                        <a:rPr lang="en-US" sz="1300" b="1" dirty="0">
                          <a:solidFill>
                            <a:schemeClr val="bg1"/>
                          </a:solidFill>
                        </a:rPr>
                        <a:t>Capability</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tx1"/>
                    </a:solidFill>
                  </a:tcPr>
                </a:tc>
                <a:tc>
                  <a:txBody>
                    <a:bodyPr/>
                    <a:lstStyle/>
                    <a:p>
                      <a:pPr marL="0" indent="0">
                        <a:buNone/>
                      </a:pPr>
                      <a:r>
                        <a:rPr lang="en-US" sz="1300" b="1" dirty="0">
                          <a:solidFill>
                            <a:schemeClr val="bg1"/>
                          </a:solidFill>
                        </a:rPr>
                        <a:t>Data center (H100, L40S...)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tx1"/>
                    </a:solidFill>
                  </a:tcPr>
                </a:tc>
                <a:tc>
                  <a:txBody>
                    <a:bodyPr/>
                    <a:lstStyle/>
                    <a:p>
                      <a:pPr marL="0" indent="0">
                        <a:buNone/>
                      </a:pPr>
                      <a:r>
                        <a:rPr lang="en-US" sz="1300" b="1" dirty="0">
                          <a:solidFill>
                            <a:schemeClr val="bg1"/>
                          </a:solidFill>
                        </a:rPr>
                        <a:t>Workstation (RTX PRO)</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tx1"/>
                    </a:solidFill>
                  </a:tcPr>
                </a:tc>
                <a:tc>
                  <a:txBody>
                    <a:bodyPr/>
                    <a:lstStyle/>
                    <a:p>
                      <a:pPr marL="0" indent="0">
                        <a:buNone/>
                      </a:pPr>
                      <a:r>
                        <a:rPr lang="en-US" sz="1300" b="1" dirty="0">
                          <a:solidFill>
                            <a:schemeClr val="bg1"/>
                          </a:solidFill>
                        </a:rPr>
                        <a:t>Consumer (GeForce RTX)</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75488">
                <a:tc>
                  <a:txBody>
                    <a:bodyPr/>
                    <a:lstStyle/>
                    <a:p>
                      <a:pPr marL="0" indent="0">
                        <a:buNone/>
                      </a:pPr>
                      <a:r>
                        <a:rPr lang="en-US" sz="1300" b="1" dirty="0">
                          <a:solidFill>
                            <a:schemeClr val="tx1"/>
                          </a:solidFill>
                        </a:rPr>
                        <a:t>ECC memory</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 (mostly not)</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75488">
                <a:tc>
                  <a:txBody>
                    <a:bodyPr/>
                    <a:lstStyle/>
                    <a:p>
                      <a:pPr marL="0" indent="0">
                        <a:buNone/>
                      </a:pPr>
                      <a:r>
                        <a:rPr lang="en-US" sz="1300" b="1" dirty="0">
                          <a:solidFill>
                            <a:schemeClr val="tx1"/>
                          </a:solidFill>
                        </a:rPr>
                        <a:t>Designed for 24/7 server airflow (passive)</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Mostly active, desktop</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75488">
                <a:tc>
                  <a:txBody>
                    <a:bodyPr/>
                    <a:lstStyle/>
                    <a:p>
                      <a:pPr marL="0" indent="0">
                        <a:buNone/>
                      </a:pPr>
                      <a:r>
                        <a:rPr lang="en-US" sz="1300" b="1" dirty="0">
                          <a:solidFill>
                            <a:schemeClr val="tx1"/>
                          </a:solidFill>
                        </a:rPr>
                        <a:t>NVLink / NVSwitch</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 (top SKUs)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Limited</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75488">
                <a:tc>
                  <a:txBody>
                    <a:bodyPr/>
                    <a:lstStyle/>
                    <a:p>
                      <a:pPr marL="0" indent="0">
                        <a:buNone/>
                      </a:pPr>
                      <a:r>
                        <a:rPr lang="en-US" sz="1300" b="1" dirty="0">
                          <a:solidFill>
                            <a:schemeClr val="tx1"/>
                          </a:solidFill>
                        </a:rPr>
                        <a:t>MIG partitioning</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 (A100, H100, B200...)</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 (RTX PRO Blackwell)</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75488">
                <a:tc>
                  <a:txBody>
                    <a:bodyPr/>
                    <a:lstStyle/>
                    <a:p>
                      <a:pPr marL="0" indent="0">
                        <a:buNone/>
                      </a:pPr>
                      <a:r>
                        <a:rPr lang="en-US" sz="1300" b="1" dirty="0">
                          <a:solidFill>
                            <a:schemeClr val="tx1"/>
                          </a:solidFill>
                        </a:rPr>
                        <a:t>vGPU / virtualization support</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475488">
                <a:tc>
                  <a:txBody>
                    <a:bodyPr/>
                    <a:lstStyle/>
                    <a:p>
                      <a:pPr marL="0" indent="0">
                        <a:buNone/>
                      </a:pPr>
                      <a:r>
                        <a:rPr lang="en-US" sz="1300" b="1" dirty="0">
                          <a:solidFill>
                            <a:schemeClr val="tx1"/>
                          </a:solidFill>
                        </a:rPr>
                        <a:t>Data center deployment allowed by driver EULA</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Desktop focus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75488">
                <a:tc>
                  <a:txBody>
                    <a:bodyPr/>
                    <a:lstStyle/>
                    <a:p>
                      <a:pPr marL="0" indent="0">
                        <a:buNone/>
                      </a:pPr>
                      <a:r>
                        <a:rPr lang="en-US" sz="1300" b="1" dirty="0">
                          <a:solidFill>
                            <a:schemeClr val="tx1"/>
                          </a:solidFill>
                        </a:rPr>
                        <a:t>Enterprise support and long life cycle</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extLst>
                  <a:ext uri="{0D108BD9-81ED-4DB2-BD59-A6C34878D82A}">
                    <a16:rowId xmlns:a16="http://schemas.microsoft.com/office/drawing/2014/main" val="10007"/>
                  </a:ext>
                </a:extLst>
              </a:tr>
              <a:tr h="475488">
                <a:tc>
                  <a:txBody>
                    <a:bodyPr/>
                    <a:lstStyle/>
                    <a:p>
                      <a:pPr marL="0" indent="0">
                        <a:buNone/>
                      </a:pPr>
                      <a:r>
                        <a:rPr lang="en-US" sz="1300" b="1" dirty="0">
                          <a:solidFill>
                            <a:schemeClr val="tx1"/>
                          </a:solidFill>
                        </a:rPr>
                        <a:t>Price per GB of GPU memory</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Highest</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Medium</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Lowest</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
        <p:nvSpPr>
          <p:cNvPr id="5" name="card"/>
          <p:cNvSpPr/>
          <p:nvPr/>
        </p:nvSpPr>
        <p:spPr>
          <a:xfrm>
            <a:off x="8503920" y="1554480"/>
            <a:ext cx="3108960" cy="4617720"/>
          </a:xfrm>
          <a:prstGeom prst="roundRect">
            <a:avLst>
              <a:gd name="adj" fmla="val 2353"/>
            </a:avLst>
          </a:prstGeom>
          <a:solidFill>
            <a:schemeClr val="bg2"/>
          </a:solidFill>
          <a:ln/>
        </p:spPr>
        <p:txBody>
          <a:bodyPr/>
          <a:lstStyle/>
          <a:p>
            <a:endParaRPr lang="en-US"/>
          </a:p>
        </p:txBody>
      </p:sp>
      <p:sp>
        <p:nvSpPr>
          <p:cNvPr id="6" name="Shape 3"/>
          <p:cNvSpPr/>
          <p:nvPr/>
        </p:nvSpPr>
        <p:spPr>
          <a:xfrm>
            <a:off x="8705088" y="1755648"/>
            <a:ext cx="548640" cy="548640"/>
          </a:xfrm>
          <a:prstGeom prst="ellipse">
            <a:avLst/>
          </a:prstGeom>
          <a:solidFill>
            <a:schemeClr val="accent1"/>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8825789" y="1876349"/>
            <a:ext cx="307238" cy="307238"/>
          </a:xfrm>
          <a:prstGeom prst="rect">
            <a:avLst/>
          </a:prstGeom>
        </p:spPr>
      </p:pic>
      <p:sp>
        <p:nvSpPr>
          <p:cNvPr id="8" name="Text 4"/>
          <p:cNvSpPr txBox="1"/>
          <p:nvPr/>
        </p:nvSpPr>
        <p:spPr>
          <a:xfrm>
            <a:off x="9372600" y="1755648"/>
            <a:ext cx="2057400" cy="548640"/>
          </a:xfrm>
          <a:prstGeom prst="rect">
            <a:avLst/>
          </a:prstGeom>
          <a:noFill/>
          <a:ln/>
        </p:spPr>
        <p:txBody>
          <a:bodyPr wrap="square" lIns="0" tIns="0" rIns="0" bIns="0" rtlCol="0" anchor="ctr"/>
          <a:lstStyle/>
          <a:p>
            <a:pPr marL="0" indent="0">
              <a:buNone/>
            </a:pPr>
            <a:r>
              <a:rPr lang="en-US" sz="1700" b="1" dirty="0">
                <a:solidFill>
                  <a:schemeClr val="tx1"/>
                </a:solidFill>
              </a:rPr>
              <a:t>Rule of thumb</a:t>
            </a:r>
            <a:endParaRPr lang="en-US" sz="1700" dirty="0"/>
          </a:p>
        </p:txBody>
      </p:sp>
      <p:sp>
        <p:nvSpPr>
          <p:cNvPr id="9" name="Text 5"/>
          <p:cNvSpPr txBox="1"/>
          <p:nvPr/>
        </p:nvSpPr>
        <p:spPr>
          <a:xfrm>
            <a:off x="8705088" y="2450592"/>
            <a:ext cx="2706624" cy="3584448"/>
          </a:xfrm>
          <a:prstGeom prst="rect">
            <a:avLst/>
          </a:prstGeom>
          <a:noFill/>
          <a:ln/>
        </p:spPr>
        <p:txBody>
          <a:bodyPr wrap="square" lIns="0" tIns="0" rIns="0" bIns="0" rtlCol="0" anchor="t"/>
          <a:lstStyle/>
          <a:p>
            <a:pPr marL="342900" indent="-342900">
              <a:spcAft>
                <a:spcPts val="500"/>
              </a:spcAft>
              <a:buSzPct val="100000"/>
              <a:buChar char="•"/>
            </a:pPr>
            <a:r>
              <a:rPr lang="en-US" sz="1400" b="1" dirty="0">
                <a:solidFill>
                  <a:schemeClr val="tx2"/>
                </a:solidFill>
              </a:rPr>
              <a:t>Consumer: </a:t>
            </a:r>
            <a:r>
              <a:rPr lang="en-US" sz="1400" dirty="0">
                <a:solidFill>
                  <a:schemeClr val="tx2"/>
                </a:solidFill>
              </a:rPr>
              <a:t>learning, hobby projects, personal experiments.</a:t>
            </a:r>
            <a:endParaRPr lang="en-US" sz="1400" dirty="0"/>
          </a:p>
          <a:p>
            <a:pPr marL="342900" indent="-342900">
              <a:spcAft>
                <a:spcPts val="500"/>
              </a:spcAft>
              <a:buSzPct val="100000"/>
              <a:buChar char="•"/>
            </a:pPr>
            <a:r>
              <a:rPr lang="en-US" sz="1400" b="1" dirty="0">
                <a:solidFill>
                  <a:schemeClr val="tx2"/>
                </a:solidFill>
              </a:rPr>
              <a:t>Workstation: </a:t>
            </a:r>
            <a:r>
              <a:rPr lang="en-US" sz="1400" dirty="0">
                <a:solidFill>
                  <a:schemeClr val="tx2"/>
                </a:solidFill>
              </a:rPr>
              <a:t>developer desktops, design, local fine-tuning and demos.</a:t>
            </a:r>
            <a:endParaRPr lang="en-US" sz="1400" dirty="0"/>
          </a:p>
          <a:p>
            <a:pPr marL="342900" indent="-342900">
              <a:spcAft>
                <a:spcPts val="500"/>
              </a:spcAft>
              <a:buSzPct val="100000"/>
              <a:buChar char="•"/>
            </a:pPr>
            <a:r>
              <a:rPr lang="en-US" sz="1400" b="1" dirty="0">
                <a:solidFill>
                  <a:schemeClr val="tx2"/>
                </a:solidFill>
              </a:rPr>
              <a:t>Data center: </a:t>
            </a:r>
            <a:r>
              <a:rPr lang="en-US" sz="1400" dirty="0">
                <a:solidFill>
                  <a:schemeClr val="tx2"/>
                </a:solidFill>
              </a:rPr>
              <a:t>anything shared, production, regulated or multi-tenant.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1463040"/>
            <a:ext cx="2743200" cy="1371600"/>
          </a:xfrm>
          <a:prstGeom prst="rect">
            <a:avLst/>
          </a:prstGeom>
          <a:noFill/>
          <a:ln/>
        </p:spPr>
        <p:txBody>
          <a:bodyPr wrap="square" lIns="0" tIns="0" rIns="0" bIns="0" rtlCol="0" anchor="t"/>
          <a:lstStyle/>
          <a:p>
            <a:pPr marL="0" indent="0">
              <a:buNone/>
            </a:pPr>
            <a:r>
              <a:rPr lang="en-US" sz="8800" b="1" dirty="0">
                <a:solidFill>
                  <a:schemeClr val="accent1"/>
                </a:solidFill>
              </a:rPr>
              <a:t>03</a:t>
            </a:r>
            <a:endParaRPr lang="en-US" sz="8800" dirty="0"/>
          </a:p>
        </p:txBody>
      </p:sp>
      <p:sp>
        <p:nvSpPr>
          <p:cNvPr id="3" name="Text 0"/>
          <p:cNvSpPr>
            <a:spLocks noGrp="1"/>
          </p:cNvSpPr>
          <p:nvPr>
            <p:ph type="title" idx="101" hasCustomPrompt="1"/>
          </p:nvPr>
        </p:nvSpPr>
        <p:spPr>
          <a:xfrm>
            <a:off x="640080" y="2743200"/>
            <a:ext cx="7498080" cy="1371600"/>
          </a:xfrm>
          <a:prstGeom prst="rect">
            <a:avLst/>
          </a:prstGeom>
          <a:noFill/>
          <a:ln/>
        </p:spPr>
        <p:txBody>
          <a:bodyPr wrap="square" lIns="0" tIns="0" rIns="0" bIns="0" rtlCol="0" anchor="t"/>
          <a:lstStyle/>
          <a:p>
            <a:pPr marL="0" indent="0" algn="l">
              <a:buNone/>
            </a:pPr>
            <a:r>
              <a:rPr lang="en-US" sz="3600" b="1" dirty="0">
                <a:solidFill>
                  <a:schemeClr val="bg1"/>
                </a:solidFill>
              </a:rPr>
              <a:t>NVIDIA GPU infrastructure for AI workloads</a:t>
            </a:r>
            <a:endParaRPr lang="en-US" sz="3600" dirty="0"/>
          </a:p>
        </p:txBody>
      </p:sp>
      <p:sp>
        <p:nvSpPr>
          <p:cNvPr id="4" name="Text 0"/>
          <p:cNvSpPr>
            <a:spLocks noGrp="1"/>
          </p:cNvSpPr>
          <p:nvPr>
            <p:ph type="body" idx="102" hasCustomPrompt="1"/>
          </p:nvPr>
        </p:nvSpPr>
        <p:spPr>
          <a:xfrm>
            <a:off x="640080" y="4297680"/>
            <a:ext cx="6949440" cy="1280160"/>
          </a:xfrm>
          <a:prstGeom prst="rect">
            <a:avLst/>
          </a:prstGeom>
          <a:noFill/>
          <a:ln/>
        </p:spPr>
        <p:txBody>
          <a:bodyPr wrap="square" lIns="0" tIns="0" rIns="0" bIns="0" rtlCol="0" anchor="t"/>
          <a:lstStyle/>
          <a:p>
            <a:pPr marL="0" indent="0">
              <a:buNone/>
            </a:pPr>
            <a:r>
              <a:rPr lang="en-US" sz="1800" dirty="0">
                <a:solidFill>
                  <a:srgbClr val="C9D3CC"/>
                </a:solidFill>
              </a:rPr>
              <a:t>How GPUs become an AI factory: compute, networking, storage, software, operations and facilities</a:t>
            </a:r>
            <a:endParaRPr lang="en-US" sz="1800" dirty="0"/>
          </a:p>
        </p:txBody>
      </p:sp>
      <p:sp>
        <p:nvSpPr>
          <p:cNvPr id="5" name="Shape 3"/>
          <p:cNvSpPr/>
          <p:nvPr/>
        </p:nvSpPr>
        <p:spPr>
          <a:xfrm>
            <a:off x="8503920" y="1188720"/>
            <a:ext cx="396240" cy="400304"/>
          </a:xfrm>
          <a:prstGeom prst="roundRect">
            <a:avLst>
              <a:gd name="adj" fmla="val 9231"/>
            </a:avLst>
          </a:prstGeom>
          <a:solidFill>
            <a:schemeClr val="accent1"/>
          </a:solidFill>
          <a:ln/>
        </p:spPr>
        <p:txBody>
          <a:bodyPr/>
          <a:lstStyle/>
          <a:p>
            <a:endParaRPr lang="en-US"/>
          </a:p>
        </p:txBody>
      </p:sp>
      <p:sp>
        <p:nvSpPr>
          <p:cNvPr id="6" name="Shape 4"/>
          <p:cNvSpPr/>
          <p:nvPr/>
        </p:nvSpPr>
        <p:spPr>
          <a:xfrm>
            <a:off x="9009888" y="1188720"/>
            <a:ext cx="396240" cy="400304"/>
          </a:xfrm>
          <a:prstGeom prst="roundRect">
            <a:avLst>
              <a:gd name="adj" fmla="val 9231"/>
            </a:avLst>
          </a:prstGeom>
          <a:solidFill>
            <a:schemeClr val="accent1">
              <a:alpha val="20000"/>
            </a:schemeClr>
          </a:solidFill>
          <a:ln/>
        </p:spPr>
        <p:txBody>
          <a:bodyPr/>
          <a:lstStyle/>
          <a:p>
            <a:endParaRPr lang="en-US"/>
          </a:p>
        </p:txBody>
      </p:sp>
      <p:sp>
        <p:nvSpPr>
          <p:cNvPr id="7" name="Shape 5"/>
          <p:cNvSpPr/>
          <p:nvPr/>
        </p:nvSpPr>
        <p:spPr>
          <a:xfrm>
            <a:off x="9515856" y="1188720"/>
            <a:ext cx="396240" cy="400304"/>
          </a:xfrm>
          <a:prstGeom prst="roundRect">
            <a:avLst>
              <a:gd name="adj" fmla="val 9231"/>
            </a:avLst>
          </a:prstGeom>
          <a:solidFill>
            <a:schemeClr val="accent1">
              <a:alpha val="45000"/>
            </a:schemeClr>
          </a:solidFill>
          <a:ln/>
        </p:spPr>
        <p:txBody>
          <a:bodyPr/>
          <a:lstStyle/>
          <a:p>
            <a:endParaRPr lang="en-US"/>
          </a:p>
        </p:txBody>
      </p:sp>
      <p:sp>
        <p:nvSpPr>
          <p:cNvPr id="8" name="Shape 6"/>
          <p:cNvSpPr/>
          <p:nvPr/>
        </p:nvSpPr>
        <p:spPr>
          <a:xfrm>
            <a:off x="10021824" y="1188720"/>
            <a:ext cx="396240" cy="400304"/>
          </a:xfrm>
          <a:prstGeom prst="roundRect">
            <a:avLst>
              <a:gd name="adj" fmla="val 9231"/>
            </a:avLst>
          </a:prstGeom>
          <a:solidFill>
            <a:schemeClr val="accent1">
              <a:alpha val="75000"/>
            </a:schemeClr>
          </a:solidFill>
          <a:ln/>
        </p:spPr>
        <p:txBody>
          <a:bodyPr/>
          <a:lstStyle/>
          <a:p>
            <a:endParaRPr lang="en-US"/>
          </a:p>
        </p:txBody>
      </p:sp>
      <p:sp>
        <p:nvSpPr>
          <p:cNvPr id="9" name="Shape 7"/>
          <p:cNvSpPr/>
          <p:nvPr/>
        </p:nvSpPr>
        <p:spPr>
          <a:xfrm>
            <a:off x="10527792" y="1188720"/>
            <a:ext cx="396240" cy="400304"/>
          </a:xfrm>
          <a:prstGeom prst="roundRect">
            <a:avLst>
              <a:gd name="adj" fmla="val 9231"/>
            </a:avLst>
          </a:prstGeom>
          <a:solidFill>
            <a:schemeClr val="accent1"/>
          </a:solidFill>
          <a:ln/>
        </p:spPr>
        <p:txBody>
          <a:bodyPr/>
          <a:lstStyle/>
          <a:p>
            <a:endParaRPr lang="en-US"/>
          </a:p>
        </p:txBody>
      </p:sp>
      <p:sp>
        <p:nvSpPr>
          <p:cNvPr id="10" name="Shape 8"/>
          <p:cNvSpPr/>
          <p:nvPr/>
        </p:nvSpPr>
        <p:spPr>
          <a:xfrm>
            <a:off x="11033760" y="1188720"/>
            <a:ext cx="396240" cy="400304"/>
          </a:xfrm>
          <a:prstGeom prst="roundRect">
            <a:avLst>
              <a:gd name="adj" fmla="val 9231"/>
            </a:avLst>
          </a:prstGeom>
          <a:solidFill>
            <a:schemeClr val="accent1">
              <a:alpha val="20000"/>
            </a:schemeClr>
          </a:solidFill>
          <a:ln/>
        </p:spPr>
        <p:txBody>
          <a:bodyPr/>
          <a:lstStyle/>
          <a:p>
            <a:endParaRPr lang="en-US"/>
          </a:p>
        </p:txBody>
      </p:sp>
      <p:sp>
        <p:nvSpPr>
          <p:cNvPr id="11" name="Shape 9"/>
          <p:cNvSpPr/>
          <p:nvPr/>
        </p:nvSpPr>
        <p:spPr>
          <a:xfrm>
            <a:off x="8503920" y="1698752"/>
            <a:ext cx="396240" cy="400304"/>
          </a:xfrm>
          <a:prstGeom prst="roundRect">
            <a:avLst>
              <a:gd name="adj" fmla="val 9231"/>
            </a:avLst>
          </a:prstGeom>
          <a:solidFill>
            <a:schemeClr val="accent1">
              <a:alpha val="20000"/>
            </a:schemeClr>
          </a:solidFill>
          <a:ln/>
        </p:spPr>
        <p:txBody>
          <a:bodyPr/>
          <a:lstStyle/>
          <a:p>
            <a:endParaRPr lang="en-US"/>
          </a:p>
        </p:txBody>
      </p:sp>
      <p:sp>
        <p:nvSpPr>
          <p:cNvPr id="12" name="Shape 10"/>
          <p:cNvSpPr/>
          <p:nvPr/>
        </p:nvSpPr>
        <p:spPr>
          <a:xfrm>
            <a:off x="9009888" y="1698752"/>
            <a:ext cx="396240" cy="400304"/>
          </a:xfrm>
          <a:prstGeom prst="roundRect">
            <a:avLst>
              <a:gd name="adj" fmla="val 9231"/>
            </a:avLst>
          </a:prstGeom>
          <a:solidFill>
            <a:schemeClr val="accent1">
              <a:alpha val="20000"/>
            </a:schemeClr>
          </a:solidFill>
          <a:ln/>
        </p:spPr>
        <p:txBody>
          <a:bodyPr/>
          <a:lstStyle/>
          <a:p>
            <a:endParaRPr lang="en-US"/>
          </a:p>
        </p:txBody>
      </p:sp>
      <p:sp>
        <p:nvSpPr>
          <p:cNvPr id="13" name="Shape 11"/>
          <p:cNvSpPr/>
          <p:nvPr/>
        </p:nvSpPr>
        <p:spPr>
          <a:xfrm>
            <a:off x="9515856" y="1698752"/>
            <a:ext cx="396240" cy="400304"/>
          </a:xfrm>
          <a:prstGeom prst="roundRect">
            <a:avLst>
              <a:gd name="adj" fmla="val 9231"/>
            </a:avLst>
          </a:prstGeom>
          <a:solidFill>
            <a:schemeClr val="accent1">
              <a:alpha val="20000"/>
            </a:schemeClr>
          </a:solidFill>
          <a:ln/>
        </p:spPr>
        <p:txBody>
          <a:bodyPr/>
          <a:lstStyle/>
          <a:p>
            <a:endParaRPr lang="en-US"/>
          </a:p>
        </p:txBody>
      </p:sp>
      <p:sp>
        <p:nvSpPr>
          <p:cNvPr id="14" name="Shape 12"/>
          <p:cNvSpPr/>
          <p:nvPr/>
        </p:nvSpPr>
        <p:spPr>
          <a:xfrm>
            <a:off x="10021824" y="1698752"/>
            <a:ext cx="396240" cy="400304"/>
          </a:xfrm>
          <a:prstGeom prst="roundRect">
            <a:avLst>
              <a:gd name="adj" fmla="val 9231"/>
            </a:avLst>
          </a:prstGeom>
          <a:solidFill>
            <a:schemeClr val="accent1">
              <a:alpha val="20000"/>
            </a:schemeClr>
          </a:solidFill>
          <a:ln/>
        </p:spPr>
        <p:txBody>
          <a:bodyPr/>
          <a:lstStyle/>
          <a:p>
            <a:endParaRPr lang="en-US"/>
          </a:p>
        </p:txBody>
      </p:sp>
      <p:sp>
        <p:nvSpPr>
          <p:cNvPr id="15" name="Shape 13"/>
          <p:cNvSpPr/>
          <p:nvPr/>
        </p:nvSpPr>
        <p:spPr>
          <a:xfrm>
            <a:off x="10527792" y="1698752"/>
            <a:ext cx="396240" cy="400304"/>
          </a:xfrm>
          <a:prstGeom prst="roundRect">
            <a:avLst>
              <a:gd name="adj" fmla="val 9231"/>
            </a:avLst>
          </a:prstGeom>
          <a:solidFill>
            <a:schemeClr val="accent1">
              <a:alpha val="20000"/>
            </a:schemeClr>
          </a:solidFill>
          <a:ln/>
        </p:spPr>
        <p:txBody>
          <a:bodyPr/>
          <a:lstStyle/>
          <a:p>
            <a:endParaRPr lang="en-US"/>
          </a:p>
        </p:txBody>
      </p:sp>
      <p:sp>
        <p:nvSpPr>
          <p:cNvPr id="16" name="Shape 14"/>
          <p:cNvSpPr/>
          <p:nvPr/>
        </p:nvSpPr>
        <p:spPr>
          <a:xfrm>
            <a:off x="11033760" y="1698752"/>
            <a:ext cx="396240" cy="400304"/>
          </a:xfrm>
          <a:prstGeom prst="roundRect">
            <a:avLst>
              <a:gd name="adj" fmla="val 9231"/>
            </a:avLst>
          </a:prstGeom>
          <a:solidFill>
            <a:schemeClr val="accent1">
              <a:alpha val="20000"/>
            </a:schemeClr>
          </a:solidFill>
          <a:ln/>
        </p:spPr>
        <p:txBody>
          <a:bodyPr/>
          <a:lstStyle/>
          <a:p>
            <a:endParaRPr lang="en-US"/>
          </a:p>
        </p:txBody>
      </p:sp>
      <p:sp>
        <p:nvSpPr>
          <p:cNvPr id="17" name="Shape 15"/>
          <p:cNvSpPr/>
          <p:nvPr/>
        </p:nvSpPr>
        <p:spPr>
          <a:xfrm>
            <a:off x="8503920" y="2208784"/>
            <a:ext cx="396240" cy="400304"/>
          </a:xfrm>
          <a:prstGeom prst="roundRect">
            <a:avLst>
              <a:gd name="adj" fmla="val 9231"/>
            </a:avLst>
          </a:prstGeom>
          <a:solidFill>
            <a:schemeClr val="accent1">
              <a:alpha val="45000"/>
            </a:schemeClr>
          </a:solidFill>
          <a:ln/>
        </p:spPr>
        <p:txBody>
          <a:bodyPr/>
          <a:lstStyle/>
          <a:p>
            <a:endParaRPr lang="en-US"/>
          </a:p>
        </p:txBody>
      </p:sp>
      <p:sp>
        <p:nvSpPr>
          <p:cNvPr id="18" name="Shape 16"/>
          <p:cNvSpPr/>
          <p:nvPr/>
        </p:nvSpPr>
        <p:spPr>
          <a:xfrm>
            <a:off x="9009888" y="2208784"/>
            <a:ext cx="396240" cy="400304"/>
          </a:xfrm>
          <a:prstGeom prst="roundRect">
            <a:avLst>
              <a:gd name="adj" fmla="val 9231"/>
            </a:avLst>
          </a:prstGeom>
          <a:solidFill>
            <a:schemeClr val="accent1">
              <a:alpha val="20000"/>
            </a:schemeClr>
          </a:solidFill>
          <a:ln/>
        </p:spPr>
        <p:txBody>
          <a:bodyPr/>
          <a:lstStyle/>
          <a:p>
            <a:endParaRPr lang="en-US"/>
          </a:p>
        </p:txBody>
      </p:sp>
      <p:sp>
        <p:nvSpPr>
          <p:cNvPr id="19" name="Shape 17"/>
          <p:cNvSpPr/>
          <p:nvPr/>
        </p:nvSpPr>
        <p:spPr>
          <a:xfrm>
            <a:off x="9515856" y="2208784"/>
            <a:ext cx="396240" cy="400304"/>
          </a:xfrm>
          <a:prstGeom prst="roundRect">
            <a:avLst>
              <a:gd name="adj" fmla="val 9231"/>
            </a:avLst>
          </a:prstGeom>
          <a:solidFill>
            <a:schemeClr val="accent1"/>
          </a:solidFill>
          <a:ln/>
        </p:spPr>
        <p:txBody>
          <a:bodyPr/>
          <a:lstStyle/>
          <a:p>
            <a:endParaRPr lang="en-US"/>
          </a:p>
        </p:txBody>
      </p:sp>
      <p:sp>
        <p:nvSpPr>
          <p:cNvPr id="20" name="Shape 18"/>
          <p:cNvSpPr/>
          <p:nvPr/>
        </p:nvSpPr>
        <p:spPr>
          <a:xfrm>
            <a:off x="10021824" y="2208784"/>
            <a:ext cx="396240" cy="400304"/>
          </a:xfrm>
          <a:prstGeom prst="roundRect">
            <a:avLst>
              <a:gd name="adj" fmla="val 9231"/>
            </a:avLst>
          </a:prstGeom>
          <a:solidFill>
            <a:schemeClr val="accent1">
              <a:alpha val="75000"/>
            </a:schemeClr>
          </a:solidFill>
          <a:ln/>
        </p:spPr>
        <p:txBody>
          <a:bodyPr/>
          <a:lstStyle/>
          <a:p>
            <a:endParaRPr lang="en-US"/>
          </a:p>
        </p:txBody>
      </p:sp>
      <p:sp>
        <p:nvSpPr>
          <p:cNvPr id="21" name="Shape 19"/>
          <p:cNvSpPr/>
          <p:nvPr/>
        </p:nvSpPr>
        <p:spPr>
          <a:xfrm>
            <a:off x="10527792" y="2208784"/>
            <a:ext cx="396240" cy="400304"/>
          </a:xfrm>
          <a:prstGeom prst="roundRect">
            <a:avLst>
              <a:gd name="adj" fmla="val 9231"/>
            </a:avLst>
          </a:prstGeom>
          <a:solidFill>
            <a:schemeClr val="accent1">
              <a:alpha val="45000"/>
            </a:schemeClr>
          </a:solidFill>
          <a:ln/>
        </p:spPr>
        <p:txBody>
          <a:bodyPr/>
          <a:lstStyle/>
          <a:p>
            <a:endParaRPr lang="en-US"/>
          </a:p>
        </p:txBody>
      </p:sp>
      <p:sp>
        <p:nvSpPr>
          <p:cNvPr id="22" name="Shape 20"/>
          <p:cNvSpPr/>
          <p:nvPr/>
        </p:nvSpPr>
        <p:spPr>
          <a:xfrm>
            <a:off x="11033760" y="2208784"/>
            <a:ext cx="396240" cy="400304"/>
          </a:xfrm>
          <a:prstGeom prst="roundRect">
            <a:avLst>
              <a:gd name="adj" fmla="val 9231"/>
            </a:avLst>
          </a:prstGeom>
          <a:solidFill>
            <a:schemeClr val="accent1">
              <a:alpha val="20000"/>
            </a:schemeClr>
          </a:solidFill>
          <a:ln/>
        </p:spPr>
        <p:txBody>
          <a:bodyPr/>
          <a:lstStyle/>
          <a:p>
            <a:endParaRPr lang="en-US"/>
          </a:p>
        </p:txBody>
      </p:sp>
      <p:sp>
        <p:nvSpPr>
          <p:cNvPr id="23" name="Shape 21"/>
          <p:cNvSpPr/>
          <p:nvPr/>
        </p:nvSpPr>
        <p:spPr>
          <a:xfrm>
            <a:off x="8503920" y="2718816"/>
            <a:ext cx="396240" cy="400304"/>
          </a:xfrm>
          <a:prstGeom prst="roundRect">
            <a:avLst>
              <a:gd name="adj" fmla="val 9231"/>
            </a:avLst>
          </a:prstGeom>
          <a:solidFill>
            <a:schemeClr val="accent1">
              <a:alpha val="75000"/>
            </a:schemeClr>
          </a:solidFill>
          <a:ln/>
        </p:spPr>
        <p:txBody>
          <a:bodyPr/>
          <a:lstStyle/>
          <a:p>
            <a:endParaRPr lang="en-US"/>
          </a:p>
        </p:txBody>
      </p:sp>
      <p:sp>
        <p:nvSpPr>
          <p:cNvPr id="24" name="Shape 22"/>
          <p:cNvSpPr/>
          <p:nvPr/>
        </p:nvSpPr>
        <p:spPr>
          <a:xfrm>
            <a:off x="9009888" y="2718816"/>
            <a:ext cx="396240" cy="400304"/>
          </a:xfrm>
          <a:prstGeom prst="roundRect">
            <a:avLst>
              <a:gd name="adj" fmla="val 9231"/>
            </a:avLst>
          </a:prstGeom>
          <a:solidFill>
            <a:schemeClr val="accent1">
              <a:alpha val="20000"/>
            </a:schemeClr>
          </a:solidFill>
          <a:ln/>
        </p:spPr>
        <p:txBody>
          <a:bodyPr/>
          <a:lstStyle/>
          <a:p>
            <a:endParaRPr lang="en-US"/>
          </a:p>
        </p:txBody>
      </p:sp>
      <p:sp>
        <p:nvSpPr>
          <p:cNvPr id="25" name="Shape 23"/>
          <p:cNvSpPr/>
          <p:nvPr/>
        </p:nvSpPr>
        <p:spPr>
          <a:xfrm>
            <a:off x="9515856" y="2718816"/>
            <a:ext cx="396240" cy="400304"/>
          </a:xfrm>
          <a:prstGeom prst="roundRect">
            <a:avLst>
              <a:gd name="adj" fmla="val 9231"/>
            </a:avLst>
          </a:prstGeom>
          <a:solidFill>
            <a:schemeClr val="accent1">
              <a:alpha val="75000"/>
            </a:schemeClr>
          </a:solidFill>
          <a:ln/>
        </p:spPr>
        <p:txBody>
          <a:bodyPr/>
          <a:lstStyle/>
          <a:p>
            <a:endParaRPr lang="en-US"/>
          </a:p>
        </p:txBody>
      </p:sp>
      <p:sp>
        <p:nvSpPr>
          <p:cNvPr id="26" name="Shape 24"/>
          <p:cNvSpPr/>
          <p:nvPr/>
        </p:nvSpPr>
        <p:spPr>
          <a:xfrm>
            <a:off x="10021824" y="2718816"/>
            <a:ext cx="396240" cy="400304"/>
          </a:xfrm>
          <a:prstGeom prst="roundRect">
            <a:avLst>
              <a:gd name="adj" fmla="val 9231"/>
            </a:avLst>
          </a:prstGeom>
          <a:solidFill>
            <a:schemeClr val="accent1">
              <a:alpha val="20000"/>
            </a:schemeClr>
          </a:solidFill>
          <a:ln/>
        </p:spPr>
        <p:txBody>
          <a:bodyPr/>
          <a:lstStyle/>
          <a:p>
            <a:endParaRPr lang="en-US"/>
          </a:p>
        </p:txBody>
      </p:sp>
      <p:sp>
        <p:nvSpPr>
          <p:cNvPr id="27" name="Shape 25"/>
          <p:cNvSpPr/>
          <p:nvPr/>
        </p:nvSpPr>
        <p:spPr>
          <a:xfrm>
            <a:off x="10527792" y="2718816"/>
            <a:ext cx="396240" cy="400304"/>
          </a:xfrm>
          <a:prstGeom prst="roundRect">
            <a:avLst>
              <a:gd name="adj" fmla="val 9231"/>
            </a:avLst>
          </a:prstGeom>
          <a:solidFill>
            <a:schemeClr val="accent1">
              <a:alpha val="75000"/>
            </a:schemeClr>
          </a:solidFill>
          <a:ln/>
        </p:spPr>
        <p:txBody>
          <a:bodyPr/>
          <a:lstStyle/>
          <a:p>
            <a:endParaRPr lang="en-US"/>
          </a:p>
        </p:txBody>
      </p:sp>
      <p:sp>
        <p:nvSpPr>
          <p:cNvPr id="28" name="Shape 26"/>
          <p:cNvSpPr/>
          <p:nvPr/>
        </p:nvSpPr>
        <p:spPr>
          <a:xfrm>
            <a:off x="11033760" y="2718816"/>
            <a:ext cx="396240" cy="400304"/>
          </a:xfrm>
          <a:prstGeom prst="roundRect">
            <a:avLst>
              <a:gd name="adj" fmla="val 9231"/>
            </a:avLst>
          </a:prstGeom>
          <a:solidFill>
            <a:schemeClr val="accent1">
              <a:alpha val="20000"/>
            </a:schemeClr>
          </a:solidFill>
          <a:ln/>
        </p:spPr>
        <p:txBody>
          <a:bodyPr/>
          <a:lstStyle/>
          <a:p>
            <a:endParaRPr lang="en-US"/>
          </a:p>
        </p:txBody>
      </p:sp>
      <p:sp>
        <p:nvSpPr>
          <p:cNvPr id="29" name="Shape 27"/>
          <p:cNvSpPr/>
          <p:nvPr/>
        </p:nvSpPr>
        <p:spPr>
          <a:xfrm>
            <a:off x="8503920" y="3228848"/>
            <a:ext cx="396240" cy="400304"/>
          </a:xfrm>
          <a:prstGeom prst="roundRect">
            <a:avLst>
              <a:gd name="adj" fmla="val 9231"/>
            </a:avLst>
          </a:prstGeom>
          <a:solidFill>
            <a:schemeClr val="accent1"/>
          </a:solidFill>
          <a:ln/>
        </p:spPr>
        <p:txBody>
          <a:bodyPr/>
          <a:lstStyle/>
          <a:p>
            <a:endParaRPr lang="en-US"/>
          </a:p>
        </p:txBody>
      </p:sp>
      <p:sp>
        <p:nvSpPr>
          <p:cNvPr id="30" name="Shape 28"/>
          <p:cNvSpPr/>
          <p:nvPr/>
        </p:nvSpPr>
        <p:spPr>
          <a:xfrm>
            <a:off x="9009888" y="3228848"/>
            <a:ext cx="396240" cy="400304"/>
          </a:xfrm>
          <a:prstGeom prst="roundRect">
            <a:avLst>
              <a:gd name="adj" fmla="val 9231"/>
            </a:avLst>
          </a:prstGeom>
          <a:solidFill>
            <a:schemeClr val="accent1">
              <a:alpha val="20000"/>
            </a:schemeClr>
          </a:solidFill>
          <a:ln/>
        </p:spPr>
        <p:txBody>
          <a:bodyPr/>
          <a:lstStyle/>
          <a:p>
            <a:endParaRPr lang="en-US"/>
          </a:p>
        </p:txBody>
      </p:sp>
      <p:sp>
        <p:nvSpPr>
          <p:cNvPr id="31" name="Shape 29"/>
          <p:cNvSpPr/>
          <p:nvPr/>
        </p:nvSpPr>
        <p:spPr>
          <a:xfrm>
            <a:off x="9515856" y="3228848"/>
            <a:ext cx="396240" cy="400304"/>
          </a:xfrm>
          <a:prstGeom prst="roundRect">
            <a:avLst>
              <a:gd name="adj" fmla="val 9231"/>
            </a:avLst>
          </a:prstGeom>
          <a:solidFill>
            <a:schemeClr val="accent1">
              <a:alpha val="45000"/>
            </a:schemeClr>
          </a:solidFill>
          <a:ln/>
        </p:spPr>
        <p:txBody>
          <a:bodyPr/>
          <a:lstStyle/>
          <a:p>
            <a:endParaRPr lang="en-US"/>
          </a:p>
        </p:txBody>
      </p:sp>
      <p:sp>
        <p:nvSpPr>
          <p:cNvPr id="32" name="Shape 30"/>
          <p:cNvSpPr/>
          <p:nvPr/>
        </p:nvSpPr>
        <p:spPr>
          <a:xfrm>
            <a:off x="10021824" y="3228848"/>
            <a:ext cx="396240" cy="400304"/>
          </a:xfrm>
          <a:prstGeom prst="roundRect">
            <a:avLst>
              <a:gd name="adj" fmla="val 9231"/>
            </a:avLst>
          </a:prstGeom>
          <a:solidFill>
            <a:schemeClr val="accent1">
              <a:alpha val="75000"/>
            </a:schemeClr>
          </a:solidFill>
          <a:ln/>
        </p:spPr>
        <p:txBody>
          <a:bodyPr/>
          <a:lstStyle/>
          <a:p>
            <a:endParaRPr lang="en-US"/>
          </a:p>
        </p:txBody>
      </p:sp>
      <p:sp>
        <p:nvSpPr>
          <p:cNvPr id="33" name="Shape 31"/>
          <p:cNvSpPr/>
          <p:nvPr/>
        </p:nvSpPr>
        <p:spPr>
          <a:xfrm>
            <a:off x="10527792" y="3228848"/>
            <a:ext cx="396240" cy="400304"/>
          </a:xfrm>
          <a:prstGeom prst="roundRect">
            <a:avLst>
              <a:gd name="adj" fmla="val 9231"/>
            </a:avLst>
          </a:prstGeom>
          <a:solidFill>
            <a:schemeClr val="accent1"/>
          </a:solidFill>
          <a:ln/>
        </p:spPr>
        <p:txBody>
          <a:bodyPr/>
          <a:lstStyle/>
          <a:p>
            <a:endParaRPr lang="en-US"/>
          </a:p>
        </p:txBody>
      </p:sp>
      <p:sp>
        <p:nvSpPr>
          <p:cNvPr id="34" name="Shape 32"/>
          <p:cNvSpPr/>
          <p:nvPr/>
        </p:nvSpPr>
        <p:spPr>
          <a:xfrm>
            <a:off x="11033760" y="3228848"/>
            <a:ext cx="396240" cy="400304"/>
          </a:xfrm>
          <a:prstGeom prst="roundRect">
            <a:avLst>
              <a:gd name="adj" fmla="val 9231"/>
            </a:avLst>
          </a:prstGeom>
          <a:solidFill>
            <a:schemeClr val="accent1">
              <a:alpha val="20000"/>
            </a:schemeClr>
          </a:solidFill>
          <a:ln/>
        </p:spPr>
        <p:txBody>
          <a:bodyPr/>
          <a:lstStyle/>
          <a:p>
            <a:endParaRPr lang="en-US"/>
          </a:p>
        </p:txBody>
      </p:sp>
      <p:sp>
        <p:nvSpPr>
          <p:cNvPr id="35" name="Shape 33"/>
          <p:cNvSpPr/>
          <p:nvPr/>
        </p:nvSpPr>
        <p:spPr>
          <a:xfrm>
            <a:off x="8503920" y="3738880"/>
            <a:ext cx="396240" cy="400304"/>
          </a:xfrm>
          <a:prstGeom prst="roundRect">
            <a:avLst>
              <a:gd name="adj" fmla="val 9231"/>
            </a:avLst>
          </a:prstGeom>
          <a:solidFill>
            <a:schemeClr val="accent1">
              <a:alpha val="20000"/>
            </a:schemeClr>
          </a:solidFill>
          <a:ln/>
        </p:spPr>
        <p:txBody>
          <a:bodyPr/>
          <a:lstStyle/>
          <a:p>
            <a:endParaRPr lang="en-US"/>
          </a:p>
        </p:txBody>
      </p:sp>
      <p:sp>
        <p:nvSpPr>
          <p:cNvPr id="36" name="Shape 34"/>
          <p:cNvSpPr/>
          <p:nvPr/>
        </p:nvSpPr>
        <p:spPr>
          <a:xfrm>
            <a:off x="9009888" y="3738880"/>
            <a:ext cx="396240" cy="400304"/>
          </a:xfrm>
          <a:prstGeom prst="roundRect">
            <a:avLst>
              <a:gd name="adj" fmla="val 9231"/>
            </a:avLst>
          </a:prstGeom>
          <a:solidFill>
            <a:schemeClr val="accent1">
              <a:alpha val="20000"/>
            </a:schemeClr>
          </a:solidFill>
          <a:ln/>
        </p:spPr>
        <p:txBody>
          <a:bodyPr/>
          <a:lstStyle/>
          <a:p>
            <a:endParaRPr lang="en-US"/>
          </a:p>
        </p:txBody>
      </p:sp>
      <p:sp>
        <p:nvSpPr>
          <p:cNvPr id="37" name="Shape 35"/>
          <p:cNvSpPr/>
          <p:nvPr/>
        </p:nvSpPr>
        <p:spPr>
          <a:xfrm>
            <a:off x="9515856" y="3738880"/>
            <a:ext cx="396240" cy="400304"/>
          </a:xfrm>
          <a:prstGeom prst="roundRect">
            <a:avLst>
              <a:gd name="adj" fmla="val 9231"/>
            </a:avLst>
          </a:prstGeom>
          <a:solidFill>
            <a:schemeClr val="accent1">
              <a:alpha val="20000"/>
            </a:schemeClr>
          </a:solidFill>
          <a:ln/>
        </p:spPr>
        <p:txBody>
          <a:bodyPr/>
          <a:lstStyle/>
          <a:p>
            <a:endParaRPr lang="en-US"/>
          </a:p>
        </p:txBody>
      </p:sp>
      <p:sp>
        <p:nvSpPr>
          <p:cNvPr id="38" name="Shape 36"/>
          <p:cNvSpPr/>
          <p:nvPr/>
        </p:nvSpPr>
        <p:spPr>
          <a:xfrm>
            <a:off x="10021824" y="3738880"/>
            <a:ext cx="396240" cy="400304"/>
          </a:xfrm>
          <a:prstGeom prst="roundRect">
            <a:avLst>
              <a:gd name="adj" fmla="val 9231"/>
            </a:avLst>
          </a:prstGeom>
          <a:solidFill>
            <a:schemeClr val="accent1">
              <a:alpha val="20000"/>
            </a:schemeClr>
          </a:solidFill>
          <a:ln/>
        </p:spPr>
        <p:txBody>
          <a:bodyPr/>
          <a:lstStyle/>
          <a:p>
            <a:endParaRPr lang="en-US"/>
          </a:p>
        </p:txBody>
      </p:sp>
      <p:sp>
        <p:nvSpPr>
          <p:cNvPr id="39" name="Shape 37"/>
          <p:cNvSpPr/>
          <p:nvPr/>
        </p:nvSpPr>
        <p:spPr>
          <a:xfrm>
            <a:off x="10527792" y="3738880"/>
            <a:ext cx="396240" cy="400304"/>
          </a:xfrm>
          <a:prstGeom prst="roundRect">
            <a:avLst>
              <a:gd name="adj" fmla="val 9231"/>
            </a:avLst>
          </a:prstGeom>
          <a:solidFill>
            <a:schemeClr val="accent1">
              <a:alpha val="20000"/>
            </a:schemeClr>
          </a:solidFill>
          <a:ln/>
        </p:spPr>
        <p:txBody>
          <a:bodyPr/>
          <a:lstStyle/>
          <a:p>
            <a:endParaRPr lang="en-US"/>
          </a:p>
        </p:txBody>
      </p:sp>
      <p:sp>
        <p:nvSpPr>
          <p:cNvPr id="40" name="Shape 38"/>
          <p:cNvSpPr/>
          <p:nvPr/>
        </p:nvSpPr>
        <p:spPr>
          <a:xfrm>
            <a:off x="11033760" y="3738880"/>
            <a:ext cx="396240" cy="400304"/>
          </a:xfrm>
          <a:prstGeom prst="roundRect">
            <a:avLst>
              <a:gd name="adj" fmla="val 9231"/>
            </a:avLst>
          </a:prstGeom>
          <a:solidFill>
            <a:schemeClr val="accent1">
              <a:alpha val="20000"/>
            </a:schemeClr>
          </a:solidFill>
          <a:ln/>
        </p:spPr>
        <p:txBody>
          <a:bodyPr/>
          <a:lstStyle/>
          <a:p>
            <a:endParaRPr lang="en-US"/>
          </a:p>
        </p:txBody>
      </p:sp>
      <p:sp>
        <p:nvSpPr>
          <p:cNvPr id="41" name="Shape 39"/>
          <p:cNvSpPr/>
          <p:nvPr/>
        </p:nvSpPr>
        <p:spPr>
          <a:xfrm>
            <a:off x="8503920" y="4248912"/>
            <a:ext cx="396240" cy="400304"/>
          </a:xfrm>
          <a:prstGeom prst="roundRect">
            <a:avLst>
              <a:gd name="adj" fmla="val 9231"/>
            </a:avLst>
          </a:prstGeom>
          <a:solidFill>
            <a:schemeClr val="accent1">
              <a:alpha val="45000"/>
            </a:schemeClr>
          </a:solidFill>
          <a:ln/>
        </p:spPr>
        <p:txBody>
          <a:bodyPr/>
          <a:lstStyle/>
          <a:p>
            <a:endParaRPr lang="en-US"/>
          </a:p>
        </p:txBody>
      </p:sp>
      <p:sp>
        <p:nvSpPr>
          <p:cNvPr id="42" name="Shape 40"/>
          <p:cNvSpPr/>
          <p:nvPr/>
        </p:nvSpPr>
        <p:spPr>
          <a:xfrm>
            <a:off x="9009888" y="4248912"/>
            <a:ext cx="396240" cy="400304"/>
          </a:xfrm>
          <a:prstGeom prst="roundRect">
            <a:avLst>
              <a:gd name="adj" fmla="val 9231"/>
            </a:avLst>
          </a:prstGeom>
          <a:solidFill>
            <a:schemeClr val="accent1">
              <a:alpha val="20000"/>
            </a:schemeClr>
          </a:solidFill>
          <a:ln/>
        </p:spPr>
        <p:txBody>
          <a:bodyPr/>
          <a:lstStyle/>
          <a:p>
            <a:endParaRPr lang="en-US"/>
          </a:p>
        </p:txBody>
      </p:sp>
      <p:sp>
        <p:nvSpPr>
          <p:cNvPr id="43" name="Shape 41"/>
          <p:cNvSpPr/>
          <p:nvPr/>
        </p:nvSpPr>
        <p:spPr>
          <a:xfrm>
            <a:off x="9515856" y="4248912"/>
            <a:ext cx="396240" cy="400304"/>
          </a:xfrm>
          <a:prstGeom prst="roundRect">
            <a:avLst>
              <a:gd name="adj" fmla="val 9231"/>
            </a:avLst>
          </a:prstGeom>
          <a:solidFill>
            <a:schemeClr val="accent1"/>
          </a:solidFill>
          <a:ln/>
        </p:spPr>
        <p:txBody>
          <a:bodyPr/>
          <a:lstStyle/>
          <a:p>
            <a:endParaRPr lang="en-US"/>
          </a:p>
        </p:txBody>
      </p:sp>
      <p:sp>
        <p:nvSpPr>
          <p:cNvPr id="44" name="Shape 42"/>
          <p:cNvSpPr/>
          <p:nvPr/>
        </p:nvSpPr>
        <p:spPr>
          <a:xfrm>
            <a:off x="10021824" y="4248912"/>
            <a:ext cx="396240" cy="400304"/>
          </a:xfrm>
          <a:prstGeom prst="roundRect">
            <a:avLst>
              <a:gd name="adj" fmla="val 9231"/>
            </a:avLst>
          </a:prstGeom>
          <a:solidFill>
            <a:schemeClr val="accent1">
              <a:alpha val="75000"/>
            </a:schemeClr>
          </a:solidFill>
          <a:ln/>
        </p:spPr>
        <p:txBody>
          <a:bodyPr/>
          <a:lstStyle/>
          <a:p>
            <a:endParaRPr lang="en-US"/>
          </a:p>
        </p:txBody>
      </p:sp>
      <p:sp>
        <p:nvSpPr>
          <p:cNvPr id="45" name="Shape 43"/>
          <p:cNvSpPr/>
          <p:nvPr/>
        </p:nvSpPr>
        <p:spPr>
          <a:xfrm>
            <a:off x="10527792" y="4248912"/>
            <a:ext cx="396240" cy="400304"/>
          </a:xfrm>
          <a:prstGeom prst="roundRect">
            <a:avLst>
              <a:gd name="adj" fmla="val 9231"/>
            </a:avLst>
          </a:prstGeom>
          <a:solidFill>
            <a:schemeClr val="accent1">
              <a:alpha val="45000"/>
            </a:schemeClr>
          </a:solidFill>
          <a:ln/>
        </p:spPr>
        <p:txBody>
          <a:bodyPr/>
          <a:lstStyle/>
          <a:p>
            <a:endParaRPr lang="en-US"/>
          </a:p>
        </p:txBody>
      </p:sp>
      <p:sp>
        <p:nvSpPr>
          <p:cNvPr id="46" name="Shape 44"/>
          <p:cNvSpPr/>
          <p:nvPr/>
        </p:nvSpPr>
        <p:spPr>
          <a:xfrm>
            <a:off x="11033760" y="4248912"/>
            <a:ext cx="396240" cy="400304"/>
          </a:xfrm>
          <a:prstGeom prst="roundRect">
            <a:avLst>
              <a:gd name="adj" fmla="val 9231"/>
            </a:avLst>
          </a:prstGeom>
          <a:solidFill>
            <a:schemeClr val="accent1">
              <a:alpha val="20000"/>
            </a:schemeClr>
          </a:solidFill>
          <a:ln/>
        </p:spPr>
        <p:txBody>
          <a:bodyPr/>
          <a:lstStyle/>
          <a:p>
            <a:endParaRPr lang="en-US"/>
          </a:p>
        </p:txBody>
      </p:sp>
      <p:sp>
        <p:nvSpPr>
          <p:cNvPr id="47" name="Shape 45"/>
          <p:cNvSpPr/>
          <p:nvPr/>
        </p:nvSpPr>
        <p:spPr>
          <a:xfrm>
            <a:off x="8503920" y="4758944"/>
            <a:ext cx="396240" cy="400304"/>
          </a:xfrm>
          <a:prstGeom prst="roundRect">
            <a:avLst>
              <a:gd name="adj" fmla="val 9231"/>
            </a:avLst>
          </a:prstGeom>
          <a:solidFill>
            <a:schemeClr val="accent1">
              <a:alpha val="75000"/>
            </a:schemeClr>
          </a:solidFill>
          <a:ln/>
        </p:spPr>
        <p:txBody>
          <a:bodyPr/>
          <a:lstStyle/>
          <a:p>
            <a:endParaRPr lang="en-US"/>
          </a:p>
        </p:txBody>
      </p:sp>
      <p:sp>
        <p:nvSpPr>
          <p:cNvPr id="48" name="Shape 46"/>
          <p:cNvSpPr/>
          <p:nvPr/>
        </p:nvSpPr>
        <p:spPr>
          <a:xfrm>
            <a:off x="9009888" y="4758944"/>
            <a:ext cx="396240" cy="400304"/>
          </a:xfrm>
          <a:prstGeom prst="roundRect">
            <a:avLst>
              <a:gd name="adj" fmla="val 9231"/>
            </a:avLst>
          </a:prstGeom>
          <a:solidFill>
            <a:schemeClr val="accent1">
              <a:alpha val="20000"/>
            </a:schemeClr>
          </a:solidFill>
          <a:ln/>
        </p:spPr>
        <p:txBody>
          <a:bodyPr/>
          <a:lstStyle/>
          <a:p>
            <a:endParaRPr lang="en-US"/>
          </a:p>
        </p:txBody>
      </p:sp>
      <p:sp>
        <p:nvSpPr>
          <p:cNvPr id="49" name="Shape 47"/>
          <p:cNvSpPr/>
          <p:nvPr/>
        </p:nvSpPr>
        <p:spPr>
          <a:xfrm>
            <a:off x="9515856" y="4758944"/>
            <a:ext cx="396240" cy="400304"/>
          </a:xfrm>
          <a:prstGeom prst="roundRect">
            <a:avLst>
              <a:gd name="adj" fmla="val 9231"/>
            </a:avLst>
          </a:prstGeom>
          <a:solidFill>
            <a:schemeClr val="accent1">
              <a:alpha val="75000"/>
            </a:schemeClr>
          </a:solidFill>
          <a:ln/>
        </p:spPr>
        <p:txBody>
          <a:bodyPr/>
          <a:lstStyle/>
          <a:p>
            <a:endParaRPr lang="en-US"/>
          </a:p>
        </p:txBody>
      </p:sp>
      <p:sp>
        <p:nvSpPr>
          <p:cNvPr id="50" name="Shape 48"/>
          <p:cNvSpPr/>
          <p:nvPr/>
        </p:nvSpPr>
        <p:spPr>
          <a:xfrm>
            <a:off x="10021824" y="4758944"/>
            <a:ext cx="396240" cy="400304"/>
          </a:xfrm>
          <a:prstGeom prst="roundRect">
            <a:avLst>
              <a:gd name="adj" fmla="val 9231"/>
            </a:avLst>
          </a:prstGeom>
          <a:solidFill>
            <a:schemeClr val="accent1">
              <a:alpha val="20000"/>
            </a:schemeClr>
          </a:solidFill>
          <a:ln/>
        </p:spPr>
        <p:txBody>
          <a:bodyPr/>
          <a:lstStyle/>
          <a:p>
            <a:endParaRPr lang="en-US"/>
          </a:p>
        </p:txBody>
      </p:sp>
      <p:sp>
        <p:nvSpPr>
          <p:cNvPr id="51" name="Shape 49"/>
          <p:cNvSpPr/>
          <p:nvPr/>
        </p:nvSpPr>
        <p:spPr>
          <a:xfrm>
            <a:off x="10527792" y="4758944"/>
            <a:ext cx="396240" cy="400304"/>
          </a:xfrm>
          <a:prstGeom prst="roundRect">
            <a:avLst>
              <a:gd name="adj" fmla="val 9231"/>
            </a:avLst>
          </a:prstGeom>
          <a:solidFill>
            <a:schemeClr val="accent1">
              <a:alpha val="75000"/>
            </a:schemeClr>
          </a:solidFill>
          <a:ln/>
        </p:spPr>
        <p:txBody>
          <a:bodyPr/>
          <a:lstStyle/>
          <a:p>
            <a:endParaRPr lang="en-US"/>
          </a:p>
        </p:txBody>
      </p:sp>
      <p:sp>
        <p:nvSpPr>
          <p:cNvPr id="52" name="Shape 50"/>
          <p:cNvSpPr/>
          <p:nvPr/>
        </p:nvSpPr>
        <p:spPr>
          <a:xfrm>
            <a:off x="11033760" y="4758944"/>
            <a:ext cx="396240" cy="400304"/>
          </a:xfrm>
          <a:prstGeom prst="roundRect">
            <a:avLst>
              <a:gd name="adj" fmla="val 9231"/>
            </a:avLst>
          </a:prstGeom>
          <a:solidFill>
            <a:schemeClr val="accent1">
              <a:alpha val="20000"/>
            </a:schemeClr>
          </a:solidFill>
          <a:ln/>
        </p:spPr>
        <p:txBody>
          <a:bodyPr/>
          <a:lstStyle/>
          <a:p>
            <a:endParaRPr lang="en-US"/>
          </a:p>
        </p:txBody>
      </p:sp>
      <p:sp>
        <p:nvSpPr>
          <p:cNvPr id="53" name="Shape 51"/>
          <p:cNvSpPr/>
          <p:nvPr/>
        </p:nvSpPr>
        <p:spPr>
          <a:xfrm>
            <a:off x="8503920" y="5268976"/>
            <a:ext cx="396240" cy="400304"/>
          </a:xfrm>
          <a:prstGeom prst="roundRect">
            <a:avLst>
              <a:gd name="adj" fmla="val 9231"/>
            </a:avLst>
          </a:prstGeom>
          <a:solidFill>
            <a:schemeClr val="accent1"/>
          </a:solidFill>
          <a:ln/>
        </p:spPr>
        <p:txBody>
          <a:bodyPr/>
          <a:lstStyle/>
          <a:p>
            <a:endParaRPr lang="en-US"/>
          </a:p>
        </p:txBody>
      </p:sp>
      <p:sp>
        <p:nvSpPr>
          <p:cNvPr id="54" name="Shape 52"/>
          <p:cNvSpPr/>
          <p:nvPr/>
        </p:nvSpPr>
        <p:spPr>
          <a:xfrm>
            <a:off x="9009888" y="5268976"/>
            <a:ext cx="396240" cy="400304"/>
          </a:xfrm>
          <a:prstGeom prst="roundRect">
            <a:avLst>
              <a:gd name="adj" fmla="val 9231"/>
            </a:avLst>
          </a:prstGeom>
          <a:solidFill>
            <a:schemeClr val="accent1">
              <a:alpha val="20000"/>
            </a:schemeClr>
          </a:solidFill>
          <a:ln/>
        </p:spPr>
        <p:txBody>
          <a:bodyPr/>
          <a:lstStyle/>
          <a:p>
            <a:endParaRPr lang="en-US"/>
          </a:p>
        </p:txBody>
      </p:sp>
      <p:sp>
        <p:nvSpPr>
          <p:cNvPr id="55" name="Shape 53"/>
          <p:cNvSpPr/>
          <p:nvPr/>
        </p:nvSpPr>
        <p:spPr>
          <a:xfrm>
            <a:off x="9515856" y="5268976"/>
            <a:ext cx="396240" cy="400304"/>
          </a:xfrm>
          <a:prstGeom prst="roundRect">
            <a:avLst>
              <a:gd name="adj" fmla="val 9231"/>
            </a:avLst>
          </a:prstGeom>
          <a:solidFill>
            <a:schemeClr val="accent1">
              <a:alpha val="45000"/>
            </a:schemeClr>
          </a:solidFill>
          <a:ln/>
        </p:spPr>
        <p:txBody>
          <a:bodyPr/>
          <a:lstStyle/>
          <a:p>
            <a:endParaRPr lang="en-US"/>
          </a:p>
        </p:txBody>
      </p:sp>
      <p:sp>
        <p:nvSpPr>
          <p:cNvPr id="56" name="Shape 54"/>
          <p:cNvSpPr/>
          <p:nvPr/>
        </p:nvSpPr>
        <p:spPr>
          <a:xfrm>
            <a:off x="10021824" y="5268976"/>
            <a:ext cx="396240" cy="400304"/>
          </a:xfrm>
          <a:prstGeom prst="roundRect">
            <a:avLst>
              <a:gd name="adj" fmla="val 9231"/>
            </a:avLst>
          </a:prstGeom>
          <a:solidFill>
            <a:schemeClr val="accent1">
              <a:alpha val="75000"/>
            </a:schemeClr>
          </a:solidFill>
          <a:ln/>
        </p:spPr>
        <p:txBody>
          <a:bodyPr/>
          <a:lstStyle/>
          <a:p>
            <a:endParaRPr lang="en-US"/>
          </a:p>
        </p:txBody>
      </p:sp>
      <p:sp>
        <p:nvSpPr>
          <p:cNvPr id="57" name="Shape 55"/>
          <p:cNvSpPr/>
          <p:nvPr/>
        </p:nvSpPr>
        <p:spPr>
          <a:xfrm>
            <a:off x="10527792" y="5268976"/>
            <a:ext cx="396240" cy="400304"/>
          </a:xfrm>
          <a:prstGeom prst="roundRect">
            <a:avLst>
              <a:gd name="adj" fmla="val 9231"/>
            </a:avLst>
          </a:prstGeom>
          <a:solidFill>
            <a:schemeClr val="accent1"/>
          </a:solidFill>
          <a:ln/>
        </p:spPr>
        <p:txBody>
          <a:bodyPr/>
          <a:lstStyle/>
          <a:p>
            <a:endParaRPr lang="en-US"/>
          </a:p>
        </p:txBody>
      </p:sp>
      <p:sp>
        <p:nvSpPr>
          <p:cNvPr id="58" name="Shape 56"/>
          <p:cNvSpPr/>
          <p:nvPr/>
        </p:nvSpPr>
        <p:spPr>
          <a:xfrm>
            <a:off x="11033760" y="5268976"/>
            <a:ext cx="396240" cy="400304"/>
          </a:xfrm>
          <a:prstGeom prst="roundRect">
            <a:avLst>
              <a:gd name="adj" fmla="val 9231"/>
            </a:avLst>
          </a:prstGeom>
          <a:solidFill>
            <a:schemeClr val="accent1">
              <a:alpha val="20000"/>
            </a:schemeClr>
          </a:solidFill>
          <a:ln/>
        </p:spPr>
        <p:txBody>
          <a:bodyPr/>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The AI factory: layers of a GPU infrastructure</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Every layer must be sized together; the slowest layer limits the whole system</a:t>
            </a:r>
            <a:endParaRPr lang="en-US" sz="1600" dirty="0"/>
          </a:p>
        </p:txBody>
      </p:sp>
      <p:sp>
        <p:nvSpPr>
          <p:cNvPr id="4" name="Shape 2"/>
          <p:cNvSpPr/>
          <p:nvPr/>
        </p:nvSpPr>
        <p:spPr>
          <a:xfrm>
            <a:off x="548640" y="1572768"/>
            <a:ext cx="11064240" cy="585216"/>
          </a:xfrm>
          <a:prstGeom prst="roundRect">
            <a:avLst>
              <a:gd name="adj" fmla="val 7813"/>
            </a:avLst>
          </a:prstGeom>
          <a:solidFill>
            <a:schemeClr val="bg2"/>
          </a:solidFill>
          <a:ln/>
        </p:spPr>
        <p:txBody>
          <a:bodyPr/>
          <a:lstStyle/>
          <a:p>
            <a:endParaRPr lang="en-US"/>
          </a:p>
        </p:txBody>
      </p:sp>
      <p:sp>
        <p:nvSpPr>
          <p:cNvPr id="5" name="Shape 3"/>
          <p:cNvSpPr/>
          <p:nvPr/>
        </p:nvSpPr>
        <p:spPr>
          <a:xfrm>
            <a:off x="658368" y="1636776"/>
            <a:ext cx="457200" cy="457200"/>
          </a:xfrm>
          <a:prstGeom prst="ellipse">
            <a:avLst/>
          </a:prstGeom>
          <a:solidFill>
            <a:schemeClr val="accent1"/>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758952" y="1737360"/>
            <a:ext cx="256032" cy="256032"/>
          </a:xfrm>
          <a:prstGeom prst="rect">
            <a:avLst/>
          </a:prstGeom>
        </p:spPr>
      </p:pic>
      <p:sp>
        <p:nvSpPr>
          <p:cNvPr id="7" name="Text 4"/>
          <p:cNvSpPr txBox="1"/>
          <p:nvPr/>
        </p:nvSpPr>
        <p:spPr>
          <a:xfrm>
            <a:off x="1280160" y="1572768"/>
            <a:ext cx="2834640" cy="585216"/>
          </a:xfrm>
          <a:prstGeom prst="rect">
            <a:avLst/>
          </a:prstGeom>
          <a:noFill/>
          <a:ln/>
        </p:spPr>
        <p:txBody>
          <a:bodyPr wrap="square" lIns="0" tIns="0" rIns="0" bIns="0" rtlCol="0" anchor="ctr"/>
          <a:lstStyle/>
          <a:p>
            <a:pPr marL="0" indent="0">
              <a:buNone/>
            </a:pPr>
            <a:r>
              <a:rPr lang="en-US" sz="1500" b="1" dirty="0">
                <a:solidFill>
                  <a:schemeClr val="tx1"/>
                </a:solidFill>
              </a:rPr>
              <a:t>AI applications</a:t>
            </a:r>
            <a:endParaRPr lang="en-US" sz="1500" dirty="0"/>
          </a:p>
        </p:txBody>
      </p:sp>
      <p:sp>
        <p:nvSpPr>
          <p:cNvPr id="8" name="Text 5"/>
          <p:cNvSpPr txBox="1"/>
          <p:nvPr/>
        </p:nvSpPr>
        <p:spPr>
          <a:xfrm>
            <a:off x="4160520" y="1572768"/>
            <a:ext cx="5486400" cy="585216"/>
          </a:xfrm>
          <a:prstGeom prst="rect">
            <a:avLst/>
          </a:prstGeom>
          <a:noFill/>
          <a:ln/>
        </p:spPr>
        <p:txBody>
          <a:bodyPr wrap="square" lIns="0" tIns="0" rIns="0" bIns="0" rtlCol="0" anchor="ctr"/>
          <a:lstStyle/>
          <a:p>
            <a:pPr marL="0" indent="0">
              <a:buNone/>
            </a:pPr>
            <a:r>
              <a:rPr lang="en-US" sz="1300" dirty="0">
                <a:solidFill>
                  <a:schemeClr val="tx2"/>
                </a:solidFill>
              </a:rPr>
              <a:t>Chatbots, copilots, RAG, agents, vision, recommendation</a:t>
            </a:r>
            <a:endParaRPr lang="en-US" sz="1300" dirty="0"/>
          </a:p>
        </p:txBody>
      </p:sp>
      <p:sp>
        <p:nvSpPr>
          <p:cNvPr id="9" name="Text 6"/>
          <p:cNvSpPr txBox="1"/>
          <p:nvPr/>
        </p:nvSpPr>
        <p:spPr>
          <a:xfrm>
            <a:off x="9692640" y="1572768"/>
            <a:ext cx="1828800" cy="585216"/>
          </a:xfrm>
          <a:prstGeom prst="rect">
            <a:avLst/>
          </a:prstGeom>
          <a:noFill/>
          <a:ln/>
        </p:spPr>
        <p:txBody>
          <a:bodyPr wrap="square" lIns="0" tIns="0" rIns="0" bIns="0" rtlCol="0" anchor="ctr"/>
          <a:lstStyle/>
          <a:p>
            <a:pPr marL="0" indent="0" algn="r">
              <a:buNone/>
            </a:pPr>
            <a:r>
              <a:rPr lang="en-US" sz="1200" b="1" dirty="0">
                <a:solidFill>
                  <a:schemeClr val="accent2"/>
                </a:solidFill>
              </a:rPr>
              <a:t>Product teams</a:t>
            </a:r>
            <a:endParaRPr lang="en-US" sz="1200" dirty="0"/>
          </a:p>
        </p:txBody>
      </p:sp>
      <p:sp>
        <p:nvSpPr>
          <p:cNvPr id="10" name="Shape 7"/>
          <p:cNvSpPr/>
          <p:nvPr/>
        </p:nvSpPr>
        <p:spPr>
          <a:xfrm>
            <a:off x="548640" y="2240280"/>
            <a:ext cx="11064240" cy="585216"/>
          </a:xfrm>
          <a:prstGeom prst="roundRect">
            <a:avLst>
              <a:gd name="adj" fmla="val 7813"/>
            </a:avLst>
          </a:prstGeom>
          <a:solidFill>
            <a:schemeClr val="bg2"/>
          </a:solidFill>
          <a:ln/>
        </p:spPr>
        <p:txBody>
          <a:bodyPr/>
          <a:lstStyle/>
          <a:p>
            <a:endParaRPr lang="en-US"/>
          </a:p>
        </p:txBody>
      </p:sp>
      <p:sp>
        <p:nvSpPr>
          <p:cNvPr id="11" name="Shape 8"/>
          <p:cNvSpPr/>
          <p:nvPr/>
        </p:nvSpPr>
        <p:spPr>
          <a:xfrm>
            <a:off x="658368" y="2304288"/>
            <a:ext cx="457200" cy="457200"/>
          </a:xfrm>
          <a:prstGeom prst="ellipse">
            <a:avLst/>
          </a:prstGeom>
          <a:solidFill>
            <a:schemeClr val="accent1"/>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758952" y="2404872"/>
            <a:ext cx="256032" cy="256032"/>
          </a:xfrm>
          <a:prstGeom prst="rect">
            <a:avLst/>
          </a:prstGeom>
        </p:spPr>
      </p:pic>
      <p:sp>
        <p:nvSpPr>
          <p:cNvPr id="13" name="Text 9"/>
          <p:cNvSpPr txBox="1"/>
          <p:nvPr/>
        </p:nvSpPr>
        <p:spPr>
          <a:xfrm>
            <a:off x="1280160" y="2240280"/>
            <a:ext cx="2834640" cy="585216"/>
          </a:xfrm>
          <a:prstGeom prst="rect">
            <a:avLst/>
          </a:prstGeom>
          <a:noFill/>
          <a:ln/>
        </p:spPr>
        <p:txBody>
          <a:bodyPr wrap="square" lIns="0" tIns="0" rIns="0" bIns="0" rtlCol="0" anchor="ctr"/>
          <a:lstStyle/>
          <a:p>
            <a:pPr marL="0" indent="0">
              <a:buNone/>
            </a:pPr>
            <a:r>
              <a:rPr lang="en-US" sz="1500" b="1" dirty="0">
                <a:solidFill>
                  <a:schemeClr val="tx1"/>
                </a:solidFill>
              </a:rPr>
              <a:t>AI software platform</a:t>
            </a:r>
            <a:endParaRPr lang="en-US" sz="1500" dirty="0"/>
          </a:p>
        </p:txBody>
      </p:sp>
      <p:sp>
        <p:nvSpPr>
          <p:cNvPr id="14" name="Text 10"/>
          <p:cNvSpPr txBox="1"/>
          <p:nvPr/>
        </p:nvSpPr>
        <p:spPr>
          <a:xfrm>
            <a:off x="4160520" y="2240280"/>
            <a:ext cx="5486400" cy="585216"/>
          </a:xfrm>
          <a:prstGeom prst="rect">
            <a:avLst/>
          </a:prstGeom>
          <a:noFill/>
          <a:ln/>
        </p:spPr>
        <p:txBody>
          <a:bodyPr wrap="square" lIns="0" tIns="0" rIns="0" bIns="0" rtlCol="0" anchor="ctr"/>
          <a:lstStyle/>
          <a:p>
            <a:pPr marL="0" indent="0">
              <a:buNone/>
            </a:pPr>
            <a:r>
              <a:rPr lang="en-US" sz="1300" dirty="0">
                <a:solidFill>
                  <a:schemeClr val="tx2"/>
                </a:solidFill>
              </a:rPr>
              <a:t>NVIDIA AI Enterprise: NeMo, NIM, Triton, Dynamo, TensorRT-LLM, RAPIDS</a:t>
            </a:r>
            <a:endParaRPr lang="en-US" sz="1300" dirty="0"/>
          </a:p>
        </p:txBody>
      </p:sp>
      <p:sp>
        <p:nvSpPr>
          <p:cNvPr id="15" name="Text 11"/>
          <p:cNvSpPr txBox="1"/>
          <p:nvPr/>
        </p:nvSpPr>
        <p:spPr>
          <a:xfrm>
            <a:off x="9692640" y="2240280"/>
            <a:ext cx="1828800" cy="585216"/>
          </a:xfrm>
          <a:prstGeom prst="rect">
            <a:avLst/>
          </a:prstGeom>
          <a:noFill/>
          <a:ln/>
        </p:spPr>
        <p:txBody>
          <a:bodyPr wrap="square" lIns="0" tIns="0" rIns="0" bIns="0" rtlCol="0" anchor="ctr"/>
          <a:lstStyle/>
          <a:p>
            <a:pPr marL="0" indent="0" algn="r">
              <a:buNone/>
            </a:pPr>
            <a:r>
              <a:rPr lang="en-US" sz="1200" b="1" dirty="0">
                <a:solidFill>
                  <a:schemeClr val="accent2"/>
                </a:solidFill>
              </a:rPr>
              <a:t>ML platform team</a:t>
            </a:r>
            <a:endParaRPr lang="en-US" sz="1200" dirty="0"/>
          </a:p>
        </p:txBody>
      </p:sp>
      <p:sp>
        <p:nvSpPr>
          <p:cNvPr id="16" name="Shape 12"/>
          <p:cNvSpPr/>
          <p:nvPr/>
        </p:nvSpPr>
        <p:spPr>
          <a:xfrm>
            <a:off x="548640" y="2907792"/>
            <a:ext cx="11064240" cy="585216"/>
          </a:xfrm>
          <a:prstGeom prst="roundRect">
            <a:avLst>
              <a:gd name="adj" fmla="val 7813"/>
            </a:avLst>
          </a:prstGeom>
          <a:solidFill>
            <a:schemeClr val="bg2"/>
          </a:solidFill>
          <a:ln/>
        </p:spPr>
        <p:txBody>
          <a:bodyPr/>
          <a:lstStyle/>
          <a:p>
            <a:endParaRPr lang="en-US"/>
          </a:p>
        </p:txBody>
      </p:sp>
      <p:sp>
        <p:nvSpPr>
          <p:cNvPr id="17" name="Shape 13"/>
          <p:cNvSpPr/>
          <p:nvPr/>
        </p:nvSpPr>
        <p:spPr>
          <a:xfrm>
            <a:off x="658368" y="2971800"/>
            <a:ext cx="457200" cy="457200"/>
          </a:xfrm>
          <a:prstGeom prst="ellipse">
            <a:avLst/>
          </a:prstGeom>
          <a:solidFill>
            <a:schemeClr val="accent1"/>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758952" y="3072384"/>
            <a:ext cx="256032" cy="256032"/>
          </a:xfrm>
          <a:prstGeom prst="rect">
            <a:avLst/>
          </a:prstGeom>
        </p:spPr>
      </p:pic>
      <p:sp>
        <p:nvSpPr>
          <p:cNvPr id="19" name="Text 14"/>
          <p:cNvSpPr txBox="1"/>
          <p:nvPr/>
        </p:nvSpPr>
        <p:spPr>
          <a:xfrm>
            <a:off x="1280160" y="2907792"/>
            <a:ext cx="2834640" cy="585216"/>
          </a:xfrm>
          <a:prstGeom prst="rect">
            <a:avLst/>
          </a:prstGeom>
          <a:noFill/>
          <a:ln/>
        </p:spPr>
        <p:txBody>
          <a:bodyPr wrap="square" lIns="0" tIns="0" rIns="0" bIns="0" rtlCol="0" anchor="ctr"/>
          <a:lstStyle/>
          <a:p>
            <a:pPr marL="0" indent="0">
              <a:buNone/>
            </a:pPr>
            <a:r>
              <a:rPr lang="en-US" sz="1500" b="1" dirty="0">
                <a:solidFill>
                  <a:schemeClr val="tx1"/>
                </a:solidFill>
              </a:rPr>
              <a:t>Orchestration and scheduling</a:t>
            </a:r>
            <a:endParaRPr lang="en-US" sz="1500" dirty="0"/>
          </a:p>
        </p:txBody>
      </p:sp>
      <p:sp>
        <p:nvSpPr>
          <p:cNvPr id="20" name="Text 15"/>
          <p:cNvSpPr txBox="1"/>
          <p:nvPr/>
        </p:nvSpPr>
        <p:spPr>
          <a:xfrm>
            <a:off x="4160520" y="2907792"/>
            <a:ext cx="5486400" cy="585216"/>
          </a:xfrm>
          <a:prstGeom prst="rect">
            <a:avLst/>
          </a:prstGeom>
          <a:noFill/>
          <a:ln/>
        </p:spPr>
        <p:txBody>
          <a:bodyPr wrap="square" lIns="0" tIns="0" rIns="0" bIns="0" rtlCol="0" anchor="ctr"/>
          <a:lstStyle/>
          <a:p>
            <a:pPr marL="0" indent="0">
              <a:buNone/>
            </a:pPr>
            <a:r>
              <a:rPr lang="en-US" sz="1300" dirty="0">
                <a:solidFill>
                  <a:schemeClr val="tx2"/>
                </a:solidFill>
              </a:rPr>
              <a:t>Kubernetes + GPU Operator, Slurm, Run:ai, Base Command Manager</a:t>
            </a:r>
            <a:endParaRPr lang="en-US" sz="1300" dirty="0"/>
          </a:p>
        </p:txBody>
      </p:sp>
      <p:sp>
        <p:nvSpPr>
          <p:cNvPr id="21" name="Text 16"/>
          <p:cNvSpPr txBox="1"/>
          <p:nvPr/>
        </p:nvSpPr>
        <p:spPr>
          <a:xfrm>
            <a:off x="9692640" y="2907792"/>
            <a:ext cx="1828800" cy="585216"/>
          </a:xfrm>
          <a:prstGeom prst="rect">
            <a:avLst/>
          </a:prstGeom>
          <a:noFill/>
          <a:ln/>
        </p:spPr>
        <p:txBody>
          <a:bodyPr wrap="square" lIns="0" tIns="0" rIns="0" bIns="0" rtlCol="0" anchor="ctr"/>
          <a:lstStyle/>
          <a:p>
            <a:pPr marL="0" indent="0" algn="r">
              <a:buNone/>
            </a:pPr>
            <a:r>
              <a:rPr lang="en-US" sz="1200" b="1" dirty="0">
                <a:solidFill>
                  <a:schemeClr val="accent2"/>
                </a:solidFill>
              </a:rPr>
              <a:t>Platform / DevOps</a:t>
            </a:r>
            <a:endParaRPr lang="en-US" sz="1200" dirty="0"/>
          </a:p>
        </p:txBody>
      </p:sp>
      <p:sp>
        <p:nvSpPr>
          <p:cNvPr id="22" name="Shape 17"/>
          <p:cNvSpPr/>
          <p:nvPr/>
        </p:nvSpPr>
        <p:spPr>
          <a:xfrm>
            <a:off x="548640" y="3575304"/>
            <a:ext cx="11064240" cy="585216"/>
          </a:xfrm>
          <a:prstGeom prst="roundRect">
            <a:avLst>
              <a:gd name="adj" fmla="val 7813"/>
            </a:avLst>
          </a:prstGeom>
          <a:solidFill>
            <a:srgbClr val="DCE6DB"/>
          </a:solidFill>
          <a:ln/>
        </p:spPr>
        <p:txBody>
          <a:bodyPr/>
          <a:lstStyle/>
          <a:p>
            <a:endParaRPr lang="en-US"/>
          </a:p>
        </p:txBody>
      </p:sp>
      <p:sp>
        <p:nvSpPr>
          <p:cNvPr id="23" name="Shape 18"/>
          <p:cNvSpPr/>
          <p:nvPr/>
        </p:nvSpPr>
        <p:spPr>
          <a:xfrm>
            <a:off x="658368" y="3639312"/>
            <a:ext cx="457200" cy="457200"/>
          </a:xfrm>
          <a:prstGeom prst="ellipse">
            <a:avLst/>
          </a:prstGeom>
          <a:solidFill>
            <a:schemeClr val="accent1"/>
          </a:solidFill>
          <a:ln/>
        </p:spPr>
        <p:txBody>
          <a:bodyPr/>
          <a:lstStyle/>
          <a:p>
            <a:endParaRPr lang="en-US"/>
          </a:p>
        </p:txBody>
      </p:sp>
      <p:pic>
        <p:nvPicPr>
          <p:cNvPr id="24" name="Image 3" descr="preencoded.png"/>
          <p:cNvPicPr>
            <a:picLocks noChangeAspect="1"/>
          </p:cNvPicPr>
          <p:nvPr/>
        </p:nvPicPr>
        <p:blipFill>
          <a:blip r:embed="rId6"/>
          <a:stretch>
            <a:fillRect/>
          </a:stretch>
        </p:blipFill>
        <p:spPr>
          <a:xfrm>
            <a:off x="758952" y="3739896"/>
            <a:ext cx="256032" cy="256032"/>
          </a:xfrm>
          <a:prstGeom prst="rect">
            <a:avLst/>
          </a:prstGeom>
        </p:spPr>
      </p:pic>
      <p:sp>
        <p:nvSpPr>
          <p:cNvPr id="25" name="Text 19"/>
          <p:cNvSpPr txBox="1"/>
          <p:nvPr/>
        </p:nvSpPr>
        <p:spPr>
          <a:xfrm>
            <a:off x="1280160" y="3575304"/>
            <a:ext cx="2834640" cy="585216"/>
          </a:xfrm>
          <a:prstGeom prst="rect">
            <a:avLst/>
          </a:prstGeom>
          <a:noFill/>
          <a:ln/>
        </p:spPr>
        <p:txBody>
          <a:bodyPr wrap="square" lIns="0" tIns="0" rIns="0" bIns="0" rtlCol="0" anchor="ctr"/>
          <a:lstStyle/>
          <a:p>
            <a:pPr marL="0" indent="0">
              <a:buNone/>
            </a:pPr>
            <a:r>
              <a:rPr lang="en-US" sz="1500" b="1" dirty="0">
                <a:solidFill>
                  <a:schemeClr val="tx1"/>
                </a:solidFill>
              </a:rPr>
              <a:t>Storage</a:t>
            </a:r>
            <a:endParaRPr lang="en-US" sz="1500" dirty="0"/>
          </a:p>
        </p:txBody>
      </p:sp>
      <p:sp>
        <p:nvSpPr>
          <p:cNvPr id="26" name="Text 20"/>
          <p:cNvSpPr txBox="1"/>
          <p:nvPr/>
        </p:nvSpPr>
        <p:spPr>
          <a:xfrm>
            <a:off x="4160520" y="3575304"/>
            <a:ext cx="5486400" cy="585216"/>
          </a:xfrm>
          <a:prstGeom prst="rect">
            <a:avLst/>
          </a:prstGeom>
          <a:noFill/>
          <a:ln/>
        </p:spPr>
        <p:txBody>
          <a:bodyPr wrap="square" lIns="0" tIns="0" rIns="0" bIns="0" rtlCol="0" anchor="ctr"/>
          <a:lstStyle/>
          <a:p>
            <a:pPr marL="0" indent="0">
              <a:buNone/>
            </a:pPr>
            <a:r>
              <a:rPr lang="en-US" sz="1300" dirty="0">
                <a:solidFill>
                  <a:schemeClr val="tx2"/>
                </a:solidFill>
              </a:rPr>
              <a:t>Parallel file systems, object storage, local NVMe, GPUDirect Storage</a:t>
            </a:r>
            <a:endParaRPr lang="en-US" sz="1300" dirty="0"/>
          </a:p>
        </p:txBody>
      </p:sp>
      <p:sp>
        <p:nvSpPr>
          <p:cNvPr id="27" name="Text 21"/>
          <p:cNvSpPr txBox="1"/>
          <p:nvPr/>
        </p:nvSpPr>
        <p:spPr>
          <a:xfrm>
            <a:off x="9692640" y="3575304"/>
            <a:ext cx="1828800" cy="585216"/>
          </a:xfrm>
          <a:prstGeom prst="rect">
            <a:avLst/>
          </a:prstGeom>
          <a:noFill/>
          <a:ln/>
        </p:spPr>
        <p:txBody>
          <a:bodyPr wrap="square" lIns="0" tIns="0" rIns="0" bIns="0" rtlCol="0" anchor="ctr"/>
          <a:lstStyle/>
          <a:p>
            <a:pPr marL="0" indent="0" algn="r">
              <a:buNone/>
            </a:pPr>
            <a:r>
              <a:rPr lang="en-US" sz="1200" b="1" dirty="0">
                <a:solidFill>
                  <a:schemeClr val="accent2"/>
                </a:solidFill>
              </a:rPr>
              <a:t>Infrastructure team</a:t>
            </a:r>
            <a:endParaRPr lang="en-US" sz="1200" dirty="0"/>
          </a:p>
        </p:txBody>
      </p:sp>
      <p:sp>
        <p:nvSpPr>
          <p:cNvPr id="28" name="Shape 22"/>
          <p:cNvSpPr/>
          <p:nvPr/>
        </p:nvSpPr>
        <p:spPr>
          <a:xfrm>
            <a:off x="548640" y="4242816"/>
            <a:ext cx="11064240" cy="585216"/>
          </a:xfrm>
          <a:prstGeom prst="roundRect">
            <a:avLst>
              <a:gd name="adj" fmla="val 7813"/>
            </a:avLst>
          </a:prstGeom>
          <a:solidFill>
            <a:srgbClr val="DCE6DB"/>
          </a:solidFill>
          <a:ln/>
        </p:spPr>
        <p:txBody>
          <a:bodyPr/>
          <a:lstStyle/>
          <a:p>
            <a:endParaRPr lang="en-US"/>
          </a:p>
        </p:txBody>
      </p:sp>
      <p:sp>
        <p:nvSpPr>
          <p:cNvPr id="29" name="Shape 23"/>
          <p:cNvSpPr/>
          <p:nvPr/>
        </p:nvSpPr>
        <p:spPr>
          <a:xfrm>
            <a:off x="658368" y="4306824"/>
            <a:ext cx="457200" cy="457200"/>
          </a:xfrm>
          <a:prstGeom prst="ellipse">
            <a:avLst/>
          </a:prstGeom>
          <a:solidFill>
            <a:schemeClr val="accent1"/>
          </a:solidFill>
          <a:ln/>
        </p:spPr>
        <p:txBody>
          <a:bodyPr/>
          <a:lstStyle/>
          <a:p>
            <a:endParaRPr lang="en-US"/>
          </a:p>
        </p:txBody>
      </p:sp>
      <p:pic>
        <p:nvPicPr>
          <p:cNvPr id="30" name="Image 4" descr="preencoded.png"/>
          <p:cNvPicPr>
            <a:picLocks noChangeAspect="1"/>
          </p:cNvPicPr>
          <p:nvPr/>
        </p:nvPicPr>
        <p:blipFill>
          <a:blip r:embed="rId7"/>
          <a:stretch>
            <a:fillRect/>
          </a:stretch>
        </p:blipFill>
        <p:spPr>
          <a:xfrm>
            <a:off x="758952" y="4407408"/>
            <a:ext cx="256032" cy="256032"/>
          </a:xfrm>
          <a:prstGeom prst="rect">
            <a:avLst/>
          </a:prstGeom>
        </p:spPr>
      </p:pic>
      <p:sp>
        <p:nvSpPr>
          <p:cNvPr id="31" name="Text 24"/>
          <p:cNvSpPr txBox="1"/>
          <p:nvPr/>
        </p:nvSpPr>
        <p:spPr>
          <a:xfrm>
            <a:off x="1280160" y="4242816"/>
            <a:ext cx="2834640" cy="585216"/>
          </a:xfrm>
          <a:prstGeom prst="rect">
            <a:avLst/>
          </a:prstGeom>
          <a:noFill/>
          <a:ln/>
        </p:spPr>
        <p:txBody>
          <a:bodyPr wrap="square" lIns="0" tIns="0" rIns="0" bIns="0" rtlCol="0" anchor="ctr"/>
          <a:lstStyle/>
          <a:p>
            <a:pPr marL="0" indent="0">
              <a:buNone/>
            </a:pPr>
            <a:r>
              <a:rPr lang="en-US" sz="1500" b="1" dirty="0">
                <a:solidFill>
                  <a:schemeClr val="tx1"/>
                </a:solidFill>
              </a:rPr>
              <a:t>Networking</a:t>
            </a:r>
            <a:endParaRPr lang="en-US" sz="1500" dirty="0"/>
          </a:p>
        </p:txBody>
      </p:sp>
      <p:sp>
        <p:nvSpPr>
          <p:cNvPr id="32" name="Text 25"/>
          <p:cNvSpPr txBox="1"/>
          <p:nvPr/>
        </p:nvSpPr>
        <p:spPr>
          <a:xfrm>
            <a:off x="4160520" y="4242816"/>
            <a:ext cx="5486400" cy="585216"/>
          </a:xfrm>
          <a:prstGeom prst="rect">
            <a:avLst/>
          </a:prstGeom>
          <a:noFill/>
          <a:ln/>
        </p:spPr>
        <p:txBody>
          <a:bodyPr wrap="square" lIns="0" tIns="0" rIns="0" bIns="0" rtlCol="0" anchor="ctr"/>
          <a:lstStyle/>
          <a:p>
            <a:pPr marL="0" indent="0">
              <a:buNone/>
            </a:pPr>
            <a:r>
              <a:rPr lang="en-US" sz="1300" dirty="0">
                <a:solidFill>
                  <a:schemeClr val="tx2"/>
                </a:solidFill>
              </a:rPr>
              <a:t>NVLink (scale-up), InfiniBand / Spectrum-X (scale-out), storage and management networks</a:t>
            </a:r>
            <a:endParaRPr lang="en-US" sz="1300" dirty="0"/>
          </a:p>
        </p:txBody>
      </p:sp>
      <p:sp>
        <p:nvSpPr>
          <p:cNvPr id="33" name="Text 26"/>
          <p:cNvSpPr txBox="1"/>
          <p:nvPr/>
        </p:nvSpPr>
        <p:spPr>
          <a:xfrm>
            <a:off x="9692640" y="4242816"/>
            <a:ext cx="1828800" cy="585216"/>
          </a:xfrm>
          <a:prstGeom prst="rect">
            <a:avLst/>
          </a:prstGeom>
          <a:noFill/>
          <a:ln/>
        </p:spPr>
        <p:txBody>
          <a:bodyPr wrap="square" lIns="0" tIns="0" rIns="0" bIns="0" rtlCol="0" anchor="ctr"/>
          <a:lstStyle/>
          <a:p>
            <a:pPr marL="0" indent="0" algn="r">
              <a:buNone/>
            </a:pPr>
            <a:r>
              <a:rPr lang="en-US" sz="1200" b="1" dirty="0">
                <a:solidFill>
                  <a:schemeClr val="accent2"/>
                </a:solidFill>
              </a:rPr>
              <a:t>Infrastructure team</a:t>
            </a:r>
            <a:endParaRPr lang="en-US" sz="1200" dirty="0"/>
          </a:p>
        </p:txBody>
      </p:sp>
      <p:sp>
        <p:nvSpPr>
          <p:cNvPr id="34" name="Shape 27"/>
          <p:cNvSpPr/>
          <p:nvPr/>
        </p:nvSpPr>
        <p:spPr>
          <a:xfrm>
            <a:off x="548640" y="4910328"/>
            <a:ext cx="11064240" cy="585216"/>
          </a:xfrm>
          <a:prstGeom prst="roundRect">
            <a:avLst>
              <a:gd name="adj" fmla="val 7813"/>
            </a:avLst>
          </a:prstGeom>
          <a:solidFill>
            <a:srgbClr val="DCE6DB"/>
          </a:solidFill>
          <a:ln/>
        </p:spPr>
        <p:txBody>
          <a:bodyPr/>
          <a:lstStyle/>
          <a:p>
            <a:endParaRPr lang="en-US"/>
          </a:p>
        </p:txBody>
      </p:sp>
      <p:sp>
        <p:nvSpPr>
          <p:cNvPr id="35" name="Shape 28"/>
          <p:cNvSpPr/>
          <p:nvPr/>
        </p:nvSpPr>
        <p:spPr>
          <a:xfrm>
            <a:off x="658368" y="4974336"/>
            <a:ext cx="457200" cy="457200"/>
          </a:xfrm>
          <a:prstGeom prst="ellipse">
            <a:avLst/>
          </a:prstGeom>
          <a:solidFill>
            <a:schemeClr val="accent1"/>
          </a:solidFill>
          <a:ln/>
        </p:spPr>
        <p:txBody>
          <a:bodyPr/>
          <a:lstStyle/>
          <a:p>
            <a:endParaRPr lang="en-US"/>
          </a:p>
        </p:txBody>
      </p:sp>
      <p:pic>
        <p:nvPicPr>
          <p:cNvPr id="36" name="Image 5" descr="preencoded.png"/>
          <p:cNvPicPr>
            <a:picLocks noChangeAspect="1"/>
          </p:cNvPicPr>
          <p:nvPr/>
        </p:nvPicPr>
        <p:blipFill>
          <a:blip r:embed="rId8"/>
          <a:stretch>
            <a:fillRect/>
          </a:stretch>
        </p:blipFill>
        <p:spPr>
          <a:xfrm>
            <a:off x="758952" y="5074920"/>
            <a:ext cx="256032" cy="256032"/>
          </a:xfrm>
          <a:prstGeom prst="rect">
            <a:avLst/>
          </a:prstGeom>
        </p:spPr>
      </p:pic>
      <p:sp>
        <p:nvSpPr>
          <p:cNvPr id="37" name="Text 29"/>
          <p:cNvSpPr txBox="1"/>
          <p:nvPr/>
        </p:nvSpPr>
        <p:spPr>
          <a:xfrm>
            <a:off x="1280160" y="4910328"/>
            <a:ext cx="2834640" cy="585216"/>
          </a:xfrm>
          <a:prstGeom prst="rect">
            <a:avLst/>
          </a:prstGeom>
          <a:noFill/>
          <a:ln/>
        </p:spPr>
        <p:txBody>
          <a:bodyPr wrap="square" lIns="0" tIns="0" rIns="0" bIns="0" rtlCol="0" anchor="ctr"/>
          <a:lstStyle/>
          <a:p>
            <a:pPr marL="0" indent="0">
              <a:buNone/>
            </a:pPr>
            <a:r>
              <a:rPr lang="en-US" sz="1500" b="1" dirty="0">
                <a:solidFill>
                  <a:schemeClr val="tx1"/>
                </a:solidFill>
              </a:rPr>
              <a:t>Compute</a:t>
            </a:r>
            <a:endParaRPr lang="en-US" sz="1500" dirty="0"/>
          </a:p>
        </p:txBody>
      </p:sp>
      <p:sp>
        <p:nvSpPr>
          <p:cNvPr id="38" name="Text 30"/>
          <p:cNvSpPr txBox="1"/>
          <p:nvPr/>
        </p:nvSpPr>
        <p:spPr>
          <a:xfrm>
            <a:off x="4160520" y="4910328"/>
            <a:ext cx="5486400" cy="585216"/>
          </a:xfrm>
          <a:prstGeom prst="rect">
            <a:avLst/>
          </a:prstGeom>
          <a:noFill/>
          <a:ln/>
        </p:spPr>
        <p:txBody>
          <a:bodyPr wrap="square" lIns="0" tIns="0" rIns="0" bIns="0" rtlCol="0" anchor="ctr"/>
          <a:lstStyle/>
          <a:p>
            <a:pPr marL="0" indent="0">
              <a:buNone/>
            </a:pPr>
            <a:r>
              <a:rPr lang="en-US" sz="1300" dirty="0">
                <a:solidFill>
                  <a:schemeClr val="tx2"/>
                </a:solidFill>
              </a:rPr>
              <a:t>DGX / HGX / MGX servers, GB200 NVL72 racks, cloud GPU instances</a:t>
            </a:r>
            <a:endParaRPr lang="en-US" sz="1300" dirty="0"/>
          </a:p>
        </p:txBody>
      </p:sp>
      <p:sp>
        <p:nvSpPr>
          <p:cNvPr id="39" name="Text 31"/>
          <p:cNvSpPr txBox="1"/>
          <p:nvPr/>
        </p:nvSpPr>
        <p:spPr>
          <a:xfrm>
            <a:off x="9692640" y="4910328"/>
            <a:ext cx="1828800" cy="585216"/>
          </a:xfrm>
          <a:prstGeom prst="rect">
            <a:avLst/>
          </a:prstGeom>
          <a:noFill/>
          <a:ln/>
        </p:spPr>
        <p:txBody>
          <a:bodyPr wrap="square" lIns="0" tIns="0" rIns="0" bIns="0" rtlCol="0" anchor="ctr"/>
          <a:lstStyle/>
          <a:p>
            <a:pPr marL="0" indent="0" algn="r">
              <a:buNone/>
            </a:pPr>
            <a:r>
              <a:rPr lang="en-US" sz="1200" b="1" dirty="0">
                <a:solidFill>
                  <a:schemeClr val="accent2"/>
                </a:solidFill>
              </a:rPr>
              <a:t>Infrastructure team</a:t>
            </a:r>
            <a:endParaRPr lang="en-US" sz="1200" dirty="0"/>
          </a:p>
        </p:txBody>
      </p:sp>
      <p:sp>
        <p:nvSpPr>
          <p:cNvPr id="40" name="Shape 32"/>
          <p:cNvSpPr/>
          <p:nvPr/>
        </p:nvSpPr>
        <p:spPr>
          <a:xfrm>
            <a:off x="548640" y="5577840"/>
            <a:ext cx="11064240" cy="585216"/>
          </a:xfrm>
          <a:prstGeom prst="roundRect">
            <a:avLst>
              <a:gd name="adj" fmla="val 7813"/>
            </a:avLst>
          </a:prstGeom>
          <a:solidFill>
            <a:srgbClr val="CBD8C9"/>
          </a:solidFill>
          <a:ln/>
        </p:spPr>
        <p:txBody>
          <a:bodyPr/>
          <a:lstStyle/>
          <a:p>
            <a:endParaRPr lang="en-US"/>
          </a:p>
        </p:txBody>
      </p:sp>
      <p:sp>
        <p:nvSpPr>
          <p:cNvPr id="41" name="Shape 33"/>
          <p:cNvSpPr/>
          <p:nvPr/>
        </p:nvSpPr>
        <p:spPr>
          <a:xfrm>
            <a:off x="658368" y="5641848"/>
            <a:ext cx="457200" cy="457200"/>
          </a:xfrm>
          <a:prstGeom prst="ellipse">
            <a:avLst/>
          </a:prstGeom>
          <a:solidFill>
            <a:schemeClr val="accent1"/>
          </a:solidFill>
          <a:ln/>
        </p:spPr>
        <p:txBody>
          <a:bodyPr/>
          <a:lstStyle/>
          <a:p>
            <a:endParaRPr lang="en-US"/>
          </a:p>
        </p:txBody>
      </p:sp>
      <p:pic>
        <p:nvPicPr>
          <p:cNvPr id="42" name="Image 6" descr="preencoded.png"/>
          <p:cNvPicPr>
            <a:picLocks noChangeAspect="1"/>
          </p:cNvPicPr>
          <p:nvPr/>
        </p:nvPicPr>
        <p:blipFill>
          <a:blip r:embed="rId9"/>
          <a:stretch>
            <a:fillRect/>
          </a:stretch>
        </p:blipFill>
        <p:spPr>
          <a:xfrm>
            <a:off x="758952" y="5742432"/>
            <a:ext cx="256032" cy="256032"/>
          </a:xfrm>
          <a:prstGeom prst="rect">
            <a:avLst/>
          </a:prstGeom>
        </p:spPr>
      </p:pic>
      <p:sp>
        <p:nvSpPr>
          <p:cNvPr id="43" name="Text 34"/>
          <p:cNvSpPr txBox="1"/>
          <p:nvPr/>
        </p:nvSpPr>
        <p:spPr>
          <a:xfrm>
            <a:off x="1280160" y="5577840"/>
            <a:ext cx="2834640" cy="585216"/>
          </a:xfrm>
          <a:prstGeom prst="rect">
            <a:avLst/>
          </a:prstGeom>
          <a:noFill/>
          <a:ln/>
        </p:spPr>
        <p:txBody>
          <a:bodyPr wrap="square" lIns="0" tIns="0" rIns="0" bIns="0" rtlCol="0" anchor="ctr"/>
          <a:lstStyle/>
          <a:p>
            <a:pPr marL="0" indent="0">
              <a:buNone/>
            </a:pPr>
            <a:r>
              <a:rPr lang="en-US" sz="1500" b="1" dirty="0">
                <a:solidFill>
                  <a:schemeClr val="tx1"/>
                </a:solidFill>
              </a:rPr>
              <a:t>Facilities</a:t>
            </a:r>
            <a:endParaRPr lang="en-US" sz="1500" dirty="0"/>
          </a:p>
        </p:txBody>
      </p:sp>
      <p:sp>
        <p:nvSpPr>
          <p:cNvPr id="44" name="Text 35"/>
          <p:cNvSpPr txBox="1"/>
          <p:nvPr/>
        </p:nvSpPr>
        <p:spPr>
          <a:xfrm>
            <a:off x="4160520" y="5577840"/>
            <a:ext cx="5486400" cy="585216"/>
          </a:xfrm>
          <a:prstGeom prst="rect">
            <a:avLst/>
          </a:prstGeom>
          <a:noFill/>
          <a:ln/>
        </p:spPr>
        <p:txBody>
          <a:bodyPr wrap="square" lIns="0" tIns="0" rIns="0" bIns="0" rtlCol="0" anchor="ctr"/>
          <a:lstStyle/>
          <a:p>
            <a:pPr marL="0" indent="0">
              <a:buNone/>
            </a:pPr>
            <a:r>
              <a:rPr lang="en-US" sz="1300" dirty="0">
                <a:solidFill>
                  <a:schemeClr val="tx2"/>
                </a:solidFill>
              </a:rPr>
              <a:t>Power, liquid or air cooling, floor space, rack density</a:t>
            </a:r>
            <a:endParaRPr lang="en-US" sz="1300" dirty="0"/>
          </a:p>
        </p:txBody>
      </p:sp>
      <p:sp>
        <p:nvSpPr>
          <p:cNvPr id="45" name="Text 36"/>
          <p:cNvSpPr txBox="1"/>
          <p:nvPr/>
        </p:nvSpPr>
        <p:spPr>
          <a:xfrm>
            <a:off x="9692640" y="5577840"/>
            <a:ext cx="1828800" cy="585216"/>
          </a:xfrm>
          <a:prstGeom prst="rect">
            <a:avLst/>
          </a:prstGeom>
          <a:noFill/>
          <a:ln/>
        </p:spPr>
        <p:txBody>
          <a:bodyPr wrap="square" lIns="0" tIns="0" rIns="0" bIns="0" rtlCol="0" anchor="ctr"/>
          <a:lstStyle/>
          <a:p>
            <a:pPr marL="0" indent="0" algn="r">
              <a:buNone/>
            </a:pPr>
            <a:r>
              <a:rPr lang="en-US" sz="1200" b="1" dirty="0">
                <a:solidFill>
                  <a:schemeClr val="accent2"/>
                </a:solidFill>
              </a:rPr>
              <a:t>Data center team</a:t>
            </a:r>
            <a:endParaRPr lang="en-US" sz="1200" dirty="0"/>
          </a:p>
        </p:txBody>
      </p:sp>
      <p:sp>
        <p:nvSpPr>
          <p:cNvPr id="4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Compute building blocks: DGX, HGX, MGX and cloud</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Buy the complete system, a validated platform from an OEM, or rent capacity</a:t>
            </a:r>
            <a:endParaRPr lang="en-US" sz="1600" dirty="0"/>
          </a:p>
        </p:txBody>
      </p:sp>
      <p:sp>
        <p:nvSpPr>
          <p:cNvPr id="4" name="Shape 2"/>
          <p:cNvSpPr/>
          <p:nvPr/>
        </p:nvSpPr>
        <p:spPr>
          <a:xfrm>
            <a:off x="548640" y="1572768"/>
            <a:ext cx="5440680" cy="2194560"/>
          </a:xfrm>
          <a:prstGeom prst="roundRect">
            <a:avLst>
              <a:gd name="adj" fmla="val 3333"/>
            </a:avLst>
          </a:prstGeom>
          <a:solidFill>
            <a:schemeClr val="bg2"/>
          </a:solidFill>
          <a:ln/>
        </p:spPr>
        <p:txBody>
          <a:bodyPr/>
          <a:lstStyle/>
          <a:p>
            <a:endParaRPr lang="en-US"/>
          </a:p>
        </p:txBody>
      </p:sp>
      <p:sp>
        <p:nvSpPr>
          <p:cNvPr id="5" name="Shape 3"/>
          <p:cNvSpPr/>
          <p:nvPr/>
        </p:nvSpPr>
        <p:spPr>
          <a:xfrm>
            <a:off x="749808" y="1773936"/>
            <a:ext cx="566928" cy="566928"/>
          </a:xfrm>
          <a:prstGeom prst="ellipse">
            <a:avLst/>
          </a:prstGeom>
          <a:solidFill>
            <a:schemeClr val="accent1"/>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874532" y="1898660"/>
            <a:ext cx="317480" cy="317480"/>
          </a:xfrm>
          <a:prstGeom prst="rect">
            <a:avLst/>
          </a:prstGeom>
        </p:spPr>
      </p:pic>
      <p:sp>
        <p:nvSpPr>
          <p:cNvPr id="7" name="Text 4"/>
          <p:cNvSpPr txBox="1"/>
          <p:nvPr/>
        </p:nvSpPr>
        <p:spPr>
          <a:xfrm>
            <a:off x="1463040" y="1737360"/>
            <a:ext cx="4297680" cy="365760"/>
          </a:xfrm>
          <a:prstGeom prst="rect">
            <a:avLst/>
          </a:prstGeom>
          <a:noFill/>
          <a:ln/>
        </p:spPr>
        <p:txBody>
          <a:bodyPr wrap="square" lIns="0" tIns="0" rIns="0" bIns="0" rtlCol="0" anchor="t"/>
          <a:lstStyle/>
          <a:p>
            <a:pPr marL="0" indent="0">
              <a:buNone/>
            </a:pPr>
            <a:r>
              <a:rPr lang="en-US" sz="1800" b="1" dirty="0">
                <a:solidFill>
                  <a:schemeClr val="tx1"/>
                </a:solidFill>
              </a:rPr>
              <a:t>NVIDIA DGX</a:t>
            </a:r>
            <a:endParaRPr lang="en-US" sz="1800" dirty="0"/>
          </a:p>
        </p:txBody>
      </p:sp>
      <p:sp>
        <p:nvSpPr>
          <p:cNvPr id="8" name="Text 5"/>
          <p:cNvSpPr txBox="1"/>
          <p:nvPr/>
        </p:nvSpPr>
        <p:spPr>
          <a:xfrm>
            <a:off x="1463040" y="2075688"/>
            <a:ext cx="4297680" cy="292608"/>
          </a:xfrm>
          <a:prstGeom prst="rect">
            <a:avLst/>
          </a:prstGeom>
          <a:noFill/>
          <a:ln/>
        </p:spPr>
        <p:txBody>
          <a:bodyPr wrap="square" lIns="0" tIns="0" rIns="0" bIns="0" rtlCol="0" anchor="t"/>
          <a:lstStyle/>
          <a:p>
            <a:pPr marL="0" indent="0">
              <a:buNone/>
            </a:pPr>
            <a:r>
              <a:rPr lang="en-US" sz="1300" b="1" dirty="0">
                <a:solidFill>
                  <a:schemeClr val="accent2"/>
                </a:solidFill>
              </a:rPr>
              <a:t>NVIDIA's own integrated systems</a:t>
            </a:r>
            <a:endParaRPr lang="en-US" sz="1300" dirty="0"/>
          </a:p>
        </p:txBody>
      </p:sp>
      <p:sp>
        <p:nvSpPr>
          <p:cNvPr id="9" name="Text 6"/>
          <p:cNvSpPr txBox="1"/>
          <p:nvPr/>
        </p:nvSpPr>
        <p:spPr>
          <a:xfrm>
            <a:off x="777240" y="2487168"/>
            <a:ext cx="5029200" cy="91440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DGX B200 / B300 (8 GPUs), DGX GB200 / GB300 racks</a:t>
            </a:r>
            <a:endParaRPr lang="en-US" sz="1300" dirty="0"/>
          </a:p>
          <a:p>
            <a:pPr marL="342900" indent="-342900">
              <a:spcAft>
                <a:spcPts val="300"/>
              </a:spcAft>
              <a:buSzPct val="100000"/>
              <a:buChar char="•"/>
            </a:pPr>
            <a:r>
              <a:rPr lang="en-US" sz="1300" dirty="0">
                <a:solidFill>
                  <a:schemeClr val="tx2"/>
                </a:solidFill>
              </a:rPr>
              <a:t>Full software stack and NVIDIA support</a:t>
            </a:r>
            <a:endParaRPr lang="en-US" sz="1300" dirty="0"/>
          </a:p>
          <a:p>
            <a:pPr marL="342900" indent="-342900">
              <a:spcAft>
                <a:spcPts val="300"/>
              </a:spcAft>
              <a:buSzPct val="100000"/>
              <a:buChar char="•"/>
            </a:pPr>
            <a:r>
              <a:rPr lang="en-US" sz="1300" dirty="0">
                <a:solidFill>
                  <a:schemeClr val="tx2"/>
                </a:solidFill>
              </a:rPr>
              <a:t>Reference designs: BasePOD and SuperPOD</a:t>
            </a:r>
            <a:endParaRPr lang="en-US" sz="1300" dirty="0"/>
          </a:p>
        </p:txBody>
      </p:sp>
      <p:sp>
        <p:nvSpPr>
          <p:cNvPr id="10" name="Text 7"/>
          <p:cNvSpPr txBox="1"/>
          <p:nvPr/>
        </p:nvSpPr>
        <p:spPr>
          <a:xfrm>
            <a:off x="777240" y="3383280"/>
            <a:ext cx="5029200" cy="292608"/>
          </a:xfrm>
          <a:prstGeom prst="rect">
            <a:avLst/>
          </a:prstGeom>
          <a:noFill/>
          <a:ln/>
        </p:spPr>
        <p:txBody>
          <a:bodyPr wrap="square" lIns="0" tIns="0" rIns="0" bIns="0" rtlCol="0" anchor="t"/>
          <a:lstStyle/>
          <a:p>
            <a:pPr marL="0" indent="0">
              <a:buNone/>
            </a:pPr>
            <a:r>
              <a:rPr lang="en-US" sz="1300" b="1" dirty="0">
                <a:solidFill>
                  <a:schemeClr val="tx1"/>
                </a:solidFill>
              </a:rPr>
              <a:t>Best for: Turnkey, fastest to deploy</a:t>
            </a:r>
            <a:endParaRPr lang="en-US" sz="1300" dirty="0"/>
          </a:p>
        </p:txBody>
      </p:sp>
      <p:sp>
        <p:nvSpPr>
          <p:cNvPr id="11" name="Shape 8"/>
          <p:cNvSpPr/>
          <p:nvPr/>
        </p:nvSpPr>
        <p:spPr>
          <a:xfrm>
            <a:off x="6172200" y="1572768"/>
            <a:ext cx="5440680" cy="2194560"/>
          </a:xfrm>
          <a:prstGeom prst="roundRect">
            <a:avLst>
              <a:gd name="adj" fmla="val 3333"/>
            </a:avLst>
          </a:prstGeom>
          <a:solidFill>
            <a:schemeClr val="bg2"/>
          </a:solidFill>
          <a:ln/>
        </p:spPr>
        <p:txBody>
          <a:bodyPr/>
          <a:lstStyle/>
          <a:p>
            <a:endParaRPr lang="en-US"/>
          </a:p>
        </p:txBody>
      </p:sp>
      <p:sp>
        <p:nvSpPr>
          <p:cNvPr id="12" name="Shape 9"/>
          <p:cNvSpPr/>
          <p:nvPr/>
        </p:nvSpPr>
        <p:spPr>
          <a:xfrm>
            <a:off x="6373368" y="1773936"/>
            <a:ext cx="566928" cy="566928"/>
          </a:xfrm>
          <a:prstGeom prst="ellipse">
            <a:avLst/>
          </a:prstGeom>
          <a:solidFill>
            <a:schemeClr val="accent1"/>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6498092" y="1898660"/>
            <a:ext cx="317480" cy="317480"/>
          </a:xfrm>
          <a:prstGeom prst="rect">
            <a:avLst/>
          </a:prstGeom>
        </p:spPr>
      </p:pic>
      <p:sp>
        <p:nvSpPr>
          <p:cNvPr id="14" name="Text 10"/>
          <p:cNvSpPr txBox="1"/>
          <p:nvPr/>
        </p:nvSpPr>
        <p:spPr>
          <a:xfrm>
            <a:off x="7086600" y="1737360"/>
            <a:ext cx="4297680" cy="365760"/>
          </a:xfrm>
          <a:prstGeom prst="rect">
            <a:avLst/>
          </a:prstGeom>
          <a:noFill/>
          <a:ln/>
        </p:spPr>
        <p:txBody>
          <a:bodyPr wrap="square" lIns="0" tIns="0" rIns="0" bIns="0" rtlCol="0" anchor="t"/>
          <a:lstStyle/>
          <a:p>
            <a:pPr marL="0" indent="0">
              <a:buNone/>
            </a:pPr>
            <a:r>
              <a:rPr lang="en-US" sz="1800" b="1" dirty="0">
                <a:solidFill>
                  <a:schemeClr val="tx1"/>
                </a:solidFill>
              </a:rPr>
              <a:t>NVIDIA HGX</a:t>
            </a:r>
            <a:endParaRPr lang="en-US" sz="1800" dirty="0"/>
          </a:p>
        </p:txBody>
      </p:sp>
      <p:sp>
        <p:nvSpPr>
          <p:cNvPr id="15" name="Text 11"/>
          <p:cNvSpPr txBox="1"/>
          <p:nvPr/>
        </p:nvSpPr>
        <p:spPr>
          <a:xfrm>
            <a:off x="7086600" y="2075688"/>
            <a:ext cx="4297680" cy="292608"/>
          </a:xfrm>
          <a:prstGeom prst="rect">
            <a:avLst/>
          </a:prstGeom>
          <a:noFill/>
          <a:ln/>
        </p:spPr>
        <p:txBody>
          <a:bodyPr wrap="square" lIns="0" tIns="0" rIns="0" bIns="0" rtlCol="0" anchor="t"/>
          <a:lstStyle/>
          <a:p>
            <a:pPr marL="0" indent="0">
              <a:buNone/>
            </a:pPr>
            <a:r>
              <a:rPr lang="en-US" sz="1300" b="1" dirty="0">
                <a:solidFill>
                  <a:schemeClr val="accent2"/>
                </a:solidFill>
              </a:rPr>
              <a:t>GPU baseboard for OEM servers</a:t>
            </a:r>
            <a:endParaRPr lang="en-US" sz="1300" dirty="0"/>
          </a:p>
        </p:txBody>
      </p:sp>
      <p:sp>
        <p:nvSpPr>
          <p:cNvPr id="16" name="Text 12"/>
          <p:cNvSpPr txBox="1"/>
          <p:nvPr/>
        </p:nvSpPr>
        <p:spPr>
          <a:xfrm>
            <a:off x="6400800" y="2487168"/>
            <a:ext cx="5029200" cy="91440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4 or 8 SXM GPUs + NVSwitch on one board</a:t>
            </a:r>
            <a:endParaRPr lang="en-US" sz="1300" dirty="0"/>
          </a:p>
          <a:p>
            <a:pPr marL="342900" indent="-342900">
              <a:spcAft>
                <a:spcPts val="300"/>
              </a:spcAft>
              <a:buSzPct val="100000"/>
              <a:buChar char="•"/>
            </a:pPr>
            <a:r>
              <a:rPr lang="en-US" sz="1300" dirty="0">
                <a:solidFill>
                  <a:schemeClr val="tx2"/>
                </a:solidFill>
              </a:rPr>
              <a:t>Built into Dell, HPE, Lenovo, Supermicro and other servers</a:t>
            </a:r>
            <a:endParaRPr lang="en-US" sz="1300" dirty="0"/>
          </a:p>
          <a:p>
            <a:pPr marL="342900" indent="-342900">
              <a:spcAft>
                <a:spcPts val="300"/>
              </a:spcAft>
              <a:buSzPct val="100000"/>
              <a:buChar char="•"/>
            </a:pPr>
            <a:r>
              <a:rPr lang="en-US" sz="1300" dirty="0">
                <a:solidFill>
                  <a:schemeClr val="tx2"/>
                </a:solidFill>
              </a:rPr>
              <a:t>Same GPUs as DGX, vendor choice</a:t>
            </a:r>
            <a:endParaRPr lang="en-US" sz="1300" dirty="0"/>
          </a:p>
        </p:txBody>
      </p:sp>
      <p:sp>
        <p:nvSpPr>
          <p:cNvPr id="17" name="Text 13"/>
          <p:cNvSpPr txBox="1"/>
          <p:nvPr/>
        </p:nvSpPr>
        <p:spPr>
          <a:xfrm>
            <a:off x="6400800" y="3383280"/>
            <a:ext cx="5029200" cy="292608"/>
          </a:xfrm>
          <a:prstGeom prst="rect">
            <a:avLst/>
          </a:prstGeom>
          <a:noFill/>
          <a:ln/>
        </p:spPr>
        <p:txBody>
          <a:bodyPr wrap="square" lIns="0" tIns="0" rIns="0" bIns="0" rtlCol="0" anchor="t"/>
          <a:lstStyle/>
          <a:p>
            <a:pPr marL="0" indent="0">
              <a:buNone/>
            </a:pPr>
            <a:r>
              <a:rPr lang="en-US" sz="1300" b="1" dirty="0">
                <a:solidFill>
                  <a:schemeClr val="tx1"/>
                </a:solidFill>
              </a:rPr>
              <a:t>Best for: Flexibility and existing vendor relationships</a:t>
            </a:r>
            <a:endParaRPr lang="en-US" sz="1300" dirty="0"/>
          </a:p>
        </p:txBody>
      </p:sp>
      <p:sp>
        <p:nvSpPr>
          <p:cNvPr id="18" name="Shape 14"/>
          <p:cNvSpPr/>
          <p:nvPr/>
        </p:nvSpPr>
        <p:spPr>
          <a:xfrm>
            <a:off x="548640" y="3904488"/>
            <a:ext cx="5440680" cy="2194560"/>
          </a:xfrm>
          <a:prstGeom prst="roundRect">
            <a:avLst>
              <a:gd name="adj" fmla="val 3333"/>
            </a:avLst>
          </a:prstGeom>
          <a:solidFill>
            <a:schemeClr val="bg2"/>
          </a:solidFill>
          <a:ln/>
        </p:spPr>
        <p:txBody>
          <a:bodyPr/>
          <a:lstStyle/>
          <a:p>
            <a:endParaRPr lang="en-US"/>
          </a:p>
        </p:txBody>
      </p:sp>
      <p:sp>
        <p:nvSpPr>
          <p:cNvPr id="19" name="Shape 15"/>
          <p:cNvSpPr/>
          <p:nvPr/>
        </p:nvSpPr>
        <p:spPr>
          <a:xfrm>
            <a:off x="749808" y="4105656"/>
            <a:ext cx="566928" cy="566928"/>
          </a:xfrm>
          <a:prstGeom prst="ellipse">
            <a:avLst/>
          </a:prstGeom>
          <a:solidFill>
            <a:schemeClr val="accent1"/>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874532" y="4230380"/>
            <a:ext cx="317480" cy="317480"/>
          </a:xfrm>
          <a:prstGeom prst="rect">
            <a:avLst/>
          </a:prstGeom>
        </p:spPr>
      </p:pic>
      <p:sp>
        <p:nvSpPr>
          <p:cNvPr id="21" name="Text 16"/>
          <p:cNvSpPr txBox="1"/>
          <p:nvPr/>
        </p:nvSpPr>
        <p:spPr>
          <a:xfrm>
            <a:off x="1463040" y="4069080"/>
            <a:ext cx="4297680" cy="365760"/>
          </a:xfrm>
          <a:prstGeom prst="rect">
            <a:avLst/>
          </a:prstGeom>
          <a:noFill/>
          <a:ln/>
        </p:spPr>
        <p:txBody>
          <a:bodyPr wrap="square" lIns="0" tIns="0" rIns="0" bIns="0" rtlCol="0" anchor="t"/>
          <a:lstStyle/>
          <a:p>
            <a:pPr marL="0" indent="0">
              <a:buNone/>
            </a:pPr>
            <a:r>
              <a:rPr lang="en-US" sz="1800" b="1" dirty="0">
                <a:solidFill>
                  <a:schemeClr val="tx1"/>
                </a:solidFill>
              </a:rPr>
              <a:t>NVIDIA MGX</a:t>
            </a:r>
            <a:endParaRPr lang="en-US" sz="1800" dirty="0"/>
          </a:p>
        </p:txBody>
      </p:sp>
      <p:sp>
        <p:nvSpPr>
          <p:cNvPr id="22" name="Text 17"/>
          <p:cNvSpPr txBox="1"/>
          <p:nvPr/>
        </p:nvSpPr>
        <p:spPr>
          <a:xfrm>
            <a:off x="1463040" y="4407408"/>
            <a:ext cx="4297680" cy="292608"/>
          </a:xfrm>
          <a:prstGeom prst="rect">
            <a:avLst/>
          </a:prstGeom>
          <a:noFill/>
          <a:ln/>
        </p:spPr>
        <p:txBody>
          <a:bodyPr wrap="square" lIns="0" tIns="0" rIns="0" bIns="0" rtlCol="0" anchor="t"/>
          <a:lstStyle/>
          <a:p>
            <a:pPr marL="0" indent="0">
              <a:buNone/>
            </a:pPr>
            <a:r>
              <a:rPr lang="en-US" sz="1300" b="1" dirty="0">
                <a:solidFill>
                  <a:schemeClr val="accent2"/>
                </a:solidFill>
              </a:rPr>
              <a:t>Modular server reference design</a:t>
            </a:r>
            <a:endParaRPr lang="en-US" sz="1300" dirty="0"/>
          </a:p>
        </p:txBody>
      </p:sp>
      <p:sp>
        <p:nvSpPr>
          <p:cNvPr id="23" name="Text 18"/>
          <p:cNvSpPr txBox="1"/>
          <p:nvPr/>
        </p:nvSpPr>
        <p:spPr>
          <a:xfrm>
            <a:off x="777240" y="4818888"/>
            <a:ext cx="5029200" cy="91440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Mix CPUs (x86, Grace), GPUs and DPUs</a:t>
            </a:r>
            <a:endParaRPr lang="en-US" sz="1300" dirty="0"/>
          </a:p>
          <a:p>
            <a:pPr marL="342900" indent="-342900">
              <a:spcAft>
                <a:spcPts val="300"/>
              </a:spcAft>
              <a:buSzPct val="100000"/>
              <a:buChar char="•"/>
            </a:pPr>
            <a:r>
              <a:rPr lang="en-US" sz="1300" dirty="0">
                <a:solidFill>
                  <a:schemeClr val="tx2"/>
                </a:solidFill>
              </a:rPr>
              <a:t>PCIe GPU servers: L40S, H200 NVL, RTX PRO</a:t>
            </a:r>
            <a:endParaRPr lang="en-US" sz="1300" dirty="0"/>
          </a:p>
          <a:p>
            <a:pPr marL="342900" indent="-342900">
              <a:spcAft>
                <a:spcPts val="300"/>
              </a:spcAft>
              <a:buSzPct val="100000"/>
              <a:buChar char="•"/>
            </a:pPr>
            <a:r>
              <a:rPr lang="en-US" sz="1300" dirty="0">
                <a:solidFill>
                  <a:schemeClr val="tx2"/>
                </a:solidFill>
              </a:rPr>
              <a:t>Fits standard air-cooled racks</a:t>
            </a:r>
            <a:endParaRPr lang="en-US" sz="1300" dirty="0"/>
          </a:p>
        </p:txBody>
      </p:sp>
      <p:sp>
        <p:nvSpPr>
          <p:cNvPr id="24" name="Text 19"/>
          <p:cNvSpPr txBox="1"/>
          <p:nvPr/>
        </p:nvSpPr>
        <p:spPr>
          <a:xfrm>
            <a:off x="777240" y="5715000"/>
            <a:ext cx="5029200" cy="292608"/>
          </a:xfrm>
          <a:prstGeom prst="rect">
            <a:avLst/>
          </a:prstGeom>
          <a:noFill/>
          <a:ln/>
        </p:spPr>
        <p:txBody>
          <a:bodyPr wrap="square" lIns="0" tIns="0" rIns="0" bIns="0" rtlCol="0" anchor="t"/>
          <a:lstStyle/>
          <a:p>
            <a:pPr marL="0" indent="0">
              <a:buNone/>
            </a:pPr>
            <a:r>
              <a:rPr lang="en-US" sz="1300" b="1" dirty="0">
                <a:solidFill>
                  <a:schemeClr val="tx1"/>
                </a:solidFill>
              </a:rPr>
              <a:t>Best for: Mainstream enterprise and edge</a:t>
            </a:r>
            <a:endParaRPr lang="en-US" sz="1300" dirty="0"/>
          </a:p>
        </p:txBody>
      </p:sp>
      <p:sp>
        <p:nvSpPr>
          <p:cNvPr id="25" name="Shape 20"/>
          <p:cNvSpPr/>
          <p:nvPr/>
        </p:nvSpPr>
        <p:spPr>
          <a:xfrm>
            <a:off x="6172200" y="3904488"/>
            <a:ext cx="5440680" cy="2194560"/>
          </a:xfrm>
          <a:prstGeom prst="roundRect">
            <a:avLst>
              <a:gd name="adj" fmla="val 3333"/>
            </a:avLst>
          </a:prstGeom>
          <a:solidFill>
            <a:schemeClr val="bg2"/>
          </a:solidFill>
          <a:ln/>
        </p:spPr>
        <p:txBody>
          <a:bodyPr/>
          <a:lstStyle/>
          <a:p>
            <a:endParaRPr lang="en-US"/>
          </a:p>
        </p:txBody>
      </p:sp>
      <p:sp>
        <p:nvSpPr>
          <p:cNvPr id="26" name="Shape 21"/>
          <p:cNvSpPr/>
          <p:nvPr/>
        </p:nvSpPr>
        <p:spPr>
          <a:xfrm>
            <a:off x="6373368" y="4105656"/>
            <a:ext cx="566928" cy="566928"/>
          </a:xfrm>
          <a:prstGeom prst="ellipse">
            <a:avLst/>
          </a:prstGeom>
          <a:solidFill>
            <a:schemeClr val="accent1"/>
          </a:solidFill>
          <a:ln/>
        </p:spPr>
        <p:txBody>
          <a:bodyPr/>
          <a:lstStyle/>
          <a:p>
            <a:endParaRPr lang="en-US"/>
          </a:p>
        </p:txBody>
      </p:sp>
      <p:pic>
        <p:nvPicPr>
          <p:cNvPr id="27" name="Image 3" descr="preencoded.png"/>
          <p:cNvPicPr>
            <a:picLocks noChangeAspect="1"/>
          </p:cNvPicPr>
          <p:nvPr/>
        </p:nvPicPr>
        <p:blipFill>
          <a:blip r:embed="rId6"/>
          <a:stretch>
            <a:fillRect/>
          </a:stretch>
        </p:blipFill>
        <p:spPr>
          <a:xfrm>
            <a:off x="6498092" y="4230380"/>
            <a:ext cx="317480" cy="317480"/>
          </a:xfrm>
          <a:prstGeom prst="rect">
            <a:avLst/>
          </a:prstGeom>
        </p:spPr>
      </p:pic>
      <p:sp>
        <p:nvSpPr>
          <p:cNvPr id="28" name="Text 22"/>
          <p:cNvSpPr txBox="1"/>
          <p:nvPr/>
        </p:nvSpPr>
        <p:spPr>
          <a:xfrm>
            <a:off x="7086600" y="4069080"/>
            <a:ext cx="4297680" cy="365760"/>
          </a:xfrm>
          <a:prstGeom prst="rect">
            <a:avLst/>
          </a:prstGeom>
          <a:noFill/>
          <a:ln/>
        </p:spPr>
        <p:txBody>
          <a:bodyPr wrap="square" lIns="0" tIns="0" rIns="0" bIns="0" rtlCol="0" anchor="t"/>
          <a:lstStyle/>
          <a:p>
            <a:pPr marL="0" indent="0">
              <a:buNone/>
            </a:pPr>
            <a:r>
              <a:rPr lang="en-US" sz="1800" b="1" dirty="0">
                <a:solidFill>
                  <a:schemeClr val="tx1"/>
                </a:solidFill>
              </a:rPr>
              <a:t>Cloud GPU instances</a:t>
            </a:r>
            <a:endParaRPr lang="en-US" sz="1800" dirty="0"/>
          </a:p>
        </p:txBody>
      </p:sp>
      <p:sp>
        <p:nvSpPr>
          <p:cNvPr id="29" name="Text 23"/>
          <p:cNvSpPr txBox="1"/>
          <p:nvPr/>
        </p:nvSpPr>
        <p:spPr>
          <a:xfrm>
            <a:off x="7086600" y="4407408"/>
            <a:ext cx="4297680" cy="292608"/>
          </a:xfrm>
          <a:prstGeom prst="rect">
            <a:avLst/>
          </a:prstGeom>
          <a:noFill/>
          <a:ln/>
        </p:spPr>
        <p:txBody>
          <a:bodyPr wrap="square" lIns="0" tIns="0" rIns="0" bIns="0" rtlCol="0" anchor="t"/>
          <a:lstStyle/>
          <a:p>
            <a:pPr marL="0" indent="0">
              <a:buNone/>
            </a:pPr>
            <a:r>
              <a:rPr lang="en-US" sz="1300" b="1" dirty="0">
                <a:solidFill>
                  <a:schemeClr val="accent2"/>
                </a:solidFill>
              </a:rPr>
              <a:t>Hyperscalers and GPU clouds</a:t>
            </a:r>
            <a:endParaRPr lang="en-US" sz="1300" dirty="0"/>
          </a:p>
        </p:txBody>
      </p:sp>
      <p:sp>
        <p:nvSpPr>
          <p:cNvPr id="30" name="Text 24"/>
          <p:cNvSpPr txBox="1"/>
          <p:nvPr/>
        </p:nvSpPr>
        <p:spPr>
          <a:xfrm>
            <a:off x="6400800" y="4818888"/>
            <a:ext cx="5029200" cy="91440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AWS, Azure, Google Cloud, OCI and specialist GPU clouds</a:t>
            </a:r>
            <a:endParaRPr lang="en-US" sz="1300" dirty="0"/>
          </a:p>
          <a:p>
            <a:pPr marL="342900" indent="-342900">
              <a:spcAft>
                <a:spcPts val="300"/>
              </a:spcAft>
              <a:buSzPct val="100000"/>
              <a:buChar char="•"/>
            </a:pPr>
            <a:r>
              <a:rPr lang="en-US" sz="1300" dirty="0">
                <a:solidFill>
                  <a:schemeClr val="tx2"/>
                </a:solidFill>
              </a:rPr>
              <a:t>On-demand, reserved or managed clusters</a:t>
            </a:r>
            <a:endParaRPr lang="en-US" sz="1300" dirty="0"/>
          </a:p>
          <a:p>
            <a:pPr marL="342900" indent="-342900">
              <a:spcAft>
                <a:spcPts val="300"/>
              </a:spcAft>
              <a:buSzPct val="100000"/>
              <a:buChar char="•"/>
            </a:pPr>
            <a:r>
              <a:rPr lang="en-US" sz="1300" dirty="0">
                <a:solidFill>
                  <a:schemeClr val="tx2"/>
                </a:solidFill>
              </a:rPr>
              <a:t>DGX Cloud on partner clouds</a:t>
            </a:r>
            <a:endParaRPr lang="en-US" sz="1300" dirty="0"/>
          </a:p>
        </p:txBody>
      </p:sp>
      <p:sp>
        <p:nvSpPr>
          <p:cNvPr id="31" name="Text 25"/>
          <p:cNvSpPr txBox="1"/>
          <p:nvPr/>
        </p:nvSpPr>
        <p:spPr>
          <a:xfrm>
            <a:off x="6400800" y="5715000"/>
            <a:ext cx="5029200" cy="292608"/>
          </a:xfrm>
          <a:prstGeom prst="rect">
            <a:avLst/>
          </a:prstGeom>
          <a:noFill/>
          <a:ln/>
        </p:spPr>
        <p:txBody>
          <a:bodyPr wrap="square" lIns="0" tIns="0" rIns="0" bIns="0" rtlCol="0" anchor="t"/>
          <a:lstStyle/>
          <a:p>
            <a:pPr marL="0" indent="0">
              <a:buNone/>
            </a:pPr>
            <a:r>
              <a:rPr lang="en-US" sz="1300" b="1" dirty="0">
                <a:solidFill>
                  <a:schemeClr val="tx1"/>
                </a:solidFill>
              </a:rPr>
              <a:t>Best for: Elastic capacity, no capital expense</a:t>
            </a:r>
            <a:endParaRPr lang="en-US" sz="1300" dirty="0"/>
          </a:p>
        </p:txBody>
      </p:sp>
      <p:sp>
        <p:nvSpPr>
          <p:cNvPr id="32"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Anatomy of an 8-GPU AI server (HGX / DGX class)</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Balanced design: every GPU gets its own path to the network and fast access to its peers</a:t>
            </a:r>
            <a:endParaRPr lang="en-US" sz="1600" dirty="0"/>
          </a:p>
        </p:txBody>
      </p:sp>
      <p:sp>
        <p:nvSpPr>
          <p:cNvPr id="4" name="Shape 2"/>
          <p:cNvSpPr/>
          <p:nvPr/>
        </p:nvSpPr>
        <p:spPr>
          <a:xfrm>
            <a:off x="548640" y="1572768"/>
            <a:ext cx="7223760" cy="4599432"/>
          </a:xfrm>
          <a:prstGeom prst="roundRect">
            <a:avLst>
              <a:gd name="adj" fmla="val 1193"/>
            </a:avLst>
          </a:prstGeom>
          <a:solidFill>
            <a:schemeClr val="bg2"/>
          </a:solidFill>
          <a:ln/>
        </p:spPr>
        <p:txBody>
          <a:bodyPr/>
          <a:lstStyle/>
          <a:p>
            <a:endParaRPr lang="en-US"/>
          </a:p>
        </p:txBody>
      </p:sp>
      <p:sp>
        <p:nvSpPr>
          <p:cNvPr id="5" name="Text 3"/>
          <p:cNvSpPr/>
          <p:nvPr/>
        </p:nvSpPr>
        <p:spPr>
          <a:xfrm>
            <a:off x="777240" y="1737360"/>
            <a:ext cx="1554480" cy="640080"/>
          </a:xfrm>
          <a:prstGeom prst="roundRect">
            <a:avLst>
              <a:gd name="adj" fmla="val 7143"/>
            </a:avLst>
          </a:prstGeom>
          <a:solidFill>
            <a:schemeClr val="accent1"/>
          </a:solidFill>
          <a:ln/>
        </p:spPr>
        <p:txBody>
          <a:bodyPr wrap="square" lIns="381" tIns="381" rIns="381" bIns="381" rtlCol="0" anchor="ctr"/>
          <a:lstStyle/>
          <a:p>
            <a:pPr marL="0" indent="0" algn="ctr">
              <a:buNone/>
            </a:pPr>
            <a:r>
              <a:rPr lang="en-US" sz="1300" b="1" dirty="0">
                <a:solidFill>
                  <a:schemeClr val="tx1"/>
                </a:solidFill>
              </a:rPr>
              <a:t>GPU 0</a:t>
            </a:r>
            <a:endParaRPr lang="en-US" sz="1300" dirty="0"/>
          </a:p>
        </p:txBody>
      </p:sp>
      <p:sp>
        <p:nvSpPr>
          <p:cNvPr id="6" name="Text 4"/>
          <p:cNvSpPr/>
          <p:nvPr/>
        </p:nvSpPr>
        <p:spPr>
          <a:xfrm>
            <a:off x="2514600" y="1737360"/>
            <a:ext cx="1554480" cy="640080"/>
          </a:xfrm>
          <a:prstGeom prst="roundRect">
            <a:avLst>
              <a:gd name="adj" fmla="val 7143"/>
            </a:avLst>
          </a:prstGeom>
          <a:solidFill>
            <a:schemeClr val="accent1"/>
          </a:solidFill>
          <a:ln/>
        </p:spPr>
        <p:txBody>
          <a:bodyPr wrap="square" lIns="381" tIns="381" rIns="381" bIns="381" rtlCol="0" anchor="ctr"/>
          <a:lstStyle/>
          <a:p>
            <a:pPr marL="0" indent="0" algn="ctr">
              <a:buNone/>
            </a:pPr>
            <a:r>
              <a:rPr lang="en-US" sz="1300" b="1" dirty="0">
                <a:solidFill>
                  <a:schemeClr val="tx1"/>
                </a:solidFill>
              </a:rPr>
              <a:t>GPU 1</a:t>
            </a:r>
            <a:endParaRPr lang="en-US" sz="1300" dirty="0"/>
          </a:p>
        </p:txBody>
      </p:sp>
      <p:sp>
        <p:nvSpPr>
          <p:cNvPr id="7" name="Text 5"/>
          <p:cNvSpPr/>
          <p:nvPr/>
        </p:nvSpPr>
        <p:spPr>
          <a:xfrm>
            <a:off x="4251960" y="1737360"/>
            <a:ext cx="1554480" cy="640080"/>
          </a:xfrm>
          <a:prstGeom prst="roundRect">
            <a:avLst>
              <a:gd name="adj" fmla="val 7143"/>
            </a:avLst>
          </a:prstGeom>
          <a:solidFill>
            <a:schemeClr val="accent1"/>
          </a:solidFill>
          <a:ln/>
        </p:spPr>
        <p:txBody>
          <a:bodyPr wrap="square" lIns="381" tIns="381" rIns="381" bIns="381" rtlCol="0" anchor="ctr"/>
          <a:lstStyle/>
          <a:p>
            <a:pPr marL="0" indent="0" algn="ctr">
              <a:buNone/>
            </a:pPr>
            <a:r>
              <a:rPr lang="en-US" sz="1300" b="1" dirty="0">
                <a:solidFill>
                  <a:schemeClr val="tx1"/>
                </a:solidFill>
              </a:rPr>
              <a:t>GPU 2</a:t>
            </a:r>
            <a:endParaRPr lang="en-US" sz="1300" dirty="0"/>
          </a:p>
        </p:txBody>
      </p:sp>
      <p:sp>
        <p:nvSpPr>
          <p:cNvPr id="8" name="Text 6"/>
          <p:cNvSpPr/>
          <p:nvPr/>
        </p:nvSpPr>
        <p:spPr>
          <a:xfrm>
            <a:off x="5989320" y="1737360"/>
            <a:ext cx="1554480" cy="640080"/>
          </a:xfrm>
          <a:prstGeom prst="roundRect">
            <a:avLst>
              <a:gd name="adj" fmla="val 7143"/>
            </a:avLst>
          </a:prstGeom>
          <a:solidFill>
            <a:schemeClr val="accent1"/>
          </a:solidFill>
          <a:ln/>
        </p:spPr>
        <p:txBody>
          <a:bodyPr wrap="square" lIns="381" tIns="381" rIns="381" bIns="381" rtlCol="0" anchor="ctr"/>
          <a:lstStyle/>
          <a:p>
            <a:pPr marL="0" indent="0" algn="ctr">
              <a:buNone/>
            </a:pPr>
            <a:r>
              <a:rPr lang="en-US" sz="1300" b="1" dirty="0">
                <a:solidFill>
                  <a:schemeClr val="tx1"/>
                </a:solidFill>
              </a:rPr>
              <a:t>GPU 3</a:t>
            </a:r>
            <a:endParaRPr lang="en-US" sz="1300" dirty="0"/>
          </a:p>
        </p:txBody>
      </p:sp>
      <p:sp>
        <p:nvSpPr>
          <p:cNvPr id="9" name="Text 7"/>
          <p:cNvSpPr/>
          <p:nvPr/>
        </p:nvSpPr>
        <p:spPr>
          <a:xfrm>
            <a:off x="777240" y="2514600"/>
            <a:ext cx="6766560" cy="411480"/>
          </a:xfrm>
          <a:prstGeom prst="roundRect">
            <a:avLst>
              <a:gd name="adj" fmla="val 11111"/>
            </a:avLst>
          </a:prstGeom>
          <a:solidFill>
            <a:schemeClr val="accent4"/>
          </a:solidFill>
          <a:ln/>
        </p:spPr>
        <p:txBody>
          <a:bodyPr wrap="square" lIns="381" tIns="381" rIns="381" bIns="381" rtlCol="0" anchor="ctr"/>
          <a:lstStyle/>
          <a:p>
            <a:pPr marL="0" indent="0" algn="ctr">
              <a:buNone/>
            </a:pPr>
            <a:r>
              <a:rPr lang="en-US" sz="1200" b="1" dirty="0">
                <a:solidFill>
                  <a:schemeClr val="bg1"/>
                </a:solidFill>
              </a:rPr>
              <a:t>NVSwitch: all-to-all NVLink, 1.8 TB/s per GPU (Blackwell)</a:t>
            </a:r>
            <a:endParaRPr lang="en-US" sz="1200" dirty="0"/>
          </a:p>
        </p:txBody>
      </p:sp>
      <p:sp>
        <p:nvSpPr>
          <p:cNvPr id="10" name="Text 8"/>
          <p:cNvSpPr/>
          <p:nvPr/>
        </p:nvSpPr>
        <p:spPr>
          <a:xfrm>
            <a:off x="777240" y="3063240"/>
            <a:ext cx="1554480" cy="640080"/>
          </a:xfrm>
          <a:prstGeom prst="roundRect">
            <a:avLst>
              <a:gd name="adj" fmla="val 7143"/>
            </a:avLst>
          </a:prstGeom>
          <a:solidFill>
            <a:schemeClr val="accent1"/>
          </a:solidFill>
          <a:ln/>
        </p:spPr>
        <p:txBody>
          <a:bodyPr wrap="square" lIns="381" tIns="381" rIns="381" bIns="381" rtlCol="0" anchor="ctr"/>
          <a:lstStyle/>
          <a:p>
            <a:pPr marL="0" indent="0" algn="ctr">
              <a:buNone/>
            </a:pPr>
            <a:r>
              <a:rPr lang="en-US" sz="1300" b="1" dirty="0">
                <a:solidFill>
                  <a:schemeClr val="tx1"/>
                </a:solidFill>
              </a:rPr>
              <a:t>GPU 4</a:t>
            </a:r>
            <a:endParaRPr lang="en-US" sz="1300" dirty="0"/>
          </a:p>
        </p:txBody>
      </p:sp>
      <p:sp>
        <p:nvSpPr>
          <p:cNvPr id="11" name="Text 9"/>
          <p:cNvSpPr/>
          <p:nvPr/>
        </p:nvSpPr>
        <p:spPr>
          <a:xfrm>
            <a:off x="2514600" y="3063240"/>
            <a:ext cx="1554480" cy="640080"/>
          </a:xfrm>
          <a:prstGeom prst="roundRect">
            <a:avLst>
              <a:gd name="adj" fmla="val 7143"/>
            </a:avLst>
          </a:prstGeom>
          <a:solidFill>
            <a:schemeClr val="accent1"/>
          </a:solidFill>
          <a:ln/>
        </p:spPr>
        <p:txBody>
          <a:bodyPr wrap="square" lIns="381" tIns="381" rIns="381" bIns="381" rtlCol="0" anchor="ctr"/>
          <a:lstStyle/>
          <a:p>
            <a:pPr marL="0" indent="0" algn="ctr">
              <a:buNone/>
            </a:pPr>
            <a:r>
              <a:rPr lang="en-US" sz="1300" b="1" dirty="0">
                <a:solidFill>
                  <a:schemeClr val="tx1"/>
                </a:solidFill>
              </a:rPr>
              <a:t>GPU 5</a:t>
            </a:r>
            <a:endParaRPr lang="en-US" sz="1300" dirty="0"/>
          </a:p>
        </p:txBody>
      </p:sp>
      <p:sp>
        <p:nvSpPr>
          <p:cNvPr id="12" name="Text 10"/>
          <p:cNvSpPr/>
          <p:nvPr/>
        </p:nvSpPr>
        <p:spPr>
          <a:xfrm>
            <a:off x="4251960" y="3063240"/>
            <a:ext cx="1554480" cy="640080"/>
          </a:xfrm>
          <a:prstGeom prst="roundRect">
            <a:avLst>
              <a:gd name="adj" fmla="val 7143"/>
            </a:avLst>
          </a:prstGeom>
          <a:solidFill>
            <a:schemeClr val="accent1"/>
          </a:solidFill>
          <a:ln/>
        </p:spPr>
        <p:txBody>
          <a:bodyPr wrap="square" lIns="381" tIns="381" rIns="381" bIns="381" rtlCol="0" anchor="ctr"/>
          <a:lstStyle/>
          <a:p>
            <a:pPr marL="0" indent="0" algn="ctr">
              <a:buNone/>
            </a:pPr>
            <a:r>
              <a:rPr lang="en-US" sz="1300" b="1" dirty="0">
                <a:solidFill>
                  <a:schemeClr val="tx1"/>
                </a:solidFill>
              </a:rPr>
              <a:t>GPU 6</a:t>
            </a:r>
            <a:endParaRPr lang="en-US" sz="1300" dirty="0"/>
          </a:p>
        </p:txBody>
      </p:sp>
      <p:sp>
        <p:nvSpPr>
          <p:cNvPr id="13" name="Text 11"/>
          <p:cNvSpPr/>
          <p:nvPr/>
        </p:nvSpPr>
        <p:spPr>
          <a:xfrm>
            <a:off x="5989320" y="3063240"/>
            <a:ext cx="1554480" cy="640080"/>
          </a:xfrm>
          <a:prstGeom prst="roundRect">
            <a:avLst>
              <a:gd name="adj" fmla="val 7143"/>
            </a:avLst>
          </a:prstGeom>
          <a:solidFill>
            <a:schemeClr val="accent1"/>
          </a:solidFill>
          <a:ln/>
        </p:spPr>
        <p:txBody>
          <a:bodyPr wrap="square" lIns="381" tIns="381" rIns="381" bIns="381" rtlCol="0" anchor="ctr"/>
          <a:lstStyle/>
          <a:p>
            <a:pPr marL="0" indent="0" algn="ctr">
              <a:buNone/>
            </a:pPr>
            <a:r>
              <a:rPr lang="en-US" sz="1300" b="1" dirty="0">
                <a:solidFill>
                  <a:schemeClr val="tx1"/>
                </a:solidFill>
              </a:rPr>
              <a:t>GPU 7</a:t>
            </a:r>
            <a:endParaRPr lang="en-US" sz="1300" dirty="0"/>
          </a:p>
        </p:txBody>
      </p:sp>
      <p:sp>
        <p:nvSpPr>
          <p:cNvPr id="14" name="Text 12"/>
          <p:cNvSpPr/>
          <p:nvPr/>
        </p:nvSpPr>
        <p:spPr>
          <a:xfrm>
            <a:off x="777240" y="3840480"/>
            <a:ext cx="6766560" cy="384048"/>
          </a:xfrm>
          <a:prstGeom prst="roundRect">
            <a:avLst>
              <a:gd name="adj" fmla="val 11905"/>
            </a:avLst>
          </a:prstGeom>
          <a:solidFill>
            <a:schemeClr val="tx2"/>
          </a:solidFill>
          <a:ln/>
        </p:spPr>
        <p:txBody>
          <a:bodyPr wrap="square" lIns="381" tIns="381" rIns="381" bIns="381" rtlCol="0" anchor="ctr"/>
          <a:lstStyle/>
          <a:p>
            <a:pPr marL="0" indent="0" algn="ctr">
              <a:buNone/>
            </a:pPr>
            <a:r>
              <a:rPr lang="en-US" sz="1200" b="1" dirty="0">
                <a:solidFill>
                  <a:schemeClr val="bg1"/>
                </a:solidFill>
              </a:rPr>
              <a:t>PCIe Gen5 switches: link GPUs to NICs, NVMe and CPUs</a:t>
            </a:r>
            <a:endParaRPr lang="en-US" sz="1200" dirty="0"/>
          </a:p>
        </p:txBody>
      </p:sp>
      <p:sp>
        <p:nvSpPr>
          <p:cNvPr id="15" name="Text 13"/>
          <p:cNvSpPr/>
          <p:nvPr/>
        </p:nvSpPr>
        <p:spPr>
          <a:xfrm>
            <a:off x="777240" y="4361688"/>
            <a:ext cx="1554480" cy="777240"/>
          </a:xfrm>
          <a:prstGeom prst="roundRect">
            <a:avLst>
              <a:gd name="adj" fmla="val 5882"/>
            </a:avLst>
          </a:prstGeom>
          <a:solidFill>
            <a:schemeClr val="accent5"/>
          </a:solidFill>
          <a:ln/>
        </p:spPr>
        <p:txBody>
          <a:bodyPr wrap="square" lIns="381" tIns="381" rIns="381" bIns="381" rtlCol="0" anchor="ctr"/>
          <a:lstStyle/>
          <a:p>
            <a:pPr marL="0" indent="0" algn="ctr">
              <a:buNone/>
            </a:pPr>
            <a:r>
              <a:rPr lang="en-US" sz="1200" b="1" dirty="0">
                <a:solidFill>
                  <a:schemeClr val="bg1"/>
                </a:solidFill>
              </a:rPr>
              <a:t>CPU 0</a:t>
            </a:r>
            <a:endParaRPr lang="en-US" sz="1200" dirty="0"/>
          </a:p>
          <a:p>
            <a:pPr marL="0" indent="0" algn="ctr">
              <a:buNone/>
            </a:pPr>
            <a:r>
              <a:rPr lang="en-US" sz="1200" b="1" dirty="0">
                <a:solidFill>
                  <a:schemeClr val="bg1"/>
                </a:solidFill>
              </a:rPr>
              <a:t>x86 or Grace</a:t>
            </a:r>
            <a:endParaRPr lang="en-US" sz="1200" dirty="0"/>
          </a:p>
        </p:txBody>
      </p:sp>
      <p:sp>
        <p:nvSpPr>
          <p:cNvPr id="16" name="Text 14"/>
          <p:cNvSpPr/>
          <p:nvPr/>
        </p:nvSpPr>
        <p:spPr>
          <a:xfrm>
            <a:off x="2514600" y="4361688"/>
            <a:ext cx="1554480" cy="777240"/>
          </a:xfrm>
          <a:prstGeom prst="roundRect">
            <a:avLst>
              <a:gd name="adj" fmla="val 5882"/>
            </a:avLst>
          </a:prstGeom>
          <a:solidFill>
            <a:schemeClr val="accent5"/>
          </a:solidFill>
          <a:ln/>
        </p:spPr>
        <p:txBody>
          <a:bodyPr wrap="square" lIns="381" tIns="381" rIns="381" bIns="381" rtlCol="0" anchor="ctr"/>
          <a:lstStyle/>
          <a:p>
            <a:pPr marL="0" indent="0" algn="ctr">
              <a:buNone/>
            </a:pPr>
            <a:r>
              <a:rPr lang="en-US" sz="1200" b="1" dirty="0">
                <a:solidFill>
                  <a:schemeClr val="bg1"/>
                </a:solidFill>
              </a:rPr>
              <a:t>CPU 1</a:t>
            </a:r>
            <a:endParaRPr lang="en-US" sz="1200" dirty="0"/>
          </a:p>
          <a:p>
            <a:pPr marL="0" indent="0" algn="ctr">
              <a:buNone/>
            </a:pPr>
            <a:r>
              <a:rPr lang="en-US" sz="1200" b="1" dirty="0">
                <a:solidFill>
                  <a:schemeClr val="bg1"/>
                </a:solidFill>
              </a:rPr>
              <a:t>2–4 TB RAM</a:t>
            </a:r>
            <a:endParaRPr lang="en-US" sz="1200" dirty="0"/>
          </a:p>
        </p:txBody>
      </p:sp>
      <p:sp>
        <p:nvSpPr>
          <p:cNvPr id="17" name="Text 15"/>
          <p:cNvSpPr/>
          <p:nvPr/>
        </p:nvSpPr>
        <p:spPr>
          <a:xfrm>
            <a:off x="4251960" y="4361688"/>
            <a:ext cx="1554480" cy="777240"/>
          </a:xfrm>
          <a:prstGeom prst="roundRect">
            <a:avLst>
              <a:gd name="adj" fmla="val 5882"/>
            </a:avLst>
          </a:prstGeom>
          <a:solidFill>
            <a:schemeClr val="tx1"/>
          </a:solidFill>
          <a:ln/>
        </p:spPr>
        <p:txBody>
          <a:bodyPr wrap="square" lIns="381" tIns="381" rIns="381" bIns="381" rtlCol="0" anchor="ctr"/>
          <a:lstStyle/>
          <a:p>
            <a:pPr marL="0" indent="0" algn="ctr">
              <a:buNone/>
            </a:pPr>
            <a:r>
              <a:rPr lang="en-US" sz="1200" b="1" dirty="0">
                <a:solidFill>
                  <a:schemeClr val="accent1"/>
                </a:solidFill>
              </a:rPr>
              <a:t>8× ConnectX</a:t>
            </a:r>
            <a:endParaRPr lang="en-US" sz="1200" dirty="0"/>
          </a:p>
          <a:p>
            <a:pPr marL="0" indent="0" algn="ctr">
              <a:buNone/>
            </a:pPr>
            <a:r>
              <a:rPr lang="en-US" sz="1200" b="1" dirty="0">
                <a:solidFill>
                  <a:schemeClr val="accent1"/>
                </a:solidFill>
              </a:rPr>
              <a:t>400 Gb/s each</a:t>
            </a:r>
            <a:endParaRPr lang="en-US" sz="1200" dirty="0"/>
          </a:p>
        </p:txBody>
      </p:sp>
      <p:sp>
        <p:nvSpPr>
          <p:cNvPr id="18" name="Text 16"/>
          <p:cNvSpPr/>
          <p:nvPr/>
        </p:nvSpPr>
        <p:spPr>
          <a:xfrm>
            <a:off x="5989320" y="4361688"/>
            <a:ext cx="1554480" cy="777240"/>
          </a:xfrm>
          <a:prstGeom prst="roundRect">
            <a:avLst>
              <a:gd name="adj" fmla="val 5882"/>
            </a:avLst>
          </a:prstGeom>
          <a:solidFill>
            <a:schemeClr val="tx1"/>
          </a:solidFill>
          <a:ln/>
        </p:spPr>
        <p:txBody>
          <a:bodyPr wrap="square" lIns="381" tIns="381" rIns="381" bIns="381" rtlCol="0" anchor="ctr"/>
          <a:lstStyle/>
          <a:p>
            <a:pPr marL="0" indent="0" algn="ctr">
              <a:buNone/>
            </a:pPr>
            <a:r>
              <a:rPr lang="en-US" sz="1200" b="1" dirty="0">
                <a:solidFill>
                  <a:schemeClr val="accent1"/>
                </a:solidFill>
              </a:rPr>
              <a:t>2× BlueField-3</a:t>
            </a:r>
            <a:endParaRPr lang="en-US" sz="1200" dirty="0"/>
          </a:p>
          <a:p>
            <a:pPr marL="0" indent="0" algn="ctr">
              <a:buNone/>
            </a:pPr>
            <a:r>
              <a:rPr lang="en-US" sz="1200" b="1" dirty="0">
                <a:solidFill>
                  <a:schemeClr val="accent1"/>
                </a:solidFill>
              </a:rPr>
              <a:t>DPU</a:t>
            </a:r>
            <a:endParaRPr lang="en-US" sz="1200" dirty="0"/>
          </a:p>
        </p:txBody>
      </p:sp>
      <p:sp>
        <p:nvSpPr>
          <p:cNvPr id="19" name="Text 17"/>
          <p:cNvSpPr/>
          <p:nvPr/>
        </p:nvSpPr>
        <p:spPr>
          <a:xfrm>
            <a:off x="777240" y="5276088"/>
            <a:ext cx="3291840" cy="731520"/>
          </a:xfrm>
          <a:prstGeom prst="roundRect">
            <a:avLst>
              <a:gd name="adj" fmla="val 6250"/>
            </a:avLst>
          </a:prstGeom>
          <a:solidFill>
            <a:schemeClr val="bg1"/>
          </a:solidFill>
          <a:ln w="12700">
            <a:solidFill>
              <a:srgbClr val="B9C6B6"/>
            </a:solidFill>
          </a:ln>
        </p:spPr>
        <p:txBody>
          <a:bodyPr wrap="square" lIns="381" tIns="381" rIns="381" bIns="381" rtlCol="0" anchor="ctr"/>
          <a:lstStyle/>
          <a:p>
            <a:pPr marL="0" indent="0" algn="ctr">
              <a:buNone/>
            </a:pPr>
            <a:r>
              <a:rPr lang="en-US" sz="1200" b="1" dirty="0">
                <a:solidFill>
                  <a:schemeClr val="tx1"/>
                </a:solidFill>
              </a:rPr>
              <a:t>NVMe SSDs: OS + local data cache</a:t>
            </a:r>
            <a:endParaRPr lang="en-US" sz="1200" dirty="0"/>
          </a:p>
        </p:txBody>
      </p:sp>
      <p:sp>
        <p:nvSpPr>
          <p:cNvPr id="20" name="Text 18"/>
          <p:cNvSpPr/>
          <p:nvPr/>
        </p:nvSpPr>
        <p:spPr>
          <a:xfrm>
            <a:off x="4251960" y="5276088"/>
            <a:ext cx="3291840" cy="731520"/>
          </a:xfrm>
          <a:prstGeom prst="roundRect">
            <a:avLst>
              <a:gd name="adj" fmla="val 6250"/>
            </a:avLst>
          </a:prstGeom>
          <a:solidFill>
            <a:schemeClr val="bg1"/>
          </a:solidFill>
          <a:ln w="12700">
            <a:solidFill>
              <a:srgbClr val="B9C6B6"/>
            </a:solidFill>
          </a:ln>
        </p:spPr>
        <p:txBody>
          <a:bodyPr wrap="square" lIns="381" tIns="381" rIns="381" bIns="381" rtlCol="0" anchor="ctr"/>
          <a:lstStyle/>
          <a:p>
            <a:pPr marL="0" indent="0" algn="ctr">
              <a:buNone/>
            </a:pPr>
            <a:r>
              <a:rPr lang="en-US" sz="1200" b="1" dirty="0">
                <a:solidFill>
                  <a:schemeClr val="tx1"/>
                </a:solidFill>
              </a:rPr>
              <a:t>BMC: out-of-band management</a:t>
            </a:r>
            <a:endParaRPr lang="en-US" sz="1200" dirty="0"/>
          </a:p>
        </p:txBody>
      </p:sp>
      <p:sp>
        <p:nvSpPr>
          <p:cNvPr id="21" name="Text 19"/>
          <p:cNvSpPr txBox="1"/>
          <p:nvPr/>
        </p:nvSpPr>
        <p:spPr>
          <a:xfrm>
            <a:off x="8092440" y="1572768"/>
            <a:ext cx="3520440" cy="365760"/>
          </a:xfrm>
          <a:prstGeom prst="rect">
            <a:avLst/>
          </a:prstGeom>
          <a:noFill/>
          <a:ln/>
        </p:spPr>
        <p:txBody>
          <a:bodyPr wrap="square" lIns="0" tIns="0" rIns="0" bIns="0" rtlCol="0" anchor="t"/>
          <a:lstStyle/>
          <a:p>
            <a:pPr marL="0" indent="0">
              <a:buNone/>
            </a:pPr>
            <a:r>
              <a:rPr lang="en-US" sz="1700" b="1" dirty="0">
                <a:solidFill>
                  <a:schemeClr val="tx1"/>
                </a:solidFill>
              </a:rPr>
              <a:t>Example: DGX B200</a:t>
            </a:r>
            <a:endParaRPr lang="en-US" sz="1700" dirty="0"/>
          </a:p>
        </p:txBody>
      </p:sp>
      <p:sp>
        <p:nvSpPr>
          <p:cNvPr id="22" name="Text 20"/>
          <p:cNvSpPr txBox="1"/>
          <p:nvPr/>
        </p:nvSpPr>
        <p:spPr>
          <a:xfrm>
            <a:off x="8092440" y="2011680"/>
            <a:ext cx="1691640" cy="594360"/>
          </a:xfrm>
          <a:prstGeom prst="rect">
            <a:avLst/>
          </a:prstGeom>
          <a:noFill/>
          <a:ln/>
        </p:spPr>
        <p:txBody>
          <a:bodyPr wrap="square" lIns="0" tIns="0" rIns="0" bIns="0" rtlCol="0" anchor="t"/>
          <a:lstStyle/>
          <a:p>
            <a:pPr marL="0" indent="0">
              <a:buNone/>
            </a:pPr>
            <a:r>
              <a:rPr lang="en-US" sz="3000" b="1" dirty="0">
                <a:solidFill>
                  <a:schemeClr val="accent2"/>
                </a:solidFill>
                <a:latin typeface="Arial" pitchFamily="34" charset="0"/>
                <a:ea typeface="Arial" pitchFamily="34" charset="-122"/>
                <a:cs typeface="Arial" pitchFamily="34" charset="-120"/>
              </a:rPr>
              <a:t>8×</a:t>
            </a:r>
            <a:endParaRPr lang="en-US" sz="3000" dirty="0"/>
          </a:p>
        </p:txBody>
      </p:sp>
      <p:sp>
        <p:nvSpPr>
          <p:cNvPr id="23" name="Text 21"/>
          <p:cNvSpPr txBox="1"/>
          <p:nvPr/>
        </p:nvSpPr>
        <p:spPr>
          <a:xfrm>
            <a:off x="8092440" y="2633472"/>
            <a:ext cx="1691640" cy="502920"/>
          </a:xfrm>
          <a:prstGeom prst="rect">
            <a:avLst/>
          </a:prstGeom>
          <a:noFill/>
          <a:ln/>
        </p:spPr>
        <p:txBody>
          <a:bodyPr wrap="square" lIns="0" tIns="0" rIns="0" bIns="0" rtlCol="0" anchor="t"/>
          <a:lstStyle/>
          <a:p>
            <a:pPr marL="0" indent="0">
              <a:buNone/>
            </a:pPr>
            <a:r>
              <a:rPr lang="en-US" sz="1300" dirty="0">
                <a:solidFill>
                  <a:schemeClr val="tx2"/>
                </a:solidFill>
              </a:rPr>
              <a:t>B200 GPUs</a:t>
            </a:r>
            <a:endParaRPr lang="en-US" sz="1300" dirty="0"/>
          </a:p>
        </p:txBody>
      </p:sp>
      <p:sp>
        <p:nvSpPr>
          <p:cNvPr id="24" name="Text 22"/>
          <p:cNvSpPr txBox="1"/>
          <p:nvPr/>
        </p:nvSpPr>
        <p:spPr>
          <a:xfrm>
            <a:off x="9921240" y="2011680"/>
            <a:ext cx="1691640" cy="594360"/>
          </a:xfrm>
          <a:prstGeom prst="rect">
            <a:avLst/>
          </a:prstGeom>
          <a:noFill/>
          <a:ln/>
        </p:spPr>
        <p:txBody>
          <a:bodyPr wrap="square" lIns="0" tIns="0" rIns="0" bIns="0" rtlCol="0" anchor="t"/>
          <a:lstStyle/>
          <a:p>
            <a:pPr marL="0" indent="0">
              <a:buNone/>
            </a:pPr>
            <a:r>
              <a:rPr lang="en-US" sz="2600" b="1" dirty="0">
                <a:solidFill>
                  <a:schemeClr val="accent2"/>
                </a:solidFill>
                <a:latin typeface="Arial" pitchFamily="34" charset="0"/>
                <a:ea typeface="Arial" pitchFamily="34" charset="-122"/>
                <a:cs typeface="Arial" pitchFamily="34" charset="-120"/>
              </a:rPr>
              <a:t>1,440 GB</a:t>
            </a:r>
            <a:endParaRPr lang="en-US" sz="2600" dirty="0"/>
          </a:p>
        </p:txBody>
      </p:sp>
      <p:sp>
        <p:nvSpPr>
          <p:cNvPr id="25" name="Text 23"/>
          <p:cNvSpPr txBox="1"/>
          <p:nvPr/>
        </p:nvSpPr>
        <p:spPr>
          <a:xfrm>
            <a:off x="9921240" y="2633472"/>
            <a:ext cx="1691640" cy="502920"/>
          </a:xfrm>
          <a:prstGeom prst="rect">
            <a:avLst/>
          </a:prstGeom>
          <a:noFill/>
          <a:ln/>
        </p:spPr>
        <p:txBody>
          <a:bodyPr wrap="square" lIns="0" tIns="0" rIns="0" bIns="0" rtlCol="0" anchor="t"/>
          <a:lstStyle/>
          <a:p>
            <a:pPr marL="0" indent="0">
              <a:buNone/>
            </a:pPr>
            <a:r>
              <a:rPr lang="en-US" sz="1300" dirty="0">
                <a:solidFill>
                  <a:schemeClr val="tx2"/>
                </a:solidFill>
              </a:rPr>
              <a:t>total HBM3e</a:t>
            </a:r>
            <a:endParaRPr lang="en-US" sz="1300" dirty="0"/>
          </a:p>
        </p:txBody>
      </p:sp>
      <p:sp>
        <p:nvSpPr>
          <p:cNvPr id="26" name="Text 24"/>
          <p:cNvSpPr txBox="1"/>
          <p:nvPr/>
        </p:nvSpPr>
        <p:spPr>
          <a:xfrm>
            <a:off x="8092440" y="3246120"/>
            <a:ext cx="1691640" cy="594360"/>
          </a:xfrm>
          <a:prstGeom prst="rect">
            <a:avLst/>
          </a:prstGeom>
          <a:noFill/>
          <a:ln/>
        </p:spPr>
        <p:txBody>
          <a:bodyPr wrap="square" lIns="0" tIns="0" rIns="0" bIns="0" rtlCol="0" anchor="t"/>
          <a:lstStyle/>
          <a:p>
            <a:pPr marL="0" indent="0">
              <a:buNone/>
            </a:pPr>
            <a:r>
              <a:rPr lang="en-US" sz="3000" b="1" dirty="0">
                <a:solidFill>
                  <a:schemeClr val="accent2"/>
                </a:solidFill>
                <a:latin typeface="Arial" pitchFamily="34" charset="0"/>
                <a:ea typeface="Arial" pitchFamily="34" charset="-122"/>
                <a:cs typeface="Arial" pitchFamily="34" charset="-120"/>
              </a:rPr>
              <a:t>72 PF</a:t>
            </a:r>
            <a:endParaRPr lang="en-US" sz="3000" dirty="0"/>
          </a:p>
        </p:txBody>
      </p:sp>
      <p:sp>
        <p:nvSpPr>
          <p:cNvPr id="27" name="Text 25"/>
          <p:cNvSpPr txBox="1"/>
          <p:nvPr/>
        </p:nvSpPr>
        <p:spPr>
          <a:xfrm>
            <a:off x="8092440" y="3867912"/>
            <a:ext cx="1691640" cy="502920"/>
          </a:xfrm>
          <a:prstGeom prst="rect">
            <a:avLst/>
          </a:prstGeom>
          <a:noFill/>
          <a:ln/>
        </p:spPr>
        <p:txBody>
          <a:bodyPr wrap="square" lIns="0" tIns="0" rIns="0" bIns="0" rtlCol="0" anchor="t"/>
          <a:lstStyle/>
          <a:p>
            <a:pPr marL="0" indent="0">
              <a:buNone/>
            </a:pPr>
            <a:r>
              <a:rPr lang="en-US" sz="1300" dirty="0">
                <a:solidFill>
                  <a:schemeClr val="tx2"/>
                </a:solidFill>
              </a:rPr>
              <a:t>FP8 training</a:t>
            </a:r>
            <a:endParaRPr lang="en-US" sz="1300" dirty="0"/>
          </a:p>
        </p:txBody>
      </p:sp>
      <p:sp>
        <p:nvSpPr>
          <p:cNvPr id="28" name="Text 26"/>
          <p:cNvSpPr txBox="1"/>
          <p:nvPr/>
        </p:nvSpPr>
        <p:spPr>
          <a:xfrm>
            <a:off x="9921240" y="3246120"/>
            <a:ext cx="1691640" cy="594360"/>
          </a:xfrm>
          <a:prstGeom prst="rect">
            <a:avLst/>
          </a:prstGeom>
          <a:noFill/>
          <a:ln/>
        </p:spPr>
        <p:txBody>
          <a:bodyPr wrap="square" lIns="0" tIns="0" rIns="0" bIns="0" rtlCol="0" anchor="t"/>
          <a:lstStyle/>
          <a:p>
            <a:pPr marL="0" indent="0">
              <a:buNone/>
            </a:pPr>
            <a:r>
              <a:rPr lang="en-US" sz="3000" b="1" dirty="0">
                <a:solidFill>
                  <a:schemeClr val="accent2"/>
                </a:solidFill>
                <a:latin typeface="Arial" pitchFamily="34" charset="0"/>
                <a:ea typeface="Arial" pitchFamily="34" charset="-122"/>
                <a:cs typeface="Arial" pitchFamily="34" charset="-120"/>
              </a:rPr>
              <a:t>144 PF</a:t>
            </a:r>
            <a:endParaRPr lang="en-US" sz="3000" dirty="0"/>
          </a:p>
        </p:txBody>
      </p:sp>
      <p:sp>
        <p:nvSpPr>
          <p:cNvPr id="29" name="Text 27"/>
          <p:cNvSpPr txBox="1"/>
          <p:nvPr/>
        </p:nvSpPr>
        <p:spPr>
          <a:xfrm>
            <a:off x="9921240" y="3867912"/>
            <a:ext cx="1691640" cy="502920"/>
          </a:xfrm>
          <a:prstGeom prst="rect">
            <a:avLst/>
          </a:prstGeom>
          <a:noFill/>
          <a:ln/>
        </p:spPr>
        <p:txBody>
          <a:bodyPr wrap="square" lIns="0" tIns="0" rIns="0" bIns="0" rtlCol="0" anchor="t"/>
          <a:lstStyle/>
          <a:p>
            <a:pPr marL="0" indent="0">
              <a:buNone/>
            </a:pPr>
            <a:r>
              <a:rPr lang="en-US" sz="1300" dirty="0">
                <a:solidFill>
                  <a:schemeClr val="tx2"/>
                </a:solidFill>
              </a:rPr>
              <a:t>FP4 inference</a:t>
            </a:r>
            <a:endParaRPr lang="en-US" sz="1300" dirty="0"/>
          </a:p>
        </p:txBody>
      </p:sp>
      <p:sp>
        <p:nvSpPr>
          <p:cNvPr id="30" name="Text 28"/>
          <p:cNvSpPr txBox="1"/>
          <p:nvPr/>
        </p:nvSpPr>
        <p:spPr>
          <a:xfrm>
            <a:off x="8092440" y="4480560"/>
            <a:ext cx="1691640" cy="594360"/>
          </a:xfrm>
          <a:prstGeom prst="rect">
            <a:avLst/>
          </a:prstGeom>
          <a:noFill/>
          <a:ln/>
        </p:spPr>
        <p:txBody>
          <a:bodyPr wrap="square" lIns="0" tIns="0" rIns="0" bIns="0" rtlCol="0" anchor="t"/>
          <a:lstStyle/>
          <a:p>
            <a:pPr marL="0" indent="0">
              <a:buNone/>
            </a:pPr>
            <a:r>
              <a:rPr lang="en-US" sz="2600" b="1" dirty="0">
                <a:solidFill>
                  <a:schemeClr val="accent2"/>
                </a:solidFill>
                <a:latin typeface="Arial" pitchFamily="34" charset="0"/>
                <a:ea typeface="Arial" pitchFamily="34" charset="-122"/>
                <a:cs typeface="Arial" pitchFamily="34" charset="-120"/>
              </a:rPr>
              <a:t>~14.3 kW</a:t>
            </a:r>
            <a:endParaRPr lang="en-US" sz="2600" dirty="0"/>
          </a:p>
        </p:txBody>
      </p:sp>
      <p:sp>
        <p:nvSpPr>
          <p:cNvPr id="31" name="Text 29"/>
          <p:cNvSpPr txBox="1"/>
          <p:nvPr/>
        </p:nvSpPr>
        <p:spPr>
          <a:xfrm>
            <a:off x="8092440" y="5102352"/>
            <a:ext cx="1691640" cy="502920"/>
          </a:xfrm>
          <a:prstGeom prst="rect">
            <a:avLst/>
          </a:prstGeom>
          <a:noFill/>
          <a:ln/>
        </p:spPr>
        <p:txBody>
          <a:bodyPr wrap="square" lIns="0" tIns="0" rIns="0" bIns="0" rtlCol="0" anchor="t"/>
          <a:lstStyle/>
          <a:p>
            <a:pPr marL="0" indent="0">
              <a:buNone/>
            </a:pPr>
            <a:r>
              <a:rPr lang="en-US" sz="1300" dirty="0">
                <a:solidFill>
                  <a:schemeClr val="tx2"/>
                </a:solidFill>
              </a:rPr>
              <a:t>maximum power</a:t>
            </a:r>
            <a:endParaRPr lang="en-US" sz="1300" dirty="0"/>
          </a:p>
        </p:txBody>
      </p:sp>
      <p:sp>
        <p:nvSpPr>
          <p:cNvPr id="32" name="Text 30"/>
          <p:cNvSpPr txBox="1"/>
          <p:nvPr/>
        </p:nvSpPr>
        <p:spPr>
          <a:xfrm>
            <a:off x="9921240" y="4480560"/>
            <a:ext cx="1691640" cy="594360"/>
          </a:xfrm>
          <a:prstGeom prst="rect">
            <a:avLst/>
          </a:prstGeom>
          <a:noFill/>
          <a:ln/>
        </p:spPr>
        <p:txBody>
          <a:bodyPr wrap="square" lIns="0" tIns="0" rIns="0" bIns="0" rtlCol="0" anchor="t"/>
          <a:lstStyle/>
          <a:p>
            <a:pPr marL="0" indent="0">
              <a:buNone/>
            </a:pPr>
            <a:r>
              <a:rPr lang="en-US" sz="3000" b="1" dirty="0">
                <a:solidFill>
                  <a:schemeClr val="accent2"/>
                </a:solidFill>
                <a:latin typeface="Arial" pitchFamily="34" charset="0"/>
                <a:ea typeface="Arial" pitchFamily="34" charset="-122"/>
                <a:cs typeface="Arial" pitchFamily="34" charset="-120"/>
              </a:rPr>
              <a:t>1:1</a:t>
            </a:r>
            <a:endParaRPr lang="en-US" sz="3000" dirty="0"/>
          </a:p>
        </p:txBody>
      </p:sp>
      <p:sp>
        <p:nvSpPr>
          <p:cNvPr id="33" name="Text 31"/>
          <p:cNvSpPr txBox="1"/>
          <p:nvPr/>
        </p:nvSpPr>
        <p:spPr>
          <a:xfrm>
            <a:off x="9921240" y="5102352"/>
            <a:ext cx="1691640" cy="502920"/>
          </a:xfrm>
          <a:prstGeom prst="rect">
            <a:avLst/>
          </a:prstGeom>
          <a:noFill/>
          <a:ln/>
        </p:spPr>
        <p:txBody>
          <a:bodyPr wrap="square" lIns="0" tIns="0" rIns="0" bIns="0" rtlCol="0" anchor="t"/>
          <a:lstStyle/>
          <a:p>
            <a:pPr marL="0" indent="0">
              <a:buNone/>
            </a:pPr>
            <a:r>
              <a:rPr lang="en-US" sz="1300" dirty="0">
                <a:solidFill>
                  <a:schemeClr val="tx2"/>
                </a:solidFill>
              </a:rPr>
              <a:t>GPU-to-NIC ratio</a:t>
            </a:r>
            <a:endParaRPr lang="en-US" sz="1300" dirty="0"/>
          </a:p>
        </p:txBody>
      </p:sp>
      <p:sp>
        <p:nvSpPr>
          <p:cNvPr id="34" name="Text 32"/>
          <p:cNvSpPr txBox="1"/>
          <p:nvPr/>
        </p:nvSpPr>
        <p:spPr>
          <a:xfrm>
            <a:off x="8092440" y="5715000"/>
            <a:ext cx="3520440" cy="457200"/>
          </a:xfrm>
          <a:prstGeom prst="rect">
            <a:avLst/>
          </a:prstGeom>
          <a:noFill/>
          <a:ln/>
        </p:spPr>
        <p:txBody>
          <a:bodyPr wrap="square" lIns="0" tIns="0" rIns="0" bIns="0" rtlCol="0" anchor="t"/>
          <a:lstStyle/>
          <a:p>
            <a:pPr marL="0" indent="0">
              <a:buNone/>
            </a:pPr>
            <a:r>
              <a:rPr lang="en-US" sz="1100" dirty="0">
                <a:solidFill>
                  <a:schemeClr val="accent5"/>
                </a:solidFill>
              </a:rPr>
              <a:t>PF = petaFLOPS. FP4 figure is with sparsity, per NVIDIA's datasheet.</a:t>
            </a:r>
            <a:endParaRPr lang="en-US" sz="1100" dirty="0"/>
          </a:p>
        </p:txBody>
      </p:sp>
      <p:sp>
        <p:nvSpPr>
          <p:cNvPr id="3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Networking: four distinct networks in an AI cluster</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Separate fabrics keep GPU traffic, storage traffic and management traffic from interfering</a:t>
            </a:r>
            <a:endParaRPr lang="en-US" sz="1600" dirty="0"/>
          </a:p>
        </p:txBody>
      </p:sp>
      <p:sp>
        <p:nvSpPr>
          <p:cNvPr id="4" name="Text 2"/>
          <p:cNvSpPr txBox="1"/>
          <p:nvPr/>
        </p:nvSpPr>
        <p:spPr>
          <a:xfrm>
            <a:off x="1280160" y="1508760"/>
            <a:ext cx="2743200" cy="274320"/>
          </a:xfrm>
          <a:prstGeom prst="rect">
            <a:avLst/>
          </a:prstGeom>
          <a:noFill/>
          <a:ln/>
        </p:spPr>
        <p:txBody>
          <a:bodyPr wrap="square" lIns="0" tIns="0" rIns="0" bIns="0" rtlCol="0" anchor="t"/>
          <a:lstStyle/>
          <a:p>
            <a:pPr marL="0" indent="0">
              <a:buNone/>
            </a:pPr>
            <a:r>
              <a:rPr lang="en-US" sz="1200" b="1" dirty="0">
                <a:solidFill>
                  <a:schemeClr val="accent5"/>
                </a:solidFill>
              </a:rPr>
              <a:t>Network</a:t>
            </a:r>
            <a:endParaRPr lang="en-US" sz="1200" dirty="0"/>
          </a:p>
        </p:txBody>
      </p:sp>
      <p:sp>
        <p:nvSpPr>
          <p:cNvPr id="5" name="Text 3"/>
          <p:cNvSpPr txBox="1"/>
          <p:nvPr/>
        </p:nvSpPr>
        <p:spPr>
          <a:xfrm>
            <a:off x="5852160" y="1508760"/>
            <a:ext cx="3200400" cy="274320"/>
          </a:xfrm>
          <a:prstGeom prst="rect">
            <a:avLst/>
          </a:prstGeom>
          <a:noFill/>
          <a:ln/>
        </p:spPr>
        <p:txBody>
          <a:bodyPr wrap="square" lIns="0" tIns="0" rIns="0" bIns="0" rtlCol="0" anchor="t"/>
          <a:lstStyle/>
          <a:p>
            <a:pPr marL="0" indent="0">
              <a:buNone/>
            </a:pPr>
            <a:r>
              <a:rPr lang="en-US" sz="1200" b="1" dirty="0">
                <a:solidFill>
                  <a:schemeClr val="accent5"/>
                </a:solidFill>
              </a:rPr>
              <a:t>Technology</a:t>
            </a:r>
            <a:endParaRPr lang="en-US" sz="1200" dirty="0"/>
          </a:p>
        </p:txBody>
      </p:sp>
      <p:sp>
        <p:nvSpPr>
          <p:cNvPr id="6" name="Text 4"/>
          <p:cNvSpPr txBox="1"/>
          <p:nvPr/>
        </p:nvSpPr>
        <p:spPr>
          <a:xfrm>
            <a:off x="9372600" y="1508760"/>
            <a:ext cx="2194560" cy="274320"/>
          </a:xfrm>
          <a:prstGeom prst="rect">
            <a:avLst/>
          </a:prstGeom>
          <a:noFill/>
          <a:ln/>
        </p:spPr>
        <p:txBody>
          <a:bodyPr wrap="square" lIns="0" tIns="0" rIns="0" bIns="0" rtlCol="0" anchor="t"/>
          <a:lstStyle/>
          <a:p>
            <a:pPr marL="0" indent="0">
              <a:buNone/>
            </a:pPr>
            <a:r>
              <a:rPr lang="en-US" sz="1200" b="1" dirty="0">
                <a:solidFill>
                  <a:schemeClr val="accent5"/>
                </a:solidFill>
              </a:rPr>
              <a:t>Typical bandwidth</a:t>
            </a:r>
            <a:endParaRPr lang="en-US" sz="1200" dirty="0"/>
          </a:p>
        </p:txBody>
      </p:sp>
      <p:sp>
        <p:nvSpPr>
          <p:cNvPr id="7" name="Shape 5"/>
          <p:cNvSpPr/>
          <p:nvPr/>
        </p:nvSpPr>
        <p:spPr>
          <a:xfrm>
            <a:off x="548640" y="1828800"/>
            <a:ext cx="11064240" cy="822960"/>
          </a:xfrm>
          <a:prstGeom prst="roundRect">
            <a:avLst>
              <a:gd name="adj" fmla="val 6667"/>
            </a:avLst>
          </a:prstGeom>
          <a:solidFill>
            <a:schemeClr val="bg2"/>
          </a:solidFill>
          <a:ln/>
        </p:spPr>
        <p:txBody>
          <a:bodyPr/>
          <a:lstStyle/>
          <a:p>
            <a:endParaRPr lang="en-US"/>
          </a:p>
        </p:txBody>
      </p:sp>
      <p:sp>
        <p:nvSpPr>
          <p:cNvPr id="8" name="Shape 6"/>
          <p:cNvSpPr/>
          <p:nvPr/>
        </p:nvSpPr>
        <p:spPr>
          <a:xfrm>
            <a:off x="685800" y="1984248"/>
            <a:ext cx="512064" cy="512064"/>
          </a:xfrm>
          <a:prstGeom prst="ellipse">
            <a:avLst/>
          </a:prstGeom>
          <a:solidFill>
            <a:schemeClr val="accent1"/>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798454" y="2096902"/>
            <a:ext cx="286756" cy="286756"/>
          </a:xfrm>
          <a:prstGeom prst="rect">
            <a:avLst/>
          </a:prstGeom>
        </p:spPr>
      </p:pic>
      <p:sp>
        <p:nvSpPr>
          <p:cNvPr id="10" name="Text 7"/>
          <p:cNvSpPr txBox="1"/>
          <p:nvPr/>
        </p:nvSpPr>
        <p:spPr>
          <a:xfrm>
            <a:off x="1325880" y="1828800"/>
            <a:ext cx="4389120" cy="822960"/>
          </a:xfrm>
          <a:prstGeom prst="rect">
            <a:avLst/>
          </a:prstGeom>
          <a:noFill/>
          <a:ln/>
        </p:spPr>
        <p:txBody>
          <a:bodyPr wrap="square" lIns="0" tIns="0" rIns="0" bIns="0" rtlCol="0" anchor="ctr"/>
          <a:lstStyle/>
          <a:p>
            <a:pPr marL="0" indent="0">
              <a:buNone/>
            </a:pPr>
            <a:r>
              <a:rPr lang="en-US" sz="1500" b="1" dirty="0">
                <a:solidFill>
                  <a:schemeClr val="tx1"/>
                </a:solidFill>
              </a:rPr>
              <a:t>Scale-up (NVLink)</a:t>
            </a:r>
            <a:endParaRPr lang="en-US" sz="1400" dirty="0"/>
          </a:p>
          <a:p>
            <a:pPr marL="0" indent="0">
              <a:buNone/>
            </a:pPr>
            <a:r>
              <a:rPr lang="en-US" sz="1200" dirty="0">
                <a:solidFill>
                  <a:schemeClr val="tx2"/>
                </a:solidFill>
              </a:rPr>
              <a:t>GPU ↔ GPU inside a node or NVL72 rack</a:t>
            </a:r>
            <a:endParaRPr lang="en-US" sz="1400" dirty="0"/>
          </a:p>
        </p:txBody>
      </p:sp>
      <p:sp>
        <p:nvSpPr>
          <p:cNvPr id="11" name="Text 8"/>
          <p:cNvSpPr txBox="1"/>
          <p:nvPr/>
        </p:nvSpPr>
        <p:spPr>
          <a:xfrm>
            <a:off x="5852160" y="1828800"/>
            <a:ext cx="3383280" cy="822960"/>
          </a:xfrm>
          <a:prstGeom prst="rect">
            <a:avLst/>
          </a:prstGeom>
          <a:noFill/>
          <a:ln/>
        </p:spPr>
        <p:txBody>
          <a:bodyPr wrap="square" lIns="0" tIns="0" rIns="0" bIns="0" rtlCol="0" anchor="ctr"/>
          <a:lstStyle/>
          <a:p>
            <a:pPr marL="0" indent="0">
              <a:buNone/>
            </a:pPr>
            <a:r>
              <a:rPr lang="en-US" sz="1300" dirty="0">
                <a:solidFill>
                  <a:schemeClr val="tx1"/>
                </a:solidFill>
              </a:rPr>
              <a:t>NVLink + NVSwitch</a:t>
            </a:r>
            <a:endParaRPr lang="en-US" sz="1300" dirty="0"/>
          </a:p>
        </p:txBody>
      </p:sp>
      <p:sp>
        <p:nvSpPr>
          <p:cNvPr id="12" name="Text 9"/>
          <p:cNvSpPr txBox="1"/>
          <p:nvPr/>
        </p:nvSpPr>
        <p:spPr>
          <a:xfrm>
            <a:off x="9372600" y="1828800"/>
            <a:ext cx="2148840" cy="822960"/>
          </a:xfrm>
          <a:prstGeom prst="rect">
            <a:avLst/>
          </a:prstGeom>
          <a:noFill/>
          <a:ln/>
        </p:spPr>
        <p:txBody>
          <a:bodyPr wrap="square" lIns="0" tIns="0" rIns="0" bIns="0" rtlCol="0" anchor="ctr"/>
          <a:lstStyle/>
          <a:p>
            <a:pPr marL="0" indent="0">
              <a:buNone/>
            </a:pPr>
            <a:r>
              <a:rPr lang="en-US" sz="1400" b="1" dirty="0">
                <a:solidFill>
                  <a:schemeClr val="accent2"/>
                </a:solidFill>
              </a:rPr>
              <a:t>0.9–1.8 TB/s per GPU</a:t>
            </a:r>
            <a:endParaRPr lang="en-US" sz="1400" dirty="0"/>
          </a:p>
        </p:txBody>
      </p:sp>
      <p:sp>
        <p:nvSpPr>
          <p:cNvPr id="13" name="Shape 10"/>
          <p:cNvSpPr/>
          <p:nvPr/>
        </p:nvSpPr>
        <p:spPr>
          <a:xfrm>
            <a:off x="548640" y="2761488"/>
            <a:ext cx="11064240" cy="822960"/>
          </a:xfrm>
          <a:prstGeom prst="roundRect">
            <a:avLst>
              <a:gd name="adj" fmla="val 6667"/>
            </a:avLst>
          </a:prstGeom>
          <a:solidFill>
            <a:schemeClr val="tx1"/>
          </a:solidFill>
          <a:ln/>
        </p:spPr>
        <p:txBody>
          <a:bodyPr/>
          <a:lstStyle/>
          <a:p>
            <a:endParaRPr lang="en-US"/>
          </a:p>
        </p:txBody>
      </p:sp>
      <p:sp>
        <p:nvSpPr>
          <p:cNvPr id="14" name="Shape 11"/>
          <p:cNvSpPr/>
          <p:nvPr/>
        </p:nvSpPr>
        <p:spPr>
          <a:xfrm>
            <a:off x="685800" y="2916936"/>
            <a:ext cx="512064" cy="512064"/>
          </a:xfrm>
          <a:prstGeom prst="ellipse">
            <a:avLst/>
          </a:prstGeom>
          <a:solidFill>
            <a:schemeClr val="accent1"/>
          </a:solidFill>
          <a:ln/>
        </p:spPr>
        <p:txBody>
          <a:bodyPr/>
          <a:lstStyle/>
          <a:p>
            <a:endParaRPr lang="en-US"/>
          </a:p>
        </p:txBody>
      </p:sp>
      <p:pic>
        <p:nvPicPr>
          <p:cNvPr id="15" name="Image 1" descr="preencoded.png"/>
          <p:cNvPicPr>
            <a:picLocks noChangeAspect="1"/>
          </p:cNvPicPr>
          <p:nvPr/>
        </p:nvPicPr>
        <p:blipFill>
          <a:blip r:embed="rId4"/>
          <a:stretch>
            <a:fillRect/>
          </a:stretch>
        </p:blipFill>
        <p:spPr>
          <a:xfrm>
            <a:off x="798454" y="3029590"/>
            <a:ext cx="286756" cy="286756"/>
          </a:xfrm>
          <a:prstGeom prst="rect">
            <a:avLst/>
          </a:prstGeom>
        </p:spPr>
      </p:pic>
      <p:sp>
        <p:nvSpPr>
          <p:cNvPr id="16" name="Text 12"/>
          <p:cNvSpPr txBox="1"/>
          <p:nvPr/>
        </p:nvSpPr>
        <p:spPr>
          <a:xfrm>
            <a:off x="1325880" y="2761488"/>
            <a:ext cx="4389120" cy="822960"/>
          </a:xfrm>
          <a:prstGeom prst="rect">
            <a:avLst/>
          </a:prstGeom>
          <a:noFill/>
          <a:ln/>
        </p:spPr>
        <p:txBody>
          <a:bodyPr wrap="square" lIns="0" tIns="0" rIns="0" bIns="0" rtlCol="0" anchor="ctr"/>
          <a:lstStyle/>
          <a:p>
            <a:pPr marL="0" indent="0">
              <a:buNone/>
            </a:pPr>
            <a:r>
              <a:rPr lang="en-US" sz="1500" b="1" dirty="0">
                <a:solidFill>
                  <a:schemeClr val="bg1"/>
                </a:solidFill>
              </a:rPr>
              <a:t>Scale-out compute fabric</a:t>
            </a:r>
            <a:endParaRPr lang="en-US" sz="1400" dirty="0"/>
          </a:p>
          <a:p>
            <a:pPr marL="0" indent="0">
              <a:buNone/>
            </a:pPr>
            <a:r>
              <a:rPr lang="en-US" sz="1200" dirty="0">
                <a:solidFill>
                  <a:srgbClr val="C9D3CC"/>
                </a:solidFill>
              </a:rPr>
              <a:t>East-west traffic between nodes for collective operations</a:t>
            </a:r>
            <a:endParaRPr lang="en-US" sz="1400" dirty="0"/>
          </a:p>
        </p:txBody>
      </p:sp>
      <p:sp>
        <p:nvSpPr>
          <p:cNvPr id="17" name="Text 13"/>
          <p:cNvSpPr txBox="1"/>
          <p:nvPr/>
        </p:nvSpPr>
        <p:spPr>
          <a:xfrm>
            <a:off x="5852160" y="2761488"/>
            <a:ext cx="3383280" cy="822960"/>
          </a:xfrm>
          <a:prstGeom prst="rect">
            <a:avLst/>
          </a:prstGeom>
          <a:noFill/>
          <a:ln/>
        </p:spPr>
        <p:txBody>
          <a:bodyPr wrap="square" lIns="0" tIns="0" rIns="0" bIns="0" rtlCol="0" anchor="ctr"/>
          <a:lstStyle/>
          <a:p>
            <a:pPr marL="0" indent="0">
              <a:buNone/>
            </a:pPr>
            <a:r>
              <a:rPr lang="en-US" sz="1300" dirty="0">
                <a:solidFill>
                  <a:schemeClr val="bg1"/>
                </a:solidFill>
              </a:rPr>
              <a:t>InfiniBand Quantum-2 / X800 or Spectrum-X Ethernet (RoCE)</a:t>
            </a:r>
            <a:endParaRPr lang="en-US" sz="1300" dirty="0"/>
          </a:p>
        </p:txBody>
      </p:sp>
      <p:sp>
        <p:nvSpPr>
          <p:cNvPr id="18" name="Text 14"/>
          <p:cNvSpPr txBox="1"/>
          <p:nvPr/>
        </p:nvSpPr>
        <p:spPr>
          <a:xfrm>
            <a:off x="9372600" y="2761488"/>
            <a:ext cx="2148840" cy="822960"/>
          </a:xfrm>
          <a:prstGeom prst="rect">
            <a:avLst/>
          </a:prstGeom>
          <a:noFill/>
          <a:ln/>
        </p:spPr>
        <p:txBody>
          <a:bodyPr wrap="square" lIns="0" tIns="0" rIns="0" bIns="0" rtlCol="0" anchor="ctr"/>
          <a:lstStyle/>
          <a:p>
            <a:pPr marL="0" indent="0">
              <a:buNone/>
            </a:pPr>
            <a:r>
              <a:rPr lang="en-US" sz="1400" b="1" dirty="0">
                <a:solidFill>
                  <a:schemeClr val="accent1"/>
                </a:solidFill>
              </a:rPr>
              <a:t>400–800 Gb/s per GPU</a:t>
            </a:r>
            <a:endParaRPr lang="en-US" sz="1400" dirty="0"/>
          </a:p>
        </p:txBody>
      </p:sp>
      <p:sp>
        <p:nvSpPr>
          <p:cNvPr id="19" name="Shape 15"/>
          <p:cNvSpPr/>
          <p:nvPr/>
        </p:nvSpPr>
        <p:spPr>
          <a:xfrm>
            <a:off x="548640" y="3694176"/>
            <a:ext cx="11064240" cy="822960"/>
          </a:xfrm>
          <a:prstGeom prst="roundRect">
            <a:avLst>
              <a:gd name="adj" fmla="val 6667"/>
            </a:avLst>
          </a:prstGeom>
          <a:solidFill>
            <a:schemeClr val="bg2"/>
          </a:solidFill>
          <a:ln/>
        </p:spPr>
        <p:txBody>
          <a:bodyPr/>
          <a:lstStyle/>
          <a:p>
            <a:endParaRPr lang="en-US"/>
          </a:p>
        </p:txBody>
      </p:sp>
      <p:sp>
        <p:nvSpPr>
          <p:cNvPr id="20" name="Shape 16"/>
          <p:cNvSpPr/>
          <p:nvPr/>
        </p:nvSpPr>
        <p:spPr>
          <a:xfrm>
            <a:off x="685800" y="3849624"/>
            <a:ext cx="512064" cy="512064"/>
          </a:xfrm>
          <a:prstGeom prst="ellipse">
            <a:avLst/>
          </a:prstGeom>
          <a:solidFill>
            <a:schemeClr val="accent1"/>
          </a:solidFill>
          <a:ln/>
        </p:spPr>
        <p:txBody>
          <a:bodyPr/>
          <a:lstStyle/>
          <a:p>
            <a:endParaRPr lang="en-US"/>
          </a:p>
        </p:txBody>
      </p:sp>
      <p:pic>
        <p:nvPicPr>
          <p:cNvPr id="21" name="Image 2" descr="preencoded.png"/>
          <p:cNvPicPr>
            <a:picLocks noChangeAspect="1"/>
          </p:cNvPicPr>
          <p:nvPr/>
        </p:nvPicPr>
        <p:blipFill>
          <a:blip r:embed="rId5"/>
          <a:stretch>
            <a:fillRect/>
          </a:stretch>
        </p:blipFill>
        <p:spPr>
          <a:xfrm>
            <a:off x="798454" y="3962278"/>
            <a:ext cx="286756" cy="286756"/>
          </a:xfrm>
          <a:prstGeom prst="rect">
            <a:avLst/>
          </a:prstGeom>
        </p:spPr>
      </p:pic>
      <p:sp>
        <p:nvSpPr>
          <p:cNvPr id="22" name="Text 17"/>
          <p:cNvSpPr txBox="1"/>
          <p:nvPr/>
        </p:nvSpPr>
        <p:spPr>
          <a:xfrm>
            <a:off x="1325880" y="3694176"/>
            <a:ext cx="4389120" cy="822960"/>
          </a:xfrm>
          <a:prstGeom prst="rect">
            <a:avLst/>
          </a:prstGeom>
          <a:noFill/>
          <a:ln/>
        </p:spPr>
        <p:txBody>
          <a:bodyPr wrap="square" lIns="0" tIns="0" rIns="0" bIns="0" rtlCol="0" anchor="ctr"/>
          <a:lstStyle/>
          <a:p>
            <a:pPr marL="0" indent="0">
              <a:buNone/>
            </a:pPr>
            <a:r>
              <a:rPr lang="en-US" sz="1500" b="1" dirty="0">
                <a:solidFill>
                  <a:schemeClr val="tx1"/>
                </a:solidFill>
              </a:rPr>
              <a:t>Storage / front-end</a:t>
            </a:r>
            <a:endParaRPr lang="en-US" sz="1400" dirty="0"/>
          </a:p>
          <a:p>
            <a:pPr marL="0" indent="0">
              <a:buNone/>
            </a:pPr>
            <a:r>
              <a:rPr lang="en-US" sz="1200" dirty="0">
                <a:solidFill>
                  <a:schemeClr val="tx2"/>
                </a:solidFill>
              </a:rPr>
              <a:t>Dataset reads, checkpoints, user and service access</a:t>
            </a:r>
            <a:endParaRPr lang="en-US" sz="1400" dirty="0"/>
          </a:p>
        </p:txBody>
      </p:sp>
      <p:sp>
        <p:nvSpPr>
          <p:cNvPr id="23" name="Text 18"/>
          <p:cNvSpPr txBox="1"/>
          <p:nvPr/>
        </p:nvSpPr>
        <p:spPr>
          <a:xfrm>
            <a:off x="5852160" y="3694176"/>
            <a:ext cx="3383280" cy="822960"/>
          </a:xfrm>
          <a:prstGeom prst="rect">
            <a:avLst/>
          </a:prstGeom>
          <a:noFill/>
          <a:ln/>
        </p:spPr>
        <p:txBody>
          <a:bodyPr wrap="square" lIns="0" tIns="0" rIns="0" bIns="0" rtlCol="0" anchor="ctr"/>
          <a:lstStyle/>
          <a:p>
            <a:pPr marL="0" indent="0">
              <a:buNone/>
            </a:pPr>
            <a:r>
              <a:rPr lang="en-US" sz="1300" dirty="0">
                <a:solidFill>
                  <a:schemeClr val="tx1"/>
                </a:solidFill>
              </a:rPr>
              <a:t>Ethernet via BlueField-3 DPUs</a:t>
            </a:r>
            <a:endParaRPr lang="en-US" sz="1300" dirty="0"/>
          </a:p>
        </p:txBody>
      </p:sp>
      <p:sp>
        <p:nvSpPr>
          <p:cNvPr id="24" name="Text 19"/>
          <p:cNvSpPr txBox="1"/>
          <p:nvPr/>
        </p:nvSpPr>
        <p:spPr>
          <a:xfrm>
            <a:off x="9372600" y="3694176"/>
            <a:ext cx="2148840" cy="822960"/>
          </a:xfrm>
          <a:prstGeom prst="rect">
            <a:avLst/>
          </a:prstGeom>
          <a:noFill/>
          <a:ln/>
        </p:spPr>
        <p:txBody>
          <a:bodyPr wrap="square" lIns="0" tIns="0" rIns="0" bIns="0" rtlCol="0" anchor="ctr"/>
          <a:lstStyle/>
          <a:p>
            <a:pPr marL="0" indent="0">
              <a:buNone/>
            </a:pPr>
            <a:r>
              <a:rPr lang="en-US" sz="1400" b="1" dirty="0">
                <a:solidFill>
                  <a:schemeClr val="accent2"/>
                </a:solidFill>
              </a:rPr>
              <a:t>100–400 Gb/s per node</a:t>
            </a:r>
            <a:endParaRPr lang="en-US" sz="1400" dirty="0"/>
          </a:p>
        </p:txBody>
      </p:sp>
      <p:sp>
        <p:nvSpPr>
          <p:cNvPr id="25" name="Shape 20"/>
          <p:cNvSpPr/>
          <p:nvPr/>
        </p:nvSpPr>
        <p:spPr>
          <a:xfrm>
            <a:off x="548640" y="4626864"/>
            <a:ext cx="11064240" cy="822960"/>
          </a:xfrm>
          <a:prstGeom prst="roundRect">
            <a:avLst>
              <a:gd name="adj" fmla="val 6667"/>
            </a:avLst>
          </a:prstGeom>
          <a:solidFill>
            <a:schemeClr val="bg2"/>
          </a:solidFill>
          <a:ln/>
        </p:spPr>
        <p:txBody>
          <a:bodyPr/>
          <a:lstStyle/>
          <a:p>
            <a:endParaRPr lang="en-US"/>
          </a:p>
        </p:txBody>
      </p:sp>
      <p:sp>
        <p:nvSpPr>
          <p:cNvPr id="26" name="Shape 21"/>
          <p:cNvSpPr/>
          <p:nvPr/>
        </p:nvSpPr>
        <p:spPr>
          <a:xfrm>
            <a:off x="685800" y="4782312"/>
            <a:ext cx="512064" cy="512064"/>
          </a:xfrm>
          <a:prstGeom prst="ellipse">
            <a:avLst/>
          </a:prstGeom>
          <a:solidFill>
            <a:schemeClr val="accent1"/>
          </a:solidFill>
          <a:ln/>
        </p:spPr>
        <p:txBody>
          <a:bodyPr/>
          <a:lstStyle/>
          <a:p>
            <a:endParaRPr lang="en-US"/>
          </a:p>
        </p:txBody>
      </p:sp>
      <p:pic>
        <p:nvPicPr>
          <p:cNvPr id="27" name="Image 3" descr="preencoded.png"/>
          <p:cNvPicPr>
            <a:picLocks noChangeAspect="1"/>
          </p:cNvPicPr>
          <p:nvPr/>
        </p:nvPicPr>
        <p:blipFill>
          <a:blip r:embed="rId6"/>
          <a:stretch>
            <a:fillRect/>
          </a:stretch>
        </p:blipFill>
        <p:spPr>
          <a:xfrm>
            <a:off x="798454" y="4894966"/>
            <a:ext cx="286756" cy="286756"/>
          </a:xfrm>
          <a:prstGeom prst="rect">
            <a:avLst/>
          </a:prstGeom>
        </p:spPr>
      </p:pic>
      <p:sp>
        <p:nvSpPr>
          <p:cNvPr id="28" name="Text 22"/>
          <p:cNvSpPr txBox="1"/>
          <p:nvPr/>
        </p:nvSpPr>
        <p:spPr>
          <a:xfrm>
            <a:off x="1325880" y="4626864"/>
            <a:ext cx="4389120" cy="822960"/>
          </a:xfrm>
          <a:prstGeom prst="rect">
            <a:avLst/>
          </a:prstGeom>
          <a:noFill/>
          <a:ln/>
        </p:spPr>
        <p:txBody>
          <a:bodyPr wrap="square" lIns="0" tIns="0" rIns="0" bIns="0" rtlCol="0" anchor="ctr"/>
          <a:lstStyle/>
          <a:p>
            <a:pPr marL="0" indent="0">
              <a:buNone/>
            </a:pPr>
            <a:r>
              <a:rPr lang="en-US" sz="1500" b="1" dirty="0">
                <a:solidFill>
                  <a:schemeClr val="tx1"/>
                </a:solidFill>
              </a:rPr>
              <a:t>Management (in-band + OOB)</a:t>
            </a:r>
            <a:endParaRPr lang="en-US" sz="1400" dirty="0"/>
          </a:p>
          <a:p>
            <a:pPr marL="0" indent="0">
              <a:buNone/>
            </a:pPr>
            <a:r>
              <a:rPr lang="en-US" sz="1200" dirty="0">
                <a:solidFill>
                  <a:schemeClr val="tx2"/>
                </a:solidFill>
              </a:rPr>
              <a:t>Provisioning, monitoring, BMC access</a:t>
            </a:r>
            <a:endParaRPr lang="en-US" sz="1400" dirty="0"/>
          </a:p>
        </p:txBody>
      </p:sp>
      <p:sp>
        <p:nvSpPr>
          <p:cNvPr id="29" name="Text 23"/>
          <p:cNvSpPr txBox="1"/>
          <p:nvPr/>
        </p:nvSpPr>
        <p:spPr>
          <a:xfrm>
            <a:off x="5852160" y="4626864"/>
            <a:ext cx="3383280" cy="822960"/>
          </a:xfrm>
          <a:prstGeom prst="rect">
            <a:avLst/>
          </a:prstGeom>
          <a:noFill/>
          <a:ln/>
        </p:spPr>
        <p:txBody>
          <a:bodyPr wrap="square" lIns="0" tIns="0" rIns="0" bIns="0" rtlCol="0" anchor="ctr"/>
          <a:lstStyle/>
          <a:p>
            <a:pPr marL="0" indent="0">
              <a:buNone/>
            </a:pPr>
            <a:r>
              <a:rPr lang="en-US" sz="1300" dirty="0">
                <a:solidFill>
                  <a:schemeClr val="tx1"/>
                </a:solidFill>
              </a:rPr>
              <a:t>1–25 GbE Ethernet</a:t>
            </a:r>
            <a:endParaRPr lang="en-US" sz="1300" dirty="0"/>
          </a:p>
        </p:txBody>
      </p:sp>
      <p:sp>
        <p:nvSpPr>
          <p:cNvPr id="30" name="Text 24"/>
          <p:cNvSpPr txBox="1"/>
          <p:nvPr/>
        </p:nvSpPr>
        <p:spPr>
          <a:xfrm>
            <a:off x="9372600" y="4626864"/>
            <a:ext cx="2148840" cy="822960"/>
          </a:xfrm>
          <a:prstGeom prst="rect">
            <a:avLst/>
          </a:prstGeom>
          <a:noFill/>
          <a:ln/>
        </p:spPr>
        <p:txBody>
          <a:bodyPr wrap="square" lIns="0" tIns="0" rIns="0" bIns="0" rtlCol="0" anchor="ctr"/>
          <a:lstStyle/>
          <a:p>
            <a:pPr marL="0" indent="0">
              <a:buNone/>
            </a:pPr>
            <a:r>
              <a:rPr lang="en-US" sz="1400" b="1" dirty="0">
                <a:solidFill>
                  <a:schemeClr val="accent2"/>
                </a:solidFill>
              </a:rPr>
              <a:t>Low bandwidth, high availability</a:t>
            </a:r>
            <a:endParaRPr lang="en-US" sz="1400" dirty="0"/>
          </a:p>
        </p:txBody>
      </p:sp>
      <p:sp>
        <p:nvSpPr>
          <p:cNvPr id="31" name="Shape 25"/>
          <p:cNvSpPr/>
          <p:nvPr/>
        </p:nvSpPr>
        <p:spPr>
          <a:xfrm>
            <a:off x="548640" y="5623560"/>
            <a:ext cx="11064240" cy="548640"/>
          </a:xfrm>
          <a:prstGeom prst="roundRect">
            <a:avLst>
              <a:gd name="adj" fmla="val 13333"/>
            </a:avLst>
          </a:prstGeom>
          <a:solidFill>
            <a:schemeClr val="bg2"/>
          </a:solidFill>
          <a:ln/>
        </p:spPr>
        <p:txBody>
          <a:bodyPr/>
          <a:lstStyle/>
          <a:p>
            <a:endParaRPr lang="en-US"/>
          </a:p>
        </p:txBody>
      </p:sp>
      <p:pic>
        <p:nvPicPr>
          <p:cNvPr id="32" name="Image 4" descr="preencoded.png"/>
          <p:cNvPicPr>
            <a:picLocks noChangeAspect="1"/>
          </p:cNvPicPr>
          <p:nvPr/>
        </p:nvPicPr>
        <p:blipFill>
          <a:blip r:embed="rId7"/>
          <a:stretch>
            <a:fillRect/>
          </a:stretch>
        </p:blipFill>
        <p:spPr>
          <a:xfrm>
            <a:off x="777240" y="5715000"/>
            <a:ext cx="365760" cy="365760"/>
          </a:xfrm>
          <a:prstGeom prst="rect">
            <a:avLst/>
          </a:prstGeom>
        </p:spPr>
      </p:pic>
      <p:sp>
        <p:nvSpPr>
          <p:cNvPr id="33" name="Text 26"/>
          <p:cNvSpPr txBox="1"/>
          <p:nvPr/>
        </p:nvSpPr>
        <p:spPr>
          <a:xfrm>
            <a:off x="1325880" y="5623560"/>
            <a:ext cx="10058400" cy="548640"/>
          </a:xfrm>
          <a:prstGeom prst="rect">
            <a:avLst/>
          </a:prstGeom>
          <a:noFill/>
          <a:ln/>
        </p:spPr>
        <p:txBody>
          <a:bodyPr wrap="square" lIns="0" tIns="0" rIns="0" bIns="0" rtlCol="0" anchor="ctr"/>
          <a:lstStyle/>
          <a:p>
            <a:pPr marL="0" indent="0">
              <a:buNone/>
            </a:pPr>
            <a:r>
              <a:rPr lang="en-US" sz="1300" dirty="0">
                <a:solidFill>
                  <a:schemeClr val="tx1"/>
                </a:solidFill>
              </a:rPr>
              <a:t>Key technologies: GPUDirect RDMA (GPU ↔ NIC with no CPU copy) · SHARP in-network reduction · adaptive routing · congestion control</a:t>
            </a:r>
            <a:endParaRPr lang="en-US" sz="1300" dirty="0"/>
          </a:p>
        </p:txBody>
      </p:sp>
      <p:sp>
        <p:nvSpPr>
          <p:cNvPr id="34"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Rail-optimized topology and scaling to a SuperPOD</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GPU n in every node connects to the same leaf switch ("rail"), so most traffic is one hop away</a:t>
            </a:r>
            <a:endParaRPr lang="en-US" sz="1600" dirty="0"/>
          </a:p>
        </p:txBody>
      </p:sp>
      <p:sp>
        <p:nvSpPr>
          <p:cNvPr id="4" name="Text 2"/>
          <p:cNvSpPr/>
          <p:nvPr/>
        </p:nvSpPr>
        <p:spPr>
          <a:xfrm>
            <a:off x="777240" y="1783080"/>
            <a:ext cx="1463040" cy="411480"/>
          </a:xfrm>
          <a:prstGeom prst="roundRect">
            <a:avLst>
              <a:gd name="adj" fmla="val 11111"/>
            </a:avLst>
          </a:prstGeom>
          <a:solidFill>
            <a:schemeClr val="tx2"/>
          </a:solidFill>
          <a:ln/>
        </p:spPr>
        <p:txBody>
          <a:bodyPr wrap="square" lIns="381" tIns="381" rIns="381" bIns="381" rtlCol="0" anchor="ctr"/>
          <a:lstStyle/>
          <a:p>
            <a:pPr marL="0" indent="0" algn="ctr">
              <a:buNone/>
            </a:pPr>
            <a:r>
              <a:rPr lang="en-US" sz="1200" b="1" dirty="0">
                <a:solidFill>
                  <a:schemeClr val="bg1"/>
                </a:solidFill>
              </a:rPr>
              <a:t>Spine 0</a:t>
            </a:r>
            <a:endParaRPr lang="en-US" sz="1200" dirty="0"/>
          </a:p>
        </p:txBody>
      </p:sp>
      <p:sp>
        <p:nvSpPr>
          <p:cNvPr id="5" name="Text 3"/>
          <p:cNvSpPr/>
          <p:nvPr/>
        </p:nvSpPr>
        <p:spPr>
          <a:xfrm>
            <a:off x="2514600" y="1783080"/>
            <a:ext cx="1463040" cy="411480"/>
          </a:xfrm>
          <a:prstGeom prst="roundRect">
            <a:avLst>
              <a:gd name="adj" fmla="val 11111"/>
            </a:avLst>
          </a:prstGeom>
          <a:solidFill>
            <a:schemeClr val="tx2"/>
          </a:solidFill>
          <a:ln/>
        </p:spPr>
        <p:txBody>
          <a:bodyPr wrap="square" lIns="381" tIns="381" rIns="381" bIns="381" rtlCol="0" anchor="ctr"/>
          <a:lstStyle/>
          <a:p>
            <a:pPr marL="0" indent="0" algn="ctr">
              <a:buNone/>
            </a:pPr>
            <a:r>
              <a:rPr lang="en-US" sz="1200" b="1" dirty="0">
                <a:solidFill>
                  <a:schemeClr val="bg1"/>
                </a:solidFill>
              </a:rPr>
              <a:t>Spine 1</a:t>
            </a:r>
            <a:endParaRPr lang="en-US" sz="1200" dirty="0"/>
          </a:p>
        </p:txBody>
      </p:sp>
      <p:sp>
        <p:nvSpPr>
          <p:cNvPr id="6" name="Text 4"/>
          <p:cNvSpPr/>
          <p:nvPr/>
        </p:nvSpPr>
        <p:spPr>
          <a:xfrm>
            <a:off x="4251960" y="1783080"/>
            <a:ext cx="1463040" cy="411480"/>
          </a:xfrm>
          <a:prstGeom prst="roundRect">
            <a:avLst>
              <a:gd name="adj" fmla="val 11111"/>
            </a:avLst>
          </a:prstGeom>
          <a:solidFill>
            <a:schemeClr val="tx2"/>
          </a:solidFill>
          <a:ln/>
        </p:spPr>
        <p:txBody>
          <a:bodyPr wrap="square" lIns="381" tIns="381" rIns="381" bIns="381" rtlCol="0" anchor="ctr"/>
          <a:lstStyle/>
          <a:p>
            <a:pPr marL="0" indent="0" algn="ctr">
              <a:buNone/>
            </a:pPr>
            <a:r>
              <a:rPr lang="en-US" sz="1200" b="1" dirty="0">
                <a:solidFill>
                  <a:schemeClr val="bg1"/>
                </a:solidFill>
              </a:rPr>
              <a:t>Spine 2</a:t>
            </a:r>
            <a:endParaRPr lang="en-US" sz="1200" dirty="0"/>
          </a:p>
        </p:txBody>
      </p:sp>
      <p:sp>
        <p:nvSpPr>
          <p:cNvPr id="7" name="Text 5"/>
          <p:cNvSpPr/>
          <p:nvPr/>
        </p:nvSpPr>
        <p:spPr>
          <a:xfrm>
            <a:off x="5989320" y="1783080"/>
            <a:ext cx="1463040" cy="411480"/>
          </a:xfrm>
          <a:prstGeom prst="roundRect">
            <a:avLst>
              <a:gd name="adj" fmla="val 11111"/>
            </a:avLst>
          </a:prstGeom>
          <a:solidFill>
            <a:schemeClr val="tx2"/>
          </a:solidFill>
          <a:ln/>
        </p:spPr>
        <p:txBody>
          <a:bodyPr wrap="square" lIns="381" tIns="381" rIns="381" bIns="381" rtlCol="0" anchor="ctr"/>
          <a:lstStyle/>
          <a:p>
            <a:pPr marL="0" indent="0" algn="ctr">
              <a:buNone/>
            </a:pPr>
            <a:r>
              <a:rPr lang="en-US" sz="1200" b="1" dirty="0">
                <a:solidFill>
                  <a:schemeClr val="bg1"/>
                </a:solidFill>
              </a:rPr>
              <a:t>Spine 3</a:t>
            </a:r>
            <a:endParaRPr lang="en-US" sz="1200" dirty="0"/>
          </a:p>
        </p:txBody>
      </p:sp>
      <p:sp>
        <p:nvSpPr>
          <p:cNvPr id="8" name="Text 6"/>
          <p:cNvSpPr/>
          <p:nvPr/>
        </p:nvSpPr>
        <p:spPr>
          <a:xfrm>
            <a:off x="685800" y="2971800"/>
            <a:ext cx="749808" cy="438912"/>
          </a:xfrm>
          <a:prstGeom prst="roundRect">
            <a:avLst>
              <a:gd name="adj" fmla="val 10417"/>
            </a:avLst>
          </a:prstGeom>
          <a:solidFill>
            <a:schemeClr val="accent4"/>
          </a:solidFill>
          <a:ln/>
        </p:spPr>
        <p:txBody>
          <a:bodyPr wrap="square" lIns="381" tIns="381" rIns="381" bIns="381" rtlCol="0" anchor="ctr"/>
          <a:lstStyle/>
          <a:p>
            <a:pPr marL="0" indent="0" algn="ctr">
              <a:buNone/>
            </a:pPr>
            <a:r>
              <a:rPr lang="en-US" sz="1100" b="1" dirty="0">
                <a:solidFill>
                  <a:schemeClr val="bg1"/>
                </a:solidFill>
              </a:rPr>
              <a:t>Rail 0</a:t>
            </a:r>
            <a:endParaRPr lang="en-US" sz="1100" dirty="0"/>
          </a:p>
        </p:txBody>
      </p:sp>
      <p:sp>
        <p:nvSpPr>
          <p:cNvPr id="9" name="Text 7"/>
          <p:cNvSpPr/>
          <p:nvPr/>
        </p:nvSpPr>
        <p:spPr>
          <a:xfrm>
            <a:off x="1554480" y="2971800"/>
            <a:ext cx="749808" cy="438912"/>
          </a:xfrm>
          <a:prstGeom prst="roundRect">
            <a:avLst>
              <a:gd name="adj" fmla="val 10417"/>
            </a:avLst>
          </a:prstGeom>
          <a:solidFill>
            <a:schemeClr val="accent4"/>
          </a:solidFill>
          <a:ln/>
        </p:spPr>
        <p:txBody>
          <a:bodyPr wrap="square" lIns="381" tIns="381" rIns="381" bIns="381" rtlCol="0" anchor="ctr"/>
          <a:lstStyle/>
          <a:p>
            <a:pPr marL="0" indent="0" algn="ctr">
              <a:buNone/>
            </a:pPr>
            <a:r>
              <a:rPr lang="en-US" sz="1100" b="1" dirty="0">
                <a:solidFill>
                  <a:schemeClr val="bg1"/>
                </a:solidFill>
              </a:rPr>
              <a:t>Rail 1</a:t>
            </a:r>
            <a:endParaRPr lang="en-US" sz="1100" dirty="0"/>
          </a:p>
        </p:txBody>
      </p:sp>
      <p:sp>
        <p:nvSpPr>
          <p:cNvPr id="10" name="Text 8"/>
          <p:cNvSpPr/>
          <p:nvPr/>
        </p:nvSpPr>
        <p:spPr>
          <a:xfrm>
            <a:off x="2423160" y="2971800"/>
            <a:ext cx="749808" cy="438912"/>
          </a:xfrm>
          <a:prstGeom prst="roundRect">
            <a:avLst>
              <a:gd name="adj" fmla="val 10417"/>
            </a:avLst>
          </a:prstGeom>
          <a:solidFill>
            <a:schemeClr val="accent4"/>
          </a:solidFill>
          <a:ln/>
        </p:spPr>
        <p:txBody>
          <a:bodyPr wrap="square" lIns="381" tIns="381" rIns="381" bIns="381" rtlCol="0" anchor="ctr"/>
          <a:lstStyle/>
          <a:p>
            <a:pPr marL="0" indent="0" algn="ctr">
              <a:buNone/>
            </a:pPr>
            <a:r>
              <a:rPr lang="en-US" sz="1100" b="1" dirty="0">
                <a:solidFill>
                  <a:schemeClr val="bg1"/>
                </a:solidFill>
              </a:rPr>
              <a:t>Rail 2</a:t>
            </a:r>
            <a:endParaRPr lang="en-US" sz="1100" dirty="0"/>
          </a:p>
        </p:txBody>
      </p:sp>
      <p:sp>
        <p:nvSpPr>
          <p:cNvPr id="11" name="Text 9"/>
          <p:cNvSpPr/>
          <p:nvPr/>
        </p:nvSpPr>
        <p:spPr>
          <a:xfrm>
            <a:off x="3291840" y="2971800"/>
            <a:ext cx="749808" cy="438912"/>
          </a:xfrm>
          <a:prstGeom prst="roundRect">
            <a:avLst>
              <a:gd name="adj" fmla="val 10417"/>
            </a:avLst>
          </a:prstGeom>
          <a:solidFill>
            <a:schemeClr val="accent4"/>
          </a:solidFill>
          <a:ln/>
        </p:spPr>
        <p:txBody>
          <a:bodyPr wrap="square" lIns="381" tIns="381" rIns="381" bIns="381" rtlCol="0" anchor="ctr"/>
          <a:lstStyle/>
          <a:p>
            <a:pPr marL="0" indent="0" algn="ctr">
              <a:buNone/>
            </a:pPr>
            <a:r>
              <a:rPr lang="en-US" sz="1100" b="1" dirty="0">
                <a:solidFill>
                  <a:schemeClr val="bg1"/>
                </a:solidFill>
              </a:rPr>
              <a:t>Rail 3</a:t>
            </a:r>
            <a:endParaRPr lang="en-US" sz="1100" dirty="0"/>
          </a:p>
        </p:txBody>
      </p:sp>
      <p:sp>
        <p:nvSpPr>
          <p:cNvPr id="12" name="Text 10"/>
          <p:cNvSpPr/>
          <p:nvPr/>
        </p:nvSpPr>
        <p:spPr>
          <a:xfrm>
            <a:off x="4160520" y="2971800"/>
            <a:ext cx="749808" cy="438912"/>
          </a:xfrm>
          <a:prstGeom prst="roundRect">
            <a:avLst>
              <a:gd name="adj" fmla="val 10417"/>
            </a:avLst>
          </a:prstGeom>
          <a:solidFill>
            <a:schemeClr val="accent4"/>
          </a:solidFill>
          <a:ln/>
        </p:spPr>
        <p:txBody>
          <a:bodyPr wrap="square" lIns="381" tIns="381" rIns="381" bIns="381" rtlCol="0" anchor="ctr"/>
          <a:lstStyle/>
          <a:p>
            <a:pPr marL="0" indent="0" algn="ctr">
              <a:buNone/>
            </a:pPr>
            <a:r>
              <a:rPr lang="en-US" sz="1100" b="1" dirty="0">
                <a:solidFill>
                  <a:schemeClr val="bg1"/>
                </a:solidFill>
              </a:rPr>
              <a:t>Rail 4</a:t>
            </a:r>
            <a:endParaRPr lang="en-US" sz="1100" dirty="0"/>
          </a:p>
        </p:txBody>
      </p:sp>
      <p:sp>
        <p:nvSpPr>
          <p:cNvPr id="13" name="Text 11"/>
          <p:cNvSpPr/>
          <p:nvPr/>
        </p:nvSpPr>
        <p:spPr>
          <a:xfrm>
            <a:off x="5029200" y="2971800"/>
            <a:ext cx="749808" cy="438912"/>
          </a:xfrm>
          <a:prstGeom prst="roundRect">
            <a:avLst>
              <a:gd name="adj" fmla="val 10417"/>
            </a:avLst>
          </a:prstGeom>
          <a:solidFill>
            <a:schemeClr val="accent4"/>
          </a:solidFill>
          <a:ln/>
        </p:spPr>
        <p:txBody>
          <a:bodyPr wrap="square" lIns="381" tIns="381" rIns="381" bIns="381" rtlCol="0" anchor="ctr"/>
          <a:lstStyle/>
          <a:p>
            <a:pPr marL="0" indent="0" algn="ctr">
              <a:buNone/>
            </a:pPr>
            <a:r>
              <a:rPr lang="en-US" sz="1100" b="1" dirty="0">
                <a:solidFill>
                  <a:schemeClr val="bg1"/>
                </a:solidFill>
              </a:rPr>
              <a:t>Rail 5</a:t>
            </a:r>
            <a:endParaRPr lang="en-US" sz="1100" dirty="0"/>
          </a:p>
        </p:txBody>
      </p:sp>
      <p:sp>
        <p:nvSpPr>
          <p:cNvPr id="14" name="Text 12"/>
          <p:cNvSpPr/>
          <p:nvPr/>
        </p:nvSpPr>
        <p:spPr>
          <a:xfrm>
            <a:off x="5897880" y="2971800"/>
            <a:ext cx="749808" cy="438912"/>
          </a:xfrm>
          <a:prstGeom prst="roundRect">
            <a:avLst>
              <a:gd name="adj" fmla="val 10417"/>
            </a:avLst>
          </a:prstGeom>
          <a:solidFill>
            <a:schemeClr val="accent4"/>
          </a:solidFill>
          <a:ln/>
        </p:spPr>
        <p:txBody>
          <a:bodyPr wrap="square" lIns="381" tIns="381" rIns="381" bIns="381" rtlCol="0" anchor="ctr"/>
          <a:lstStyle/>
          <a:p>
            <a:pPr marL="0" indent="0" algn="ctr">
              <a:buNone/>
            </a:pPr>
            <a:r>
              <a:rPr lang="en-US" sz="1100" b="1" dirty="0">
                <a:solidFill>
                  <a:schemeClr val="bg1"/>
                </a:solidFill>
              </a:rPr>
              <a:t>Rail 6</a:t>
            </a:r>
            <a:endParaRPr lang="en-US" sz="1100" dirty="0"/>
          </a:p>
        </p:txBody>
      </p:sp>
      <p:sp>
        <p:nvSpPr>
          <p:cNvPr id="15" name="Text 13"/>
          <p:cNvSpPr/>
          <p:nvPr/>
        </p:nvSpPr>
        <p:spPr>
          <a:xfrm>
            <a:off x="6766560" y="2971800"/>
            <a:ext cx="749808" cy="438912"/>
          </a:xfrm>
          <a:prstGeom prst="roundRect">
            <a:avLst>
              <a:gd name="adj" fmla="val 10417"/>
            </a:avLst>
          </a:prstGeom>
          <a:solidFill>
            <a:schemeClr val="accent4"/>
          </a:solidFill>
          <a:ln/>
        </p:spPr>
        <p:txBody>
          <a:bodyPr wrap="square" lIns="381" tIns="381" rIns="381" bIns="381" rtlCol="0" anchor="ctr"/>
          <a:lstStyle/>
          <a:p>
            <a:pPr marL="0" indent="0" algn="ctr">
              <a:buNone/>
            </a:pPr>
            <a:r>
              <a:rPr lang="en-US" sz="1100" b="1" dirty="0">
                <a:solidFill>
                  <a:schemeClr val="bg1"/>
                </a:solidFill>
              </a:rPr>
              <a:t>Rail 7</a:t>
            </a:r>
            <a:endParaRPr lang="en-US" sz="1100" dirty="0"/>
          </a:p>
        </p:txBody>
      </p:sp>
      <p:sp>
        <p:nvSpPr>
          <p:cNvPr id="16" name="Shape 14"/>
          <p:cNvSpPr/>
          <p:nvPr/>
        </p:nvSpPr>
        <p:spPr>
          <a:xfrm flipH="1">
            <a:off x="1060704" y="2194560"/>
            <a:ext cx="448056" cy="777240"/>
          </a:xfrm>
          <a:prstGeom prst="line">
            <a:avLst/>
          </a:prstGeom>
          <a:noFill/>
          <a:ln w="9525">
            <a:solidFill>
              <a:srgbClr val="B8C2BB"/>
            </a:solidFill>
            <a:prstDash val="solid"/>
          </a:ln>
        </p:spPr>
        <p:txBody>
          <a:bodyPr/>
          <a:lstStyle/>
          <a:p>
            <a:endParaRPr lang="en-US"/>
          </a:p>
        </p:txBody>
      </p:sp>
      <p:sp>
        <p:nvSpPr>
          <p:cNvPr id="17" name="Shape 15"/>
          <p:cNvSpPr/>
          <p:nvPr/>
        </p:nvSpPr>
        <p:spPr>
          <a:xfrm flipH="1">
            <a:off x="1060704" y="2194560"/>
            <a:ext cx="2185416" cy="777240"/>
          </a:xfrm>
          <a:prstGeom prst="line">
            <a:avLst/>
          </a:prstGeom>
          <a:noFill/>
          <a:ln w="9525">
            <a:solidFill>
              <a:srgbClr val="B8C2BB"/>
            </a:solidFill>
            <a:prstDash val="solid"/>
          </a:ln>
        </p:spPr>
        <p:txBody>
          <a:bodyPr/>
          <a:lstStyle/>
          <a:p>
            <a:endParaRPr lang="en-US"/>
          </a:p>
        </p:txBody>
      </p:sp>
      <p:sp>
        <p:nvSpPr>
          <p:cNvPr id="18" name="Shape 16"/>
          <p:cNvSpPr/>
          <p:nvPr/>
        </p:nvSpPr>
        <p:spPr>
          <a:xfrm flipH="1">
            <a:off x="1060704" y="2194560"/>
            <a:ext cx="3922776" cy="777240"/>
          </a:xfrm>
          <a:prstGeom prst="line">
            <a:avLst/>
          </a:prstGeom>
          <a:noFill/>
          <a:ln w="9525">
            <a:solidFill>
              <a:srgbClr val="B8C2BB"/>
            </a:solidFill>
            <a:prstDash val="solid"/>
          </a:ln>
        </p:spPr>
        <p:txBody>
          <a:bodyPr/>
          <a:lstStyle/>
          <a:p>
            <a:endParaRPr lang="en-US"/>
          </a:p>
        </p:txBody>
      </p:sp>
      <p:sp>
        <p:nvSpPr>
          <p:cNvPr id="19" name="Shape 17"/>
          <p:cNvSpPr/>
          <p:nvPr/>
        </p:nvSpPr>
        <p:spPr>
          <a:xfrm flipH="1">
            <a:off x="1060704" y="2194560"/>
            <a:ext cx="5660136" cy="777240"/>
          </a:xfrm>
          <a:prstGeom prst="line">
            <a:avLst/>
          </a:prstGeom>
          <a:noFill/>
          <a:ln w="9525">
            <a:solidFill>
              <a:srgbClr val="B8C2BB"/>
            </a:solidFill>
            <a:prstDash val="solid"/>
          </a:ln>
        </p:spPr>
        <p:txBody>
          <a:bodyPr/>
          <a:lstStyle/>
          <a:p>
            <a:endParaRPr lang="en-US"/>
          </a:p>
        </p:txBody>
      </p:sp>
      <p:sp>
        <p:nvSpPr>
          <p:cNvPr id="20" name="Shape 18"/>
          <p:cNvSpPr/>
          <p:nvPr/>
        </p:nvSpPr>
        <p:spPr>
          <a:xfrm>
            <a:off x="1508760" y="2194560"/>
            <a:ext cx="420624" cy="777240"/>
          </a:xfrm>
          <a:prstGeom prst="line">
            <a:avLst/>
          </a:prstGeom>
          <a:noFill/>
          <a:ln w="9525">
            <a:solidFill>
              <a:srgbClr val="B8C2BB"/>
            </a:solidFill>
            <a:prstDash val="solid"/>
          </a:ln>
        </p:spPr>
        <p:txBody>
          <a:bodyPr/>
          <a:lstStyle/>
          <a:p>
            <a:endParaRPr lang="en-US"/>
          </a:p>
        </p:txBody>
      </p:sp>
      <p:sp>
        <p:nvSpPr>
          <p:cNvPr id="21" name="Shape 19"/>
          <p:cNvSpPr/>
          <p:nvPr/>
        </p:nvSpPr>
        <p:spPr>
          <a:xfrm flipH="1">
            <a:off x="1929384" y="2194560"/>
            <a:ext cx="1316736" cy="777240"/>
          </a:xfrm>
          <a:prstGeom prst="line">
            <a:avLst/>
          </a:prstGeom>
          <a:noFill/>
          <a:ln w="9525">
            <a:solidFill>
              <a:srgbClr val="B8C2BB"/>
            </a:solidFill>
            <a:prstDash val="solid"/>
          </a:ln>
        </p:spPr>
        <p:txBody>
          <a:bodyPr/>
          <a:lstStyle/>
          <a:p>
            <a:endParaRPr lang="en-US"/>
          </a:p>
        </p:txBody>
      </p:sp>
      <p:sp>
        <p:nvSpPr>
          <p:cNvPr id="22" name="Shape 20"/>
          <p:cNvSpPr/>
          <p:nvPr/>
        </p:nvSpPr>
        <p:spPr>
          <a:xfrm flipH="1">
            <a:off x="1929384" y="2194560"/>
            <a:ext cx="3054096" cy="777240"/>
          </a:xfrm>
          <a:prstGeom prst="line">
            <a:avLst/>
          </a:prstGeom>
          <a:noFill/>
          <a:ln w="9525">
            <a:solidFill>
              <a:srgbClr val="B8C2BB"/>
            </a:solidFill>
            <a:prstDash val="solid"/>
          </a:ln>
        </p:spPr>
        <p:txBody>
          <a:bodyPr/>
          <a:lstStyle/>
          <a:p>
            <a:endParaRPr lang="en-US"/>
          </a:p>
        </p:txBody>
      </p:sp>
      <p:sp>
        <p:nvSpPr>
          <p:cNvPr id="23" name="Shape 21"/>
          <p:cNvSpPr/>
          <p:nvPr/>
        </p:nvSpPr>
        <p:spPr>
          <a:xfrm flipH="1">
            <a:off x="1929384" y="2194560"/>
            <a:ext cx="4791456" cy="777240"/>
          </a:xfrm>
          <a:prstGeom prst="line">
            <a:avLst/>
          </a:prstGeom>
          <a:noFill/>
          <a:ln w="9525">
            <a:solidFill>
              <a:srgbClr val="B8C2BB"/>
            </a:solidFill>
            <a:prstDash val="solid"/>
          </a:ln>
        </p:spPr>
        <p:txBody>
          <a:bodyPr/>
          <a:lstStyle/>
          <a:p>
            <a:endParaRPr lang="en-US"/>
          </a:p>
        </p:txBody>
      </p:sp>
      <p:sp>
        <p:nvSpPr>
          <p:cNvPr id="24" name="Shape 22"/>
          <p:cNvSpPr/>
          <p:nvPr/>
        </p:nvSpPr>
        <p:spPr>
          <a:xfrm>
            <a:off x="1508760" y="2194560"/>
            <a:ext cx="1289304" cy="777240"/>
          </a:xfrm>
          <a:prstGeom prst="line">
            <a:avLst/>
          </a:prstGeom>
          <a:noFill/>
          <a:ln w="9525">
            <a:solidFill>
              <a:srgbClr val="B8C2BB"/>
            </a:solidFill>
            <a:prstDash val="solid"/>
          </a:ln>
        </p:spPr>
        <p:txBody>
          <a:bodyPr/>
          <a:lstStyle/>
          <a:p>
            <a:endParaRPr lang="en-US"/>
          </a:p>
        </p:txBody>
      </p:sp>
      <p:sp>
        <p:nvSpPr>
          <p:cNvPr id="25" name="Shape 23"/>
          <p:cNvSpPr/>
          <p:nvPr/>
        </p:nvSpPr>
        <p:spPr>
          <a:xfrm flipH="1">
            <a:off x="2798064" y="2194560"/>
            <a:ext cx="448056" cy="777240"/>
          </a:xfrm>
          <a:prstGeom prst="line">
            <a:avLst/>
          </a:prstGeom>
          <a:noFill/>
          <a:ln w="9525">
            <a:solidFill>
              <a:srgbClr val="B8C2BB"/>
            </a:solidFill>
            <a:prstDash val="solid"/>
          </a:ln>
        </p:spPr>
        <p:txBody>
          <a:bodyPr/>
          <a:lstStyle/>
          <a:p>
            <a:endParaRPr lang="en-US"/>
          </a:p>
        </p:txBody>
      </p:sp>
      <p:sp>
        <p:nvSpPr>
          <p:cNvPr id="26" name="Shape 24"/>
          <p:cNvSpPr/>
          <p:nvPr/>
        </p:nvSpPr>
        <p:spPr>
          <a:xfrm flipH="1">
            <a:off x="2798064" y="2194560"/>
            <a:ext cx="2185416" cy="777240"/>
          </a:xfrm>
          <a:prstGeom prst="line">
            <a:avLst/>
          </a:prstGeom>
          <a:noFill/>
          <a:ln w="9525">
            <a:solidFill>
              <a:srgbClr val="B8C2BB"/>
            </a:solidFill>
            <a:prstDash val="solid"/>
          </a:ln>
        </p:spPr>
        <p:txBody>
          <a:bodyPr/>
          <a:lstStyle/>
          <a:p>
            <a:endParaRPr lang="en-US"/>
          </a:p>
        </p:txBody>
      </p:sp>
      <p:sp>
        <p:nvSpPr>
          <p:cNvPr id="27" name="Shape 25"/>
          <p:cNvSpPr/>
          <p:nvPr/>
        </p:nvSpPr>
        <p:spPr>
          <a:xfrm flipH="1">
            <a:off x="2798064" y="2194560"/>
            <a:ext cx="3922776" cy="777240"/>
          </a:xfrm>
          <a:prstGeom prst="line">
            <a:avLst/>
          </a:prstGeom>
          <a:noFill/>
          <a:ln w="9525">
            <a:solidFill>
              <a:srgbClr val="B8C2BB"/>
            </a:solidFill>
            <a:prstDash val="solid"/>
          </a:ln>
        </p:spPr>
        <p:txBody>
          <a:bodyPr/>
          <a:lstStyle/>
          <a:p>
            <a:endParaRPr lang="en-US"/>
          </a:p>
        </p:txBody>
      </p:sp>
      <p:sp>
        <p:nvSpPr>
          <p:cNvPr id="28" name="Shape 26"/>
          <p:cNvSpPr/>
          <p:nvPr/>
        </p:nvSpPr>
        <p:spPr>
          <a:xfrm>
            <a:off x="1508760" y="2194560"/>
            <a:ext cx="2157984" cy="777240"/>
          </a:xfrm>
          <a:prstGeom prst="line">
            <a:avLst/>
          </a:prstGeom>
          <a:noFill/>
          <a:ln w="9525">
            <a:solidFill>
              <a:srgbClr val="B8C2BB"/>
            </a:solidFill>
            <a:prstDash val="solid"/>
          </a:ln>
        </p:spPr>
        <p:txBody>
          <a:bodyPr/>
          <a:lstStyle/>
          <a:p>
            <a:endParaRPr lang="en-US"/>
          </a:p>
        </p:txBody>
      </p:sp>
      <p:sp>
        <p:nvSpPr>
          <p:cNvPr id="29" name="Shape 27"/>
          <p:cNvSpPr/>
          <p:nvPr/>
        </p:nvSpPr>
        <p:spPr>
          <a:xfrm>
            <a:off x="3246120" y="2194560"/>
            <a:ext cx="420624" cy="777240"/>
          </a:xfrm>
          <a:prstGeom prst="line">
            <a:avLst/>
          </a:prstGeom>
          <a:noFill/>
          <a:ln w="9525">
            <a:solidFill>
              <a:srgbClr val="B8C2BB"/>
            </a:solidFill>
            <a:prstDash val="solid"/>
          </a:ln>
        </p:spPr>
        <p:txBody>
          <a:bodyPr/>
          <a:lstStyle/>
          <a:p>
            <a:endParaRPr lang="en-US"/>
          </a:p>
        </p:txBody>
      </p:sp>
      <p:sp>
        <p:nvSpPr>
          <p:cNvPr id="30" name="Shape 28"/>
          <p:cNvSpPr/>
          <p:nvPr/>
        </p:nvSpPr>
        <p:spPr>
          <a:xfrm flipH="1">
            <a:off x="3666744" y="2194560"/>
            <a:ext cx="1316736" cy="777240"/>
          </a:xfrm>
          <a:prstGeom prst="line">
            <a:avLst/>
          </a:prstGeom>
          <a:noFill/>
          <a:ln w="9525">
            <a:solidFill>
              <a:srgbClr val="B8C2BB"/>
            </a:solidFill>
            <a:prstDash val="solid"/>
          </a:ln>
        </p:spPr>
        <p:txBody>
          <a:bodyPr/>
          <a:lstStyle/>
          <a:p>
            <a:endParaRPr lang="en-US"/>
          </a:p>
        </p:txBody>
      </p:sp>
      <p:sp>
        <p:nvSpPr>
          <p:cNvPr id="31" name="Shape 29"/>
          <p:cNvSpPr/>
          <p:nvPr/>
        </p:nvSpPr>
        <p:spPr>
          <a:xfrm flipH="1">
            <a:off x="3666744" y="2194560"/>
            <a:ext cx="3054096" cy="777240"/>
          </a:xfrm>
          <a:prstGeom prst="line">
            <a:avLst/>
          </a:prstGeom>
          <a:noFill/>
          <a:ln w="9525">
            <a:solidFill>
              <a:srgbClr val="B8C2BB"/>
            </a:solidFill>
            <a:prstDash val="solid"/>
          </a:ln>
        </p:spPr>
        <p:txBody>
          <a:bodyPr/>
          <a:lstStyle/>
          <a:p>
            <a:endParaRPr lang="en-US"/>
          </a:p>
        </p:txBody>
      </p:sp>
      <p:sp>
        <p:nvSpPr>
          <p:cNvPr id="32" name="Shape 30"/>
          <p:cNvSpPr/>
          <p:nvPr/>
        </p:nvSpPr>
        <p:spPr>
          <a:xfrm>
            <a:off x="1508760" y="2194560"/>
            <a:ext cx="3026664" cy="777240"/>
          </a:xfrm>
          <a:prstGeom prst="line">
            <a:avLst/>
          </a:prstGeom>
          <a:noFill/>
          <a:ln w="9525">
            <a:solidFill>
              <a:srgbClr val="B8C2BB"/>
            </a:solidFill>
            <a:prstDash val="solid"/>
          </a:ln>
        </p:spPr>
        <p:txBody>
          <a:bodyPr/>
          <a:lstStyle/>
          <a:p>
            <a:endParaRPr lang="en-US"/>
          </a:p>
        </p:txBody>
      </p:sp>
      <p:sp>
        <p:nvSpPr>
          <p:cNvPr id="33" name="Shape 31"/>
          <p:cNvSpPr/>
          <p:nvPr/>
        </p:nvSpPr>
        <p:spPr>
          <a:xfrm>
            <a:off x="3246120" y="2194560"/>
            <a:ext cx="1289304" cy="777240"/>
          </a:xfrm>
          <a:prstGeom prst="line">
            <a:avLst/>
          </a:prstGeom>
          <a:noFill/>
          <a:ln w="9525">
            <a:solidFill>
              <a:srgbClr val="B8C2BB"/>
            </a:solidFill>
            <a:prstDash val="solid"/>
          </a:ln>
        </p:spPr>
        <p:txBody>
          <a:bodyPr/>
          <a:lstStyle/>
          <a:p>
            <a:endParaRPr lang="en-US"/>
          </a:p>
        </p:txBody>
      </p:sp>
      <p:sp>
        <p:nvSpPr>
          <p:cNvPr id="34" name="Shape 32"/>
          <p:cNvSpPr/>
          <p:nvPr/>
        </p:nvSpPr>
        <p:spPr>
          <a:xfrm flipH="1">
            <a:off x="4535424" y="2194560"/>
            <a:ext cx="448056" cy="777240"/>
          </a:xfrm>
          <a:prstGeom prst="line">
            <a:avLst/>
          </a:prstGeom>
          <a:noFill/>
          <a:ln w="9525">
            <a:solidFill>
              <a:srgbClr val="B8C2BB"/>
            </a:solidFill>
            <a:prstDash val="solid"/>
          </a:ln>
        </p:spPr>
        <p:txBody>
          <a:bodyPr/>
          <a:lstStyle/>
          <a:p>
            <a:endParaRPr lang="en-US"/>
          </a:p>
        </p:txBody>
      </p:sp>
      <p:sp>
        <p:nvSpPr>
          <p:cNvPr id="35" name="Shape 33"/>
          <p:cNvSpPr/>
          <p:nvPr/>
        </p:nvSpPr>
        <p:spPr>
          <a:xfrm flipH="1">
            <a:off x="4535424" y="2194560"/>
            <a:ext cx="2185416" cy="777240"/>
          </a:xfrm>
          <a:prstGeom prst="line">
            <a:avLst/>
          </a:prstGeom>
          <a:noFill/>
          <a:ln w="9525">
            <a:solidFill>
              <a:srgbClr val="B8C2BB"/>
            </a:solidFill>
            <a:prstDash val="solid"/>
          </a:ln>
        </p:spPr>
        <p:txBody>
          <a:bodyPr/>
          <a:lstStyle/>
          <a:p>
            <a:endParaRPr lang="en-US"/>
          </a:p>
        </p:txBody>
      </p:sp>
      <p:sp>
        <p:nvSpPr>
          <p:cNvPr id="36" name="Shape 34"/>
          <p:cNvSpPr/>
          <p:nvPr/>
        </p:nvSpPr>
        <p:spPr>
          <a:xfrm>
            <a:off x="1508760" y="2194560"/>
            <a:ext cx="3895344" cy="777240"/>
          </a:xfrm>
          <a:prstGeom prst="line">
            <a:avLst/>
          </a:prstGeom>
          <a:noFill/>
          <a:ln w="9525">
            <a:solidFill>
              <a:srgbClr val="B8C2BB"/>
            </a:solidFill>
            <a:prstDash val="solid"/>
          </a:ln>
        </p:spPr>
        <p:txBody>
          <a:bodyPr/>
          <a:lstStyle/>
          <a:p>
            <a:endParaRPr lang="en-US"/>
          </a:p>
        </p:txBody>
      </p:sp>
      <p:sp>
        <p:nvSpPr>
          <p:cNvPr id="37" name="Shape 35"/>
          <p:cNvSpPr/>
          <p:nvPr/>
        </p:nvSpPr>
        <p:spPr>
          <a:xfrm>
            <a:off x="3246120" y="2194560"/>
            <a:ext cx="2157984" cy="777240"/>
          </a:xfrm>
          <a:prstGeom prst="line">
            <a:avLst/>
          </a:prstGeom>
          <a:noFill/>
          <a:ln w="9525">
            <a:solidFill>
              <a:srgbClr val="B8C2BB"/>
            </a:solidFill>
            <a:prstDash val="solid"/>
          </a:ln>
        </p:spPr>
        <p:txBody>
          <a:bodyPr/>
          <a:lstStyle/>
          <a:p>
            <a:endParaRPr lang="en-US"/>
          </a:p>
        </p:txBody>
      </p:sp>
      <p:sp>
        <p:nvSpPr>
          <p:cNvPr id="38" name="Shape 36"/>
          <p:cNvSpPr/>
          <p:nvPr/>
        </p:nvSpPr>
        <p:spPr>
          <a:xfrm>
            <a:off x="4983480" y="2194560"/>
            <a:ext cx="420624" cy="777240"/>
          </a:xfrm>
          <a:prstGeom prst="line">
            <a:avLst/>
          </a:prstGeom>
          <a:noFill/>
          <a:ln w="9525">
            <a:solidFill>
              <a:srgbClr val="B8C2BB"/>
            </a:solidFill>
            <a:prstDash val="solid"/>
          </a:ln>
        </p:spPr>
        <p:txBody>
          <a:bodyPr/>
          <a:lstStyle/>
          <a:p>
            <a:endParaRPr lang="en-US"/>
          </a:p>
        </p:txBody>
      </p:sp>
      <p:sp>
        <p:nvSpPr>
          <p:cNvPr id="39" name="Shape 37"/>
          <p:cNvSpPr/>
          <p:nvPr/>
        </p:nvSpPr>
        <p:spPr>
          <a:xfrm flipH="1">
            <a:off x="5404104" y="2194560"/>
            <a:ext cx="1316736" cy="777240"/>
          </a:xfrm>
          <a:prstGeom prst="line">
            <a:avLst/>
          </a:prstGeom>
          <a:noFill/>
          <a:ln w="9525">
            <a:solidFill>
              <a:srgbClr val="B8C2BB"/>
            </a:solidFill>
            <a:prstDash val="solid"/>
          </a:ln>
        </p:spPr>
        <p:txBody>
          <a:bodyPr/>
          <a:lstStyle/>
          <a:p>
            <a:endParaRPr lang="en-US"/>
          </a:p>
        </p:txBody>
      </p:sp>
      <p:sp>
        <p:nvSpPr>
          <p:cNvPr id="40" name="Shape 38"/>
          <p:cNvSpPr/>
          <p:nvPr/>
        </p:nvSpPr>
        <p:spPr>
          <a:xfrm>
            <a:off x="1508760" y="2194560"/>
            <a:ext cx="4764024" cy="777240"/>
          </a:xfrm>
          <a:prstGeom prst="line">
            <a:avLst/>
          </a:prstGeom>
          <a:noFill/>
          <a:ln w="9525">
            <a:solidFill>
              <a:srgbClr val="B8C2BB"/>
            </a:solidFill>
            <a:prstDash val="solid"/>
          </a:ln>
        </p:spPr>
        <p:txBody>
          <a:bodyPr/>
          <a:lstStyle/>
          <a:p>
            <a:endParaRPr lang="en-US"/>
          </a:p>
        </p:txBody>
      </p:sp>
      <p:sp>
        <p:nvSpPr>
          <p:cNvPr id="41" name="Shape 39"/>
          <p:cNvSpPr/>
          <p:nvPr/>
        </p:nvSpPr>
        <p:spPr>
          <a:xfrm>
            <a:off x="3246120" y="2194560"/>
            <a:ext cx="3026664" cy="777240"/>
          </a:xfrm>
          <a:prstGeom prst="line">
            <a:avLst/>
          </a:prstGeom>
          <a:noFill/>
          <a:ln w="9525">
            <a:solidFill>
              <a:srgbClr val="B8C2BB"/>
            </a:solidFill>
            <a:prstDash val="solid"/>
          </a:ln>
        </p:spPr>
        <p:txBody>
          <a:bodyPr/>
          <a:lstStyle/>
          <a:p>
            <a:endParaRPr lang="en-US"/>
          </a:p>
        </p:txBody>
      </p:sp>
      <p:sp>
        <p:nvSpPr>
          <p:cNvPr id="42" name="Shape 40"/>
          <p:cNvSpPr/>
          <p:nvPr/>
        </p:nvSpPr>
        <p:spPr>
          <a:xfrm>
            <a:off x="4983480" y="2194560"/>
            <a:ext cx="1289304" cy="777240"/>
          </a:xfrm>
          <a:prstGeom prst="line">
            <a:avLst/>
          </a:prstGeom>
          <a:noFill/>
          <a:ln w="9525">
            <a:solidFill>
              <a:srgbClr val="B8C2BB"/>
            </a:solidFill>
            <a:prstDash val="solid"/>
          </a:ln>
        </p:spPr>
        <p:txBody>
          <a:bodyPr/>
          <a:lstStyle/>
          <a:p>
            <a:endParaRPr lang="en-US"/>
          </a:p>
        </p:txBody>
      </p:sp>
      <p:sp>
        <p:nvSpPr>
          <p:cNvPr id="43" name="Shape 41"/>
          <p:cNvSpPr/>
          <p:nvPr/>
        </p:nvSpPr>
        <p:spPr>
          <a:xfrm flipH="1">
            <a:off x="6272784" y="2194560"/>
            <a:ext cx="448056" cy="777240"/>
          </a:xfrm>
          <a:prstGeom prst="line">
            <a:avLst/>
          </a:prstGeom>
          <a:noFill/>
          <a:ln w="9525">
            <a:solidFill>
              <a:srgbClr val="B8C2BB"/>
            </a:solidFill>
            <a:prstDash val="solid"/>
          </a:ln>
        </p:spPr>
        <p:txBody>
          <a:bodyPr/>
          <a:lstStyle/>
          <a:p>
            <a:endParaRPr lang="en-US"/>
          </a:p>
        </p:txBody>
      </p:sp>
      <p:sp>
        <p:nvSpPr>
          <p:cNvPr id="44" name="Shape 42"/>
          <p:cNvSpPr/>
          <p:nvPr/>
        </p:nvSpPr>
        <p:spPr>
          <a:xfrm>
            <a:off x="1508760" y="2194560"/>
            <a:ext cx="5632704" cy="777240"/>
          </a:xfrm>
          <a:prstGeom prst="line">
            <a:avLst/>
          </a:prstGeom>
          <a:noFill/>
          <a:ln w="9525">
            <a:solidFill>
              <a:srgbClr val="B8C2BB"/>
            </a:solidFill>
            <a:prstDash val="solid"/>
          </a:ln>
        </p:spPr>
        <p:txBody>
          <a:bodyPr/>
          <a:lstStyle/>
          <a:p>
            <a:endParaRPr lang="en-US"/>
          </a:p>
        </p:txBody>
      </p:sp>
      <p:sp>
        <p:nvSpPr>
          <p:cNvPr id="45" name="Shape 43"/>
          <p:cNvSpPr/>
          <p:nvPr/>
        </p:nvSpPr>
        <p:spPr>
          <a:xfrm>
            <a:off x="3246120" y="2194560"/>
            <a:ext cx="3895344" cy="777240"/>
          </a:xfrm>
          <a:prstGeom prst="line">
            <a:avLst/>
          </a:prstGeom>
          <a:noFill/>
          <a:ln w="9525">
            <a:solidFill>
              <a:srgbClr val="B8C2BB"/>
            </a:solidFill>
            <a:prstDash val="solid"/>
          </a:ln>
        </p:spPr>
        <p:txBody>
          <a:bodyPr/>
          <a:lstStyle/>
          <a:p>
            <a:endParaRPr lang="en-US"/>
          </a:p>
        </p:txBody>
      </p:sp>
      <p:sp>
        <p:nvSpPr>
          <p:cNvPr id="46" name="Shape 44"/>
          <p:cNvSpPr/>
          <p:nvPr/>
        </p:nvSpPr>
        <p:spPr>
          <a:xfrm>
            <a:off x="4983480" y="2194560"/>
            <a:ext cx="2157984" cy="777240"/>
          </a:xfrm>
          <a:prstGeom prst="line">
            <a:avLst/>
          </a:prstGeom>
          <a:noFill/>
          <a:ln w="9525">
            <a:solidFill>
              <a:srgbClr val="B8C2BB"/>
            </a:solidFill>
            <a:prstDash val="solid"/>
          </a:ln>
        </p:spPr>
        <p:txBody>
          <a:bodyPr/>
          <a:lstStyle/>
          <a:p>
            <a:endParaRPr lang="en-US"/>
          </a:p>
        </p:txBody>
      </p:sp>
      <p:sp>
        <p:nvSpPr>
          <p:cNvPr id="47" name="Shape 45"/>
          <p:cNvSpPr/>
          <p:nvPr/>
        </p:nvSpPr>
        <p:spPr>
          <a:xfrm>
            <a:off x="6720840" y="2194560"/>
            <a:ext cx="420624" cy="777240"/>
          </a:xfrm>
          <a:prstGeom prst="line">
            <a:avLst/>
          </a:prstGeom>
          <a:noFill/>
          <a:ln w="9525">
            <a:solidFill>
              <a:srgbClr val="B8C2BB"/>
            </a:solidFill>
            <a:prstDash val="solid"/>
          </a:ln>
        </p:spPr>
        <p:txBody>
          <a:bodyPr/>
          <a:lstStyle/>
          <a:p>
            <a:endParaRPr lang="en-US"/>
          </a:p>
        </p:txBody>
      </p:sp>
      <p:sp>
        <p:nvSpPr>
          <p:cNvPr id="48" name="Shape 46"/>
          <p:cNvSpPr/>
          <p:nvPr/>
        </p:nvSpPr>
        <p:spPr>
          <a:xfrm>
            <a:off x="685800" y="4709160"/>
            <a:ext cx="1600200" cy="1051560"/>
          </a:xfrm>
          <a:prstGeom prst="roundRect">
            <a:avLst>
              <a:gd name="adj" fmla="val 4348"/>
            </a:avLst>
          </a:prstGeom>
          <a:solidFill>
            <a:schemeClr val="tx1"/>
          </a:solidFill>
          <a:ln/>
        </p:spPr>
        <p:txBody>
          <a:bodyPr/>
          <a:lstStyle/>
          <a:p>
            <a:endParaRPr lang="en-US"/>
          </a:p>
        </p:txBody>
      </p:sp>
      <p:sp>
        <p:nvSpPr>
          <p:cNvPr id="49" name="Shape 47"/>
          <p:cNvSpPr/>
          <p:nvPr/>
        </p:nvSpPr>
        <p:spPr>
          <a:xfrm>
            <a:off x="777240" y="4818888"/>
            <a:ext cx="137160" cy="201168"/>
          </a:xfrm>
          <a:prstGeom prst="rect">
            <a:avLst/>
          </a:prstGeom>
          <a:solidFill>
            <a:schemeClr val="accent1"/>
          </a:solidFill>
          <a:ln/>
        </p:spPr>
        <p:txBody>
          <a:bodyPr/>
          <a:lstStyle/>
          <a:p>
            <a:endParaRPr lang="en-US"/>
          </a:p>
        </p:txBody>
      </p:sp>
      <p:sp>
        <p:nvSpPr>
          <p:cNvPr id="50" name="Shape 48"/>
          <p:cNvSpPr/>
          <p:nvPr/>
        </p:nvSpPr>
        <p:spPr>
          <a:xfrm flipH="1">
            <a:off x="845820" y="3410712"/>
            <a:ext cx="214884" cy="1408176"/>
          </a:xfrm>
          <a:prstGeom prst="line">
            <a:avLst/>
          </a:prstGeom>
          <a:noFill/>
          <a:ln w="9525">
            <a:solidFill>
              <a:schemeClr val="accent1"/>
            </a:solidFill>
            <a:prstDash val="solid"/>
          </a:ln>
        </p:spPr>
        <p:txBody>
          <a:bodyPr/>
          <a:lstStyle/>
          <a:p>
            <a:endParaRPr lang="en-US"/>
          </a:p>
        </p:txBody>
      </p:sp>
      <p:sp>
        <p:nvSpPr>
          <p:cNvPr id="51" name="Shape 49"/>
          <p:cNvSpPr/>
          <p:nvPr/>
        </p:nvSpPr>
        <p:spPr>
          <a:xfrm>
            <a:off x="955548" y="4818888"/>
            <a:ext cx="137160" cy="201168"/>
          </a:xfrm>
          <a:prstGeom prst="rect">
            <a:avLst/>
          </a:prstGeom>
          <a:solidFill>
            <a:schemeClr val="accent1"/>
          </a:solidFill>
          <a:ln/>
        </p:spPr>
        <p:txBody>
          <a:bodyPr/>
          <a:lstStyle/>
          <a:p>
            <a:endParaRPr lang="en-US"/>
          </a:p>
        </p:txBody>
      </p:sp>
      <p:sp>
        <p:nvSpPr>
          <p:cNvPr id="52" name="Shape 50"/>
          <p:cNvSpPr/>
          <p:nvPr/>
        </p:nvSpPr>
        <p:spPr>
          <a:xfrm flipH="1">
            <a:off x="1024128" y="3410712"/>
            <a:ext cx="905256" cy="1408176"/>
          </a:xfrm>
          <a:prstGeom prst="line">
            <a:avLst/>
          </a:prstGeom>
          <a:noFill/>
          <a:ln w="9525">
            <a:solidFill>
              <a:schemeClr val="accent1"/>
            </a:solidFill>
            <a:prstDash val="solid"/>
          </a:ln>
        </p:spPr>
        <p:txBody>
          <a:bodyPr/>
          <a:lstStyle/>
          <a:p>
            <a:endParaRPr lang="en-US"/>
          </a:p>
        </p:txBody>
      </p:sp>
      <p:sp>
        <p:nvSpPr>
          <p:cNvPr id="53" name="Shape 51"/>
          <p:cNvSpPr/>
          <p:nvPr/>
        </p:nvSpPr>
        <p:spPr>
          <a:xfrm>
            <a:off x="1133856" y="4818888"/>
            <a:ext cx="137160" cy="201168"/>
          </a:xfrm>
          <a:prstGeom prst="rect">
            <a:avLst/>
          </a:prstGeom>
          <a:solidFill>
            <a:schemeClr val="accent1"/>
          </a:solidFill>
          <a:ln/>
        </p:spPr>
        <p:txBody>
          <a:bodyPr/>
          <a:lstStyle/>
          <a:p>
            <a:endParaRPr lang="en-US"/>
          </a:p>
        </p:txBody>
      </p:sp>
      <p:sp>
        <p:nvSpPr>
          <p:cNvPr id="54" name="Shape 52"/>
          <p:cNvSpPr/>
          <p:nvPr/>
        </p:nvSpPr>
        <p:spPr>
          <a:xfrm flipH="1">
            <a:off x="1202436" y="3410712"/>
            <a:ext cx="1595628" cy="1408176"/>
          </a:xfrm>
          <a:prstGeom prst="line">
            <a:avLst/>
          </a:prstGeom>
          <a:noFill/>
          <a:ln w="9525">
            <a:solidFill>
              <a:schemeClr val="accent1"/>
            </a:solidFill>
            <a:prstDash val="solid"/>
          </a:ln>
        </p:spPr>
        <p:txBody>
          <a:bodyPr/>
          <a:lstStyle/>
          <a:p>
            <a:endParaRPr lang="en-US"/>
          </a:p>
        </p:txBody>
      </p:sp>
      <p:sp>
        <p:nvSpPr>
          <p:cNvPr id="55" name="Shape 53"/>
          <p:cNvSpPr/>
          <p:nvPr/>
        </p:nvSpPr>
        <p:spPr>
          <a:xfrm>
            <a:off x="1312164" y="4818888"/>
            <a:ext cx="137160" cy="201168"/>
          </a:xfrm>
          <a:prstGeom prst="rect">
            <a:avLst/>
          </a:prstGeom>
          <a:solidFill>
            <a:schemeClr val="accent1"/>
          </a:solidFill>
          <a:ln/>
        </p:spPr>
        <p:txBody>
          <a:bodyPr/>
          <a:lstStyle/>
          <a:p>
            <a:endParaRPr lang="en-US"/>
          </a:p>
        </p:txBody>
      </p:sp>
      <p:sp>
        <p:nvSpPr>
          <p:cNvPr id="56" name="Shape 54"/>
          <p:cNvSpPr/>
          <p:nvPr/>
        </p:nvSpPr>
        <p:spPr>
          <a:xfrm flipH="1">
            <a:off x="1380744" y="3410712"/>
            <a:ext cx="2286000" cy="1408176"/>
          </a:xfrm>
          <a:prstGeom prst="line">
            <a:avLst/>
          </a:prstGeom>
          <a:noFill/>
          <a:ln w="9525">
            <a:solidFill>
              <a:schemeClr val="accent1"/>
            </a:solidFill>
            <a:prstDash val="solid"/>
          </a:ln>
        </p:spPr>
        <p:txBody>
          <a:bodyPr/>
          <a:lstStyle/>
          <a:p>
            <a:endParaRPr lang="en-US"/>
          </a:p>
        </p:txBody>
      </p:sp>
      <p:sp>
        <p:nvSpPr>
          <p:cNvPr id="57" name="Shape 55"/>
          <p:cNvSpPr/>
          <p:nvPr/>
        </p:nvSpPr>
        <p:spPr>
          <a:xfrm>
            <a:off x="1490472" y="4818888"/>
            <a:ext cx="137160" cy="201168"/>
          </a:xfrm>
          <a:prstGeom prst="rect">
            <a:avLst/>
          </a:prstGeom>
          <a:solidFill>
            <a:schemeClr val="accent1"/>
          </a:solidFill>
          <a:ln/>
        </p:spPr>
        <p:txBody>
          <a:bodyPr/>
          <a:lstStyle/>
          <a:p>
            <a:endParaRPr lang="en-US"/>
          </a:p>
        </p:txBody>
      </p:sp>
      <p:sp>
        <p:nvSpPr>
          <p:cNvPr id="58" name="Shape 56"/>
          <p:cNvSpPr/>
          <p:nvPr/>
        </p:nvSpPr>
        <p:spPr>
          <a:xfrm flipH="1">
            <a:off x="1559052" y="3410712"/>
            <a:ext cx="2976372" cy="1408176"/>
          </a:xfrm>
          <a:prstGeom prst="line">
            <a:avLst/>
          </a:prstGeom>
          <a:noFill/>
          <a:ln w="9525">
            <a:solidFill>
              <a:schemeClr val="accent1"/>
            </a:solidFill>
            <a:prstDash val="solid"/>
          </a:ln>
        </p:spPr>
        <p:txBody>
          <a:bodyPr/>
          <a:lstStyle/>
          <a:p>
            <a:endParaRPr lang="en-US"/>
          </a:p>
        </p:txBody>
      </p:sp>
      <p:sp>
        <p:nvSpPr>
          <p:cNvPr id="59" name="Shape 57"/>
          <p:cNvSpPr/>
          <p:nvPr/>
        </p:nvSpPr>
        <p:spPr>
          <a:xfrm>
            <a:off x="1668780" y="4818888"/>
            <a:ext cx="137160" cy="201168"/>
          </a:xfrm>
          <a:prstGeom prst="rect">
            <a:avLst/>
          </a:prstGeom>
          <a:solidFill>
            <a:schemeClr val="accent1"/>
          </a:solidFill>
          <a:ln/>
        </p:spPr>
        <p:txBody>
          <a:bodyPr/>
          <a:lstStyle/>
          <a:p>
            <a:endParaRPr lang="en-US"/>
          </a:p>
        </p:txBody>
      </p:sp>
      <p:sp>
        <p:nvSpPr>
          <p:cNvPr id="60" name="Shape 58"/>
          <p:cNvSpPr/>
          <p:nvPr/>
        </p:nvSpPr>
        <p:spPr>
          <a:xfrm flipH="1">
            <a:off x="1737360" y="3410712"/>
            <a:ext cx="3666744" cy="1408176"/>
          </a:xfrm>
          <a:prstGeom prst="line">
            <a:avLst/>
          </a:prstGeom>
          <a:noFill/>
          <a:ln w="9525">
            <a:solidFill>
              <a:schemeClr val="accent1"/>
            </a:solidFill>
            <a:prstDash val="solid"/>
          </a:ln>
        </p:spPr>
        <p:txBody>
          <a:bodyPr/>
          <a:lstStyle/>
          <a:p>
            <a:endParaRPr lang="en-US"/>
          </a:p>
        </p:txBody>
      </p:sp>
      <p:sp>
        <p:nvSpPr>
          <p:cNvPr id="61" name="Shape 59"/>
          <p:cNvSpPr/>
          <p:nvPr/>
        </p:nvSpPr>
        <p:spPr>
          <a:xfrm>
            <a:off x="1847088" y="4818888"/>
            <a:ext cx="137160" cy="201168"/>
          </a:xfrm>
          <a:prstGeom prst="rect">
            <a:avLst/>
          </a:prstGeom>
          <a:solidFill>
            <a:schemeClr val="accent1"/>
          </a:solidFill>
          <a:ln/>
        </p:spPr>
        <p:txBody>
          <a:bodyPr/>
          <a:lstStyle/>
          <a:p>
            <a:endParaRPr lang="en-US"/>
          </a:p>
        </p:txBody>
      </p:sp>
      <p:sp>
        <p:nvSpPr>
          <p:cNvPr id="62" name="Shape 60"/>
          <p:cNvSpPr/>
          <p:nvPr/>
        </p:nvSpPr>
        <p:spPr>
          <a:xfrm flipH="1">
            <a:off x="1915668" y="3410712"/>
            <a:ext cx="4357116" cy="1408176"/>
          </a:xfrm>
          <a:prstGeom prst="line">
            <a:avLst/>
          </a:prstGeom>
          <a:noFill/>
          <a:ln w="9525">
            <a:solidFill>
              <a:schemeClr val="accent1"/>
            </a:solidFill>
            <a:prstDash val="solid"/>
          </a:ln>
        </p:spPr>
        <p:txBody>
          <a:bodyPr/>
          <a:lstStyle/>
          <a:p>
            <a:endParaRPr lang="en-US"/>
          </a:p>
        </p:txBody>
      </p:sp>
      <p:sp>
        <p:nvSpPr>
          <p:cNvPr id="63" name="Shape 61"/>
          <p:cNvSpPr/>
          <p:nvPr/>
        </p:nvSpPr>
        <p:spPr>
          <a:xfrm>
            <a:off x="2025396" y="4818888"/>
            <a:ext cx="137160" cy="201168"/>
          </a:xfrm>
          <a:prstGeom prst="rect">
            <a:avLst/>
          </a:prstGeom>
          <a:solidFill>
            <a:schemeClr val="accent1"/>
          </a:solidFill>
          <a:ln/>
        </p:spPr>
        <p:txBody>
          <a:bodyPr/>
          <a:lstStyle/>
          <a:p>
            <a:endParaRPr lang="en-US"/>
          </a:p>
        </p:txBody>
      </p:sp>
      <p:sp>
        <p:nvSpPr>
          <p:cNvPr id="64" name="Shape 62"/>
          <p:cNvSpPr/>
          <p:nvPr/>
        </p:nvSpPr>
        <p:spPr>
          <a:xfrm flipH="1">
            <a:off x="2093976" y="3410712"/>
            <a:ext cx="5047488" cy="1408176"/>
          </a:xfrm>
          <a:prstGeom prst="line">
            <a:avLst/>
          </a:prstGeom>
          <a:noFill/>
          <a:ln w="9525">
            <a:solidFill>
              <a:schemeClr val="accent1"/>
            </a:solidFill>
            <a:prstDash val="solid"/>
          </a:ln>
        </p:spPr>
        <p:txBody>
          <a:bodyPr/>
          <a:lstStyle/>
          <a:p>
            <a:endParaRPr lang="en-US"/>
          </a:p>
        </p:txBody>
      </p:sp>
      <p:sp>
        <p:nvSpPr>
          <p:cNvPr id="65" name="Text 63"/>
          <p:cNvSpPr txBox="1"/>
          <p:nvPr/>
        </p:nvSpPr>
        <p:spPr>
          <a:xfrm>
            <a:off x="685800" y="5102352"/>
            <a:ext cx="1600200" cy="594360"/>
          </a:xfrm>
          <a:prstGeom prst="rect">
            <a:avLst/>
          </a:prstGeom>
          <a:noFill/>
          <a:ln/>
        </p:spPr>
        <p:txBody>
          <a:bodyPr wrap="square" lIns="0" tIns="0" rIns="0" bIns="0" rtlCol="0" anchor="t"/>
          <a:lstStyle/>
          <a:p>
            <a:pPr marL="0" indent="0" algn="ctr">
              <a:buNone/>
            </a:pPr>
            <a:r>
              <a:rPr lang="en-US" sz="1100" b="1" dirty="0">
                <a:solidFill>
                  <a:schemeClr val="bg1"/>
                </a:solidFill>
              </a:rPr>
              <a:t>Node 0</a:t>
            </a:r>
            <a:endParaRPr lang="en-US" sz="1100" dirty="0"/>
          </a:p>
          <a:p>
            <a:pPr marL="0" indent="0" algn="ctr">
              <a:buNone/>
            </a:pPr>
            <a:r>
              <a:rPr lang="en-US" sz="1100" b="1" dirty="0">
                <a:solidFill>
                  <a:schemeClr val="bg1"/>
                </a:solidFill>
              </a:rPr>
              <a:t>GPU0 … GPU7</a:t>
            </a:r>
            <a:endParaRPr lang="en-US" sz="1100" dirty="0"/>
          </a:p>
        </p:txBody>
      </p:sp>
      <p:sp>
        <p:nvSpPr>
          <p:cNvPr id="66" name="Shape 64"/>
          <p:cNvSpPr/>
          <p:nvPr/>
        </p:nvSpPr>
        <p:spPr>
          <a:xfrm>
            <a:off x="2404872" y="4709160"/>
            <a:ext cx="1600200" cy="1051560"/>
          </a:xfrm>
          <a:prstGeom prst="roundRect">
            <a:avLst>
              <a:gd name="adj" fmla="val 4348"/>
            </a:avLst>
          </a:prstGeom>
          <a:solidFill>
            <a:schemeClr val="tx1"/>
          </a:solidFill>
          <a:ln/>
        </p:spPr>
        <p:txBody>
          <a:bodyPr/>
          <a:lstStyle/>
          <a:p>
            <a:endParaRPr lang="en-US"/>
          </a:p>
        </p:txBody>
      </p:sp>
      <p:sp>
        <p:nvSpPr>
          <p:cNvPr id="67" name="Shape 65"/>
          <p:cNvSpPr/>
          <p:nvPr/>
        </p:nvSpPr>
        <p:spPr>
          <a:xfrm>
            <a:off x="2496312" y="4818888"/>
            <a:ext cx="137160" cy="201168"/>
          </a:xfrm>
          <a:prstGeom prst="rect">
            <a:avLst/>
          </a:prstGeom>
          <a:solidFill>
            <a:schemeClr val="accent1"/>
          </a:solidFill>
          <a:ln/>
        </p:spPr>
        <p:txBody>
          <a:bodyPr/>
          <a:lstStyle/>
          <a:p>
            <a:endParaRPr lang="en-US"/>
          </a:p>
        </p:txBody>
      </p:sp>
      <p:sp>
        <p:nvSpPr>
          <p:cNvPr id="68" name="Shape 66"/>
          <p:cNvSpPr/>
          <p:nvPr/>
        </p:nvSpPr>
        <p:spPr>
          <a:xfrm>
            <a:off x="1060704" y="3410712"/>
            <a:ext cx="1504188" cy="1408176"/>
          </a:xfrm>
          <a:prstGeom prst="line">
            <a:avLst/>
          </a:prstGeom>
          <a:noFill/>
          <a:ln w="9525">
            <a:solidFill>
              <a:schemeClr val="accent1"/>
            </a:solidFill>
            <a:prstDash val="solid"/>
          </a:ln>
        </p:spPr>
        <p:txBody>
          <a:bodyPr/>
          <a:lstStyle/>
          <a:p>
            <a:endParaRPr lang="en-US"/>
          </a:p>
        </p:txBody>
      </p:sp>
      <p:sp>
        <p:nvSpPr>
          <p:cNvPr id="69" name="Shape 67"/>
          <p:cNvSpPr/>
          <p:nvPr/>
        </p:nvSpPr>
        <p:spPr>
          <a:xfrm>
            <a:off x="2674620" y="4818888"/>
            <a:ext cx="137160" cy="201168"/>
          </a:xfrm>
          <a:prstGeom prst="rect">
            <a:avLst/>
          </a:prstGeom>
          <a:solidFill>
            <a:schemeClr val="accent1"/>
          </a:solidFill>
          <a:ln/>
        </p:spPr>
        <p:txBody>
          <a:bodyPr/>
          <a:lstStyle/>
          <a:p>
            <a:endParaRPr lang="en-US"/>
          </a:p>
        </p:txBody>
      </p:sp>
      <p:sp>
        <p:nvSpPr>
          <p:cNvPr id="70" name="Shape 68"/>
          <p:cNvSpPr/>
          <p:nvPr/>
        </p:nvSpPr>
        <p:spPr>
          <a:xfrm>
            <a:off x="1929384" y="3410712"/>
            <a:ext cx="813816" cy="1408176"/>
          </a:xfrm>
          <a:prstGeom prst="line">
            <a:avLst/>
          </a:prstGeom>
          <a:noFill/>
          <a:ln w="9525">
            <a:solidFill>
              <a:schemeClr val="accent1"/>
            </a:solidFill>
            <a:prstDash val="solid"/>
          </a:ln>
        </p:spPr>
        <p:txBody>
          <a:bodyPr/>
          <a:lstStyle/>
          <a:p>
            <a:endParaRPr lang="en-US"/>
          </a:p>
        </p:txBody>
      </p:sp>
      <p:sp>
        <p:nvSpPr>
          <p:cNvPr id="71" name="Shape 69"/>
          <p:cNvSpPr/>
          <p:nvPr/>
        </p:nvSpPr>
        <p:spPr>
          <a:xfrm>
            <a:off x="2852928" y="4818888"/>
            <a:ext cx="137160" cy="201168"/>
          </a:xfrm>
          <a:prstGeom prst="rect">
            <a:avLst/>
          </a:prstGeom>
          <a:solidFill>
            <a:schemeClr val="accent1"/>
          </a:solidFill>
          <a:ln/>
        </p:spPr>
        <p:txBody>
          <a:bodyPr/>
          <a:lstStyle/>
          <a:p>
            <a:endParaRPr lang="en-US"/>
          </a:p>
        </p:txBody>
      </p:sp>
      <p:sp>
        <p:nvSpPr>
          <p:cNvPr id="72" name="Shape 70"/>
          <p:cNvSpPr/>
          <p:nvPr/>
        </p:nvSpPr>
        <p:spPr>
          <a:xfrm>
            <a:off x="2798064" y="3410712"/>
            <a:ext cx="123444" cy="1408176"/>
          </a:xfrm>
          <a:prstGeom prst="line">
            <a:avLst/>
          </a:prstGeom>
          <a:noFill/>
          <a:ln w="9525">
            <a:solidFill>
              <a:schemeClr val="accent1"/>
            </a:solidFill>
            <a:prstDash val="solid"/>
          </a:ln>
        </p:spPr>
        <p:txBody>
          <a:bodyPr/>
          <a:lstStyle/>
          <a:p>
            <a:endParaRPr lang="en-US"/>
          </a:p>
        </p:txBody>
      </p:sp>
      <p:sp>
        <p:nvSpPr>
          <p:cNvPr id="73" name="Shape 71"/>
          <p:cNvSpPr/>
          <p:nvPr/>
        </p:nvSpPr>
        <p:spPr>
          <a:xfrm>
            <a:off x="3031236" y="4818888"/>
            <a:ext cx="137160" cy="201168"/>
          </a:xfrm>
          <a:prstGeom prst="rect">
            <a:avLst/>
          </a:prstGeom>
          <a:solidFill>
            <a:schemeClr val="accent1"/>
          </a:solidFill>
          <a:ln/>
        </p:spPr>
        <p:txBody>
          <a:bodyPr/>
          <a:lstStyle/>
          <a:p>
            <a:endParaRPr lang="en-US"/>
          </a:p>
        </p:txBody>
      </p:sp>
      <p:sp>
        <p:nvSpPr>
          <p:cNvPr id="74" name="Shape 72"/>
          <p:cNvSpPr/>
          <p:nvPr/>
        </p:nvSpPr>
        <p:spPr>
          <a:xfrm flipH="1">
            <a:off x="3099816" y="3410712"/>
            <a:ext cx="566928" cy="1408176"/>
          </a:xfrm>
          <a:prstGeom prst="line">
            <a:avLst/>
          </a:prstGeom>
          <a:noFill/>
          <a:ln w="9525">
            <a:solidFill>
              <a:schemeClr val="accent1"/>
            </a:solidFill>
            <a:prstDash val="solid"/>
          </a:ln>
        </p:spPr>
        <p:txBody>
          <a:bodyPr/>
          <a:lstStyle/>
          <a:p>
            <a:endParaRPr lang="en-US"/>
          </a:p>
        </p:txBody>
      </p:sp>
      <p:sp>
        <p:nvSpPr>
          <p:cNvPr id="75" name="Shape 73"/>
          <p:cNvSpPr/>
          <p:nvPr/>
        </p:nvSpPr>
        <p:spPr>
          <a:xfrm>
            <a:off x="3209544" y="4818888"/>
            <a:ext cx="137160" cy="201168"/>
          </a:xfrm>
          <a:prstGeom prst="rect">
            <a:avLst/>
          </a:prstGeom>
          <a:solidFill>
            <a:schemeClr val="accent1"/>
          </a:solidFill>
          <a:ln/>
        </p:spPr>
        <p:txBody>
          <a:bodyPr/>
          <a:lstStyle/>
          <a:p>
            <a:endParaRPr lang="en-US"/>
          </a:p>
        </p:txBody>
      </p:sp>
      <p:sp>
        <p:nvSpPr>
          <p:cNvPr id="76" name="Shape 74"/>
          <p:cNvSpPr/>
          <p:nvPr/>
        </p:nvSpPr>
        <p:spPr>
          <a:xfrm flipH="1">
            <a:off x="3278124" y="3410712"/>
            <a:ext cx="1257300" cy="1408176"/>
          </a:xfrm>
          <a:prstGeom prst="line">
            <a:avLst/>
          </a:prstGeom>
          <a:noFill/>
          <a:ln w="9525">
            <a:solidFill>
              <a:schemeClr val="accent1"/>
            </a:solidFill>
            <a:prstDash val="solid"/>
          </a:ln>
        </p:spPr>
        <p:txBody>
          <a:bodyPr/>
          <a:lstStyle/>
          <a:p>
            <a:endParaRPr lang="en-US"/>
          </a:p>
        </p:txBody>
      </p:sp>
      <p:sp>
        <p:nvSpPr>
          <p:cNvPr id="77" name="Shape 75"/>
          <p:cNvSpPr/>
          <p:nvPr/>
        </p:nvSpPr>
        <p:spPr>
          <a:xfrm>
            <a:off x="3387852" y="4818888"/>
            <a:ext cx="137160" cy="201168"/>
          </a:xfrm>
          <a:prstGeom prst="rect">
            <a:avLst/>
          </a:prstGeom>
          <a:solidFill>
            <a:schemeClr val="accent1"/>
          </a:solidFill>
          <a:ln/>
        </p:spPr>
        <p:txBody>
          <a:bodyPr/>
          <a:lstStyle/>
          <a:p>
            <a:endParaRPr lang="en-US"/>
          </a:p>
        </p:txBody>
      </p:sp>
      <p:sp>
        <p:nvSpPr>
          <p:cNvPr id="78" name="Shape 76"/>
          <p:cNvSpPr/>
          <p:nvPr/>
        </p:nvSpPr>
        <p:spPr>
          <a:xfrm flipH="1">
            <a:off x="3456432" y="3410712"/>
            <a:ext cx="1947672" cy="1408176"/>
          </a:xfrm>
          <a:prstGeom prst="line">
            <a:avLst/>
          </a:prstGeom>
          <a:noFill/>
          <a:ln w="9525">
            <a:solidFill>
              <a:schemeClr val="accent1"/>
            </a:solidFill>
            <a:prstDash val="solid"/>
          </a:ln>
        </p:spPr>
        <p:txBody>
          <a:bodyPr/>
          <a:lstStyle/>
          <a:p>
            <a:endParaRPr lang="en-US"/>
          </a:p>
        </p:txBody>
      </p:sp>
      <p:sp>
        <p:nvSpPr>
          <p:cNvPr id="79" name="Shape 77"/>
          <p:cNvSpPr/>
          <p:nvPr/>
        </p:nvSpPr>
        <p:spPr>
          <a:xfrm>
            <a:off x="3566160" y="4818888"/>
            <a:ext cx="137160" cy="201168"/>
          </a:xfrm>
          <a:prstGeom prst="rect">
            <a:avLst/>
          </a:prstGeom>
          <a:solidFill>
            <a:schemeClr val="accent1"/>
          </a:solidFill>
          <a:ln/>
        </p:spPr>
        <p:txBody>
          <a:bodyPr/>
          <a:lstStyle/>
          <a:p>
            <a:endParaRPr lang="en-US"/>
          </a:p>
        </p:txBody>
      </p:sp>
      <p:sp>
        <p:nvSpPr>
          <p:cNvPr id="80" name="Shape 78"/>
          <p:cNvSpPr/>
          <p:nvPr/>
        </p:nvSpPr>
        <p:spPr>
          <a:xfrm flipH="1">
            <a:off x="3634740" y="3410712"/>
            <a:ext cx="2638044" cy="1408176"/>
          </a:xfrm>
          <a:prstGeom prst="line">
            <a:avLst/>
          </a:prstGeom>
          <a:noFill/>
          <a:ln w="9525">
            <a:solidFill>
              <a:schemeClr val="accent1"/>
            </a:solidFill>
            <a:prstDash val="solid"/>
          </a:ln>
        </p:spPr>
        <p:txBody>
          <a:bodyPr/>
          <a:lstStyle/>
          <a:p>
            <a:endParaRPr lang="en-US"/>
          </a:p>
        </p:txBody>
      </p:sp>
      <p:sp>
        <p:nvSpPr>
          <p:cNvPr id="81" name="Shape 79"/>
          <p:cNvSpPr/>
          <p:nvPr/>
        </p:nvSpPr>
        <p:spPr>
          <a:xfrm>
            <a:off x="3744468" y="4818888"/>
            <a:ext cx="137160" cy="201168"/>
          </a:xfrm>
          <a:prstGeom prst="rect">
            <a:avLst/>
          </a:prstGeom>
          <a:solidFill>
            <a:schemeClr val="accent1"/>
          </a:solidFill>
          <a:ln/>
        </p:spPr>
        <p:txBody>
          <a:bodyPr/>
          <a:lstStyle/>
          <a:p>
            <a:endParaRPr lang="en-US"/>
          </a:p>
        </p:txBody>
      </p:sp>
      <p:sp>
        <p:nvSpPr>
          <p:cNvPr id="82" name="Shape 80"/>
          <p:cNvSpPr/>
          <p:nvPr/>
        </p:nvSpPr>
        <p:spPr>
          <a:xfrm flipH="1">
            <a:off x="3813048" y="3410712"/>
            <a:ext cx="3328416" cy="1408176"/>
          </a:xfrm>
          <a:prstGeom prst="line">
            <a:avLst/>
          </a:prstGeom>
          <a:noFill/>
          <a:ln w="9525">
            <a:solidFill>
              <a:schemeClr val="accent1"/>
            </a:solidFill>
            <a:prstDash val="solid"/>
          </a:ln>
        </p:spPr>
        <p:txBody>
          <a:bodyPr/>
          <a:lstStyle/>
          <a:p>
            <a:endParaRPr lang="en-US"/>
          </a:p>
        </p:txBody>
      </p:sp>
      <p:sp>
        <p:nvSpPr>
          <p:cNvPr id="83" name="Text 81"/>
          <p:cNvSpPr txBox="1"/>
          <p:nvPr/>
        </p:nvSpPr>
        <p:spPr>
          <a:xfrm>
            <a:off x="2404872" y="5102352"/>
            <a:ext cx="1600200" cy="594360"/>
          </a:xfrm>
          <a:prstGeom prst="rect">
            <a:avLst/>
          </a:prstGeom>
          <a:noFill/>
          <a:ln/>
        </p:spPr>
        <p:txBody>
          <a:bodyPr wrap="square" lIns="0" tIns="0" rIns="0" bIns="0" rtlCol="0" anchor="t"/>
          <a:lstStyle/>
          <a:p>
            <a:pPr marL="0" indent="0" algn="ctr">
              <a:buNone/>
            </a:pPr>
            <a:r>
              <a:rPr lang="en-US" sz="1100" b="1" dirty="0">
                <a:solidFill>
                  <a:schemeClr val="bg1"/>
                </a:solidFill>
              </a:rPr>
              <a:t>Node 1</a:t>
            </a:r>
            <a:endParaRPr lang="en-US" sz="1100" dirty="0"/>
          </a:p>
          <a:p>
            <a:pPr marL="0" indent="0" algn="ctr">
              <a:buNone/>
            </a:pPr>
            <a:r>
              <a:rPr lang="en-US" sz="1100" b="1" dirty="0">
                <a:solidFill>
                  <a:schemeClr val="bg1"/>
                </a:solidFill>
              </a:rPr>
              <a:t>GPU0 … GPU7</a:t>
            </a:r>
            <a:endParaRPr lang="en-US" sz="1100" dirty="0"/>
          </a:p>
        </p:txBody>
      </p:sp>
      <p:sp>
        <p:nvSpPr>
          <p:cNvPr id="84" name="Shape 82"/>
          <p:cNvSpPr/>
          <p:nvPr/>
        </p:nvSpPr>
        <p:spPr>
          <a:xfrm>
            <a:off x="4123944" y="4709160"/>
            <a:ext cx="1600200" cy="1051560"/>
          </a:xfrm>
          <a:prstGeom prst="roundRect">
            <a:avLst>
              <a:gd name="adj" fmla="val 4348"/>
            </a:avLst>
          </a:prstGeom>
          <a:solidFill>
            <a:schemeClr val="tx1"/>
          </a:solidFill>
          <a:ln/>
        </p:spPr>
        <p:txBody>
          <a:bodyPr/>
          <a:lstStyle/>
          <a:p>
            <a:endParaRPr lang="en-US"/>
          </a:p>
        </p:txBody>
      </p:sp>
      <p:sp>
        <p:nvSpPr>
          <p:cNvPr id="85" name="Shape 83"/>
          <p:cNvSpPr/>
          <p:nvPr/>
        </p:nvSpPr>
        <p:spPr>
          <a:xfrm>
            <a:off x="4215384" y="4818888"/>
            <a:ext cx="137160" cy="201168"/>
          </a:xfrm>
          <a:prstGeom prst="rect">
            <a:avLst/>
          </a:prstGeom>
          <a:solidFill>
            <a:schemeClr val="accent1"/>
          </a:solidFill>
          <a:ln/>
        </p:spPr>
        <p:txBody>
          <a:bodyPr/>
          <a:lstStyle/>
          <a:p>
            <a:endParaRPr lang="en-US"/>
          </a:p>
        </p:txBody>
      </p:sp>
      <p:sp>
        <p:nvSpPr>
          <p:cNvPr id="86" name="Shape 84"/>
          <p:cNvSpPr/>
          <p:nvPr/>
        </p:nvSpPr>
        <p:spPr>
          <a:xfrm>
            <a:off x="1060704" y="3410712"/>
            <a:ext cx="3223260" cy="1408176"/>
          </a:xfrm>
          <a:prstGeom prst="line">
            <a:avLst/>
          </a:prstGeom>
          <a:noFill/>
          <a:ln w="9525">
            <a:solidFill>
              <a:schemeClr val="accent1"/>
            </a:solidFill>
            <a:prstDash val="solid"/>
          </a:ln>
        </p:spPr>
        <p:txBody>
          <a:bodyPr/>
          <a:lstStyle/>
          <a:p>
            <a:endParaRPr lang="en-US"/>
          </a:p>
        </p:txBody>
      </p:sp>
      <p:sp>
        <p:nvSpPr>
          <p:cNvPr id="87" name="Shape 85"/>
          <p:cNvSpPr/>
          <p:nvPr/>
        </p:nvSpPr>
        <p:spPr>
          <a:xfrm>
            <a:off x="4393692" y="4818888"/>
            <a:ext cx="137160" cy="201168"/>
          </a:xfrm>
          <a:prstGeom prst="rect">
            <a:avLst/>
          </a:prstGeom>
          <a:solidFill>
            <a:schemeClr val="accent1"/>
          </a:solidFill>
          <a:ln/>
        </p:spPr>
        <p:txBody>
          <a:bodyPr/>
          <a:lstStyle/>
          <a:p>
            <a:endParaRPr lang="en-US"/>
          </a:p>
        </p:txBody>
      </p:sp>
      <p:sp>
        <p:nvSpPr>
          <p:cNvPr id="88" name="Shape 86"/>
          <p:cNvSpPr/>
          <p:nvPr/>
        </p:nvSpPr>
        <p:spPr>
          <a:xfrm>
            <a:off x="1929384" y="3410712"/>
            <a:ext cx="2532888" cy="1408176"/>
          </a:xfrm>
          <a:prstGeom prst="line">
            <a:avLst/>
          </a:prstGeom>
          <a:noFill/>
          <a:ln w="9525">
            <a:solidFill>
              <a:schemeClr val="accent1"/>
            </a:solidFill>
            <a:prstDash val="solid"/>
          </a:ln>
        </p:spPr>
        <p:txBody>
          <a:bodyPr/>
          <a:lstStyle/>
          <a:p>
            <a:endParaRPr lang="en-US"/>
          </a:p>
        </p:txBody>
      </p:sp>
      <p:sp>
        <p:nvSpPr>
          <p:cNvPr id="89" name="Shape 87"/>
          <p:cNvSpPr/>
          <p:nvPr/>
        </p:nvSpPr>
        <p:spPr>
          <a:xfrm>
            <a:off x="4572000" y="4818888"/>
            <a:ext cx="137160" cy="201168"/>
          </a:xfrm>
          <a:prstGeom prst="rect">
            <a:avLst/>
          </a:prstGeom>
          <a:solidFill>
            <a:schemeClr val="accent1"/>
          </a:solidFill>
          <a:ln/>
        </p:spPr>
        <p:txBody>
          <a:bodyPr/>
          <a:lstStyle/>
          <a:p>
            <a:endParaRPr lang="en-US"/>
          </a:p>
        </p:txBody>
      </p:sp>
      <p:sp>
        <p:nvSpPr>
          <p:cNvPr id="90" name="Shape 88"/>
          <p:cNvSpPr/>
          <p:nvPr/>
        </p:nvSpPr>
        <p:spPr>
          <a:xfrm>
            <a:off x="2798064" y="3410712"/>
            <a:ext cx="1842516" cy="1408176"/>
          </a:xfrm>
          <a:prstGeom prst="line">
            <a:avLst/>
          </a:prstGeom>
          <a:noFill/>
          <a:ln w="9525">
            <a:solidFill>
              <a:schemeClr val="accent1"/>
            </a:solidFill>
            <a:prstDash val="solid"/>
          </a:ln>
        </p:spPr>
        <p:txBody>
          <a:bodyPr/>
          <a:lstStyle/>
          <a:p>
            <a:endParaRPr lang="en-US"/>
          </a:p>
        </p:txBody>
      </p:sp>
      <p:sp>
        <p:nvSpPr>
          <p:cNvPr id="91" name="Shape 89"/>
          <p:cNvSpPr/>
          <p:nvPr/>
        </p:nvSpPr>
        <p:spPr>
          <a:xfrm>
            <a:off x="4750308" y="4818888"/>
            <a:ext cx="137160" cy="201168"/>
          </a:xfrm>
          <a:prstGeom prst="rect">
            <a:avLst/>
          </a:prstGeom>
          <a:solidFill>
            <a:schemeClr val="accent1"/>
          </a:solidFill>
          <a:ln/>
        </p:spPr>
        <p:txBody>
          <a:bodyPr/>
          <a:lstStyle/>
          <a:p>
            <a:endParaRPr lang="en-US"/>
          </a:p>
        </p:txBody>
      </p:sp>
      <p:sp>
        <p:nvSpPr>
          <p:cNvPr id="92" name="Shape 90"/>
          <p:cNvSpPr/>
          <p:nvPr/>
        </p:nvSpPr>
        <p:spPr>
          <a:xfrm>
            <a:off x="3666744" y="3410712"/>
            <a:ext cx="1152144" cy="1408176"/>
          </a:xfrm>
          <a:prstGeom prst="line">
            <a:avLst/>
          </a:prstGeom>
          <a:noFill/>
          <a:ln w="9525">
            <a:solidFill>
              <a:schemeClr val="accent1"/>
            </a:solidFill>
            <a:prstDash val="solid"/>
          </a:ln>
        </p:spPr>
        <p:txBody>
          <a:bodyPr/>
          <a:lstStyle/>
          <a:p>
            <a:endParaRPr lang="en-US"/>
          </a:p>
        </p:txBody>
      </p:sp>
      <p:sp>
        <p:nvSpPr>
          <p:cNvPr id="93" name="Shape 91"/>
          <p:cNvSpPr/>
          <p:nvPr/>
        </p:nvSpPr>
        <p:spPr>
          <a:xfrm>
            <a:off x="4928616" y="4818888"/>
            <a:ext cx="137160" cy="201168"/>
          </a:xfrm>
          <a:prstGeom prst="rect">
            <a:avLst/>
          </a:prstGeom>
          <a:solidFill>
            <a:schemeClr val="accent1"/>
          </a:solidFill>
          <a:ln/>
        </p:spPr>
        <p:txBody>
          <a:bodyPr/>
          <a:lstStyle/>
          <a:p>
            <a:endParaRPr lang="en-US"/>
          </a:p>
        </p:txBody>
      </p:sp>
      <p:sp>
        <p:nvSpPr>
          <p:cNvPr id="94" name="Shape 92"/>
          <p:cNvSpPr/>
          <p:nvPr/>
        </p:nvSpPr>
        <p:spPr>
          <a:xfrm>
            <a:off x="4535424" y="3410712"/>
            <a:ext cx="461772" cy="1408176"/>
          </a:xfrm>
          <a:prstGeom prst="line">
            <a:avLst/>
          </a:prstGeom>
          <a:noFill/>
          <a:ln w="9525">
            <a:solidFill>
              <a:schemeClr val="accent1"/>
            </a:solidFill>
            <a:prstDash val="solid"/>
          </a:ln>
        </p:spPr>
        <p:txBody>
          <a:bodyPr/>
          <a:lstStyle/>
          <a:p>
            <a:endParaRPr lang="en-US"/>
          </a:p>
        </p:txBody>
      </p:sp>
      <p:sp>
        <p:nvSpPr>
          <p:cNvPr id="95" name="Shape 93"/>
          <p:cNvSpPr/>
          <p:nvPr/>
        </p:nvSpPr>
        <p:spPr>
          <a:xfrm>
            <a:off x="5106924" y="4818888"/>
            <a:ext cx="137160" cy="201168"/>
          </a:xfrm>
          <a:prstGeom prst="rect">
            <a:avLst/>
          </a:prstGeom>
          <a:solidFill>
            <a:schemeClr val="accent1"/>
          </a:solidFill>
          <a:ln/>
        </p:spPr>
        <p:txBody>
          <a:bodyPr/>
          <a:lstStyle/>
          <a:p>
            <a:endParaRPr lang="en-US"/>
          </a:p>
        </p:txBody>
      </p:sp>
      <p:sp>
        <p:nvSpPr>
          <p:cNvPr id="96" name="Shape 94"/>
          <p:cNvSpPr/>
          <p:nvPr/>
        </p:nvSpPr>
        <p:spPr>
          <a:xfrm flipH="1">
            <a:off x="5175504" y="3410712"/>
            <a:ext cx="228600" cy="1408176"/>
          </a:xfrm>
          <a:prstGeom prst="line">
            <a:avLst/>
          </a:prstGeom>
          <a:noFill/>
          <a:ln w="9525">
            <a:solidFill>
              <a:schemeClr val="accent1"/>
            </a:solidFill>
            <a:prstDash val="solid"/>
          </a:ln>
        </p:spPr>
        <p:txBody>
          <a:bodyPr/>
          <a:lstStyle/>
          <a:p>
            <a:endParaRPr lang="en-US"/>
          </a:p>
        </p:txBody>
      </p:sp>
      <p:sp>
        <p:nvSpPr>
          <p:cNvPr id="97" name="Shape 95"/>
          <p:cNvSpPr/>
          <p:nvPr/>
        </p:nvSpPr>
        <p:spPr>
          <a:xfrm>
            <a:off x="5285232" y="4818888"/>
            <a:ext cx="137160" cy="201168"/>
          </a:xfrm>
          <a:prstGeom prst="rect">
            <a:avLst/>
          </a:prstGeom>
          <a:solidFill>
            <a:schemeClr val="accent1"/>
          </a:solidFill>
          <a:ln/>
        </p:spPr>
        <p:txBody>
          <a:bodyPr/>
          <a:lstStyle/>
          <a:p>
            <a:endParaRPr lang="en-US"/>
          </a:p>
        </p:txBody>
      </p:sp>
      <p:sp>
        <p:nvSpPr>
          <p:cNvPr id="98" name="Shape 96"/>
          <p:cNvSpPr/>
          <p:nvPr/>
        </p:nvSpPr>
        <p:spPr>
          <a:xfrm flipH="1">
            <a:off x="5353812" y="3410712"/>
            <a:ext cx="918972" cy="1408176"/>
          </a:xfrm>
          <a:prstGeom prst="line">
            <a:avLst/>
          </a:prstGeom>
          <a:noFill/>
          <a:ln w="9525">
            <a:solidFill>
              <a:schemeClr val="accent1"/>
            </a:solidFill>
            <a:prstDash val="solid"/>
          </a:ln>
        </p:spPr>
        <p:txBody>
          <a:bodyPr/>
          <a:lstStyle/>
          <a:p>
            <a:endParaRPr lang="en-US"/>
          </a:p>
        </p:txBody>
      </p:sp>
      <p:sp>
        <p:nvSpPr>
          <p:cNvPr id="99" name="Shape 97"/>
          <p:cNvSpPr/>
          <p:nvPr/>
        </p:nvSpPr>
        <p:spPr>
          <a:xfrm>
            <a:off x="5463540" y="4818888"/>
            <a:ext cx="137160" cy="201168"/>
          </a:xfrm>
          <a:prstGeom prst="rect">
            <a:avLst/>
          </a:prstGeom>
          <a:solidFill>
            <a:schemeClr val="accent1"/>
          </a:solidFill>
          <a:ln/>
        </p:spPr>
        <p:txBody>
          <a:bodyPr/>
          <a:lstStyle/>
          <a:p>
            <a:endParaRPr lang="en-US"/>
          </a:p>
        </p:txBody>
      </p:sp>
      <p:sp>
        <p:nvSpPr>
          <p:cNvPr id="100" name="Shape 98"/>
          <p:cNvSpPr/>
          <p:nvPr/>
        </p:nvSpPr>
        <p:spPr>
          <a:xfrm flipH="1">
            <a:off x="5532120" y="3410712"/>
            <a:ext cx="1609344" cy="1408176"/>
          </a:xfrm>
          <a:prstGeom prst="line">
            <a:avLst/>
          </a:prstGeom>
          <a:noFill/>
          <a:ln w="9525">
            <a:solidFill>
              <a:schemeClr val="accent1"/>
            </a:solidFill>
            <a:prstDash val="solid"/>
          </a:ln>
        </p:spPr>
        <p:txBody>
          <a:bodyPr/>
          <a:lstStyle/>
          <a:p>
            <a:endParaRPr lang="en-US"/>
          </a:p>
        </p:txBody>
      </p:sp>
      <p:sp>
        <p:nvSpPr>
          <p:cNvPr id="101" name="Text 99"/>
          <p:cNvSpPr txBox="1"/>
          <p:nvPr/>
        </p:nvSpPr>
        <p:spPr>
          <a:xfrm>
            <a:off x="4123944" y="5102352"/>
            <a:ext cx="1600200" cy="594360"/>
          </a:xfrm>
          <a:prstGeom prst="rect">
            <a:avLst/>
          </a:prstGeom>
          <a:noFill/>
          <a:ln/>
        </p:spPr>
        <p:txBody>
          <a:bodyPr wrap="square" lIns="0" tIns="0" rIns="0" bIns="0" rtlCol="0" anchor="t"/>
          <a:lstStyle/>
          <a:p>
            <a:pPr marL="0" indent="0" algn="ctr">
              <a:buNone/>
            </a:pPr>
            <a:r>
              <a:rPr lang="en-US" sz="1100" b="1" dirty="0">
                <a:solidFill>
                  <a:schemeClr val="bg1"/>
                </a:solidFill>
              </a:rPr>
              <a:t>Node 2</a:t>
            </a:r>
            <a:endParaRPr lang="en-US" sz="1100" dirty="0"/>
          </a:p>
          <a:p>
            <a:pPr marL="0" indent="0" algn="ctr">
              <a:buNone/>
            </a:pPr>
            <a:r>
              <a:rPr lang="en-US" sz="1100" b="1" dirty="0">
                <a:solidFill>
                  <a:schemeClr val="bg1"/>
                </a:solidFill>
              </a:rPr>
              <a:t>GPU0 … GPU7</a:t>
            </a:r>
            <a:endParaRPr lang="en-US" sz="1100" dirty="0"/>
          </a:p>
        </p:txBody>
      </p:sp>
      <p:sp>
        <p:nvSpPr>
          <p:cNvPr id="102" name="Shape 100"/>
          <p:cNvSpPr/>
          <p:nvPr/>
        </p:nvSpPr>
        <p:spPr>
          <a:xfrm>
            <a:off x="5843016" y="4709160"/>
            <a:ext cx="1600200" cy="1051560"/>
          </a:xfrm>
          <a:prstGeom prst="roundRect">
            <a:avLst>
              <a:gd name="adj" fmla="val 4348"/>
            </a:avLst>
          </a:prstGeom>
          <a:solidFill>
            <a:schemeClr val="tx1"/>
          </a:solidFill>
          <a:ln/>
        </p:spPr>
        <p:txBody>
          <a:bodyPr/>
          <a:lstStyle/>
          <a:p>
            <a:endParaRPr lang="en-US"/>
          </a:p>
        </p:txBody>
      </p:sp>
      <p:sp>
        <p:nvSpPr>
          <p:cNvPr id="103" name="Shape 101"/>
          <p:cNvSpPr/>
          <p:nvPr/>
        </p:nvSpPr>
        <p:spPr>
          <a:xfrm>
            <a:off x="5934456" y="4818888"/>
            <a:ext cx="137160" cy="201168"/>
          </a:xfrm>
          <a:prstGeom prst="rect">
            <a:avLst/>
          </a:prstGeom>
          <a:solidFill>
            <a:schemeClr val="accent1"/>
          </a:solidFill>
          <a:ln/>
        </p:spPr>
        <p:txBody>
          <a:bodyPr/>
          <a:lstStyle/>
          <a:p>
            <a:endParaRPr lang="en-US"/>
          </a:p>
        </p:txBody>
      </p:sp>
      <p:sp>
        <p:nvSpPr>
          <p:cNvPr id="104" name="Shape 102"/>
          <p:cNvSpPr/>
          <p:nvPr/>
        </p:nvSpPr>
        <p:spPr>
          <a:xfrm>
            <a:off x="1060704" y="3410712"/>
            <a:ext cx="4942332" cy="1408176"/>
          </a:xfrm>
          <a:prstGeom prst="line">
            <a:avLst/>
          </a:prstGeom>
          <a:noFill/>
          <a:ln w="9525">
            <a:solidFill>
              <a:schemeClr val="accent1"/>
            </a:solidFill>
            <a:prstDash val="solid"/>
          </a:ln>
        </p:spPr>
        <p:txBody>
          <a:bodyPr/>
          <a:lstStyle/>
          <a:p>
            <a:endParaRPr lang="en-US"/>
          </a:p>
        </p:txBody>
      </p:sp>
      <p:sp>
        <p:nvSpPr>
          <p:cNvPr id="105" name="Shape 103"/>
          <p:cNvSpPr/>
          <p:nvPr/>
        </p:nvSpPr>
        <p:spPr>
          <a:xfrm>
            <a:off x="6112764" y="4818888"/>
            <a:ext cx="137160" cy="201168"/>
          </a:xfrm>
          <a:prstGeom prst="rect">
            <a:avLst/>
          </a:prstGeom>
          <a:solidFill>
            <a:schemeClr val="accent1"/>
          </a:solidFill>
          <a:ln/>
        </p:spPr>
        <p:txBody>
          <a:bodyPr/>
          <a:lstStyle/>
          <a:p>
            <a:endParaRPr lang="en-US"/>
          </a:p>
        </p:txBody>
      </p:sp>
      <p:sp>
        <p:nvSpPr>
          <p:cNvPr id="106" name="Shape 104"/>
          <p:cNvSpPr/>
          <p:nvPr/>
        </p:nvSpPr>
        <p:spPr>
          <a:xfrm>
            <a:off x="1929384" y="3410712"/>
            <a:ext cx="4251960" cy="1408176"/>
          </a:xfrm>
          <a:prstGeom prst="line">
            <a:avLst/>
          </a:prstGeom>
          <a:noFill/>
          <a:ln w="9525">
            <a:solidFill>
              <a:schemeClr val="accent1"/>
            </a:solidFill>
            <a:prstDash val="solid"/>
          </a:ln>
        </p:spPr>
        <p:txBody>
          <a:bodyPr/>
          <a:lstStyle/>
          <a:p>
            <a:endParaRPr lang="en-US"/>
          </a:p>
        </p:txBody>
      </p:sp>
      <p:sp>
        <p:nvSpPr>
          <p:cNvPr id="107" name="Shape 105"/>
          <p:cNvSpPr/>
          <p:nvPr/>
        </p:nvSpPr>
        <p:spPr>
          <a:xfrm>
            <a:off x="6291072" y="4818888"/>
            <a:ext cx="137160" cy="201168"/>
          </a:xfrm>
          <a:prstGeom prst="rect">
            <a:avLst/>
          </a:prstGeom>
          <a:solidFill>
            <a:schemeClr val="accent1"/>
          </a:solidFill>
          <a:ln/>
        </p:spPr>
        <p:txBody>
          <a:bodyPr/>
          <a:lstStyle/>
          <a:p>
            <a:endParaRPr lang="en-US"/>
          </a:p>
        </p:txBody>
      </p:sp>
      <p:sp>
        <p:nvSpPr>
          <p:cNvPr id="108" name="Shape 106"/>
          <p:cNvSpPr/>
          <p:nvPr/>
        </p:nvSpPr>
        <p:spPr>
          <a:xfrm>
            <a:off x="2798064" y="3410712"/>
            <a:ext cx="3561588" cy="1408176"/>
          </a:xfrm>
          <a:prstGeom prst="line">
            <a:avLst/>
          </a:prstGeom>
          <a:noFill/>
          <a:ln w="9525">
            <a:solidFill>
              <a:schemeClr val="accent1"/>
            </a:solidFill>
            <a:prstDash val="solid"/>
          </a:ln>
        </p:spPr>
        <p:txBody>
          <a:bodyPr/>
          <a:lstStyle/>
          <a:p>
            <a:endParaRPr lang="en-US"/>
          </a:p>
        </p:txBody>
      </p:sp>
      <p:sp>
        <p:nvSpPr>
          <p:cNvPr id="109" name="Shape 107"/>
          <p:cNvSpPr/>
          <p:nvPr/>
        </p:nvSpPr>
        <p:spPr>
          <a:xfrm>
            <a:off x="6469380" y="4818888"/>
            <a:ext cx="137160" cy="201168"/>
          </a:xfrm>
          <a:prstGeom prst="rect">
            <a:avLst/>
          </a:prstGeom>
          <a:solidFill>
            <a:schemeClr val="accent1"/>
          </a:solidFill>
          <a:ln/>
        </p:spPr>
        <p:txBody>
          <a:bodyPr/>
          <a:lstStyle/>
          <a:p>
            <a:endParaRPr lang="en-US"/>
          </a:p>
        </p:txBody>
      </p:sp>
      <p:sp>
        <p:nvSpPr>
          <p:cNvPr id="110" name="Shape 108"/>
          <p:cNvSpPr/>
          <p:nvPr/>
        </p:nvSpPr>
        <p:spPr>
          <a:xfrm>
            <a:off x="3666744" y="3410712"/>
            <a:ext cx="2871216" cy="1408176"/>
          </a:xfrm>
          <a:prstGeom prst="line">
            <a:avLst/>
          </a:prstGeom>
          <a:noFill/>
          <a:ln w="9525">
            <a:solidFill>
              <a:schemeClr val="accent1"/>
            </a:solidFill>
            <a:prstDash val="solid"/>
          </a:ln>
        </p:spPr>
        <p:txBody>
          <a:bodyPr/>
          <a:lstStyle/>
          <a:p>
            <a:endParaRPr lang="en-US"/>
          </a:p>
        </p:txBody>
      </p:sp>
      <p:sp>
        <p:nvSpPr>
          <p:cNvPr id="111" name="Shape 109"/>
          <p:cNvSpPr/>
          <p:nvPr/>
        </p:nvSpPr>
        <p:spPr>
          <a:xfrm>
            <a:off x="6647688" y="4818888"/>
            <a:ext cx="137160" cy="201168"/>
          </a:xfrm>
          <a:prstGeom prst="rect">
            <a:avLst/>
          </a:prstGeom>
          <a:solidFill>
            <a:schemeClr val="accent1"/>
          </a:solidFill>
          <a:ln/>
        </p:spPr>
        <p:txBody>
          <a:bodyPr/>
          <a:lstStyle/>
          <a:p>
            <a:endParaRPr lang="en-US"/>
          </a:p>
        </p:txBody>
      </p:sp>
      <p:sp>
        <p:nvSpPr>
          <p:cNvPr id="112" name="Shape 110"/>
          <p:cNvSpPr/>
          <p:nvPr/>
        </p:nvSpPr>
        <p:spPr>
          <a:xfrm>
            <a:off x="4535424" y="3410712"/>
            <a:ext cx="2180844" cy="1408176"/>
          </a:xfrm>
          <a:prstGeom prst="line">
            <a:avLst/>
          </a:prstGeom>
          <a:noFill/>
          <a:ln w="9525">
            <a:solidFill>
              <a:schemeClr val="accent1"/>
            </a:solidFill>
            <a:prstDash val="solid"/>
          </a:ln>
        </p:spPr>
        <p:txBody>
          <a:bodyPr/>
          <a:lstStyle/>
          <a:p>
            <a:endParaRPr lang="en-US"/>
          </a:p>
        </p:txBody>
      </p:sp>
      <p:sp>
        <p:nvSpPr>
          <p:cNvPr id="113" name="Shape 111"/>
          <p:cNvSpPr/>
          <p:nvPr/>
        </p:nvSpPr>
        <p:spPr>
          <a:xfrm>
            <a:off x="6825996" y="4818888"/>
            <a:ext cx="137160" cy="201168"/>
          </a:xfrm>
          <a:prstGeom prst="rect">
            <a:avLst/>
          </a:prstGeom>
          <a:solidFill>
            <a:schemeClr val="accent1"/>
          </a:solidFill>
          <a:ln/>
        </p:spPr>
        <p:txBody>
          <a:bodyPr/>
          <a:lstStyle/>
          <a:p>
            <a:endParaRPr lang="en-US"/>
          </a:p>
        </p:txBody>
      </p:sp>
      <p:sp>
        <p:nvSpPr>
          <p:cNvPr id="114" name="Shape 112"/>
          <p:cNvSpPr/>
          <p:nvPr/>
        </p:nvSpPr>
        <p:spPr>
          <a:xfrm>
            <a:off x="5404104" y="3410712"/>
            <a:ext cx="1490472" cy="1408176"/>
          </a:xfrm>
          <a:prstGeom prst="line">
            <a:avLst/>
          </a:prstGeom>
          <a:noFill/>
          <a:ln w="9525">
            <a:solidFill>
              <a:schemeClr val="accent1"/>
            </a:solidFill>
            <a:prstDash val="solid"/>
          </a:ln>
        </p:spPr>
        <p:txBody>
          <a:bodyPr/>
          <a:lstStyle/>
          <a:p>
            <a:endParaRPr lang="en-US"/>
          </a:p>
        </p:txBody>
      </p:sp>
      <p:sp>
        <p:nvSpPr>
          <p:cNvPr id="115" name="Shape 113"/>
          <p:cNvSpPr/>
          <p:nvPr/>
        </p:nvSpPr>
        <p:spPr>
          <a:xfrm>
            <a:off x="7004304" y="4818888"/>
            <a:ext cx="137160" cy="201168"/>
          </a:xfrm>
          <a:prstGeom prst="rect">
            <a:avLst/>
          </a:prstGeom>
          <a:solidFill>
            <a:schemeClr val="accent1"/>
          </a:solidFill>
          <a:ln/>
        </p:spPr>
        <p:txBody>
          <a:bodyPr/>
          <a:lstStyle/>
          <a:p>
            <a:endParaRPr lang="en-US"/>
          </a:p>
        </p:txBody>
      </p:sp>
      <p:sp>
        <p:nvSpPr>
          <p:cNvPr id="116" name="Shape 114"/>
          <p:cNvSpPr/>
          <p:nvPr/>
        </p:nvSpPr>
        <p:spPr>
          <a:xfrm>
            <a:off x="6272784" y="3410712"/>
            <a:ext cx="800100" cy="1408176"/>
          </a:xfrm>
          <a:prstGeom prst="line">
            <a:avLst/>
          </a:prstGeom>
          <a:noFill/>
          <a:ln w="9525">
            <a:solidFill>
              <a:schemeClr val="accent1"/>
            </a:solidFill>
            <a:prstDash val="solid"/>
          </a:ln>
        </p:spPr>
        <p:txBody>
          <a:bodyPr/>
          <a:lstStyle/>
          <a:p>
            <a:endParaRPr lang="en-US"/>
          </a:p>
        </p:txBody>
      </p:sp>
      <p:sp>
        <p:nvSpPr>
          <p:cNvPr id="117" name="Shape 115"/>
          <p:cNvSpPr/>
          <p:nvPr/>
        </p:nvSpPr>
        <p:spPr>
          <a:xfrm>
            <a:off x="7182612" y="4818888"/>
            <a:ext cx="137160" cy="201168"/>
          </a:xfrm>
          <a:prstGeom prst="rect">
            <a:avLst/>
          </a:prstGeom>
          <a:solidFill>
            <a:schemeClr val="accent1"/>
          </a:solidFill>
          <a:ln/>
        </p:spPr>
        <p:txBody>
          <a:bodyPr/>
          <a:lstStyle/>
          <a:p>
            <a:endParaRPr lang="en-US"/>
          </a:p>
        </p:txBody>
      </p:sp>
      <p:sp>
        <p:nvSpPr>
          <p:cNvPr id="118" name="Shape 116"/>
          <p:cNvSpPr/>
          <p:nvPr/>
        </p:nvSpPr>
        <p:spPr>
          <a:xfrm>
            <a:off x="7141464" y="3410712"/>
            <a:ext cx="109728" cy="1408176"/>
          </a:xfrm>
          <a:prstGeom prst="line">
            <a:avLst/>
          </a:prstGeom>
          <a:noFill/>
          <a:ln w="9525">
            <a:solidFill>
              <a:schemeClr val="accent1"/>
            </a:solidFill>
            <a:prstDash val="solid"/>
          </a:ln>
        </p:spPr>
        <p:txBody>
          <a:bodyPr/>
          <a:lstStyle/>
          <a:p>
            <a:endParaRPr lang="en-US"/>
          </a:p>
        </p:txBody>
      </p:sp>
      <p:sp>
        <p:nvSpPr>
          <p:cNvPr id="119" name="Text 117"/>
          <p:cNvSpPr txBox="1"/>
          <p:nvPr/>
        </p:nvSpPr>
        <p:spPr>
          <a:xfrm>
            <a:off x="5843016" y="5102352"/>
            <a:ext cx="1600200" cy="594360"/>
          </a:xfrm>
          <a:prstGeom prst="rect">
            <a:avLst/>
          </a:prstGeom>
          <a:noFill/>
          <a:ln/>
        </p:spPr>
        <p:txBody>
          <a:bodyPr wrap="square" lIns="0" tIns="0" rIns="0" bIns="0" rtlCol="0" anchor="t"/>
          <a:lstStyle/>
          <a:p>
            <a:pPr marL="0" indent="0" algn="ctr">
              <a:buNone/>
            </a:pPr>
            <a:r>
              <a:rPr lang="en-US" sz="1100" b="1" dirty="0">
                <a:solidFill>
                  <a:schemeClr val="bg1"/>
                </a:solidFill>
              </a:rPr>
              <a:t>Node 3</a:t>
            </a:r>
            <a:endParaRPr lang="en-US" sz="1100" dirty="0"/>
          </a:p>
          <a:p>
            <a:pPr marL="0" indent="0" algn="ctr">
              <a:buNone/>
            </a:pPr>
            <a:r>
              <a:rPr lang="en-US" sz="1100" b="1" dirty="0">
                <a:solidFill>
                  <a:schemeClr val="bg1"/>
                </a:solidFill>
              </a:rPr>
              <a:t>GPU0 … GPU7</a:t>
            </a:r>
            <a:endParaRPr lang="en-US" sz="1100" dirty="0"/>
          </a:p>
        </p:txBody>
      </p:sp>
      <p:sp>
        <p:nvSpPr>
          <p:cNvPr id="120" name="Text 118"/>
          <p:cNvSpPr txBox="1"/>
          <p:nvPr/>
        </p:nvSpPr>
        <p:spPr>
          <a:xfrm>
            <a:off x="685800" y="2606040"/>
            <a:ext cx="1828800" cy="274320"/>
          </a:xfrm>
          <a:prstGeom prst="rect">
            <a:avLst/>
          </a:prstGeom>
          <a:noFill/>
          <a:ln/>
        </p:spPr>
        <p:txBody>
          <a:bodyPr wrap="square" lIns="0" tIns="0" rIns="0" bIns="0" rtlCol="0" anchor="t"/>
          <a:lstStyle/>
          <a:p>
            <a:pPr marL="0" indent="0">
              <a:buNone/>
            </a:pPr>
            <a:r>
              <a:rPr lang="en-US" sz="1100" b="1" dirty="0">
                <a:solidFill>
                  <a:schemeClr val="accent5"/>
                </a:solidFill>
              </a:rPr>
              <a:t>Leaf layer</a:t>
            </a:r>
            <a:endParaRPr lang="en-US" sz="1100" dirty="0"/>
          </a:p>
        </p:txBody>
      </p:sp>
      <p:sp>
        <p:nvSpPr>
          <p:cNvPr id="121" name="Text 119"/>
          <p:cNvSpPr txBox="1"/>
          <p:nvPr/>
        </p:nvSpPr>
        <p:spPr>
          <a:xfrm>
            <a:off x="685800" y="1481328"/>
            <a:ext cx="1828800" cy="274320"/>
          </a:xfrm>
          <a:prstGeom prst="rect">
            <a:avLst/>
          </a:prstGeom>
          <a:noFill/>
          <a:ln/>
        </p:spPr>
        <p:txBody>
          <a:bodyPr wrap="square" lIns="0" tIns="0" rIns="0" bIns="0" rtlCol="0" anchor="t"/>
          <a:lstStyle/>
          <a:p>
            <a:pPr marL="0" indent="0">
              <a:buNone/>
            </a:pPr>
            <a:r>
              <a:rPr lang="en-US" sz="1100" b="1" dirty="0">
                <a:solidFill>
                  <a:schemeClr val="accent5"/>
                </a:solidFill>
              </a:rPr>
              <a:t>Spine layer</a:t>
            </a:r>
            <a:endParaRPr lang="en-US" sz="1100" dirty="0"/>
          </a:p>
        </p:txBody>
      </p:sp>
      <p:sp>
        <p:nvSpPr>
          <p:cNvPr id="122" name="card"/>
          <p:cNvSpPr/>
          <p:nvPr/>
        </p:nvSpPr>
        <p:spPr>
          <a:xfrm>
            <a:off x="7818120" y="1572768"/>
            <a:ext cx="3794760" cy="4599432"/>
          </a:xfrm>
          <a:prstGeom prst="roundRect">
            <a:avLst>
              <a:gd name="adj" fmla="val 1928"/>
            </a:avLst>
          </a:prstGeom>
          <a:solidFill>
            <a:schemeClr val="bg2"/>
          </a:solidFill>
          <a:ln/>
        </p:spPr>
        <p:txBody>
          <a:bodyPr/>
          <a:lstStyle/>
          <a:p>
            <a:endParaRPr lang="en-US"/>
          </a:p>
        </p:txBody>
      </p:sp>
      <p:sp>
        <p:nvSpPr>
          <p:cNvPr id="123" name="Text 121"/>
          <p:cNvSpPr txBox="1"/>
          <p:nvPr/>
        </p:nvSpPr>
        <p:spPr>
          <a:xfrm>
            <a:off x="8019288" y="1773936"/>
            <a:ext cx="3392424" cy="411480"/>
          </a:xfrm>
          <a:prstGeom prst="rect">
            <a:avLst/>
          </a:prstGeom>
          <a:noFill/>
          <a:ln/>
        </p:spPr>
        <p:txBody>
          <a:bodyPr wrap="square" lIns="0" tIns="0" rIns="0" bIns="0" rtlCol="0" anchor="t"/>
          <a:lstStyle/>
          <a:p>
            <a:pPr marL="0" indent="0">
              <a:buNone/>
            </a:pPr>
            <a:r>
              <a:rPr lang="en-US" sz="1600" b="1" dirty="0">
                <a:solidFill>
                  <a:schemeClr val="tx1"/>
                </a:solidFill>
              </a:rPr>
              <a:t>Scaling with scalable units (SU)</a:t>
            </a:r>
            <a:endParaRPr lang="en-US" sz="1600" dirty="0"/>
          </a:p>
        </p:txBody>
      </p:sp>
      <p:sp>
        <p:nvSpPr>
          <p:cNvPr id="124" name="Text 122"/>
          <p:cNvSpPr txBox="1"/>
          <p:nvPr/>
        </p:nvSpPr>
        <p:spPr>
          <a:xfrm>
            <a:off x="8019288" y="2231136"/>
            <a:ext cx="3392424" cy="3803904"/>
          </a:xfrm>
          <a:prstGeom prst="rect">
            <a:avLst/>
          </a:prstGeom>
          <a:noFill/>
          <a:ln/>
        </p:spPr>
        <p:txBody>
          <a:bodyPr wrap="square" lIns="0" tIns="0" rIns="0" bIns="0" rtlCol="0" anchor="t"/>
          <a:lstStyle/>
          <a:p>
            <a:pPr marL="342900" indent="-342900">
              <a:spcAft>
                <a:spcPts val="500"/>
              </a:spcAft>
              <a:buSzPct val="100000"/>
              <a:buChar char="•"/>
            </a:pPr>
            <a:r>
              <a:rPr lang="en-US" sz="1300" b="1" dirty="0">
                <a:solidFill>
                  <a:schemeClr val="tx2"/>
                </a:solidFill>
              </a:rPr>
              <a:t>Rail-optimized: </a:t>
            </a:r>
            <a:r>
              <a:rPr lang="en-US" sz="1300" dirty="0">
                <a:solidFill>
                  <a:schemeClr val="tx2"/>
                </a:solidFill>
              </a:rPr>
              <a:t>NIC n of every node goes to rail switch n; same-rank GPUs are one hop apart.</a:t>
            </a:r>
            <a:endParaRPr lang="en-US" sz="1300" dirty="0"/>
          </a:p>
          <a:p>
            <a:pPr marL="342900" indent="-342900">
              <a:spcAft>
                <a:spcPts val="500"/>
              </a:spcAft>
              <a:buSzPct val="100000"/>
              <a:buChar char="•"/>
            </a:pPr>
            <a:r>
              <a:rPr lang="en-US" sz="1300" b="1" dirty="0">
                <a:solidFill>
                  <a:schemeClr val="tx2"/>
                </a:solidFill>
              </a:rPr>
              <a:t>Scalable unit: </a:t>
            </a:r>
            <a:r>
              <a:rPr lang="en-US" sz="1300" dirty="0">
                <a:solidFill>
                  <a:schemeClr val="tx2"/>
                </a:solidFill>
              </a:rPr>
              <a:t>a DGX H100/B200 SuperPOD SU is 32 nodes = 256 GPUs with its own leaf switches.</a:t>
            </a:r>
            <a:endParaRPr lang="en-US" sz="1300" dirty="0"/>
          </a:p>
          <a:p>
            <a:pPr marL="342900" indent="-342900">
              <a:spcAft>
                <a:spcPts val="500"/>
              </a:spcAft>
              <a:buSzPct val="100000"/>
              <a:buChar char="•"/>
            </a:pPr>
            <a:r>
              <a:rPr lang="en-US" sz="1300" b="1" dirty="0">
                <a:solidFill>
                  <a:schemeClr val="tx2"/>
                </a:solidFill>
              </a:rPr>
              <a:t>Spine layer </a:t>
            </a:r>
            <a:r>
              <a:rPr lang="en-US" sz="1300" dirty="0">
                <a:solidFill>
                  <a:schemeClr val="tx2"/>
                </a:solidFill>
              </a:rPr>
              <a:t>joins multiple SUs into clusters of thousands of GPUs, non-blocking.</a:t>
            </a:r>
            <a:endParaRPr lang="en-US" sz="1300" dirty="0"/>
          </a:p>
          <a:p>
            <a:pPr marL="342900" indent="-342900">
              <a:spcAft>
                <a:spcPts val="500"/>
              </a:spcAft>
              <a:buSzPct val="100000"/>
              <a:buChar char="•"/>
            </a:pPr>
            <a:r>
              <a:rPr lang="en-US" sz="1300" b="1" dirty="0">
                <a:solidFill>
                  <a:schemeClr val="tx2"/>
                </a:solidFill>
              </a:rPr>
              <a:t>GB200 SuperPOD </a:t>
            </a:r>
            <a:r>
              <a:rPr lang="en-US" sz="1300" dirty="0">
                <a:solidFill>
                  <a:schemeClr val="tx2"/>
                </a:solidFill>
              </a:rPr>
              <a:t>is built from NVL72 racks, e.g. 8 racks = 576 GPUs.</a:t>
            </a:r>
            <a:endParaRPr lang="en-US" sz="1300" dirty="0"/>
          </a:p>
        </p:txBody>
      </p:sp>
      <p:sp>
        <p:nvSpPr>
          <p:cNvPr id="1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Storage and the data pipeline</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Keep GPUs busy: data must arrive faster than the GPUs can consume it</a:t>
            </a:r>
            <a:endParaRPr lang="en-US" sz="1600" dirty="0"/>
          </a:p>
        </p:txBody>
      </p:sp>
      <p:sp>
        <p:nvSpPr>
          <p:cNvPr id="4" name="Text 2"/>
          <p:cNvSpPr/>
          <p:nvPr/>
        </p:nvSpPr>
        <p:spPr>
          <a:xfrm>
            <a:off x="548640" y="1645920"/>
            <a:ext cx="1965960" cy="1371600"/>
          </a:xfrm>
          <a:prstGeom prst="roundRect">
            <a:avLst>
              <a:gd name="adj" fmla="val 4000"/>
            </a:avLst>
          </a:prstGeom>
          <a:solidFill>
            <a:schemeClr val="bg2"/>
          </a:solidFill>
          <a:ln/>
        </p:spPr>
        <p:txBody>
          <a:bodyPr wrap="square" lIns="1016" tIns="1016" rIns="1016" bIns="1016" rtlCol="0" anchor="ctr"/>
          <a:lstStyle/>
          <a:p>
            <a:pPr marL="0" indent="0" algn="ctr">
              <a:buNone/>
            </a:pPr>
            <a:r>
              <a:rPr lang="en-US" sz="1400" b="1" dirty="0">
                <a:solidFill>
                  <a:schemeClr val="tx1"/>
                </a:solidFill>
              </a:rPr>
              <a:t>Data lake / object store</a:t>
            </a:r>
            <a:endParaRPr lang="en-US" sz="1400" dirty="0"/>
          </a:p>
          <a:p>
            <a:pPr marL="0" indent="0" algn="ctr">
              <a:buNone/>
            </a:pPr>
            <a:r>
              <a:rPr lang="en-US" sz="1200" dirty="0">
                <a:solidFill>
                  <a:schemeClr val="tx1"/>
                </a:solidFill>
              </a:rPr>
              <a:t>Raw data, models, archives</a:t>
            </a:r>
            <a:endParaRPr lang="en-US" sz="1400" dirty="0"/>
          </a:p>
        </p:txBody>
      </p:sp>
      <p:sp>
        <p:nvSpPr>
          <p:cNvPr id="5" name="Shape 3"/>
          <p:cNvSpPr/>
          <p:nvPr/>
        </p:nvSpPr>
        <p:spPr>
          <a:xfrm>
            <a:off x="2532888" y="2331720"/>
            <a:ext cx="265176" cy="914"/>
          </a:xfrm>
          <a:prstGeom prst="line">
            <a:avLst/>
          </a:prstGeom>
          <a:noFill/>
          <a:ln w="25400">
            <a:solidFill>
              <a:schemeClr val="accent2"/>
            </a:solidFill>
            <a:prstDash val="solid"/>
            <a:tailEnd type="triangle"/>
          </a:ln>
        </p:spPr>
        <p:txBody>
          <a:bodyPr/>
          <a:lstStyle/>
          <a:p>
            <a:endParaRPr lang="en-US"/>
          </a:p>
        </p:txBody>
      </p:sp>
      <p:sp>
        <p:nvSpPr>
          <p:cNvPr id="6" name="Text 4"/>
          <p:cNvSpPr/>
          <p:nvPr/>
        </p:nvSpPr>
        <p:spPr>
          <a:xfrm>
            <a:off x="2816352" y="1645920"/>
            <a:ext cx="1965960" cy="1371600"/>
          </a:xfrm>
          <a:prstGeom prst="roundRect">
            <a:avLst>
              <a:gd name="adj" fmla="val 4000"/>
            </a:avLst>
          </a:prstGeom>
          <a:solidFill>
            <a:schemeClr val="bg2"/>
          </a:solidFill>
          <a:ln/>
        </p:spPr>
        <p:txBody>
          <a:bodyPr wrap="square" lIns="1016" tIns="1016" rIns="1016" bIns="1016" rtlCol="0" anchor="ctr"/>
          <a:lstStyle/>
          <a:p>
            <a:pPr marL="0" indent="0" algn="ctr">
              <a:buNone/>
            </a:pPr>
            <a:r>
              <a:rPr lang="en-US" sz="1400" b="1" dirty="0">
                <a:solidFill>
                  <a:schemeClr val="tx1"/>
                </a:solidFill>
              </a:rPr>
              <a:t>High-performance file system</a:t>
            </a:r>
            <a:endParaRPr lang="en-US" sz="1400" dirty="0"/>
          </a:p>
          <a:p>
            <a:pPr marL="0" indent="0" algn="ctr">
              <a:buNone/>
            </a:pPr>
            <a:r>
              <a:rPr lang="en-US" sz="1200" dirty="0">
                <a:solidFill>
                  <a:schemeClr val="tx1"/>
                </a:solidFill>
              </a:rPr>
              <a:t>Parallel FS: Lustre, GPFS, WEKA, VAST, DDN...</a:t>
            </a:r>
            <a:endParaRPr lang="en-US" sz="1400" dirty="0"/>
          </a:p>
        </p:txBody>
      </p:sp>
      <p:sp>
        <p:nvSpPr>
          <p:cNvPr id="7" name="Shape 5"/>
          <p:cNvSpPr/>
          <p:nvPr/>
        </p:nvSpPr>
        <p:spPr>
          <a:xfrm>
            <a:off x="4800600" y="2331720"/>
            <a:ext cx="265176" cy="914"/>
          </a:xfrm>
          <a:prstGeom prst="line">
            <a:avLst/>
          </a:prstGeom>
          <a:noFill/>
          <a:ln w="25400">
            <a:solidFill>
              <a:schemeClr val="accent2"/>
            </a:solidFill>
            <a:prstDash val="solid"/>
            <a:tailEnd type="triangle"/>
          </a:ln>
        </p:spPr>
        <p:txBody>
          <a:bodyPr/>
          <a:lstStyle/>
          <a:p>
            <a:endParaRPr lang="en-US"/>
          </a:p>
        </p:txBody>
      </p:sp>
      <p:sp>
        <p:nvSpPr>
          <p:cNvPr id="8" name="Text 6"/>
          <p:cNvSpPr/>
          <p:nvPr/>
        </p:nvSpPr>
        <p:spPr>
          <a:xfrm>
            <a:off x="5084064" y="1645920"/>
            <a:ext cx="1965960" cy="1371600"/>
          </a:xfrm>
          <a:prstGeom prst="roundRect">
            <a:avLst>
              <a:gd name="adj" fmla="val 4000"/>
            </a:avLst>
          </a:prstGeom>
          <a:solidFill>
            <a:schemeClr val="bg2"/>
          </a:solidFill>
          <a:ln/>
        </p:spPr>
        <p:txBody>
          <a:bodyPr wrap="square" lIns="1016" tIns="1016" rIns="1016" bIns="1016" rtlCol="0" anchor="ctr"/>
          <a:lstStyle/>
          <a:p>
            <a:pPr marL="0" indent="0" algn="ctr">
              <a:buNone/>
            </a:pPr>
            <a:r>
              <a:rPr lang="en-US" sz="1400" b="1" dirty="0">
                <a:solidFill>
                  <a:schemeClr val="tx1"/>
                </a:solidFill>
              </a:rPr>
              <a:t>Node-local NVMe cache</a:t>
            </a:r>
            <a:endParaRPr lang="en-US" sz="1400" dirty="0"/>
          </a:p>
          <a:p>
            <a:pPr marL="0" indent="0" algn="ctr">
              <a:buNone/>
            </a:pPr>
            <a:r>
              <a:rPr lang="en-US" sz="1200" dirty="0">
                <a:solidFill>
                  <a:schemeClr val="tx1"/>
                </a:solidFill>
              </a:rPr>
              <a:t>Hot datasets, staged shards</a:t>
            </a:r>
            <a:endParaRPr lang="en-US" sz="1400" dirty="0"/>
          </a:p>
        </p:txBody>
      </p:sp>
      <p:sp>
        <p:nvSpPr>
          <p:cNvPr id="9" name="Shape 7"/>
          <p:cNvSpPr/>
          <p:nvPr/>
        </p:nvSpPr>
        <p:spPr>
          <a:xfrm>
            <a:off x="7068312" y="2331720"/>
            <a:ext cx="265176" cy="914"/>
          </a:xfrm>
          <a:prstGeom prst="line">
            <a:avLst/>
          </a:prstGeom>
          <a:noFill/>
          <a:ln w="25400">
            <a:solidFill>
              <a:schemeClr val="accent2"/>
            </a:solidFill>
            <a:prstDash val="solid"/>
            <a:tailEnd type="triangle"/>
          </a:ln>
        </p:spPr>
        <p:txBody>
          <a:bodyPr/>
          <a:lstStyle/>
          <a:p>
            <a:endParaRPr lang="en-US"/>
          </a:p>
        </p:txBody>
      </p:sp>
      <p:sp>
        <p:nvSpPr>
          <p:cNvPr id="10" name="Text 8"/>
          <p:cNvSpPr/>
          <p:nvPr/>
        </p:nvSpPr>
        <p:spPr>
          <a:xfrm>
            <a:off x="7351776" y="1645920"/>
            <a:ext cx="1965960" cy="1371600"/>
          </a:xfrm>
          <a:prstGeom prst="roundRect">
            <a:avLst>
              <a:gd name="adj" fmla="val 4000"/>
            </a:avLst>
          </a:prstGeom>
          <a:solidFill>
            <a:schemeClr val="accent1"/>
          </a:solidFill>
          <a:ln/>
        </p:spPr>
        <p:txBody>
          <a:bodyPr wrap="square" lIns="1016" tIns="1016" rIns="1016" bIns="1016" rtlCol="0" anchor="ctr"/>
          <a:lstStyle/>
          <a:p>
            <a:pPr marL="0" indent="0" algn="ctr">
              <a:buNone/>
            </a:pPr>
            <a:r>
              <a:rPr lang="en-US" sz="1400" b="1" dirty="0">
                <a:solidFill>
                  <a:schemeClr val="tx1"/>
                </a:solidFill>
              </a:rPr>
              <a:t>GPUDirect Storage</a:t>
            </a:r>
            <a:endParaRPr lang="en-US" sz="1400" dirty="0"/>
          </a:p>
          <a:p>
            <a:pPr marL="0" indent="0" algn="ctr">
              <a:buNone/>
            </a:pPr>
            <a:r>
              <a:rPr lang="en-US" sz="1200" dirty="0">
                <a:solidFill>
                  <a:schemeClr val="tx1"/>
                </a:solidFill>
              </a:rPr>
              <a:t>NVMe / network → GPU, CPU bypassed</a:t>
            </a:r>
            <a:endParaRPr lang="en-US" sz="1400" dirty="0"/>
          </a:p>
        </p:txBody>
      </p:sp>
      <p:sp>
        <p:nvSpPr>
          <p:cNvPr id="11" name="Shape 9"/>
          <p:cNvSpPr/>
          <p:nvPr/>
        </p:nvSpPr>
        <p:spPr>
          <a:xfrm>
            <a:off x="9336024" y="2331720"/>
            <a:ext cx="265176" cy="914"/>
          </a:xfrm>
          <a:prstGeom prst="line">
            <a:avLst/>
          </a:prstGeom>
          <a:noFill/>
          <a:ln w="25400">
            <a:solidFill>
              <a:schemeClr val="accent2"/>
            </a:solidFill>
            <a:prstDash val="solid"/>
            <a:tailEnd type="triangle"/>
          </a:ln>
        </p:spPr>
        <p:txBody>
          <a:bodyPr/>
          <a:lstStyle/>
          <a:p>
            <a:endParaRPr lang="en-US"/>
          </a:p>
        </p:txBody>
      </p:sp>
      <p:sp>
        <p:nvSpPr>
          <p:cNvPr id="12" name="Text 10"/>
          <p:cNvSpPr/>
          <p:nvPr/>
        </p:nvSpPr>
        <p:spPr>
          <a:xfrm>
            <a:off x="9619488" y="1645920"/>
            <a:ext cx="1965960" cy="1371600"/>
          </a:xfrm>
          <a:prstGeom prst="roundRect">
            <a:avLst>
              <a:gd name="adj" fmla="val 4000"/>
            </a:avLst>
          </a:prstGeom>
          <a:solidFill>
            <a:schemeClr val="tx1"/>
          </a:solidFill>
          <a:ln/>
        </p:spPr>
        <p:txBody>
          <a:bodyPr wrap="square" lIns="1016" tIns="1016" rIns="1016" bIns="1016" rtlCol="0" anchor="ctr"/>
          <a:lstStyle/>
          <a:p>
            <a:pPr marL="0" indent="0" algn="ctr">
              <a:buNone/>
            </a:pPr>
            <a:r>
              <a:rPr lang="en-US" sz="1400" b="1" dirty="0">
                <a:solidFill>
                  <a:schemeClr val="bg1"/>
                </a:solidFill>
              </a:rPr>
              <a:t>GPU memory (HBM)</a:t>
            </a:r>
            <a:endParaRPr lang="en-US" sz="1400" dirty="0"/>
          </a:p>
          <a:p>
            <a:pPr marL="0" indent="0" algn="ctr">
              <a:buNone/>
            </a:pPr>
            <a:r>
              <a:rPr lang="en-US" sz="1200" dirty="0">
                <a:solidFill>
                  <a:schemeClr val="bg1"/>
                </a:solidFill>
              </a:rPr>
              <a:t>Training batches, model weights</a:t>
            </a:r>
            <a:endParaRPr lang="en-US" sz="1400" dirty="0"/>
          </a:p>
        </p:txBody>
      </p:sp>
      <p:sp>
        <p:nvSpPr>
          <p:cNvPr id="13" name="Text 11"/>
          <p:cNvSpPr txBox="1"/>
          <p:nvPr/>
        </p:nvSpPr>
        <p:spPr>
          <a:xfrm>
            <a:off x="548640" y="3108960"/>
            <a:ext cx="11064240" cy="320040"/>
          </a:xfrm>
          <a:prstGeom prst="rect">
            <a:avLst/>
          </a:prstGeom>
          <a:noFill/>
          <a:ln/>
        </p:spPr>
        <p:txBody>
          <a:bodyPr wrap="square" lIns="0" tIns="0" rIns="0" bIns="0" rtlCol="0" anchor="t"/>
          <a:lstStyle/>
          <a:p>
            <a:pPr marL="0" indent="0">
              <a:buNone/>
            </a:pPr>
            <a:r>
              <a:rPr lang="en-US" sz="1300" i="1" dirty="0">
                <a:solidFill>
                  <a:schemeClr val="accent5"/>
                </a:solidFill>
              </a:rPr>
              <a:t>Checkpoints flow back down the same path, in large bursts</a:t>
            </a:r>
            <a:endParaRPr lang="en-US" sz="1300" dirty="0"/>
          </a:p>
        </p:txBody>
      </p:sp>
      <p:sp>
        <p:nvSpPr>
          <p:cNvPr id="14" name="card"/>
          <p:cNvSpPr/>
          <p:nvPr/>
        </p:nvSpPr>
        <p:spPr>
          <a:xfrm>
            <a:off x="548640" y="3611880"/>
            <a:ext cx="3566160" cy="2560320"/>
          </a:xfrm>
          <a:prstGeom prst="roundRect">
            <a:avLst>
              <a:gd name="adj" fmla="val 2857"/>
            </a:avLst>
          </a:prstGeom>
          <a:solidFill>
            <a:schemeClr val="bg2"/>
          </a:solidFill>
          <a:ln/>
        </p:spPr>
        <p:txBody>
          <a:bodyPr/>
          <a:lstStyle/>
          <a:p>
            <a:endParaRPr lang="en-US"/>
          </a:p>
        </p:txBody>
      </p:sp>
      <p:sp>
        <p:nvSpPr>
          <p:cNvPr id="15" name="Shape 13"/>
          <p:cNvSpPr/>
          <p:nvPr/>
        </p:nvSpPr>
        <p:spPr>
          <a:xfrm>
            <a:off x="749808" y="3813048"/>
            <a:ext cx="548640" cy="548640"/>
          </a:xfrm>
          <a:prstGeom prst="ellipse">
            <a:avLst/>
          </a:prstGeom>
          <a:solidFill>
            <a:schemeClr val="accent1"/>
          </a:solidFill>
          <a:ln/>
        </p:spPr>
        <p:txBody>
          <a:bodyPr/>
          <a:lstStyle/>
          <a:p>
            <a:endParaRPr lang="en-US"/>
          </a:p>
        </p:txBody>
      </p:sp>
      <p:pic>
        <p:nvPicPr>
          <p:cNvPr id="16" name="Image 0" descr="preencoded.png"/>
          <p:cNvPicPr>
            <a:picLocks noChangeAspect="1"/>
          </p:cNvPicPr>
          <p:nvPr/>
        </p:nvPicPr>
        <p:blipFill>
          <a:blip r:embed="rId3"/>
          <a:stretch>
            <a:fillRect/>
          </a:stretch>
        </p:blipFill>
        <p:spPr>
          <a:xfrm>
            <a:off x="870509" y="3933749"/>
            <a:ext cx="307238" cy="307238"/>
          </a:xfrm>
          <a:prstGeom prst="rect">
            <a:avLst/>
          </a:prstGeom>
        </p:spPr>
      </p:pic>
      <p:sp>
        <p:nvSpPr>
          <p:cNvPr id="17" name="Text 14"/>
          <p:cNvSpPr txBox="1"/>
          <p:nvPr/>
        </p:nvSpPr>
        <p:spPr>
          <a:xfrm>
            <a:off x="1417320" y="3813048"/>
            <a:ext cx="2514600" cy="548640"/>
          </a:xfrm>
          <a:prstGeom prst="rect">
            <a:avLst/>
          </a:prstGeom>
          <a:noFill/>
          <a:ln/>
        </p:spPr>
        <p:txBody>
          <a:bodyPr wrap="square" lIns="0" tIns="0" rIns="0" bIns="0" rtlCol="0" anchor="ctr"/>
          <a:lstStyle/>
          <a:p>
            <a:pPr marL="0" indent="0">
              <a:buNone/>
            </a:pPr>
            <a:r>
              <a:rPr lang="en-US" sz="1700" b="1" dirty="0">
                <a:solidFill>
                  <a:schemeClr val="tx1"/>
                </a:solidFill>
              </a:rPr>
              <a:t>Read throughput</a:t>
            </a:r>
            <a:endParaRPr lang="en-US" sz="1700" dirty="0"/>
          </a:p>
        </p:txBody>
      </p:sp>
      <p:sp>
        <p:nvSpPr>
          <p:cNvPr id="18" name="Text 15"/>
          <p:cNvSpPr txBox="1"/>
          <p:nvPr/>
        </p:nvSpPr>
        <p:spPr>
          <a:xfrm>
            <a:off x="749808" y="4507992"/>
            <a:ext cx="3163824" cy="1527048"/>
          </a:xfrm>
          <a:prstGeom prst="rect">
            <a:avLst/>
          </a:prstGeom>
          <a:noFill/>
          <a:ln/>
        </p:spPr>
        <p:txBody>
          <a:bodyPr wrap="square" lIns="0" tIns="0" rIns="0" bIns="0" rtlCol="0" anchor="t"/>
          <a:lstStyle/>
          <a:p>
            <a:pPr marL="0" indent="0">
              <a:buNone/>
            </a:pPr>
            <a:r>
              <a:rPr lang="en-US" sz="1500" dirty="0">
                <a:solidFill>
                  <a:schemeClr val="tx2"/>
                </a:solidFill>
              </a:rPr>
              <a:t>Vision and multimodal training can need many GB/s per node. Size storage bandwidth to the GPU count, not only to capacity.</a:t>
            </a:r>
            <a:endParaRPr lang="en-US" sz="1500" dirty="0"/>
          </a:p>
        </p:txBody>
      </p:sp>
      <p:sp>
        <p:nvSpPr>
          <p:cNvPr id="19" name="card"/>
          <p:cNvSpPr/>
          <p:nvPr/>
        </p:nvSpPr>
        <p:spPr>
          <a:xfrm>
            <a:off x="4297680" y="3611880"/>
            <a:ext cx="3566160" cy="2560320"/>
          </a:xfrm>
          <a:prstGeom prst="roundRect">
            <a:avLst>
              <a:gd name="adj" fmla="val 2857"/>
            </a:avLst>
          </a:prstGeom>
          <a:solidFill>
            <a:schemeClr val="bg2"/>
          </a:solidFill>
          <a:ln/>
        </p:spPr>
        <p:txBody>
          <a:bodyPr/>
          <a:lstStyle/>
          <a:p>
            <a:endParaRPr lang="en-US"/>
          </a:p>
        </p:txBody>
      </p:sp>
      <p:sp>
        <p:nvSpPr>
          <p:cNvPr id="20" name="Shape 17"/>
          <p:cNvSpPr/>
          <p:nvPr/>
        </p:nvSpPr>
        <p:spPr>
          <a:xfrm>
            <a:off x="4498848" y="3813048"/>
            <a:ext cx="548640" cy="548640"/>
          </a:xfrm>
          <a:prstGeom prst="ellipse">
            <a:avLst/>
          </a:prstGeom>
          <a:solidFill>
            <a:schemeClr val="accent1"/>
          </a:solidFill>
          <a:ln/>
        </p:spPr>
        <p:txBody>
          <a:bodyPr/>
          <a:lstStyle/>
          <a:p>
            <a:endParaRPr lang="en-US"/>
          </a:p>
        </p:txBody>
      </p:sp>
      <p:pic>
        <p:nvPicPr>
          <p:cNvPr id="21" name="Image 1" descr="preencoded.png"/>
          <p:cNvPicPr>
            <a:picLocks noChangeAspect="1"/>
          </p:cNvPicPr>
          <p:nvPr/>
        </p:nvPicPr>
        <p:blipFill>
          <a:blip r:embed="rId4"/>
          <a:stretch>
            <a:fillRect/>
          </a:stretch>
        </p:blipFill>
        <p:spPr>
          <a:xfrm>
            <a:off x="4619549" y="3933749"/>
            <a:ext cx="307238" cy="307238"/>
          </a:xfrm>
          <a:prstGeom prst="rect">
            <a:avLst/>
          </a:prstGeom>
        </p:spPr>
      </p:pic>
      <p:sp>
        <p:nvSpPr>
          <p:cNvPr id="22" name="Text 18"/>
          <p:cNvSpPr txBox="1"/>
          <p:nvPr/>
        </p:nvSpPr>
        <p:spPr>
          <a:xfrm>
            <a:off x="5166360" y="3813048"/>
            <a:ext cx="2514600" cy="548640"/>
          </a:xfrm>
          <a:prstGeom prst="rect">
            <a:avLst/>
          </a:prstGeom>
          <a:noFill/>
          <a:ln/>
        </p:spPr>
        <p:txBody>
          <a:bodyPr wrap="square" lIns="0" tIns="0" rIns="0" bIns="0" rtlCol="0" anchor="ctr"/>
          <a:lstStyle/>
          <a:p>
            <a:pPr marL="0" indent="0">
              <a:buNone/>
            </a:pPr>
            <a:r>
              <a:rPr lang="en-US" sz="1700" b="1" dirty="0">
                <a:solidFill>
                  <a:schemeClr val="tx1"/>
                </a:solidFill>
              </a:rPr>
              <a:t>Checkpoint bursts</a:t>
            </a:r>
            <a:endParaRPr lang="en-US" sz="1700" dirty="0"/>
          </a:p>
        </p:txBody>
      </p:sp>
      <p:sp>
        <p:nvSpPr>
          <p:cNvPr id="23" name="Text 19"/>
          <p:cNvSpPr txBox="1"/>
          <p:nvPr/>
        </p:nvSpPr>
        <p:spPr>
          <a:xfrm>
            <a:off x="4498848" y="4507992"/>
            <a:ext cx="3163824" cy="1527048"/>
          </a:xfrm>
          <a:prstGeom prst="rect">
            <a:avLst/>
          </a:prstGeom>
          <a:noFill/>
          <a:ln/>
        </p:spPr>
        <p:txBody>
          <a:bodyPr wrap="square" lIns="0" tIns="0" rIns="0" bIns="0" rtlCol="0" anchor="t"/>
          <a:lstStyle/>
          <a:p>
            <a:pPr marL="0" indent="0">
              <a:buNone/>
            </a:pPr>
            <a:r>
              <a:rPr lang="en-US" sz="1500" dirty="0">
                <a:solidFill>
                  <a:schemeClr val="tx2"/>
                </a:solidFill>
              </a:rPr>
              <a:t>Large models write checkpoints of hundreds of GB to TBs. Fast writes shorten pauses and protect against failures.</a:t>
            </a:r>
            <a:endParaRPr lang="en-US" sz="1500" dirty="0"/>
          </a:p>
        </p:txBody>
      </p:sp>
      <p:sp>
        <p:nvSpPr>
          <p:cNvPr id="24" name="card"/>
          <p:cNvSpPr/>
          <p:nvPr/>
        </p:nvSpPr>
        <p:spPr>
          <a:xfrm>
            <a:off x="8046720" y="3611880"/>
            <a:ext cx="3566160" cy="2560320"/>
          </a:xfrm>
          <a:prstGeom prst="roundRect">
            <a:avLst>
              <a:gd name="adj" fmla="val 2857"/>
            </a:avLst>
          </a:prstGeom>
          <a:solidFill>
            <a:schemeClr val="bg2"/>
          </a:solidFill>
          <a:ln/>
        </p:spPr>
        <p:txBody>
          <a:bodyPr/>
          <a:lstStyle/>
          <a:p>
            <a:endParaRPr lang="en-US"/>
          </a:p>
        </p:txBody>
      </p:sp>
      <p:sp>
        <p:nvSpPr>
          <p:cNvPr id="25" name="Shape 21"/>
          <p:cNvSpPr/>
          <p:nvPr/>
        </p:nvSpPr>
        <p:spPr>
          <a:xfrm>
            <a:off x="8247888" y="3813048"/>
            <a:ext cx="548640" cy="548640"/>
          </a:xfrm>
          <a:prstGeom prst="ellipse">
            <a:avLst/>
          </a:prstGeom>
          <a:solidFill>
            <a:schemeClr val="accent1"/>
          </a:solidFill>
          <a:ln/>
        </p:spPr>
        <p:txBody>
          <a:bodyPr/>
          <a:lstStyle/>
          <a:p>
            <a:endParaRPr lang="en-US"/>
          </a:p>
        </p:txBody>
      </p:sp>
      <p:pic>
        <p:nvPicPr>
          <p:cNvPr id="26" name="Image 2" descr="preencoded.png"/>
          <p:cNvPicPr>
            <a:picLocks noChangeAspect="1"/>
          </p:cNvPicPr>
          <p:nvPr/>
        </p:nvPicPr>
        <p:blipFill>
          <a:blip r:embed="rId5"/>
          <a:stretch>
            <a:fillRect/>
          </a:stretch>
        </p:blipFill>
        <p:spPr>
          <a:xfrm>
            <a:off x="8368589" y="3933749"/>
            <a:ext cx="307238" cy="307238"/>
          </a:xfrm>
          <a:prstGeom prst="rect">
            <a:avLst/>
          </a:prstGeom>
        </p:spPr>
      </p:pic>
      <p:sp>
        <p:nvSpPr>
          <p:cNvPr id="27" name="Text 22"/>
          <p:cNvSpPr txBox="1"/>
          <p:nvPr/>
        </p:nvSpPr>
        <p:spPr>
          <a:xfrm>
            <a:off x="8915400" y="3813048"/>
            <a:ext cx="2514600" cy="548640"/>
          </a:xfrm>
          <a:prstGeom prst="rect">
            <a:avLst/>
          </a:prstGeom>
          <a:noFill/>
          <a:ln/>
        </p:spPr>
        <p:txBody>
          <a:bodyPr wrap="square" lIns="0" tIns="0" rIns="0" bIns="0" rtlCol="0" anchor="ctr"/>
          <a:lstStyle/>
          <a:p>
            <a:pPr marL="0" indent="0">
              <a:buNone/>
            </a:pPr>
            <a:r>
              <a:rPr lang="en-US" sz="1700" b="1" dirty="0">
                <a:solidFill>
                  <a:schemeClr val="tx1"/>
                </a:solidFill>
              </a:rPr>
              <a:t>Metadata and small files</a:t>
            </a:r>
            <a:endParaRPr lang="en-US" sz="1700" dirty="0"/>
          </a:p>
        </p:txBody>
      </p:sp>
      <p:sp>
        <p:nvSpPr>
          <p:cNvPr id="28" name="Text 23"/>
          <p:cNvSpPr txBox="1"/>
          <p:nvPr/>
        </p:nvSpPr>
        <p:spPr>
          <a:xfrm>
            <a:off x="8247888" y="4507992"/>
            <a:ext cx="3163824" cy="1527048"/>
          </a:xfrm>
          <a:prstGeom prst="rect">
            <a:avLst/>
          </a:prstGeom>
          <a:noFill/>
          <a:ln/>
        </p:spPr>
        <p:txBody>
          <a:bodyPr wrap="square" lIns="0" tIns="0" rIns="0" bIns="0" rtlCol="0" anchor="t"/>
          <a:lstStyle/>
          <a:p>
            <a:pPr marL="0" indent="0">
              <a:buNone/>
            </a:pPr>
            <a:r>
              <a:rPr lang="en-US" sz="1500" dirty="0">
                <a:solidFill>
                  <a:schemeClr val="tx2"/>
                </a:solidFill>
              </a:rPr>
              <a:t>Millions of small files overload metadata servers. Pack data into shards (WebDataset, TFRecord, Parquet).</a:t>
            </a:r>
            <a:endParaRPr lang="en-US" sz="1500" dirty="0"/>
          </a:p>
        </p:txBody>
      </p:sp>
      <p:sp>
        <p:nvSpPr>
          <p:cNvPr id="29"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Software stack and orchestration</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Two common paths, Kubernetes and Slurm, on the same GPU foundation</a:t>
            </a:r>
            <a:endParaRPr lang="en-US" sz="1600" dirty="0"/>
          </a:p>
        </p:txBody>
      </p:sp>
      <p:sp>
        <p:nvSpPr>
          <p:cNvPr id="4" name="Text 2"/>
          <p:cNvSpPr/>
          <p:nvPr/>
        </p:nvSpPr>
        <p:spPr>
          <a:xfrm>
            <a:off x="548640" y="1572768"/>
            <a:ext cx="11064240" cy="566928"/>
          </a:xfrm>
          <a:prstGeom prst="roundRect">
            <a:avLst>
              <a:gd name="adj" fmla="val 8065"/>
            </a:avLst>
          </a:prstGeom>
          <a:solidFill>
            <a:schemeClr val="accent1"/>
          </a:solidFill>
          <a:ln/>
        </p:spPr>
        <p:txBody>
          <a:bodyPr wrap="square" lIns="381" tIns="381" rIns="381" bIns="381" rtlCol="0" anchor="ctr"/>
          <a:lstStyle/>
          <a:p>
            <a:pPr marL="0" indent="0" algn="ctr">
              <a:buNone/>
            </a:pPr>
            <a:r>
              <a:rPr lang="en-US" sz="1400" b="1" dirty="0">
                <a:solidFill>
                  <a:schemeClr val="tx1"/>
                </a:solidFill>
              </a:rPr>
              <a:t>NVIDIA AI Enterprise:  NeMo  ·  NIM  ·  Triton  ·  Dynamo  ·  TensorRT-LLM  ·  RAPIDS  ·  NGC containers</a:t>
            </a:r>
            <a:endParaRPr lang="en-US" sz="1400" dirty="0"/>
          </a:p>
        </p:txBody>
      </p:sp>
      <p:sp>
        <p:nvSpPr>
          <p:cNvPr id="5" name="Shape 3"/>
          <p:cNvSpPr/>
          <p:nvPr/>
        </p:nvSpPr>
        <p:spPr>
          <a:xfrm>
            <a:off x="548640" y="2286000"/>
            <a:ext cx="5440680" cy="3063240"/>
          </a:xfrm>
          <a:prstGeom prst="roundRect">
            <a:avLst>
              <a:gd name="adj" fmla="val 2388"/>
            </a:avLst>
          </a:prstGeom>
          <a:solidFill>
            <a:schemeClr val="bg2"/>
          </a:solidFill>
          <a:ln/>
        </p:spPr>
        <p:txBody>
          <a:bodyPr/>
          <a:lstStyle/>
          <a:p>
            <a:endParaRPr lang="en-US"/>
          </a:p>
        </p:txBody>
      </p:sp>
      <p:sp>
        <p:nvSpPr>
          <p:cNvPr id="6" name="Shape 4"/>
          <p:cNvSpPr/>
          <p:nvPr/>
        </p:nvSpPr>
        <p:spPr>
          <a:xfrm>
            <a:off x="731520" y="2423160"/>
            <a:ext cx="502920" cy="502920"/>
          </a:xfrm>
          <a:prstGeom prst="ellipse">
            <a:avLst/>
          </a:prstGeom>
          <a:solidFill>
            <a:schemeClr val="accent1"/>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842162" y="2533802"/>
            <a:ext cx="281635" cy="281635"/>
          </a:xfrm>
          <a:prstGeom prst="rect">
            <a:avLst/>
          </a:prstGeom>
        </p:spPr>
      </p:pic>
      <p:sp>
        <p:nvSpPr>
          <p:cNvPr id="8" name="Text 5"/>
          <p:cNvSpPr txBox="1"/>
          <p:nvPr/>
        </p:nvSpPr>
        <p:spPr>
          <a:xfrm>
            <a:off x="1371600" y="2423160"/>
            <a:ext cx="4480560" cy="502920"/>
          </a:xfrm>
          <a:prstGeom prst="rect">
            <a:avLst/>
          </a:prstGeom>
          <a:noFill/>
          <a:ln/>
        </p:spPr>
        <p:txBody>
          <a:bodyPr wrap="square" lIns="0" tIns="0" rIns="0" bIns="0" rtlCol="0" anchor="ctr"/>
          <a:lstStyle/>
          <a:p>
            <a:pPr marL="0" indent="0">
              <a:buNone/>
            </a:pPr>
            <a:r>
              <a:rPr lang="en-US" sz="1600" b="1" dirty="0">
                <a:solidFill>
                  <a:schemeClr val="tx1"/>
                </a:solidFill>
              </a:rPr>
              <a:t>Kubernetes path (cloud-native)</a:t>
            </a:r>
            <a:endParaRPr lang="en-US" sz="1600" dirty="0"/>
          </a:p>
        </p:txBody>
      </p:sp>
      <p:sp>
        <p:nvSpPr>
          <p:cNvPr id="9" name="Text 6"/>
          <p:cNvSpPr txBox="1"/>
          <p:nvPr/>
        </p:nvSpPr>
        <p:spPr>
          <a:xfrm>
            <a:off x="777240" y="3017520"/>
            <a:ext cx="5029200" cy="2286000"/>
          </a:xfrm>
          <a:prstGeom prst="rect">
            <a:avLst/>
          </a:prstGeom>
          <a:noFill/>
          <a:ln/>
        </p:spPr>
        <p:txBody>
          <a:bodyPr wrap="square" lIns="0" tIns="0" rIns="0" bIns="0" rtlCol="0" anchor="t"/>
          <a:lstStyle/>
          <a:p>
            <a:pPr marL="342900" indent="-342900">
              <a:spcAft>
                <a:spcPts val="500"/>
              </a:spcAft>
              <a:buSzPct val="100000"/>
              <a:buChar char="•"/>
            </a:pPr>
            <a:r>
              <a:rPr lang="en-US" sz="1400" b="1" dirty="0">
                <a:solidFill>
                  <a:schemeClr val="tx2"/>
                </a:solidFill>
              </a:rPr>
              <a:t>GPU Operator: </a:t>
            </a:r>
            <a:r>
              <a:rPr lang="en-US" sz="1400" dirty="0">
                <a:solidFill>
                  <a:schemeClr val="tx2"/>
                </a:solidFill>
              </a:rPr>
              <a:t>installs driver, container toolkit, device plugin, DCGM exporter, MIG manager</a:t>
            </a:r>
            <a:endParaRPr lang="en-US" sz="1400" dirty="0"/>
          </a:p>
          <a:p>
            <a:pPr marL="342900" indent="-342900">
              <a:spcAft>
                <a:spcPts val="500"/>
              </a:spcAft>
              <a:buSzPct val="100000"/>
              <a:buChar char="•"/>
            </a:pPr>
            <a:r>
              <a:rPr lang="en-US" sz="1400" b="1" dirty="0">
                <a:solidFill>
                  <a:schemeClr val="tx2"/>
                </a:solidFill>
              </a:rPr>
              <a:t>Network Operator: </a:t>
            </a:r>
            <a:r>
              <a:rPr lang="en-US" sz="1400" dirty="0">
                <a:solidFill>
                  <a:schemeClr val="tx2"/>
                </a:solidFill>
              </a:rPr>
              <a:t>RDMA / GPUDirect for InfiniBand and RoCE</a:t>
            </a:r>
            <a:endParaRPr lang="en-US" sz="1400" dirty="0"/>
          </a:p>
          <a:p>
            <a:pPr marL="342900" indent="-342900">
              <a:spcAft>
                <a:spcPts val="500"/>
              </a:spcAft>
              <a:buSzPct val="100000"/>
              <a:buChar char="•"/>
            </a:pPr>
            <a:r>
              <a:rPr lang="en-US" sz="1400" b="1" dirty="0">
                <a:solidFill>
                  <a:schemeClr val="tx2"/>
                </a:solidFill>
              </a:rPr>
              <a:t>Schedulers: </a:t>
            </a:r>
            <a:r>
              <a:rPr lang="en-US" sz="1400" dirty="0">
                <a:solidFill>
                  <a:schemeClr val="tx2"/>
                </a:solidFill>
              </a:rPr>
              <a:t>Run:ai, Kueue, Volcano for queues and quotas</a:t>
            </a:r>
            <a:endParaRPr lang="en-US" sz="1400" dirty="0"/>
          </a:p>
          <a:p>
            <a:pPr marL="342900" indent="-342900">
              <a:spcAft>
                <a:spcPts val="500"/>
              </a:spcAft>
              <a:buSzPct val="100000"/>
              <a:buChar char="•"/>
            </a:pPr>
            <a:r>
              <a:rPr lang="en-US" sz="1400" b="1" dirty="0">
                <a:solidFill>
                  <a:schemeClr val="tx2"/>
                </a:solidFill>
              </a:rPr>
              <a:t>Best for: </a:t>
            </a:r>
            <a:r>
              <a:rPr lang="en-US" sz="1400" dirty="0">
                <a:solidFill>
                  <a:schemeClr val="tx2"/>
                </a:solidFill>
              </a:rPr>
              <a:t>inference services, MLOps pipelines, multi-tenant platforms</a:t>
            </a:r>
            <a:endParaRPr lang="en-US" sz="1400" dirty="0"/>
          </a:p>
        </p:txBody>
      </p:sp>
      <p:sp>
        <p:nvSpPr>
          <p:cNvPr id="10" name="Shape 7"/>
          <p:cNvSpPr/>
          <p:nvPr/>
        </p:nvSpPr>
        <p:spPr>
          <a:xfrm>
            <a:off x="6172200" y="2286000"/>
            <a:ext cx="5440680" cy="3063240"/>
          </a:xfrm>
          <a:prstGeom prst="roundRect">
            <a:avLst>
              <a:gd name="adj" fmla="val 2388"/>
            </a:avLst>
          </a:prstGeom>
          <a:solidFill>
            <a:schemeClr val="bg2"/>
          </a:solidFill>
          <a:ln/>
        </p:spPr>
        <p:txBody>
          <a:bodyPr/>
          <a:lstStyle/>
          <a:p>
            <a:endParaRPr lang="en-US"/>
          </a:p>
        </p:txBody>
      </p:sp>
      <p:sp>
        <p:nvSpPr>
          <p:cNvPr id="11" name="Shape 8"/>
          <p:cNvSpPr/>
          <p:nvPr/>
        </p:nvSpPr>
        <p:spPr>
          <a:xfrm>
            <a:off x="6355080" y="2423160"/>
            <a:ext cx="502920" cy="502920"/>
          </a:xfrm>
          <a:prstGeom prst="ellipse">
            <a:avLst/>
          </a:prstGeom>
          <a:solidFill>
            <a:schemeClr val="accent1"/>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6465722" y="2533802"/>
            <a:ext cx="281635" cy="281635"/>
          </a:xfrm>
          <a:prstGeom prst="rect">
            <a:avLst/>
          </a:prstGeom>
        </p:spPr>
      </p:pic>
      <p:sp>
        <p:nvSpPr>
          <p:cNvPr id="13" name="Text 9"/>
          <p:cNvSpPr txBox="1"/>
          <p:nvPr/>
        </p:nvSpPr>
        <p:spPr>
          <a:xfrm>
            <a:off x="6995160" y="2423160"/>
            <a:ext cx="4480560" cy="502920"/>
          </a:xfrm>
          <a:prstGeom prst="rect">
            <a:avLst/>
          </a:prstGeom>
          <a:noFill/>
          <a:ln/>
        </p:spPr>
        <p:txBody>
          <a:bodyPr wrap="square" lIns="0" tIns="0" rIns="0" bIns="0" rtlCol="0" anchor="ctr"/>
          <a:lstStyle/>
          <a:p>
            <a:pPr marL="0" indent="0">
              <a:buNone/>
            </a:pPr>
            <a:r>
              <a:rPr lang="en-US" sz="1600" b="1" dirty="0">
                <a:solidFill>
                  <a:schemeClr val="tx1"/>
                </a:solidFill>
              </a:rPr>
              <a:t>Slurm path (HPC-style)</a:t>
            </a:r>
            <a:endParaRPr lang="en-US" sz="1600" dirty="0"/>
          </a:p>
        </p:txBody>
      </p:sp>
      <p:sp>
        <p:nvSpPr>
          <p:cNvPr id="14" name="Text 10"/>
          <p:cNvSpPr txBox="1"/>
          <p:nvPr/>
        </p:nvSpPr>
        <p:spPr>
          <a:xfrm>
            <a:off x="6400800" y="3017520"/>
            <a:ext cx="5029200" cy="2286000"/>
          </a:xfrm>
          <a:prstGeom prst="rect">
            <a:avLst/>
          </a:prstGeom>
          <a:noFill/>
          <a:ln/>
        </p:spPr>
        <p:txBody>
          <a:bodyPr wrap="square" lIns="0" tIns="0" rIns="0" bIns="0" rtlCol="0" anchor="t"/>
          <a:lstStyle/>
          <a:p>
            <a:pPr marL="342900" indent="-342900">
              <a:spcAft>
                <a:spcPts val="500"/>
              </a:spcAft>
              <a:buSzPct val="100000"/>
              <a:buChar char="•"/>
            </a:pPr>
            <a:r>
              <a:rPr lang="en-US" sz="1400" b="1" dirty="0">
                <a:solidFill>
                  <a:schemeClr val="tx2"/>
                </a:solidFill>
              </a:rPr>
              <a:t>Slurm: </a:t>
            </a:r>
            <a:r>
              <a:rPr lang="en-US" sz="1400" dirty="0">
                <a:solidFill>
                  <a:schemeClr val="tx2"/>
                </a:solidFill>
              </a:rPr>
              <a:t>batch scheduler with gang scheduling, topology-aware placement</a:t>
            </a:r>
            <a:endParaRPr lang="en-US" sz="1400" dirty="0"/>
          </a:p>
          <a:p>
            <a:pPr marL="342900" indent="-342900">
              <a:spcAft>
                <a:spcPts val="500"/>
              </a:spcAft>
              <a:buSzPct val="100000"/>
              <a:buChar char="•"/>
            </a:pPr>
            <a:r>
              <a:rPr lang="en-US" sz="1400" b="1" dirty="0">
                <a:solidFill>
                  <a:schemeClr val="tx2"/>
                </a:solidFill>
              </a:rPr>
              <a:t>Pyxis + Enroot: </a:t>
            </a:r>
            <a:r>
              <a:rPr lang="en-US" sz="1400" dirty="0">
                <a:solidFill>
                  <a:schemeClr val="tx2"/>
                </a:solidFill>
              </a:rPr>
              <a:t>run NGC containers as unprivileged Slurm jobs</a:t>
            </a:r>
            <a:endParaRPr lang="en-US" sz="1400" dirty="0"/>
          </a:p>
          <a:p>
            <a:pPr marL="342900" indent="-342900">
              <a:spcAft>
                <a:spcPts val="500"/>
              </a:spcAft>
              <a:buSzPct val="100000"/>
              <a:buChar char="•"/>
            </a:pPr>
            <a:r>
              <a:rPr lang="en-US" sz="1400" b="1" dirty="0">
                <a:solidFill>
                  <a:schemeClr val="tx2"/>
                </a:solidFill>
              </a:rPr>
              <a:t>Base Command Manager: </a:t>
            </a:r>
            <a:r>
              <a:rPr lang="en-US" sz="1400" dirty="0">
                <a:solidFill>
                  <a:schemeClr val="tx2"/>
                </a:solidFill>
              </a:rPr>
              <a:t>provisioning and cluster management</a:t>
            </a:r>
            <a:endParaRPr lang="en-US" sz="1400" dirty="0"/>
          </a:p>
          <a:p>
            <a:pPr marL="342900" indent="-342900">
              <a:spcAft>
                <a:spcPts val="500"/>
              </a:spcAft>
              <a:buSzPct val="100000"/>
              <a:buChar char="•"/>
            </a:pPr>
            <a:r>
              <a:rPr lang="en-US" sz="1400" b="1" dirty="0">
                <a:solidFill>
                  <a:schemeClr val="tx2"/>
                </a:solidFill>
              </a:rPr>
              <a:t>Best for: </a:t>
            </a:r>
            <a:r>
              <a:rPr lang="en-US" sz="1400" dirty="0">
                <a:solidFill>
                  <a:schemeClr val="tx2"/>
                </a:solidFill>
              </a:rPr>
              <a:t>large multi-node training and research clusters</a:t>
            </a:r>
            <a:endParaRPr lang="en-US" sz="1400" dirty="0"/>
          </a:p>
        </p:txBody>
      </p:sp>
      <p:sp>
        <p:nvSpPr>
          <p:cNvPr id="15" name="Text 11"/>
          <p:cNvSpPr/>
          <p:nvPr/>
        </p:nvSpPr>
        <p:spPr>
          <a:xfrm>
            <a:off x="548640" y="5486400"/>
            <a:ext cx="11064240" cy="685800"/>
          </a:xfrm>
          <a:prstGeom prst="roundRect">
            <a:avLst>
              <a:gd name="adj" fmla="val 6667"/>
            </a:avLst>
          </a:prstGeom>
          <a:solidFill>
            <a:schemeClr val="tx1"/>
          </a:solidFill>
          <a:ln/>
        </p:spPr>
        <p:txBody>
          <a:bodyPr wrap="square" lIns="381" tIns="381" rIns="381" bIns="381" rtlCol="0" anchor="ctr"/>
          <a:lstStyle/>
          <a:p>
            <a:pPr marL="0" indent="0" algn="ctr">
              <a:buNone/>
            </a:pPr>
            <a:r>
              <a:rPr lang="en-US" sz="1300" b="1" dirty="0">
                <a:solidFill>
                  <a:schemeClr val="bg1"/>
                </a:solidFill>
              </a:rPr>
              <a:t>Node foundation:  Linux OS  ·  NVIDIA driver  ·  Fabric Manager (NVSwitch)  ·  NVIDIA Container Toolkit  ·  DCGM  ·  MOFED / DOCA networking</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GPU sharing strategies</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Most workloads don't need a whole GPU; sharing raises utilization, but isolation differs</a:t>
            </a:r>
            <a:endParaRPr lang="en-US" sz="1600" dirty="0"/>
          </a:p>
        </p:txBody>
      </p:sp>
      <p:sp>
        <p:nvSpPr>
          <p:cNvPr id="4" name="Shape 2"/>
          <p:cNvSpPr/>
          <p:nvPr/>
        </p:nvSpPr>
        <p:spPr>
          <a:xfrm>
            <a:off x="548640" y="1572768"/>
            <a:ext cx="2651760" cy="4599432"/>
          </a:xfrm>
          <a:prstGeom prst="roundRect">
            <a:avLst>
              <a:gd name="adj" fmla="val 2759"/>
            </a:avLst>
          </a:prstGeom>
          <a:solidFill>
            <a:schemeClr val="bg2"/>
          </a:solidFill>
          <a:ln/>
        </p:spPr>
        <p:txBody>
          <a:bodyPr/>
          <a:lstStyle/>
          <a:p>
            <a:endParaRPr lang="en-US"/>
          </a:p>
        </p:txBody>
      </p:sp>
      <p:sp>
        <p:nvSpPr>
          <p:cNvPr id="5" name="Shape 3"/>
          <p:cNvSpPr/>
          <p:nvPr/>
        </p:nvSpPr>
        <p:spPr>
          <a:xfrm>
            <a:off x="731520" y="1737360"/>
            <a:ext cx="2286000" cy="777240"/>
          </a:xfrm>
          <a:prstGeom prst="roundRect">
            <a:avLst>
              <a:gd name="adj" fmla="val 4706"/>
            </a:avLst>
          </a:prstGeom>
          <a:solidFill>
            <a:schemeClr val="tx1"/>
          </a:solidFill>
          <a:ln/>
        </p:spPr>
        <p:txBody>
          <a:bodyPr/>
          <a:lstStyle/>
          <a:p>
            <a:endParaRPr lang="en-US"/>
          </a:p>
        </p:txBody>
      </p:sp>
      <p:sp>
        <p:nvSpPr>
          <p:cNvPr id="6" name="Shape 4"/>
          <p:cNvSpPr/>
          <p:nvPr/>
        </p:nvSpPr>
        <p:spPr>
          <a:xfrm>
            <a:off x="804672" y="1810512"/>
            <a:ext cx="265176" cy="630936"/>
          </a:xfrm>
          <a:prstGeom prst="rect">
            <a:avLst/>
          </a:prstGeom>
          <a:solidFill>
            <a:schemeClr val="accent1"/>
          </a:solidFill>
          <a:ln/>
        </p:spPr>
        <p:txBody>
          <a:bodyPr/>
          <a:lstStyle/>
          <a:p>
            <a:endParaRPr lang="en-US"/>
          </a:p>
        </p:txBody>
      </p:sp>
      <p:sp>
        <p:nvSpPr>
          <p:cNvPr id="7" name="Shape 5"/>
          <p:cNvSpPr/>
          <p:nvPr/>
        </p:nvSpPr>
        <p:spPr>
          <a:xfrm>
            <a:off x="1110996" y="1810512"/>
            <a:ext cx="265176" cy="630936"/>
          </a:xfrm>
          <a:prstGeom prst="rect">
            <a:avLst/>
          </a:prstGeom>
          <a:solidFill>
            <a:schemeClr val="accent1"/>
          </a:solidFill>
          <a:ln/>
        </p:spPr>
        <p:txBody>
          <a:bodyPr/>
          <a:lstStyle/>
          <a:p>
            <a:endParaRPr lang="en-US"/>
          </a:p>
        </p:txBody>
      </p:sp>
      <p:sp>
        <p:nvSpPr>
          <p:cNvPr id="8" name="Shape 6"/>
          <p:cNvSpPr/>
          <p:nvPr/>
        </p:nvSpPr>
        <p:spPr>
          <a:xfrm>
            <a:off x="1417320" y="1810512"/>
            <a:ext cx="265176" cy="630936"/>
          </a:xfrm>
          <a:prstGeom prst="rect">
            <a:avLst/>
          </a:prstGeom>
          <a:solidFill>
            <a:schemeClr val="accent1"/>
          </a:solidFill>
          <a:ln/>
        </p:spPr>
        <p:txBody>
          <a:bodyPr/>
          <a:lstStyle/>
          <a:p>
            <a:endParaRPr lang="en-US"/>
          </a:p>
        </p:txBody>
      </p:sp>
      <p:sp>
        <p:nvSpPr>
          <p:cNvPr id="9" name="Shape 7"/>
          <p:cNvSpPr/>
          <p:nvPr/>
        </p:nvSpPr>
        <p:spPr>
          <a:xfrm>
            <a:off x="1723644" y="1810512"/>
            <a:ext cx="265176" cy="630936"/>
          </a:xfrm>
          <a:prstGeom prst="rect">
            <a:avLst/>
          </a:prstGeom>
          <a:solidFill>
            <a:schemeClr val="accent1"/>
          </a:solidFill>
          <a:ln/>
        </p:spPr>
        <p:txBody>
          <a:bodyPr/>
          <a:lstStyle/>
          <a:p>
            <a:endParaRPr lang="en-US"/>
          </a:p>
        </p:txBody>
      </p:sp>
      <p:sp>
        <p:nvSpPr>
          <p:cNvPr id="10" name="Shape 8"/>
          <p:cNvSpPr/>
          <p:nvPr/>
        </p:nvSpPr>
        <p:spPr>
          <a:xfrm>
            <a:off x="2029968" y="1810512"/>
            <a:ext cx="265176" cy="630936"/>
          </a:xfrm>
          <a:prstGeom prst="rect">
            <a:avLst/>
          </a:prstGeom>
          <a:solidFill>
            <a:schemeClr val="accent1"/>
          </a:solidFill>
          <a:ln/>
        </p:spPr>
        <p:txBody>
          <a:bodyPr/>
          <a:lstStyle/>
          <a:p>
            <a:endParaRPr lang="en-US"/>
          </a:p>
        </p:txBody>
      </p:sp>
      <p:sp>
        <p:nvSpPr>
          <p:cNvPr id="11" name="Shape 9"/>
          <p:cNvSpPr/>
          <p:nvPr/>
        </p:nvSpPr>
        <p:spPr>
          <a:xfrm>
            <a:off x="2336292" y="1810512"/>
            <a:ext cx="265176" cy="630936"/>
          </a:xfrm>
          <a:prstGeom prst="rect">
            <a:avLst/>
          </a:prstGeom>
          <a:solidFill>
            <a:schemeClr val="accent1"/>
          </a:solidFill>
          <a:ln/>
        </p:spPr>
        <p:txBody>
          <a:bodyPr/>
          <a:lstStyle/>
          <a:p>
            <a:endParaRPr lang="en-US"/>
          </a:p>
        </p:txBody>
      </p:sp>
      <p:sp>
        <p:nvSpPr>
          <p:cNvPr id="12" name="Shape 10"/>
          <p:cNvSpPr/>
          <p:nvPr/>
        </p:nvSpPr>
        <p:spPr>
          <a:xfrm>
            <a:off x="2642616" y="1810512"/>
            <a:ext cx="265176" cy="630936"/>
          </a:xfrm>
          <a:prstGeom prst="rect">
            <a:avLst/>
          </a:prstGeom>
          <a:solidFill>
            <a:schemeClr val="accent1"/>
          </a:solidFill>
          <a:ln/>
        </p:spPr>
        <p:txBody>
          <a:bodyPr/>
          <a:lstStyle/>
          <a:p>
            <a:endParaRPr lang="en-US"/>
          </a:p>
        </p:txBody>
      </p:sp>
      <p:sp>
        <p:nvSpPr>
          <p:cNvPr id="13" name="Text 11"/>
          <p:cNvSpPr txBox="1"/>
          <p:nvPr/>
        </p:nvSpPr>
        <p:spPr>
          <a:xfrm>
            <a:off x="731520" y="2651760"/>
            <a:ext cx="2286000" cy="384048"/>
          </a:xfrm>
          <a:prstGeom prst="rect">
            <a:avLst/>
          </a:prstGeom>
          <a:noFill/>
          <a:ln/>
        </p:spPr>
        <p:txBody>
          <a:bodyPr wrap="square" lIns="0" tIns="0" rIns="0" bIns="0" rtlCol="0" anchor="t"/>
          <a:lstStyle/>
          <a:p>
            <a:pPr marL="0" indent="0">
              <a:buNone/>
            </a:pPr>
            <a:r>
              <a:rPr lang="en-US" sz="2000" b="1" dirty="0">
                <a:solidFill>
                  <a:schemeClr val="tx1"/>
                </a:solidFill>
              </a:rPr>
              <a:t>MIG</a:t>
            </a:r>
            <a:endParaRPr lang="en-US" sz="2000" dirty="0"/>
          </a:p>
        </p:txBody>
      </p:sp>
      <p:sp>
        <p:nvSpPr>
          <p:cNvPr id="14" name="Text 12"/>
          <p:cNvSpPr txBox="1"/>
          <p:nvPr/>
        </p:nvSpPr>
        <p:spPr>
          <a:xfrm>
            <a:off x="731520" y="3017520"/>
            <a:ext cx="2286000" cy="292608"/>
          </a:xfrm>
          <a:prstGeom prst="rect">
            <a:avLst/>
          </a:prstGeom>
          <a:noFill/>
          <a:ln/>
        </p:spPr>
        <p:txBody>
          <a:bodyPr wrap="square" lIns="0" tIns="0" rIns="0" bIns="0" rtlCol="0" anchor="t"/>
          <a:lstStyle/>
          <a:p>
            <a:pPr marL="0" indent="0">
              <a:buNone/>
            </a:pPr>
            <a:r>
              <a:rPr lang="en-US" sz="1300" b="1" dirty="0">
                <a:solidFill>
                  <a:schemeClr val="accent2"/>
                </a:solidFill>
              </a:rPr>
              <a:t>Multi-Instance GPU</a:t>
            </a:r>
            <a:endParaRPr lang="en-US" sz="1300" dirty="0"/>
          </a:p>
        </p:txBody>
      </p:sp>
      <p:sp>
        <p:nvSpPr>
          <p:cNvPr id="15" name="Text 13"/>
          <p:cNvSpPr txBox="1"/>
          <p:nvPr/>
        </p:nvSpPr>
        <p:spPr>
          <a:xfrm>
            <a:off x="731520" y="3383280"/>
            <a:ext cx="2331720" cy="1051560"/>
          </a:xfrm>
          <a:prstGeom prst="rect">
            <a:avLst/>
          </a:prstGeom>
          <a:noFill/>
          <a:ln/>
        </p:spPr>
        <p:txBody>
          <a:bodyPr wrap="square" lIns="0" tIns="0" rIns="0" bIns="0" rtlCol="0" anchor="t"/>
          <a:lstStyle/>
          <a:p>
            <a:pPr marL="0" indent="0">
              <a:buNone/>
            </a:pPr>
            <a:r>
              <a:rPr lang="en-US" sz="1300" dirty="0">
                <a:solidFill>
                  <a:schemeClr val="tx2"/>
                </a:solidFill>
              </a:rPr>
              <a:t>Hardware partitions, up to 7 per GPU, each with dedicated SMs, L2 and memory</a:t>
            </a:r>
            <a:endParaRPr lang="en-US" sz="1300" dirty="0"/>
          </a:p>
        </p:txBody>
      </p:sp>
      <p:sp>
        <p:nvSpPr>
          <p:cNvPr id="16" name="Text 14"/>
          <p:cNvSpPr txBox="1"/>
          <p:nvPr/>
        </p:nvSpPr>
        <p:spPr>
          <a:xfrm>
            <a:off x="731520" y="4480560"/>
            <a:ext cx="2331720" cy="320040"/>
          </a:xfrm>
          <a:prstGeom prst="rect">
            <a:avLst/>
          </a:prstGeom>
          <a:noFill/>
          <a:ln/>
        </p:spPr>
        <p:txBody>
          <a:bodyPr wrap="square" lIns="0" tIns="0" rIns="0" bIns="0" rtlCol="0" anchor="t"/>
          <a:lstStyle/>
          <a:p>
            <a:pPr marL="0" indent="0">
              <a:buNone/>
            </a:pPr>
            <a:r>
              <a:rPr lang="en-US" sz="1300" b="1" dirty="0">
                <a:solidFill>
                  <a:schemeClr val="tx1"/>
                </a:solidFill>
              </a:rPr>
              <a:t>Isolation: </a:t>
            </a:r>
            <a:r>
              <a:rPr lang="en-US" sz="1300" dirty="0">
                <a:solidFill>
                  <a:schemeClr val="tx1"/>
                </a:solidFill>
              </a:rPr>
              <a:t>Strong (hardware)</a:t>
            </a:r>
            <a:endParaRPr lang="en-US" sz="1300" dirty="0"/>
          </a:p>
        </p:txBody>
      </p:sp>
      <p:sp>
        <p:nvSpPr>
          <p:cNvPr id="17" name="Text 15"/>
          <p:cNvSpPr txBox="1"/>
          <p:nvPr/>
        </p:nvSpPr>
        <p:spPr>
          <a:xfrm>
            <a:off x="731520" y="4846320"/>
            <a:ext cx="2331720" cy="1188720"/>
          </a:xfrm>
          <a:prstGeom prst="rect">
            <a:avLst/>
          </a:prstGeom>
          <a:noFill/>
          <a:ln/>
        </p:spPr>
        <p:txBody>
          <a:bodyPr wrap="square" lIns="0" tIns="0" rIns="0" bIns="0" rtlCol="0" anchor="t"/>
          <a:lstStyle/>
          <a:p>
            <a:pPr marL="0" indent="0">
              <a:buNone/>
            </a:pPr>
            <a:r>
              <a:rPr lang="en-US" sz="1300" b="1" dirty="0">
                <a:solidFill>
                  <a:schemeClr val="tx2"/>
                </a:solidFill>
              </a:rPr>
              <a:t>Use for: </a:t>
            </a:r>
            <a:r>
              <a:rPr lang="en-US" sz="1300" dirty="0">
                <a:solidFill>
                  <a:schemeClr val="tx2"/>
                </a:solidFill>
              </a:rPr>
              <a:t>Multi-tenant inference, notebooks, guaranteed QoS</a:t>
            </a:r>
            <a:endParaRPr lang="en-US" sz="1300" dirty="0"/>
          </a:p>
        </p:txBody>
      </p:sp>
      <p:sp>
        <p:nvSpPr>
          <p:cNvPr id="18" name="Shape 16"/>
          <p:cNvSpPr/>
          <p:nvPr/>
        </p:nvSpPr>
        <p:spPr>
          <a:xfrm>
            <a:off x="3346704" y="1572768"/>
            <a:ext cx="2651760" cy="4599432"/>
          </a:xfrm>
          <a:prstGeom prst="roundRect">
            <a:avLst>
              <a:gd name="adj" fmla="val 2759"/>
            </a:avLst>
          </a:prstGeom>
          <a:solidFill>
            <a:schemeClr val="bg2"/>
          </a:solidFill>
          <a:ln/>
        </p:spPr>
        <p:txBody>
          <a:bodyPr/>
          <a:lstStyle/>
          <a:p>
            <a:endParaRPr lang="en-US"/>
          </a:p>
        </p:txBody>
      </p:sp>
      <p:sp>
        <p:nvSpPr>
          <p:cNvPr id="19" name="Shape 17"/>
          <p:cNvSpPr/>
          <p:nvPr/>
        </p:nvSpPr>
        <p:spPr>
          <a:xfrm>
            <a:off x="3529584" y="1737360"/>
            <a:ext cx="2286000" cy="777240"/>
          </a:xfrm>
          <a:prstGeom prst="roundRect">
            <a:avLst>
              <a:gd name="adj" fmla="val 4706"/>
            </a:avLst>
          </a:prstGeom>
          <a:solidFill>
            <a:schemeClr val="tx1"/>
          </a:solidFill>
          <a:ln/>
        </p:spPr>
        <p:txBody>
          <a:bodyPr/>
          <a:lstStyle/>
          <a:p>
            <a:endParaRPr lang="en-US"/>
          </a:p>
        </p:txBody>
      </p:sp>
      <p:sp>
        <p:nvSpPr>
          <p:cNvPr id="20" name="Shape 18"/>
          <p:cNvSpPr/>
          <p:nvPr/>
        </p:nvSpPr>
        <p:spPr>
          <a:xfrm>
            <a:off x="3602736" y="1810512"/>
            <a:ext cx="356616" cy="630936"/>
          </a:xfrm>
          <a:prstGeom prst="rect">
            <a:avLst/>
          </a:prstGeom>
          <a:solidFill>
            <a:schemeClr val="accent1"/>
          </a:solidFill>
          <a:ln/>
        </p:spPr>
        <p:txBody>
          <a:bodyPr/>
          <a:lstStyle/>
          <a:p>
            <a:endParaRPr lang="en-US"/>
          </a:p>
        </p:txBody>
      </p:sp>
      <p:sp>
        <p:nvSpPr>
          <p:cNvPr id="21" name="Shape 19"/>
          <p:cNvSpPr/>
          <p:nvPr/>
        </p:nvSpPr>
        <p:spPr>
          <a:xfrm>
            <a:off x="3959352" y="1810512"/>
            <a:ext cx="356616" cy="630936"/>
          </a:xfrm>
          <a:prstGeom prst="rect">
            <a:avLst/>
          </a:prstGeom>
          <a:solidFill>
            <a:schemeClr val="accent4"/>
          </a:solidFill>
          <a:ln/>
        </p:spPr>
        <p:txBody>
          <a:bodyPr/>
          <a:lstStyle/>
          <a:p>
            <a:endParaRPr lang="en-US"/>
          </a:p>
        </p:txBody>
      </p:sp>
      <p:sp>
        <p:nvSpPr>
          <p:cNvPr id="22" name="Shape 20"/>
          <p:cNvSpPr/>
          <p:nvPr/>
        </p:nvSpPr>
        <p:spPr>
          <a:xfrm>
            <a:off x="4315968" y="1810512"/>
            <a:ext cx="356616" cy="630936"/>
          </a:xfrm>
          <a:prstGeom prst="rect">
            <a:avLst/>
          </a:prstGeom>
          <a:solidFill>
            <a:schemeClr val="accent3"/>
          </a:solidFill>
          <a:ln/>
        </p:spPr>
        <p:txBody>
          <a:bodyPr/>
          <a:lstStyle/>
          <a:p>
            <a:endParaRPr lang="en-US"/>
          </a:p>
        </p:txBody>
      </p:sp>
      <p:sp>
        <p:nvSpPr>
          <p:cNvPr id="23" name="Shape 21"/>
          <p:cNvSpPr/>
          <p:nvPr/>
        </p:nvSpPr>
        <p:spPr>
          <a:xfrm>
            <a:off x="4672584" y="1810512"/>
            <a:ext cx="356616" cy="630936"/>
          </a:xfrm>
          <a:prstGeom prst="rect">
            <a:avLst/>
          </a:prstGeom>
          <a:solidFill>
            <a:schemeClr val="accent1"/>
          </a:solidFill>
          <a:ln/>
        </p:spPr>
        <p:txBody>
          <a:bodyPr/>
          <a:lstStyle/>
          <a:p>
            <a:endParaRPr lang="en-US"/>
          </a:p>
        </p:txBody>
      </p:sp>
      <p:sp>
        <p:nvSpPr>
          <p:cNvPr id="24" name="Shape 22"/>
          <p:cNvSpPr/>
          <p:nvPr/>
        </p:nvSpPr>
        <p:spPr>
          <a:xfrm>
            <a:off x="5029200" y="1810512"/>
            <a:ext cx="356616" cy="630936"/>
          </a:xfrm>
          <a:prstGeom prst="rect">
            <a:avLst/>
          </a:prstGeom>
          <a:solidFill>
            <a:schemeClr val="accent4"/>
          </a:solidFill>
          <a:ln/>
        </p:spPr>
        <p:txBody>
          <a:bodyPr/>
          <a:lstStyle/>
          <a:p>
            <a:endParaRPr lang="en-US"/>
          </a:p>
        </p:txBody>
      </p:sp>
      <p:sp>
        <p:nvSpPr>
          <p:cNvPr id="25" name="Shape 23"/>
          <p:cNvSpPr/>
          <p:nvPr/>
        </p:nvSpPr>
        <p:spPr>
          <a:xfrm>
            <a:off x="5385816" y="1810512"/>
            <a:ext cx="356616" cy="630936"/>
          </a:xfrm>
          <a:prstGeom prst="rect">
            <a:avLst/>
          </a:prstGeom>
          <a:solidFill>
            <a:schemeClr val="accent3"/>
          </a:solidFill>
          <a:ln/>
        </p:spPr>
        <p:txBody>
          <a:bodyPr/>
          <a:lstStyle/>
          <a:p>
            <a:endParaRPr lang="en-US"/>
          </a:p>
        </p:txBody>
      </p:sp>
      <p:sp>
        <p:nvSpPr>
          <p:cNvPr id="26" name="Text 24"/>
          <p:cNvSpPr txBox="1"/>
          <p:nvPr/>
        </p:nvSpPr>
        <p:spPr>
          <a:xfrm>
            <a:off x="3529584" y="2651760"/>
            <a:ext cx="2286000" cy="384048"/>
          </a:xfrm>
          <a:prstGeom prst="rect">
            <a:avLst/>
          </a:prstGeom>
          <a:noFill/>
          <a:ln/>
        </p:spPr>
        <p:txBody>
          <a:bodyPr wrap="square" lIns="0" tIns="0" rIns="0" bIns="0" rtlCol="0" anchor="t"/>
          <a:lstStyle/>
          <a:p>
            <a:pPr marL="0" indent="0">
              <a:buNone/>
            </a:pPr>
            <a:r>
              <a:rPr lang="en-US" sz="2000" b="1" dirty="0">
                <a:solidFill>
                  <a:schemeClr val="tx1"/>
                </a:solidFill>
              </a:rPr>
              <a:t>Time-slicing</a:t>
            </a:r>
            <a:endParaRPr lang="en-US" sz="2000" dirty="0"/>
          </a:p>
        </p:txBody>
      </p:sp>
      <p:sp>
        <p:nvSpPr>
          <p:cNvPr id="27" name="Text 25"/>
          <p:cNvSpPr txBox="1"/>
          <p:nvPr/>
        </p:nvSpPr>
        <p:spPr>
          <a:xfrm>
            <a:off x="3529584" y="3017520"/>
            <a:ext cx="2286000" cy="292608"/>
          </a:xfrm>
          <a:prstGeom prst="rect">
            <a:avLst/>
          </a:prstGeom>
          <a:noFill/>
          <a:ln/>
        </p:spPr>
        <p:txBody>
          <a:bodyPr wrap="square" lIns="0" tIns="0" rIns="0" bIns="0" rtlCol="0" anchor="t"/>
          <a:lstStyle/>
          <a:p>
            <a:pPr marL="0" indent="0">
              <a:buNone/>
            </a:pPr>
            <a:r>
              <a:rPr lang="en-US" sz="1300" b="1" dirty="0">
                <a:solidFill>
                  <a:schemeClr val="accent2"/>
                </a:solidFill>
              </a:rPr>
              <a:t>Oversubscription</a:t>
            </a:r>
            <a:endParaRPr lang="en-US" sz="1300" dirty="0"/>
          </a:p>
        </p:txBody>
      </p:sp>
      <p:sp>
        <p:nvSpPr>
          <p:cNvPr id="28" name="Text 26"/>
          <p:cNvSpPr txBox="1"/>
          <p:nvPr/>
        </p:nvSpPr>
        <p:spPr>
          <a:xfrm>
            <a:off x="3529584" y="3383280"/>
            <a:ext cx="2331720" cy="1051560"/>
          </a:xfrm>
          <a:prstGeom prst="rect">
            <a:avLst/>
          </a:prstGeom>
          <a:noFill/>
          <a:ln/>
        </p:spPr>
        <p:txBody>
          <a:bodyPr wrap="square" lIns="0" tIns="0" rIns="0" bIns="0" rtlCol="0" anchor="t"/>
          <a:lstStyle/>
          <a:p>
            <a:pPr marL="0" indent="0">
              <a:buNone/>
            </a:pPr>
            <a:r>
              <a:rPr lang="en-US" sz="1300" dirty="0">
                <a:solidFill>
                  <a:schemeClr val="tx2"/>
                </a:solidFill>
              </a:rPr>
              <a:t>Workloads take turns on the whole GPU; memory is shared</a:t>
            </a:r>
            <a:endParaRPr lang="en-US" sz="1300" dirty="0"/>
          </a:p>
        </p:txBody>
      </p:sp>
      <p:sp>
        <p:nvSpPr>
          <p:cNvPr id="29" name="Text 27"/>
          <p:cNvSpPr txBox="1"/>
          <p:nvPr/>
        </p:nvSpPr>
        <p:spPr>
          <a:xfrm>
            <a:off x="3529584" y="4480560"/>
            <a:ext cx="2331720" cy="320040"/>
          </a:xfrm>
          <a:prstGeom prst="rect">
            <a:avLst/>
          </a:prstGeom>
          <a:noFill/>
          <a:ln/>
        </p:spPr>
        <p:txBody>
          <a:bodyPr wrap="square" lIns="0" tIns="0" rIns="0" bIns="0" rtlCol="0" anchor="t"/>
          <a:lstStyle/>
          <a:p>
            <a:pPr marL="0" indent="0">
              <a:buNone/>
            </a:pPr>
            <a:r>
              <a:rPr lang="en-US" sz="1300" b="1" dirty="0">
                <a:solidFill>
                  <a:schemeClr val="tx1"/>
                </a:solidFill>
              </a:rPr>
              <a:t>Isolation: </a:t>
            </a:r>
            <a:r>
              <a:rPr lang="en-US" sz="1300" dirty="0">
                <a:solidFill>
                  <a:schemeClr val="tx1"/>
                </a:solidFill>
              </a:rPr>
              <a:t>None</a:t>
            </a:r>
            <a:endParaRPr lang="en-US" sz="1300" dirty="0"/>
          </a:p>
        </p:txBody>
      </p:sp>
      <p:sp>
        <p:nvSpPr>
          <p:cNvPr id="30" name="Text 28"/>
          <p:cNvSpPr txBox="1"/>
          <p:nvPr/>
        </p:nvSpPr>
        <p:spPr>
          <a:xfrm>
            <a:off x="3529584" y="4846320"/>
            <a:ext cx="2331720" cy="1188720"/>
          </a:xfrm>
          <a:prstGeom prst="rect">
            <a:avLst/>
          </a:prstGeom>
          <a:noFill/>
          <a:ln/>
        </p:spPr>
        <p:txBody>
          <a:bodyPr wrap="square" lIns="0" tIns="0" rIns="0" bIns="0" rtlCol="0" anchor="t"/>
          <a:lstStyle/>
          <a:p>
            <a:pPr marL="0" indent="0">
              <a:buNone/>
            </a:pPr>
            <a:r>
              <a:rPr lang="en-US" sz="1300" b="1" dirty="0">
                <a:solidFill>
                  <a:schemeClr val="tx2"/>
                </a:solidFill>
              </a:rPr>
              <a:t>Use for: </a:t>
            </a:r>
            <a:r>
              <a:rPr lang="en-US" sz="1300" dirty="0">
                <a:solidFill>
                  <a:schemeClr val="tx2"/>
                </a:solidFill>
              </a:rPr>
              <a:t>Dev and test, bursty light jobs</a:t>
            </a:r>
            <a:endParaRPr lang="en-US" sz="1300" dirty="0"/>
          </a:p>
        </p:txBody>
      </p:sp>
      <p:sp>
        <p:nvSpPr>
          <p:cNvPr id="31" name="Shape 29"/>
          <p:cNvSpPr/>
          <p:nvPr/>
        </p:nvSpPr>
        <p:spPr>
          <a:xfrm>
            <a:off x="6144768" y="1572768"/>
            <a:ext cx="2651760" cy="4599432"/>
          </a:xfrm>
          <a:prstGeom prst="roundRect">
            <a:avLst>
              <a:gd name="adj" fmla="val 2759"/>
            </a:avLst>
          </a:prstGeom>
          <a:solidFill>
            <a:schemeClr val="bg2"/>
          </a:solidFill>
          <a:ln/>
        </p:spPr>
        <p:txBody>
          <a:bodyPr/>
          <a:lstStyle/>
          <a:p>
            <a:endParaRPr lang="en-US"/>
          </a:p>
        </p:txBody>
      </p:sp>
      <p:sp>
        <p:nvSpPr>
          <p:cNvPr id="32" name="Shape 30"/>
          <p:cNvSpPr/>
          <p:nvPr/>
        </p:nvSpPr>
        <p:spPr>
          <a:xfrm>
            <a:off x="6327648" y="1737360"/>
            <a:ext cx="2286000" cy="777240"/>
          </a:xfrm>
          <a:prstGeom prst="roundRect">
            <a:avLst>
              <a:gd name="adj" fmla="val 4706"/>
            </a:avLst>
          </a:prstGeom>
          <a:solidFill>
            <a:schemeClr val="tx1"/>
          </a:solidFill>
          <a:ln/>
        </p:spPr>
        <p:txBody>
          <a:bodyPr/>
          <a:lstStyle/>
          <a:p>
            <a:endParaRPr lang="en-US"/>
          </a:p>
        </p:txBody>
      </p:sp>
      <p:sp>
        <p:nvSpPr>
          <p:cNvPr id="33" name="Shape 31"/>
          <p:cNvSpPr/>
          <p:nvPr/>
        </p:nvSpPr>
        <p:spPr>
          <a:xfrm>
            <a:off x="6400800" y="1810512"/>
            <a:ext cx="2139696" cy="192024"/>
          </a:xfrm>
          <a:prstGeom prst="rect">
            <a:avLst/>
          </a:prstGeom>
          <a:solidFill>
            <a:schemeClr val="accent1"/>
          </a:solidFill>
          <a:ln/>
        </p:spPr>
        <p:txBody>
          <a:bodyPr/>
          <a:lstStyle/>
          <a:p>
            <a:endParaRPr lang="en-US"/>
          </a:p>
        </p:txBody>
      </p:sp>
      <p:sp>
        <p:nvSpPr>
          <p:cNvPr id="34" name="Shape 32"/>
          <p:cNvSpPr/>
          <p:nvPr/>
        </p:nvSpPr>
        <p:spPr>
          <a:xfrm>
            <a:off x="6400800" y="2020824"/>
            <a:ext cx="2139696" cy="192024"/>
          </a:xfrm>
          <a:prstGeom prst="rect">
            <a:avLst/>
          </a:prstGeom>
          <a:solidFill>
            <a:schemeClr val="accent4"/>
          </a:solidFill>
          <a:ln/>
        </p:spPr>
        <p:txBody>
          <a:bodyPr/>
          <a:lstStyle/>
          <a:p>
            <a:endParaRPr lang="en-US"/>
          </a:p>
        </p:txBody>
      </p:sp>
      <p:sp>
        <p:nvSpPr>
          <p:cNvPr id="35" name="Shape 33"/>
          <p:cNvSpPr/>
          <p:nvPr/>
        </p:nvSpPr>
        <p:spPr>
          <a:xfrm>
            <a:off x="6400800" y="2231136"/>
            <a:ext cx="2139696" cy="192024"/>
          </a:xfrm>
          <a:prstGeom prst="rect">
            <a:avLst/>
          </a:prstGeom>
          <a:solidFill>
            <a:schemeClr val="accent3"/>
          </a:solidFill>
          <a:ln/>
        </p:spPr>
        <p:txBody>
          <a:bodyPr/>
          <a:lstStyle/>
          <a:p>
            <a:endParaRPr lang="en-US"/>
          </a:p>
        </p:txBody>
      </p:sp>
      <p:sp>
        <p:nvSpPr>
          <p:cNvPr id="36" name="Text 34"/>
          <p:cNvSpPr txBox="1"/>
          <p:nvPr/>
        </p:nvSpPr>
        <p:spPr>
          <a:xfrm>
            <a:off x="6327648" y="2651760"/>
            <a:ext cx="2286000" cy="384048"/>
          </a:xfrm>
          <a:prstGeom prst="rect">
            <a:avLst/>
          </a:prstGeom>
          <a:noFill/>
          <a:ln/>
        </p:spPr>
        <p:txBody>
          <a:bodyPr wrap="square" lIns="0" tIns="0" rIns="0" bIns="0" rtlCol="0" anchor="t"/>
          <a:lstStyle/>
          <a:p>
            <a:pPr marL="0" indent="0">
              <a:buNone/>
            </a:pPr>
            <a:r>
              <a:rPr lang="en-US" sz="2000" b="1" dirty="0">
                <a:solidFill>
                  <a:schemeClr val="tx1"/>
                </a:solidFill>
              </a:rPr>
              <a:t>MPS</a:t>
            </a:r>
            <a:endParaRPr lang="en-US" sz="2000" dirty="0"/>
          </a:p>
        </p:txBody>
      </p:sp>
      <p:sp>
        <p:nvSpPr>
          <p:cNvPr id="37" name="Text 35"/>
          <p:cNvSpPr txBox="1"/>
          <p:nvPr/>
        </p:nvSpPr>
        <p:spPr>
          <a:xfrm>
            <a:off x="6327648" y="3017520"/>
            <a:ext cx="2286000" cy="292608"/>
          </a:xfrm>
          <a:prstGeom prst="rect">
            <a:avLst/>
          </a:prstGeom>
          <a:noFill/>
          <a:ln/>
        </p:spPr>
        <p:txBody>
          <a:bodyPr wrap="square" lIns="0" tIns="0" rIns="0" bIns="0" rtlCol="0" anchor="t"/>
          <a:lstStyle/>
          <a:p>
            <a:pPr marL="0" indent="0">
              <a:buNone/>
            </a:pPr>
            <a:r>
              <a:rPr lang="en-US" sz="1300" b="1" dirty="0">
                <a:solidFill>
                  <a:schemeClr val="accent2"/>
                </a:solidFill>
              </a:rPr>
              <a:t>Multi-Process Service</a:t>
            </a:r>
            <a:endParaRPr lang="en-US" sz="1300" dirty="0"/>
          </a:p>
        </p:txBody>
      </p:sp>
      <p:sp>
        <p:nvSpPr>
          <p:cNvPr id="38" name="Text 36"/>
          <p:cNvSpPr txBox="1"/>
          <p:nvPr/>
        </p:nvSpPr>
        <p:spPr>
          <a:xfrm>
            <a:off x="6327648" y="3383280"/>
            <a:ext cx="2331720" cy="1051560"/>
          </a:xfrm>
          <a:prstGeom prst="rect">
            <a:avLst/>
          </a:prstGeom>
          <a:noFill/>
          <a:ln/>
        </p:spPr>
        <p:txBody>
          <a:bodyPr wrap="square" lIns="0" tIns="0" rIns="0" bIns="0" rtlCol="0" anchor="t"/>
          <a:lstStyle/>
          <a:p>
            <a:pPr marL="0" indent="0">
              <a:buNone/>
            </a:pPr>
            <a:r>
              <a:rPr lang="en-US" sz="1300" dirty="0">
                <a:solidFill>
                  <a:schemeClr val="tx2"/>
                </a:solidFill>
              </a:rPr>
              <a:t>Kernels from several processes run at the same time on the SMs</a:t>
            </a:r>
            <a:endParaRPr lang="en-US" sz="1300" dirty="0"/>
          </a:p>
        </p:txBody>
      </p:sp>
      <p:sp>
        <p:nvSpPr>
          <p:cNvPr id="39" name="Text 37"/>
          <p:cNvSpPr txBox="1"/>
          <p:nvPr/>
        </p:nvSpPr>
        <p:spPr>
          <a:xfrm>
            <a:off x="6327648" y="4480560"/>
            <a:ext cx="2331720" cy="320040"/>
          </a:xfrm>
          <a:prstGeom prst="rect">
            <a:avLst/>
          </a:prstGeom>
          <a:noFill/>
          <a:ln/>
        </p:spPr>
        <p:txBody>
          <a:bodyPr wrap="square" lIns="0" tIns="0" rIns="0" bIns="0" rtlCol="0" anchor="t"/>
          <a:lstStyle/>
          <a:p>
            <a:pPr marL="0" indent="0">
              <a:buNone/>
            </a:pPr>
            <a:r>
              <a:rPr lang="en-US" sz="1300" b="1" dirty="0">
                <a:solidFill>
                  <a:schemeClr val="tx1"/>
                </a:solidFill>
              </a:rPr>
              <a:t>Isolation: </a:t>
            </a:r>
            <a:r>
              <a:rPr lang="en-US" sz="1300" dirty="0">
                <a:solidFill>
                  <a:schemeClr val="tx1"/>
                </a:solidFill>
              </a:rPr>
              <a:t>Limited</a:t>
            </a:r>
            <a:endParaRPr lang="en-US" sz="1300" dirty="0"/>
          </a:p>
        </p:txBody>
      </p:sp>
      <p:sp>
        <p:nvSpPr>
          <p:cNvPr id="40" name="Text 38"/>
          <p:cNvSpPr txBox="1"/>
          <p:nvPr/>
        </p:nvSpPr>
        <p:spPr>
          <a:xfrm>
            <a:off x="6327648" y="4846320"/>
            <a:ext cx="2331720" cy="1188720"/>
          </a:xfrm>
          <a:prstGeom prst="rect">
            <a:avLst/>
          </a:prstGeom>
          <a:noFill/>
          <a:ln/>
        </p:spPr>
        <p:txBody>
          <a:bodyPr wrap="square" lIns="0" tIns="0" rIns="0" bIns="0" rtlCol="0" anchor="t"/>
          <a:lstStyle/>
          <a:p>
            <a:pPr marL="0" indent="0">
              <a:buNone/>
            </a:pPr>
            <a:r>
              <a:rPr lang="en-US" sz="1300" b="1" dirty="0">
                <a:solidFill>
                  <a:schemeClr val="tx2"/>
                </a:solidFill>
              </a:rPr>
              <a:t>Use for: </a:t>
            </a:r>
            <a:r>
              <a:rPr lang="en-US" sz="1300" dirty="0">
                <a:solidFill>
                  <a:schemeClr val="tx2"/>
                </a:solidFill>
              </a:rPr>
              <a:t>Many small inference processes on one GPU</a:t>
            </a:r>
            <a:endParaRPr lang="en-US" sz="1300" dirty="0"/>
          </a:p>
        </p:txBody>
      </p:sp>
      <p:sp>
        <p:nvSpPr>
          <p:cNvPr id="41" name="Shape 39"/>
          <p:cNvSpPr/>
          <p:nvPr/>
        </p:nvSpPr>
        <p:spPr>
          <a:xfrm>
            <a:off x="8942832" y="1572768"/>
            <a:ext cx="2651760" cy="4599432"/>
          </a:xfrm>
          <a:prstGeom prst="roundRect">
            <a:avLst>
              <a:gd name="adj" fmla="val 2759"/>
            </a:avLst>
          </a:prstGeom>
          <a:solidFill>
            <a:schemeClr val="bg2"/>
          </a:solidFill>
          <a:ln/>
        </p:spPr>
        <p:txBody>
          <a:bodyPr/>
          <a:lstStyle/>
          <a:p>
            <a:endParaRPr lang="en-US"/>
          </a:p>
        </p:txBody>
      </p:sp>
      <p:sp>
        <p:nvSpPr>
          <p:cNvPr id="42" name="Shape 40"/>
          <p:cNvSpPr/>
          <p:nvPr/>
        </p:nvSpPr>
        <p:spPr>
          <a:xfrm>
            <a:off x="9125712" y="1737360"/>
            <a:ext cx="2286000" cy="777240"/>
          </a:xfrm>
          <a:prstGeom prst="roundRect">
            <a:avLst>
              <a:gd name="adj" fmla="val 4706"/>
            </a:avLst>
          </a:prstGeom>
          <a:solidFill>
            <a:schemeClr val="tx1"/>
          </a:solidFill>
          <a:ln/>
        </p:spPr>
        <p:txBody>
          <a:bodyPr/>
          <a:lstStyle/>
          <a:p>
            <a:endParaRPr lang="en-US"/>
          </a:p>
        </p:txBody>
      </p:sp>
      <p:sp>
        <p:nvSpPr>
          <p:cNvPr id="43" name="Text 41"/>
          <p:cNvSpPr/>
          <p:nvPr/>
        </p:nvSpPr>
        <p:spPr>
          <a:xfrm>
            <a:off x="9198864" y="1810512"/>
            <a:ext cx="475488" cy="630936"/>
          </a:xfrm>
          <a:prstGeom prst="roundRect">
            <a:avLst>
              <a:gd name="adj" fmla="val 9615"/>
            </a:avLst>
          </a:prstGeom>
          <a:solidFill>
            <a:schemeClr val="accent4"/>
          </a:solidFill>
          <a:ln/>
        </p:spPr>
        <p:txBody>
          <a:bodyPr wrap="square" lIns="381" tIns="381" rIns="381" bIns="381" rtlCol="0" anchor="ctr"/>
          <a:lstStyle/>
          <a:p>
            <a:pPr marL="0" indent="0" algn="ctr">
              <a:buNone/>
            </a:pPr>
            <a:r>
              <a:rPr lang="en-US" sz="1000" b="1" dirty="0">
                <a:solidFill>
                  <a:schemeClr val="bg1"/>
                </a:solidFill>
              </a:rPr>
              <a:t>VM</a:t>
            </a:r>
            <a:endParaRPr lang="en-US" sz="1000" dirty="0"/>
          </a:p>
        </p:txBody>
      </p:sp>
      <p:sp>
        <p:nvSpPr>
          <p:cNvPr id="44" name="Text 42"/>
          <p:cNvSpPr/>
          <p:nvPr/>
        </p:nvSpPr>
        <p:spPr>
          <a:xfrm>
            <a:off x="9738360" y="1810512"/>
            <a:ext cx="475488" cy="630936"/>
          </a:xfrm>
          <a:prstGeom prst="roundRect">
            <a:avLst>
              <a:gd name="adj" fmla="val 9615"/>
            </a:avLst>
          </a:prstGeom>
          <a:solidFill>
            <a:schemeClr val="accent4"/>
          </a:solidFill>
          <a:ln/>
        </p:spPr>
        <p:txBody>
          <a:bodyPr wrap="square" lIns="381" tIns="381" rIns="381" bIns="381" rtlCol="0" anchor="ctr"/>
          <a:lstStyle/>
          <a:p>
            <a:pPr marL="0" indent="0" algn="ctr">
              <a:buNone/>
            </a:pPr>
            <a:r>
              <a:rPr lang="en-US" sz="1000" b="1" dirty="0">
                <a:solidFill>
                  <a:schemeClr val="bg1"/>
                </a:solidFill>
              </a:rPr>
              <a:t>VM</a:t>
            </a:r>
            <a:endParaRPr lang="en-US" sz="1000" dirty="0"/>
          </a:p>
        </p:txBody>
      </p:sp>
      <p:sp>
        <p:nvSpPr>
          <p:cNvPr id="45" name="Text 43"/>
          <p:cNvSpPr/>
          <p:nvPr/>
        </p:nvSpPr>
        <p:spPr>
          <a:xfrm>
            <a:off x="10277856" y="1810512"/>
            <a:ext cx="475488" cy="630936"/>
          </a:xfrm>
          <a:prstGeom prst="roundRect">
            <a:avLst>
              <a:gd name="adj" fmla="val 9615"/>
            </a:avLst>
          </a:prstGeom>
          <a:solidFill>
            <a:schemeClr val="accent4"/>
          </a:solidFill>
          <a:ln/>
        </p:spPr>
        <p:txBody>
          <a:bodyPr wrap="square" lIns="381" tIns="381" rIns="381" bIns="381" rtlCol="0" anchor="ctr"/>
          <a:lstStyle/>
          <a:p>
            <a:pPr marL="0" indent="0" algn="ctr">
              <a:buNone/>
            </a:pPr>
            <a:r>
              <a:rPr lang="en-US" sz="1000" b="1" dirty="0">
                <a:solidFill>
                  <a:schemeClr val="bg1"/>
                </a:solidFill>
              </a:rPr>
              <a:t>VM</a:t>
            </a:r>
            <a:endParaRPr lang="en-US" sz="1000" dirty="0"/>
          </a:p>
        </p:txBody>
      </p:sp>
      <p:sp>
        <p:nvSpPr>
          <p:cNvPr id="46" name="Text 44"/>
          <p:cNvSpPr/>
          <p:nvPr/>
        </p:nvSpPr>
        <p:spPr>
          <a:xfrm>
            <a:off x="10817352" y="1810512"/>
            <a:ext cx="475488" cy="630936"/>
          </a:xfrm>
          <a:prstGeom prst="roundRect">
            <a:avLst>
              <a:gd name="adj" fmla="val 9615"/>
            </a:avLst>
          </a:prstGeom>
          <a:solidFill>
            <a:schemeClr val="accent4"/>
          </a:solidFill>
          <a:ln/>
        </p:spPr>
        <p:txBody>
          <a:bodyPr wrap="square" lIns="381" tIns="381" rIns="381" bIns="381" rtlCol="0" anchor="ctr"/>
          <a:lstStyle/>
          <a:p>
            <a:pPr marL="0" indent="0" algn="ctr">
              <a:buNone/>
            </a:pPr>
            <a:r>
              <a:rPr lang="en-US" sz="1000" b="1" dirty="0">
                <a:solidFill>
                  <a:schemeClr val="bg1"/>
                </a:solidFill>
              </a:rPr>
              <a:t>VM</a:t>
            </a:r>
            <a:endParaRPr lang="en-US" sz="1000" dirty="0"/>
          </a:p>
        </p:txBody>
      </p:sp>
      <p:sp>
        <p:nvSpPr>
          <p:cNvPr id="47" name="Text 45"/>
          <p:cNvSpPr txBox="1"/>
          <p:nvPr/>
        </p:nvSpPr>
        <p:spPr>
          <a:xfrm>
            <a:off x="9125712" y="2651760"/>
            <a:ext cx="2286000" cy="384048"/>
          </a:xfrm>
          <a:prstGeom prst="rect">
            <a:avLst/>
          </a:prstGeom>
          <a:noFill/>
          <a:ln/>
        </p:spPr>
        <p:txBody>
          <a:bodyPr wrap="square" lIns="0" tIns="0" rIns="0" bIns="0" rtlCol="0" anchor="t"/>
          <a:lstStyle/>
          <a:p>
            <a:pPr marL="0" indent="0">
              <a:buNone/>
            </a:pPr>
            <a:r>
              <a:rPr lang="en-US" sz="2000" b="1" dirty="0">
                <a:solidFill>
                  <a:schemeClr val="tx1"/>
                </a:solidFill>
              </a:rPr>
              <a:t>vGPU</a:t>
            </a:r>
            <a:endParaRPr lang="en-US" sz="2000" dirty="0"/>
          </a:p>
        </p:txBody>
      </p:sp>
      <p:sp>
        <p:nvSpPr>
          <p:cNvPr id="48" name="Text 46"/>
          <p:cNvSpPr txBox="1"/>
          <p:nvPr/>
        </p:nvSpPr>
        <p:spPr>
          <a:xfrm>
            <a:off x="9125712" y="3017520"/>
            <a:ext cx="2286000" cy="292608"/>
          </a:xfrm>
          <a:prstGeom prst="rect">
            <a:avLst/>
          </a:prstGeom>
          <a:noFill/>
          <a:ln/>
        </p:spPr>
        <p:txBody>
          <a:bodyPr wrap="square" lIns="0" tIns="0" rIns="0" bIns="0" rtlCol="0" anchor="t"/>
          <a:lstStyle/>
          <a:p>
            <a:pPr marL="0" indent="0">
              <a:buNone/>
            </a:pPr>
            <a:r>
              <a:rPr lang="en-US" sz="1300" b="1" dirty="0">
                <a:solidFill>
                  <a:schemeClr val="accent2"/>
                </a:solidFill>
              </a:rPr>
              <a:t>NVIDIA virtual GPU</a:t>
            </a:r>
            <a:endParaRPr lang="en-US" sz="1300" dirty="0"/>
          </a:p>
        </p:txBody>
      </p:sp>
      <p:sp>
        <p:nvSpPr>
          <p:cNvPr id="49" name="Text 47"/>
          <p:cNvSpPr txBox="1"/>
          <p:nvPr/>
        </p:nvSpPr>
        <p:spPr>
          <a:xfrm>
            <a:off x="9125712" y="3383280"/>
            <a:ext cx="2331720" cy="1051560"/>
          </a:xfrm>
          <a:prstGeom prst="rect">
            <a:avLst/>
          </a:prstGeom>
          <a:noFill/>
          <a:ln/>
        </p:spPr>
        <p:txBody>
          <a:bodyPr wrap="square" lIns="0" tIns="0" rIns="0" bIns="0" rtlCol="0" anchor="t"/>
          <a:lstStyle/>
          <a:p>
            <a:pPr marL="0" indent="0">
              <a:buNone/>
            </a:pPr>
            <a:r>
              <a:rPr lang="en-US" sz="1300" dirty="0">
                <a:solidFill>
                  <a:schemeClr val="tx2"/>
                </a:solidFill>
              </a:rPr>
              <a:t>Hypervisor shares the GPU across VMs (licensed)</a:t>
            </a:r>
            <a:endParaRPr lang="en-US" sz="1300" dirty="0"/>
          </a:p>
        </p:txBody>
      </p:sp>
      <p:sp>
        <p:nvSpPr>
          <p:cNvPr id="50" name="Text 48"/>
          <p:cNvSpPr txBox="1"/>
          <p:nvPr/>
        </p:nvSpPr>
        <p:spPr>
          <a:xfrm>
            <a:off x="9125712" y="4480560"/>
            <a:ext cx="2331720" cy="320040"/>
          </a:xfrm>
          <a:prstGeom prst="rect">
            <a:avLst/>
          </a:prstGeom>
          <a:noFill/>
          <a:ln/>
        </p:spPr>
        <p:txBody>
          <a:bodyPr wrap="square" lIns="0" tIns="0" rIns="0" bIns="0" rtlCol="0" anchor="t"/>
          <a:lstStyle/>
          <a:p>
            <a:pPr marL="0" indent="0">
              <a:buNone/>
            </a:pPr>
            <a:r>
              <a:rPr lang="en-US" sz="1300" b="1" dirty="0">
                <a:solidFill>
                  <a:schemeClr val="tx1"/>
                </a:solidFill>
              </a:rPr>
              <a:t>Isolation: </a:t>
            </a:r>
            <a:r>
              <a:rPr lang="en-US" sz="1300" dirty="0">
                <a:solidFill>
                  <a:schemeClr val="tx1"/>
                </a:solidFill>
              </a:rPr>
              <a:t>VM-level</a:t>
            </a:r>
            <a:endParaRPr lang="en-US" sz="1300" dirty="0"/>
          </a:p>
        </p:txBody>
      </p:sp>
      <p:sp>
        <p:nvSpPr>
          <p:cNvPr id="51" name="Text 49"/>
          <p:cNvSpPr txBox="1"/>
          <p:nvPr/>
        </p:nvSpPr>
        <p:spPr>
          <a:xfrm>
            <a:off x="9125712" y="4846320"/>
            <a:ext cx="2331720" cy="1188720"/>
          </a:xfrm>
          <a:prstGeom prst="rect">
            <a:avLst/>
          </a:prstGeom>
          <a:noFill/>
          <a:ln/>
        </p:spPr>
        <p:txBody>
          <a:bodyPr wrap="square" lIns="0" tIns="0" rIns="0" bIns="0" rtlCol="0" anchor="t"/>
          <a:lstStyle/>
          <a:p>
            <a:pPr marL="0" indent="0">
              <a:buNone/>
            </a:pPr>
            <a:r>
              <a:rPr lang="en-US" sz="1300" b="1" dirty="0">
                <a:solidFill>
                  <a:schemeClr val="tx2"/>
                </a:solidFill>
              </a:rPr>
              <a:t>Use for: </a:t>
            </a:r>
            <a:r>
              <a:rPr lang="en-US" sz="1300" dirty="0">
                <a:solidFill>
                  <a:schemeClr val="tx2"/>
                </a:solidFill>
              </a:rPr>
              <a:t>VDI, virtualized enterprise apps, AI in VMs</a:t>
            </a:r>
            <a:endParaRPr lang="en-US" sz="1300" dirty="0"/>
          </a:p>
        </p:txBody>
      </p:sp>
      <p:sp>
        <p:nvSpPr>
          <p:cNvPr id="52"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Mapping AI workloads to infrastructure</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Training, fine-tuning and inference stress different parts of the stack</a:t>
            </a:r>
            <a:endParaRPr lang="en-US" sz="16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4480560"/>
        </p:xfrm>
        <a:graphic>
          <a:graphicData uri="http://schemas.openxmlformats.org/drawingml/2006/table">
            <a:tbl>
              <a:tblPr/>
              <a:tblGrid>
                <a:gridCol w="192024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2194560">
                  <a:extLst>
                    <a:ext uri="{9D8B030D-6E8A-4147-A177-3AD203B41FA5}">
                      <a16:colId xmlns:a16="http://schemas.microsoft.com/office/drawing/2014/main" val="20004"/>
                    </a:ext>
                  </a:extLst>
                </a:gridCol>
              </a:tblGrid>
              <a:tr h="640080">
                <a:tc>
                  <a:txBody>
                    <a:bodyPr/>
                    <a:lstStyle/>
                    <a:p>
                      <a:pPr marL="0" indent="0">
                        <a:buNone/>
                      </a:pPr>
                      <a:r>
                        <a:rPr lang="en-US" sz="1300" b="1" dirty="0">
                          <a:solidFill>
                            <a:schemeClr val="bg1"/>
                          </a:solidFill>
                        </a:rPr>
                        <a:t>Workload</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tx1"/>
                    </a:solidFill>
                  </a:tcPr>
                </a:tc>
                <a:tc>
                  <a:txBody>
                    <a:bodyPr/>
                    <a:lstStyle/>
                    <a:p>
                      <a:pPr marL="0" indent="0">
                        <a:buNone/>
                      </a:pPr>
                      <a:r>
                        <a:rPr lang="en-US" sz="1300" b="1" dirty="0">
                          <a:solidFill>
                            <a:schemeClr val="bg1"/>
                          </a:solidFill>
                        </a:rPr>
                        <a:t>GPUs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tx1"/>
                    </a:solidFill>
                  </a:tcPr>
                </a:tc>
                <a:tc>
                  <a:txBody>
                    <a:bodyPr/>
                    <a:lstStyle/>
                    <a:p>
                      <a:pPr marL="0" indent="0">
                        <a:buNone/>
                      </a:pPr>
                      <a:r>
                        <a:rPr lang="en-US" sz="1300" b="1" dirty="0">
                          <a:solidFill>
                            <a:schemeClr val="bg1"/>
                          </a:solidFill>
                        </a:rPr>
                        <a:t>Interconnect / network</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tx1"/>
                    </a:solidFill>
                  </a:tcPr>
                </a:tc>
                <a:tc>
                  <a:txBody>
                    <a:bodyPr/>
                    <a:lstStyle/>
                    <a:p>
                      <a:pPr marL="0" indent="0">
                        <a:buNone/>
                      </a:pPr>
                      <a:r>
                        <a:rPr lang="en-US" sz="1300" b="1" dirty="0">
                          <a:solidFill>
                            <a:schemeClr val="bg1"/>
                          </a:solidFill>
                        </a:rPr>
                        <a:t>Storage</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tx1"/>
                    </a:solidFill>
                  </a:tcPr>
                </a:tc>
                <a:tc>
                  <a:txBody>
                    <a:bodyPr/>
                    <a:lstStyle/>
                    <a:p>
                      <a:pPr marL="0" indent="0">
                        <a:buNone/>
                      </a:pPr>
                      <a:r>
                        <a:rPr lang="en-US" sz="1300" b="1" dirty="0">
                          <a:solidFill>
                            <a:schemeClr val="bg1"/>
                          </a:solidFill>
                        </a:rPr>
                        <a:t>Orchestration</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640080">
                <a:tc>
                  <a:txBody>
                    <a:bodyPr/>
                    <a:lstStyle/>
                    <a:p>
                      <a:pPr marL="0" indent="0">
                        <a:buNone/>
                      </a:pPr>
                      <a:r>
                        <a:rPr lang="en-US" sz="1200" b="1" dirty="0">
                          <a:solidFill>
                            <a:schemeClr val="tx1"/>
                          </a:solidFill>
                        </a:rPr>
                        <a:t>Pre-training</a:t>
                      </a:r>
                      <a:endParaRPr lang="en-US" sz="12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Hundreds to thousands; HGX B200 / NVL72</a:t>
                      </a:r>
                      <a:endParaRPr lang="en-US" sz="12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NVLink + non-blocking IB / Spectrum-X, 1 NIC per GPU</a:t>
                      </a:r>
                      <a:endParaRPr lang="en-US" sz="12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Parallel FS, fast checkpoints</a:t>
                      </a:r>
                      <a:endParaRPr lang="en-US" sz="12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Slurm or K8s + gang scheduling</a:t>
                      </a:r>
                      <a:endParaRPr lang="en-US" sz="12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640080">
                <a:tc>
                  <a:txBody>
                    <a:bodyPr/>
                    <a:lstStyle/>
                    <a:p>
                      <a:pPr marL="0" indent="0">
                        <a:buNone/>
                      </a:pPr>
                      <a:r>
                        <a:rPr lang="en-US" sz="1200" b="1" dirty="0">
                          <a:solidFill>
                            <a:schemeClr val="tx1"/>
                          </a:solidFill>
                        </a:rPr>
                        <a:t>Full fine-tuning</a:t>
                      </a:r>
                      <a:endParaRPr lang="en-US" sz="12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8–64 GPUs (HGX H100 / H200)</a:t>
                      </a:r>
                      <a:endParaRPr lang="en-US" sz="12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NVSwitch in node; IB/RoCE across nodes</a:t>
                      </a:r>
                      <a:endParaRPr lang="en-US" sz="12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Shared FS, checkpoints</a:t>
                      </a:r>
                      <a:endParaRPr lang="en-US" sz="12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Slurm, Run:ai, Kubeflow</a:t>
                      </a:r>
                      <a:endParaRPr lang="en-US" sz="12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40080">
                <a:tc>
                  <a:txBody>
                    <a:bodyPr/>
                    <a:lstStyle/>
                    <a:p>
                      <a:pPr marL="0" indent="0">
                        <a:buNone/>
                      </a:pPr>
                      <a:r>
                        <a:rPr lang="en-US" sz="1200" b="1" dirty="0">
                          <a:solidFill>
                            <a:schemeClr val="tx1"/>
                          </a:solidFill>
                        </a:rPr>
                        <a:t>LoRA / PEFT</a:t>
                      </a:r>
                      <a:endParaRPr lang="en-US" sz="12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1–8 GPUs (L40S, H100, RTX PRO)</a:t>
                      </a:r>
                      <a:endParaRPr lang="en-US" sz="12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PCIe or NVLink; standard Ethernet</a:t>
                      </a:r>
                      <a:endParaRPr lang="en-US" sz="12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Modest; model + dataset</a:t>
                      </a:r>
                      <a:endParaRPr lang="en-US" sz="12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K8s jobs, notebooks</a:t>
                      </a:r>
                      <a:endParaRPr lang="en-US" sz="12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640080">
                <a:tc>
                  <a:txBody>
                    <a:bodyPr/>
                    <a:lstStyle/>
                    <a:p>
                      <a:pPr marL="0" indent="0">
                        <a:buNone/>
                      </a:pPr>
                      <a:r>
                        <a:rPr lang="en-US" sz="1200" b="1" dirty="0">
                          <a:solidFill>
                            <a:schemeClr val="tx1"/>
                          </a:solidFill>
                        </a:rPr>
                        <a:t>Real-time LLM inference</a:t>
                      </a:r>
                      <a:endParaRPr lang="en-US" sz="12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1–8 GPUs per replica; H200 / B200 / L40S</a:t>
                      </a:r>
                      <a:endParaRPr lang="en-US" sz="12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NVLink for tensor parallel; front-end Ethernet</a:t>
                      </a:r>
                      <a:endParaRPr lang="en-US" sz="12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Fast model loading</a:t>
                      </a:r>
                      <a:endParaRPr lang="en-US" sz="12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K8s + NIM / Triton / Dynamo, autoscaling</a:t>
                      </a:r>
                      <a:endParaRPr lang="en-US" sz="12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40080">
                <a:tc>
                  <a:txBody>
                    <a:bodyPr/>
                    <a:lstStyle/>
                    <a:p>
                      <a:pPr marL="0" indent="0">
                        <a:buNone/>
                      </a:pPr>
                      <a:r>
                        <a:rPr lang="en-US" sz="1200" b="1" dirty="0">
                          <a:solidFill>
                            <a:schemeClr val="tx1"/>
                          </a:solidFill>
                        </a:rPr>
                        <a:t>Batch inference / embeddings</a:t>
                      </a:r>
                      <a:endParaRPr lang="en-US" sz="12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Many small GPUs or MIG slices (L4, L40S)</a:t>
                      </a:r>
                      <a:endParaRPr lang="en-US" sz="12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Standard Ethernet</a:t>
                      </a:r>
                      <a:endParaRPr lang="en-US" sz="12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Object storage throughput</a:t>
                      </a:r>
                      <a:endParaRPr lang="en-US" sz="12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K8s batch, queues</a:t>
                      </a:r>
                      <a:endParaRPr lang="en-US" sz="12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640080">
                <a:tc>
                  <a:txBody>
                    <a:bodyPr/>
                    <a:lstStyle/>
                    <a:p>
                      <a:pPr marL="0" indent="0">
                        <a:buNone/>
                      </a:pPr>
                      <a:r>
                        <a:rPr lang="en-US" sz="1200" b="1" dirty="0">
                          <a:solidFill>
                            <a:schemeClr val="tx1"/>
                          </a:solidFill>
                        </a:rPr>
                        <a:t>RAG applications</a:t>
                      </a:r>
                      <a:endParaRPr lang="en-US" sz="12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Inference GPUs + embedding GPUs</a:t>
                      </a:r>
                      <a:endParaRPr lang="en-US" sz="12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Front-end Ethernet</a:t>
                      </a:r>
                      <a:endParaRPr lang="en-US" sz="12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Vector DB on fast storage</a:t>
                      </a:r>
                      <a:endParaRPr lang="en-US" sz="12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K8s microservices</a:t>
                      </a:r>
                      <a:endParaRPr lang="en-US" sz="12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Sizing GPU memory for an LLM: worked example</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Model: a 70-billion-parameter LLM (Llama 3 70B class: 80 layers, 8 KV heads, head size 128)</a:t>
            </a:r>
            <a:endParaRPr lang="en-US" sz="1600" dirty="0"/>
          </a:p>
        </p:txBody>
      </p:sp>
      <p:sp>
        <p:nvSpPr>
          <p:cNvPr id="4" name="Shape 2"/>
          <p:cNvSpPr/>
          <p:nvPr/>
        </p:nvSpPr>
        <p:spPr>
          <a:xfrm>
            <a:off x="548640" y="1572768"/>
            <a:ext cx="5440680" cy="4599432"/>
          </a:xfrm>
          <a:prstGeom prst="roundRect">
            <a:avLst>
              <a:gd name="adj" fmla="val 1590"/>
            </a:avLst>
          </a:prstGeom>
          <a:solidFill>
            <a:schemeClr val="bg2"/>
          </a:solidFill>
          <a:ln/>
        </p:spPr>
        <p:txBody>
          <a:bodyPr/>
          <a:lstStyle/>
          <a:p>
            <a:endParaRPr lang="en-US"/>
          </a:p>
        </p:txBody>
      </p:sp>
      <p:sp>
        <p:nvSpPr>
          <p:cNvPr id="5" name="Text 3"/>
          <p:cNvSpPr txBox="1"/>
          <p:nvPr/>
        </p:nvSpPr>
        <p:spPr>
          <a:xfrm>
            <a:off x="777240" y="1691640"/>
            <a:ext cx="5029200" cy="411480"/>
          </a:xfrm>
          <a:prstGeom prst="rect">
            <a:avLst/>
          </a:prstGeom>
          <a:noFill/>
          <a:ln/>
        </p:spPr>
        <p:txBody>
          <a:bodyPr wrap="square" lIns="0" tIns="0" rIns="0" bIns="0" rtlCol="0" anchor="t"/>
          <a:lstStyle/>
          <a:p>
            <a:pPr marL="0" indent="0">
              <a:buNone/>
            </a:pPr>
            <a:r>
              <a:rPr lang="en-US" sz="1900" b="1" dirty="0">
                <a:solidFill>
                  <a:schemeClr val="accent2"/>
                </a:solidFill>
              </a:rPr>
              <a:t>Inference</a:t>
            </a:r>
            <a:endParaRPr lang="en-US" sz="1900" dirty="0"/>
          </a:p>
        </p:txBody>
      </p:sp>
      <p:sp>
        <p:nvSpPr>
          <p:cNvPr id="6" name="Text 4"/>
          <p:cNvSpPr txBox="1"/>
          <p:nvPr/>
        </p:nvSpPr>
        <p:spPr>
          <a:xfrm>
            <a:off x="777240" y="2148840"/>
            <a:ext cx="5029200" cy="3017520"/>
          </a:xfrm>
          <a:prstGeom prst="rect">
            <a:avLst/>
          </a:prstGeom>
          <a:noFill/>
          <a:ln/>
        </p:spPr>
        <p:txBody>
          <a:bodyPr wrap="square" lIns="0" tIns="0" rIns="0" bIns="0" rtlCol="0" anchor="t"/>
          <a:lstStyle/>
          <a:p>
            <a:pPr marL="0" indent="0">
              <a:buNone/>
            </a:pPr>
            <a:r>
              <a:rPr lang="en-US" sz="1600" b="1" dirty="0">
                <a:solidFill>
                  <a:schemeClr val="tx1"/>
                </a:solidFill>
              </a:rPr>
              <a:t>Weights = parameters × bytes per parameter</a:t>
            </a:r>
            <a:endParaRPr lang="en-US" sz="1600" dirty="0"/>
          </a:p>
          <a:p>
            <a:pPr marL="0" indent="0">
              <a:buNone/>
            </a:pPr>
            <a:r>
              <a:rPr lang="en-US" sz="1600" dirty="0">
                <a:solidFill>
                  <a:schemeClr val="tx1"/>
                </a:solidFill>
              </a:rPr>
              <a:t>70B × 2 bytes (BF16) = 140 GB   ·   FP8 = 70 GB   ·   FP4 ≈ 35 GB</a:t>
            </a:r>
            <a:endParaRPr lang="en-US" sz="1600" dirty="0"/>
          </a:p>
          <a:p>
            <a:pPr marL="0" indent="0">
              <a:buNone/>
            </a:pPr>
            <a:r>
              <a:rPr lang="en-US" sz="1000" dirty="0">
                <a:solidFill>
                  <a:schemeClr val="tx1"/>
                </a:solidFill>
              </a:rPr>
              <a:t> </a:t>
            </a:r>
            <a:endParaRPr lang="en-US" sz="1600" dirty="0"/>
          </a:p>
          <a:p>
            <a:pPr marL="0" indent="0">
              <a:buNone/>
            </a:pPr>
            <a:r>
              <a:rPr lang="en-US" sz="1600" b="1" dirty="0">
                <a:solidFill>
                  <a:schemeClr val="tx1"/>
                </a:solidFill>
              </a:rPr>
              <a:t>KV cache per token = 2 × layers × KV heads × head size × bytes</a:t>
            </a:r>
            <a:endParaRPr lang="en-US" sz="1600" dirty="0"/>
          </a:p>
          <a:p>
            <a:pPr marL="0" indent="0">
              <a:buNone/>
            </a:pPr>
            <a:r>
              <a:rPr lang="en-US" sz="1600" dirty="0">
                <a:solidFill>
                  <a:schemeClr val="tx1"/>
                </a:solidFill>
              </a:rPr>
              <a:t>2 × 80 × 8 × 128 × 2 B ≈ 0.33 MB per token (FP16)</a:t>
            </a:r>
            <a:endParaRPr lang="en-US" sz="1600" dirty="0"/>
          </a:p>
          <a:p>
            <a:pPr marL="0" indent="0">
              <a:buNone/>
            </a:pPr>
            <a:r>
              <a:rPr lang="en-US" sz="1600" dirty="0">
                <a:solidFill>
                  <a:schemeClr val="tx1"/>
                </a:solidFill>
              </a:rPr>
              <a:t>32 users × 8K tokens ≈ 262K tokens ≈ 86 GB</a:t>
            </a:r>
            <a:endParaRPr lang="en-US" sz="1600" dirty="0"/>
          </a:p>
          <a:p>
            <a:pPr marL="0" indent="0">
              <a:buNone/>
            </a:pPr>
            <a:r>
              <a:rPr lang="en-US" sz="1000" dirty="0">
                <a:solidFill>
                  <a:schemeClr val="tx1"/>
                </a:solidFill>
              </a:rPr>
              <a:t> </a:t>
            </a:r>
            <a:endParaRPr lang="en-US" sz="1600" dirty="0"/>
          </a:p>
          <a:p>
            <a:pPr marL="0" indent="0">
              <a:buNone/>
            </a:pPr>
            <a:r>
              <a:rPr lang="en-US" sz="1600" b="1" dirty="0">
                <a:solidFill>
                  <a:schemeClr val="tx1"/>
                </a:solidFill>
              </a:rPr>
              <a:t>FP8 weights + KV cache ≈ 156 GB plus ~10% overhead</a:t>
            </a:r>
            <a:endParaRPr lang="en-US" sz="1600" dirty="0"/>
          </a:p>
        </p:txBody>
      </p:sp>
      <p:sp>
        <p:nvSpPr>
          <p:cNvPr id="7" name="Text 5"/>
          <p:cNvSpPr/>
          <p:nvPr/>
        </p:nvSpPr>
        <p:spPr>
          <a:xfrm>
            <a:off x="777240" y="5257800"/>
            <a:ext cx="4983480" cy="731520"/>
          </a:xfrm>
          <a:prstGeom prst="roundRect">
            <a:avLst>
              <a:gd name="adj" fmla="val 6250"/>
            </a:avLst>
          </a:prstGeom>
          <a:solidFill>
            <a:schemeClr val="accent1"/>
          </a:solidFill>
          <a:ln/>
        </p:spPr>
        <p:txBody>
          <a:bodyPr wrap="square" lIns="381" tIns="381" rIns="381" bIns="381" rtlCol="0" anchor="ctr"/>
          <a:lstStyle/>
          <a:p>
            <a:pPr marL="0" indent="0" algn="ctr">
              <a:buNone/>
            </a:pPr>
            <a:r>
              <a:rPr lang="en-US" sz="1500" b="1" dirty="0">
                <a:solidFill>
                  <a:schemeClr val="tx1"/>
                </a:solidFill>
              </a:rPr>
              <a:t>→ 2× H100 80 GB (tensor parallel) or 1× B200</a:t>
            </a:r>
            <a:endParaRPr lang="en-US" sz="1500" dirty="0"/>
          </a:p>
        </p:txBody>
      </p:sp>
      <p:sp>
        <p:nvSpPr>
          <p:cNvPr id="8" name="Shape 6"/>
          <p:cNvSpPr/>
          <p:nvPr/>
        </p:nvSpPr>
        <p:spPr>
          <a:xfrm>
            <a:off x="6172200" y="1572768"/>
            <a:ext cx="5440680" cy="4599432"/>
          </a:xfrm>
          <a:prstGeom prst="roundRect">
            <a:avLst>
              <a:gd name="adj" fmla="val 1590"/>
            </a:avLst>
          </a:prstGeom>
          <a:solidFill>
            <a:schemeClr val="bg2"/>
          </a:solidFill>
          <a:ln/>
        </p:spPr>
        <p:txBody>
          <a:bodyPr/>
          <a:lstStyle/>
          <a:p>
            <a:endParaRPr lang="en-US"/>
          </a:p>
        </p:txBody>
      </p:sp>
      <p:sp>
        <p:nvSpPr>
          <p:cNvPr id="9" name="Text 7"/>
          <p:cNvSpPr txBox="1"/>
          <p:nvPr/>
        </p:nvSpPr>
        <p:spPr>
          <a:xfrm>
            <a:off x="6400800" y="1691640"/>
            <a:ext cx="5029200" cy="411480"/>
          </a:xfrm>
          <a:prstGeom prst="rect">
            <a:avLst/>
          </a:prstGeom>
          <a:noFill/>
          <a:ln/>
        </p:spPr>
        <p:txBody>
          <a:bodyPr wrap="square" lIns="0" tIns="0" rIns="0" bIns="0" rtlCol="0" anchor="t"/>
          <a:lstStyle/>
          <a:p>
            <a:pPr marL="0" indent="0">
              <a:buNone/>
            </a:pPr>
            <a:r>
              <a:rPr lang="en-US" sz="1900" b="1" dirty="0">
                <a:solidFill>
                  <a:schemeClr val="accent2"/>
                </a:solidFill>
              </a:rPr>
              <a:t>Training</a:t>
            </a:r>
            <a:endParaRPr lang="en-US" sz="1900" dirty="0"/>
          </a:p>
        </p:txBody>
      </p:sp>
      <p:sp>
        <p:nvSpPr>
          <p:cNvPr id="10" name="Text 8"/>
          <p:cNvSpPr txBox="1"/>
          <p:nvPr/>
        </p:nvSpPr>
        <p:spPr>
          <a:xfrm>
            <a:off x="6400800" y="2148840"/>
            <a:ext cx="5029200" cy="3017520"/>
          </a:xfrm>
          <a:prstGeom prst="rect">
            <a:avLst/>
          </a:prstGeom>
          <a:noFill/>
          <a:ln/>
        </p:spPr>
        <p:txBody>
          <a:bodyPr wrap="square" lIns="0" tIns="0" rIns="0" bIns="0" rtlCol="0" anchor="t"/>
          <a:lstStyle/>
          <a:p>
            <a:pPr marL="0" indent="0">
              <a:buNone/>
            </a:pPr>
            <a:r>
              <a:rPr lang="en-US" sz="1600" b="1" dirty="0">
                <a:solidFill>
                  <a:schemeClr val="tx1"/>
                </a:solidFill>
              </a:rPr>
              <a:t>Full fine-tune, mixed precision + Adam ≈ 16 bytes per parameter</a:t>
            </a:r>
            <a:endParaRPr lang="en-US" sz="1600" dirty="0"/>
          </a:p>
          <a:p>
            <a:pPr marL="0" indent="0">
              <a:buNone/>
            </a:pPr>
            <a:r>
              <a:rPr lang="en-US" sz="1600" dirty="0">
                <a:solidFill>
                  <a:schemeClr val="tx1"/>
                </a:solidFill>
              </a:rPr>
              <a:t>weights 2 + gradients 2 + FP32 master 4 + Adam states 8</a:t>
            </a:r>
            <a:endParaRPr lang="en-US" sz="1600" dirty="0"/>
          </a:p>
          <a:p>
            <a:pPr marL="0" indent="0">
              <a:buNone/>
            </a:pPr>
            <a:r>
              <a:rPr lang="en-US" sz="1600" dirty="0">
                <a:solidFill>
                  <a:schemeClr val="tx1"/>
                </a:solidFill>
              </a:rPr>
              <a:t>70B × 16 B ≈ 1.12 TB, plus activations</a:t>
            </a:r>
            <a:endParaRPr lang="en-US" sz="1600" dirty="0"/>
          </a:p>
          <a:p>
            <a:pPr marL="0" indent="0">
              <a:buNone/>
            </a:pPr>
            <a:r>
              <a:rPr lang="en-US" sz="1000" dirty="0">
                <a:solidFill>
                  <a:schemeClr val="tx1"/>
                </a:solidFill>
              </a:rPr>
              <a:t> </a:t>
            </a:r>
            <a:endParaRPr lang="en-US" sz="1600" dirty="0"/>
          </a:p>
          <a:p>
            <a:pPr marL="0" indent="0">
              <a:buNone/>
            </a:pPr>
            <a:r>
              <a:rPr lang="en-US" sz="1600" b="1" dirty="0">
                <a:solidFill>
                  <a:schemeClr val="tx1"/>
                </a:solidFill>
              </a:rPr>
              <a:t>Shard with FSDP / ZeRO-3 across GPUs</a:t>
            </a:r>
            <a:endParaRPr lang="en-US" sz="1600" dirty="0"/>
          </a:p>
          <a:p>
            <a:pPr marL="0" indent="0">
              <a:buNone/>
            </a:pPr>
            <a:r>
              <a:rPr lang="en-US" sz="1600" dirty="0">
                <a:solidFill>
                  <a:schemeClr val="tx1"/>
                </a:solidFill>
              </a:rPr>
              <a:t>1.12 TB ÷ 80 GB ≈ 14 GPUs minimum, so in practice 16–32 H100 (2–4 nodes)</a:t>
            </a:r>
            <a:endParaRPr lang="en-US" sz="1600" dirty="0"/>
          </a:p>
          <a:p>
            <a:pPr marL="0" indent="0">
              <a:buNone/>
            </a:pPr>
            <a:r>
              <a:rPr lang="en-US" sz="1000" dirty="0">
                <a:solidFill>
                  <a:schemeClr val="tx1"/>
                </a:solidFill>
              </a:rPr>
              <a:t> </a:t>
            </a:r>
            <a:endParaRPr lang="en-US" sz="1600" dirty="0"/>
          </a:p>
          <a:p>
            <a:pPr marL="0" indent="0">
              <a:buNone/>
            </a:pPr>
            <a:r>
              <a:rPr lang="en-US" sz="1600" b="1" dirty="0">
                <a:solidFill>
                  <a:schemeClr val="tx1"/>
                </a:solidFill>
              </a:rPr>
              <a:t>QLoRA (4-bit base + adapters)</a:t>
            </a:r>
            <a:endParaRPr lang="en-US" sz="1600" dirty="0"/>
          </a:p>
          <a:p>
            <a:pPr marL="0" indent="0">
              <a:buNone/>
            </a:pPr>
            <a:r>
              <a:rPr lang="en-US" sz="1600" dirty="0">
                <a:solidFill>
                  <a:schemeClr val="tx1"/>
                </a:solidFill>
              </a:rPr>
              <a:t>~35 GB weights + adapters and activations</a:t>
            </a:r>
            <a:endParaRPr lang="en-US" sz="1600" dirty="0"/>
          </a:p>
        </p:txBody>
      </p:sp>
      <p:sp>
        <p:nvSpPr>
          <p:cNvPr id="11" name="Text 9"/>
          <p:cNvSpPr/>
          <p:nvPr/>
        </p:nvSpPr>
        <p:spPr>
          <a:xfrm>
            <a:off x="6400800" y="5257800"/>
            <a:ext cx="4983480" cy="731520"/>
          </a:xfrm>
          <a:prstGeom prst="roundRect">
            <a:avLst>
              <a:gd name="adj" fmla="val 6250"/>
            </a:avLst>
          </a:prstGeom>
          <a:solidFill>
            <a:schemeClr val="accent1"/>
          </a:solidFill>
          <a:ln/>
        </p:spPr>
        <p:txBody>
          <a:bodyPr wrap="square" lIns="381" tIns="381" rIns="381" bIns="381" rtlCol="0" anchor="ctr"/>
          <a:lstStyle/>
          <a:p>
            <a:pPr marL="0" indent="0" algn="ctr">
              <a:buNone/>
            </a:pPr>
            <a:r>
              <a:rPr lang="en-US" sz="1500" b="1" dirty="0">
                <a:solidFill>
                  <a:schemeClr val="tx1"/>
                </a:solidFill>
              </a:rPr>
              <a:t>→ QLoRA fits on 1× 80 GB GPU (H100) or 1× RTX PRO 6000</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Monitoring and operating GPU infrastructure</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Watch utilization, health and errors: idle or throttled GPUs are expensive</a:t>
            </a:r>
            <a:endParaRPr lang="en-US" sz="1600" dirty="0"/>
          </a:p>
        </p:txBody>
      </p:sp>
      <p:sp>
        <p:nvSpPr>
          <p:cNvPr id="4" name="Shape 2"/>
          <p:cNvSpPr/>
          <p:nvPr/>
        </p:nvSpPr>
        <p:spPr>
          <a:xfrm>
            <a:off x="548640" y="1572768"/>
            <a:ext cx="2926080" cy="1417320"/>
          </a:xfrm>
          <a:prstGeom prst="roundRect">
            <a:avLst>
              <a:gd name="adj" fmla="val 5161"/>
            </a:avLst>
          </a:prstGeom>
          <a:solidFill>
            <a:schemeClr val="bg2"/>
          </a:solidFill>
          <a:ln/>
        </p:spPr>
        <p:txBody>
          <a:bodyPr/>
          <a:lstStyle/>
          <a:p>
            <a:endParaRPr lang="en-US"/>
          </a:p>
        </p:txBody>
      </p:sp>
      <p:sp>
        <p:nvSpPr>
          <p:cNvPr id="5" name="Shape 3"/>
          <p:cNvSpPr/>
          <p:nvPr/>
        </p:nvSpPr>
        <p:spPr>
          <a:xfrm>
            <a:off x="713232" y="1737360"/>
            <a:ext cx="475488" cy="475488"/>
          </a:xfrm>
          <a:prstGeom prst="ellipse">
            <a:avLst/>
          </a:prstGeom>
          <a:solidFill>
            <a:schemeClr val="accent1"/>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817839" y="1841967"/>
            <a:ext cx="266273" cy="266273"/>
          </a:xfrm>
          <a:prstGeom prst="rect">
            <a:avLst/>
          </a:prstGeom>
        </p:spPr>
      </p:pic>
      <p:sp>
        <p:nvSpPr>
          <p:cNvPr id="7" name="Text 4"/>
          <p:cNvSpPr txBox="1"/>
          <p:nvPr/>
        </p:nvSpPr>
        <p:spPr>
          <a:xfrm>
            <a:off x="1298448" y="1737360"/>
            <a:ext cx="2103120" cy="475488"/>
          </a:xfrm>
          <a:prstGeom prst="rect">
            <a:avLst/>
          </a:prstGeom>
          <a:noFill/>
          <a:ln/>
        </p:spPr>
        <p:txBody>
          <a:bodyPr wrap="square" lIns="0" tIns="0" rIns="0" bIns="0" rtlCol="0" anchor="ctr"/>
          <a:lstStyle/>
          <a:p>
            <a:pPr marL="0" indent="0">
              <a:buNone/>
            </a:pPr>
            <a:r>
              <a:rPr lang="en-US" sz="1500" b="1" dirty="0">
                <a:solidFill>
                  <a:schemeClr val="tx1"/>
                </a:solidFill>
              </a:rPr>
              <a:t>Utilization</a:t>
            </a:r>
            <a:endParaRPr lang="en-US" sz="1500" dirty="0"/>
          </a:p>
        </p:txBody>
      </p:sp>
      <p:sp>
        <p:nvSpPr>
          <p:cNvPr id="8" name="Text 5"/>
          <p:cNvSpPr txBox="1"/>
          <p:nvPr/>
        </p:nvSpPr>
        <p:spPr>
          <a:xfrm>
            <a:off x="713232" y="2304288"/>
            <a:ext cx="2651760" cy="640080"/>
          </a:xfrm>
          <a:prstGeom prst="rect">
            <a:avLst/>
          </a:prstGeom>
          <a:noFill/>
          <a:ln/>
        </p:spPr>
        <p:txBody>
          <a:bodyPr wrap="square" lIns="0" tIns="0" rIns="0" bIns="0" rtlCol="0" anchor="t"/>
          <a:lstStyle/>
          <a:p>
            <a:pPr marL="0" indent="0">
              <a:buNone/>
            </a:pPr>
            <a:r>
              <a:rPr lang="en-US" sz="1300" dirty="0">
                <a:solidFill>
                  <a:schemeClr val="tx2"/>
                </a:solidFill>
              </a:rPr>
              <a:t>GPU util %, SM activity, Tensor Core activity</a:t>
            </a:r>
            <a:endParaRPr lang="en-US" sz="1300" dirty="0"/>
          </a:p>
        </p:txBody>
      </p:sp>
      <p:sp>
        <p:nvSpPr>
          <p:cNvPr id="9" name="Shape 6"/>
          <p:cNvSpPr/>
          <p:nvPr/>
        </p:nvSpPr>
        <p:spPr>
          <a:xfrm>
            <a:off x="3611880" y="1572768"/>
            <a:ext cx="2926080" cy="1417320"/>
          </a:xfrm>
          <a:prstGeom prst="roundRect">
            <a:avLst>
              <a:gd name="adj" fmla="val 5161"/>
            </a:avLst>
          </a:prstGeom>
          <a:solidFill>
            <a:schemeClr val="bg2"/>
          </a:solidFill>
          <a:ln/>
        </p:spPr>
        <p:txBody>
          <a:bodyPr/>
          <a:lstStyle/>
          <a:p>
            <a:endParaRPr lang="en-US"/>
          </a:p>
        </p:txBody>
      </p:sp>
      <p:sp>
        <p:nvSpPr>
          <p:cNvPr id="10" name="Shape 7"/>
          <p:cNvSpPr/>
          <p:nvPr/>
        </p:nvSpPr>
        <p:spPr>
          <a:xfrm>
            <a:off x="3776472" y="1737360"/>
            <a:ext cx="475488" cy="475488"/>
          </a:xfrm>
          <a:prstGeom prst="ellipse">
            <a:avLst/>
          </a:prstGeom>
          <a:solidFill>
            <a:schemeClr val="accent1"/>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3881079" y="1841967"/>
            <a:ext cx="266273" cy="266273"/>
          </a:xfrm>
          <a:prstGeom prst="rect">
            <a:avLst/>
          </a:prstGeom>
        </p:spPr>
      </p:pic>
      <p:sp>
        <p:nvSpPr>
          <p:cNvPr id="12" name="Text 8"/>
          <p:cNvSpPr txBox="1"/>
          <p:nvPr/>
        </p:nvSpPr>
        <p:spPr>
          <a:xfrm>
            <a:off x="4361688" y="1737360"/>
            <a:ext cx="2103120" cy="475488"/>
          </a:xfrm>
          <a:prstGeom prst="rect">
            <a:avLst/>
          </a:prstGeom>
          <a:noFill/>
          <a:ln/>
        </p:spPr>
        <p:txBody>
          <a:bodyPr wrap="square" lIns="0" tIns="0" rIns="0" bIns="0" rtlCol="0" anchor="ctr"/>
          <a:lstStyle/>
          <a:p>
            <a:pPr marL="0" indent="0">
              <a:buNone/>
            </a:pPr>
            <a:r>
              <a:rPr lang="en-US" sz="1500" b="1" dirty="0">
                <a:solidFill>
                  <a:schemeClr val="tx1"/>
                </a:solidFill>
              </a:rPr>
              <a:t>Memory</a:t>
            </a:r>
            <a:endParaRPr lang="en-US" sz="1500" dirty="0"/>
          </a:p>
        </p:txBody>
      </p:sp>
      <p:sp>
        <p:nvSpPr>
          <p:cNvPr id="13" name="Text 9"/>
          <p:cNvSpPr txBox="1"/>
          <p:nvPr/>
        </p:nvSpPr>
        <p:spPr>
          <a:xfrm>
            <a:off x="3776472" y="2304288"/>
            <a:ext cx="2651760" cy="640080"/>
          </a:xfrm>
          <a:prstGeom prst="rect">
            <a:avLst/>
          </a:prstGeom>
          <a:noFill/>
          <a:ln/>
        </p:spPr>
        <p:txBody>
          <a:bodyPr wrap="square" lIns="0" tIns="0" rIns="0" bIns="0" rtlCol="0" anchor="t"/>
          <a:lstStyle/>
          <a:p>
            <a:pPr marL="0" indent="0">
              <a:buNone/>
            </a:pPr>
            <a:r>
              <a:rPr lang="en-US" sz="1300" dirty="0">
                <a:solidFill>
                  <a:schemeClr val="tx2"/>
                </a:solidFill>
              </a:rPr>
              <a:t>Framebuffer used, memory bandwidth utilization</a:t>
            </a:r>
            <a:endParaRPr lang="en-US" sz="1300" dirty="0"/>
          </a:p>
        </p:txBody>
      </p:sp>
      <p:sp>
        <p:nvSpPr>
          <p:cNvPr id="14" name="Shape 10"/>
          <p:cNvSpPr/>
          <p:nvPr/>
        </p:nvSpPr>
        <p:spPr>
          <a:xfrm>
            <a:off x="548640" y="3127248"/>
            <a:ext cx="2926080" cy="1417320"/>
          </a:xfrm>
          <a:prstGeom prst="roundRect">
            <a:avLst>
              <a:gd name="adj" fmla="val 5161"/>
            </a:avLst>
          </a:prstGeom>
          <a:solidFill>
            <a:schemeClr val="bg2"/>
          </a:solidFill>
          <a:ln/>
        </p:spPr>
        <p:txBody>
          <a:bodyPr/>
          <a:lstStyle/>
          <a:p>
            <a:endParaRPr lang="en-US"/>
          </a:p>
        </p:txBody>
      </p:sp>
      <p:sp>
        <p:nvSpPr>
          <p:cNvPr id="15" name="Shape 11"/>
          <p:cNvSpPr/>
          <p:nvPr/>
        </p:nvSpPr>
        <p:spPr>
          <a:xfrm>
            <a:off x="713232" y="3291840"/>
            <a:ext cx="475488" cy="475488"/>
          </a:xfrm>
          <a:prstGeom prst="ellipse">
            <a:avLst/>
          </a:prstGeom>
          <a:solidFill>
            <a:schemeClr val="accent1"/>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817839" y="3396447"/>
            <a:ext cx="266273" cy="266273"/>
          </a:xfrm>
          <a:prstGeom prst="rect">
            <a:avLst/>
          </a:prstGeom>
        </p:spPr>
      </p:pic>
      <p:sp>
        <p:nvSpPr>
          <p:cNvPr id="17" name="Text 12"/>
          <p:cNvSpPr txBox="1"/>
          <p:nvPr/>
        </p:nvSpPr>
        <p:spPr>
          <a:xfrm>
            <a:off x="1298448" y="3291840"/>
            <a:ext cx="2103120" cy="475488"/>
          </a:xfrm>
          <a:prstGeom prst="rect">
            <a:avLst/>
          </a:prstGeom>
          <a:noFill/>
          <a:ln/>
        </p:spPr>
        <p:txBody>
          <a:bodyPr wrap="square" lIns="0" tIns="0" rIns="0" bIns="0" rtlCol="0" anchor="ctr"/>
          <a:lstStyle/>
          <a:p>
            <a:pPr marL="0" indent="0">
              <a:buNone/>
            </a:pPr>
            <a:r>
              <a:rPr lang="en-US" sz="1500" b="1" dirty="0">
                <a:solidFill>
                  <a:schemeClr val="tx1"/>
                </a:solidFill>
              </a:rPr>
              <a:t>Power and thermals</a:t>
            </a:r>
            <a:endParaRPr lang="en-US" sz="1500" dirty="0"/>
          </a:p>
        </p:txBody>
      </p:sp>
      <p:sp>
        <p:nvSpPr>
          <p:cNvPr id="18" name="Text 13"/>
          <p:cNvSpPr txBox="1"/>
          <p:nvPr/>
        </p:nvSpPr>
        <p:spPr>
          <a:xfrm>
            <a:off x="713232" y="3858768"/>
            <a:ext cx="2651760" cy="640080"/>
          </a:xfrm>
          <a:prstGeom prst="rect">
            <a:avLst/>
          </a:prstGeom>
          <a:noFill/>
          <a:ln/>
        </p:spPr>
        <p:txBody>
          <a:bodyPr wrap="square" lIns="0" tIns="0" rIns="0" bIns="0" rtlCol="0" anchor="t"/>
          <a:lstStyle/>
          <a:p>
            <a:pPr marL="0" indent="0">
              <a:buNone/>
            </a:pPr>
            <a:r>
              <a:rPr lang="en-US" sz="1300" dirty="0">
                <a:solidFill>
                  <a:schemeClr val="tx2"/>
                </a:solidFill>
              </a:rPr>
              <a:t>Watts vs limit, temperature, clock throttle reasons</a:t>
            </a:r>
            <a:endParaRPr lang="en-US" sz="1300" dirty="0"/>
          </a:p>
        </p:txBody>
      </p:sp>
      <p:sp>
        <p:nvSpPr>
          <p:cNvPr id="19" name="Shape 14"/>
          <p:cNvSpPr/>
          <p:nvPr/>
        </p:nvSpPr>
        <p:spPr>
          <a:xfrm>
            <a:off x="3611880" y="3127248"/>
            <a:ext cx="2926080" cy="1417320"/>
          </a:xfrm>
          <a:prstGeom prst="roundRect">
            <a:avLst>
              <a:gd name="adj" fmla="val 5161"/>
            </a:avLst>
          </a:prstGeom>
          <a:solidFill>
            <a:schemeClr val="bg2"/>
          </a:solidFill>
          <a:ln/>
        </p:spPr>
        <p:txBody>
          <a:bodyPr/>
          <a:lstStyle/>
          <a:p>
            <a:endParaRPr lang="en-US"/>
          </a:p>
        </p:txBody>
      </p:sp>
      <p:sp>
        <p:nvSpPr>
          <p:cNvPr id="20" name="Shape 15"/>
          <p:cNvSpPr/>
          <p:nvPr/>
        </p:nvSpPr>
        <p:spPr>
          <a:xfrm>
            <a:off x="3776472" y="3291840"/>
            <a:ext cx="475488" cy="475488"/>
          </a:xfrm>
          <a:prstGeom prst="ellipse">
            <a:avLst/>
          </a:prstGeom>
          <a:solidFill>
            <a:schemeClr val="accent1"/>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3881079" y="3396447"/>
            <a:ext cx="266273" cy="266273"/>
          </a:xfrm>
          <a:prstGeom prst="rect">
            <a:avLst/>
          </a:prstGeom>
        </p:spPr>
      </p:pic>
      <p:sp>
        <p:nvSpPr>
          <p:cNvPr id="22" name="Text 16"/>
          <p:cNvSpPr txBox="1"/>
          <p:nvPr/>
        </p:nvSpPr>
        <p:spPr>
          <a:xfrm>
            <a:off x="4361688" y="3291840"/>
            <a:ext cx="2103120" cy="475488"/>
          </a:xfrm>
          <a:prstGeom prst="rect">
            <a:avLst/>
          </a:prstGeom>
          <a:noFill/>
          <a:ln/>
        </p:spPr>
        <p:txBody>
          <a:bodyPr wrap="square" lIns="0" tIns="0" rIns="0" bIns="0" rtlCol="0" anchor="ctr"/>
          <a:lstStyle/>
          <a:p>
            <a:pPr marL="0" indent="0">
              <a:buNone/>
            </a:pPr>
            <a:r>
              <a:rPr lang="en-US" sz="1500" b="1" dirty="0">
                <a:solidFill>
                  <a:schemeClr val="tx1"/>
                </a:solidFill>
              </a:rPr>
              <a:t>XID errors</a:t>
            </a:r>
            <a:endParaRPr lang="en-US" sz="1500" dirty="0"/>
          </a:p>
        </p:txBody>
      </p:sp>
      <p:sp>
        <p:nvSpPr>
          <p:cNvPr id="23" name="Text 17"/>
          <p:cNvSpPr txBox="1"/>
          <p:nvPr/>
        </p:nvSpPr>
        <p:spPr>
          <a:xfrm>
            <a:off x="3776472" y="3858768"/>
            <a:ext cx="2651760" cy="640080"/>
          </a:xfrm>
          <a:prstGeom prst="rect">
            <a:avLst/>
          </a:prstGeom>
          <a:noFill/>
          <a:ln/>
        </p:spPr>
        <p:txBody>
          <a:bodyPr wrap="square" lIns="0" tIns="0" rIns="0" bIns="0" rtlCol="0" anchor="t"/>
          <a:lstStyle/>
          <a:p>
            <a:pPr marL="0" indent="0">
              <a:buNone/>
            </a:pPr>
            <a:r>
              <a:rPr lang="en-US" sz="1300" dirty="0">
                <a:solidFill>
                  <a:schemeClr val="tx2"/>
                </a:solidFill>
              </a:rPr>
              <a:t>Driver-reported faults: memory, NVLink, falling off the bus</a:t>
            </a:r>
            <a:endParaRPr lang="en-US" sz="1300" dirty="0"/>
          </a:p>
        </p:txBody>
      </p:sp>
      <p:sp>
        <p:nvSpPr>
          <p:cNvPr id="24" name="Shape 18"/>
          <p:cNvSpPr/>
          <p:nvPr/>
        </p:nvSpPr>
        <p:spPr>
          <a:xfrm>
            <a:off x="548640" y="4681728"/>
            <a:ext cx="2926080" cy="1417320"/>
          </a:xfrm>
          <a:prstGeom prst="roundRect">
            <a:avLst>
              <a:gd name="adj" fmla="val 5161"/>
            </a:avLst>
          </a:prstGeom>
          <a:solidFill>
            <a:schemeClr val="bg2"/>
          </a:solidFill>
          <a:ln/>
        </p:spPr>
        <p:txBody>
          <a:bodyPr/>
          <a:lstStyle/>
          <a:p>
            <a:endParaRPr lang="en-US"/>
          </a:p>
        </p:txBody>
      </p:sp>
      <p:sp>
        <p:nvSpPr>
          <p:cNvPr id="25" name="Shape 19"/>
          <p:cNvSpPr/>
          <p:nvPr/>
        </p:nvSpPr>
        <p:spPr>
          <a:xfrm>
            <a:off x="713232" y="4846320"/>
            <a:ext cx="475488" cy="475488"/>
          </a:xfrm>
          <a:prstGeom prst="ellipse">
            <a:avLst/>
          </a:prstGeom>
          <a:solidFill>
            <a:schemeClr val="accent1"/>
          </a:solidFill>
          <a:ln/>
        </p:spPr>
        <p:txBody>
          <a:bodyPr/>
          <a:lstStyle/>
          <a:p>
            <a:endParaRPr lang="en-US"/>
          </a:p>
        </p:txBody>
      </p:sp>
      <p:pic>
        <p:nvPicPr>
          <p:cNvPr id="26" name="Image 4" descr="preencoded.png"/>
          <p:cNvPicPr>
            <a:picLocks noChangeAspect="1"/>
          </p:cNvPicPr>
          <p:nvPr/>
        </p:nvPicPr>
        <p:blipFill>
          <a:blip r:embed="rId7"/>
          <a:stretch>
            <a:fillRect/>
          </a:stretch>
        </p:blipFill>
        <p:spPr>
          <a:xfrm>
            <a:off x="817839" y="4950927"/>
            <a:ext cx="266273" cy="266273"/>
          </a:xfrm>
          <a:prstGeom prst="rect">
            <a:avLst/>
          </a:prstGeom>
        </p:spPr>
      </p:pic>
      <p:sp>
        <p:nvSpPr>
          <p:cNvPr id="27" name="Text 20"/>
          <p:cNvSpPr txBox="1"/>
          <p:nvPr/>
        </p:nvSpPr>
        <p:spPr>
          <a:xfrm>
            <a:off x="1298448" y="4846320"/>
            <a:ext cx="2103120" cy="475488"/>
          </a:xfrm>
          <a:prstGeom prst="rect">
            <a:avLst/>
          </a:prstGeom>
          <a:noFill/>
          <a:ln/>
        </p:spPr>
        <p:txBody>
          <a:bodyPr wrap="square" lIns="0" tIns="0" rIns="0" bIns="0" rtlCol="0" anchor="ctr"/>
          <a:lstStyle/>
          <a:p>
            <a:pPr marL="0" indent="0">
              <a:buNone/>
            </a:pPr>
            <a:r>
              <a:rPr lang="en-US" sz="1500" b="1" dirty="0">
                <a:solidFill>
                  <a:schemeClr val="tx1"/>
                </a:solidFill>
              </a:rPr>
              <a:t>ECC and row remapping</a:t>
            </a:r>
            <a:endParaRPr lang="en-US" sz="1500" dirty="0"/>
          </a:p>
        </p:txBody>
      </p:sp>
      <p:sp>
        <p:nvSpPr>
          <p:cNvPr id="28" name="Text 21"/>
          <p:cNvSpPr txBox="1"/>
          <p:nvPr/>
        </p:nvSpPr>
        <p:spPr>
          <a:xfrm>
            <a:off x="713232" y="5413248"/>
            <a:ext cx="2651760" cy="640080"/>
          </a:xfrm>
          <a:prstGeom prst="rect">
            <a:avLst/>
          </a:prstGeom>
          <a:noFill/>
          <a:ln/>
        </p:spPr>
        <p:txBody>
          <a:bodyPr wrap="square" lIns="0" tIns="0" rIns="0" bIns="0" rtlCol="0" anchor="t"/>
          <a:lstStyle/>
          <a:p>
            <a:pPr marL="0" indent="0">
              <a:buNone/>
            </a:pPr>
            <a:r>
              <a:rPr lang="en-US" sz="1300" dirty="0">
                <a:solidFill>
                  <a:schemeClr val="tx2"/>
                </a:solidFill>
              </a:rPr>
              <a:t>Correctable / uncorrectable errors, pending remaps</a:t>
            </a:r>
            <a:endParaRPr lang="en-US" sz="1300" dirty="0"/>
          </a:p>
        </p:txBody>
      </p:sp>
      <p:sp>
        <p:nvSpPr>
          <p:cNvPr id="29" name="Shape 22"/>
          <p:cNvSpPr/>
          <p:nvPr/>
        </p:nvSpPr>
        <p:spPr>
          <a:xfrm>
            <a:off x="3611880" y="4681728"/>
            <a:ext cx="2926080" cy="1417320"/>
          </a:xfrm>
          <a:prstGeom prst="roundRect">
            <a:avLst>
              <a:gd name="adj" fmla="val 5161"/>
            </a:avLst>
          </a:prstGeom>
          <a:solidFill>
            <a:schemeClr val="bg2"/>
          </a:solidFill>
          <a:ln/>
        </p:spPr>
        <p:txBody>
          <a:bodyPr/>
          <a:lstStyle/>
          <a:p>
            <a:endParaRPr lang="en-US"/>
          </a:p>
        </p:txBody>
      </p:sp>
      <p:sp>
        <p:nvSpPr>
          <p:cNvPr id="30" name="Shape 23"/>
          <p:cNvSpPr/>
          <p:nvPr/>
        </p:nvSpPr>
        <p:spPr>
          <a:xfrm>
            <a:off x="3776472" y="4846320"/>
            <a:ext cx="475488" cy="475488"/>
          </a:xfrm>
          <a:prstGeom prst="ellipse">
            <a:avLst/>
          </a:prstGeom>
          <a:solidFill>
            <a:schemeClr val="accent1"/>
          </a:solidFill>
          <a:ln/>
        </p:spPr>
        <p:txBody>
          <a:bodyPr/>
          <a:lstStyle/>
          <a:p>
            <a:endParaRPr lang="en-US"/>
          </a:p>
        </p:txBody>
      </p:sp>
      <p:pic>
        <p:nvPicPr>
          <p:cNvPr id="31" name="Image 5" descr="preencoded.png"/>
          <p:cNvPicPr>
            <a:picLocks noChangeAspect="1"/>
          </p:cNvPicPr>
          <p:nvPr/>
        </p:nvPicPr>
        <p:blipFill>
          <a:blip r:embed="rId8"/>
          <a:stretch>
            <a:fillRect/>
          </a:stretch>
        </p:blipFill>
        <p:spPr>
          <a:xfrm>
            <a:off x="3881079" y="4950927"/>
            <a:ext cx="266273" cy="266273"/>
          </a:xfrm>
          <a:prstGeom prst="rect">
            <a:avLst/>
          </a:prstGeom>
        </p:spPr>
      </p:pic>
      <p:sp>
        <p:nvSpPr>
          <p:cNvPr id="32" name="Text 24"/>
          <p:cNvSpPr txBox="1"/>
          <p:nvPr/>
        </p:nvSpPr>
        <p:spPr>
          <a:xfrm>
            <a:off x="4361688" y="4846320"/>
            <a:ext cx="2103120" cy="475488"/>
          </a:xfrm>
          <a:prstGeom prst="rect">
            <a:avLst/>
          </a:prstGeom>
          <a:noFill/>
          <a:ln/>
        </p:spPr>
        <p:txBody>
          <a:bodyPr wrap="square" lIns="0" tIns="0" rIns="0" bIns="0" rtlCol="0" anchor="ctr"/>
          <a:lstStyle/>
          <a:p>
            <a:pPr marL="0" indent="0">
              <a:buNone/>
            </a:pPr>
            <a:r>
              <a:rPr lang="en-US" sz="1500" b="1" dirty="0">
                <a:solidFill>
                  <a:schemeClr val="tx1"/>
                </a:solidFill>
              </a:rPr>
              <a:t>Interconnect</a:t>
            </a:r>
            <a:endParaRPr lang="en-US" sz="1500" dirty="0"/>
          </a:p>
        </p:txBody>
      </p:sp>
      <p:sp>
        <p:nvSpPr>
          <p:cNvPr id="33" name="Text 25"/>
          <p:cNvSpPr txBox="1"/>
          <p:nvPr/>
        </p:nvSpPr>
        <p:spPr>
          <a:xfrm>
            <a:off x="3776472" y="5413248"/>
            <a:ext cx="2651760" cy="640080"/>
          </a:xfrm>
          <a:prstGeom prst="rect">
            <a:avLst/>
          </a:prstGeom>
          <a:noFill/>
          <a:ln/>
        </p:spPr>
        <p:txBody>
          <a:bodyPr wrap="square" lIns="0" tIns="0" rIns="0" bIns="0" rtlCol="0" anchor="t"/>
          <a:lstStyle/>
          <a:p>
            <a:pPr marL="0" indent="0">
              <a:buNone/>
            </a:pPr>
            <a:r>
              <a:rPr lang="en-US" sz="1300" dirty="0">
                <a:solidFill>
                  <a:schemeClr val="tx2"/>
                </a:solidFill>
              </a:rPr>
              <a:t>NVLink and PCIe throughput, replay and CRC errors</a:t>
            </a:r>
            <a:endParaRPr lang="en-US" sz="1300" dirty="0"/>
          </a:p>
        </p:txBody>
      </p:sp>
      <p:sp>
        <p:nvSpPr>
          <p:cNvPr id="34" name="Shape 26"/>
          <p:cNvSpPr/>
          <p:nvPr/>
        </p:nvSpPr>
        <p:spPr>
          <a:xfrm>
            <a:off x="6766560" y="1572768"/>
            <a:ext cx="4846320" cy="4599432"/>
          </a:xfrm>
          <a:prstGeom prst="roundRect">
            <a:avLst>
              <a:gd name="adj" fmla="val 1590"/>
            </a:avLst>
          </a:prstGeom>
          <a:solidFill>
            <a:srgbClr val="1B231C"/>
          </a:solidFill>
          <a:ln/>
        </p:spPr>
        <p:txBody>
          <a:bodyPr/>
          <a:lstStyle/>
          <a:p>
            <a:endParaRPr lang="en-US"/>
          </a:p>
        </p:txBody>
      </p:sp>
      <p:sp>
        <p:nvSpPr>
          <p:cNvPr id="35" name="Text 27"/>
          <p:cNvSpPr txBox="1"/>
          <p:nvPr/>
        </p:nvSpPr>
        <p:spPr>
          <a:xfrm>
            <a:off x="6995160" y="1691640"/>
            <a:ext cx="4389120" cy="365760"/>
          </a:xfrm>
          <a:prstGeom prst="rect">
            <a:avLst/>
          </a:prstGeom>
          <a:noFill/>
          <a:ln/>
        </p:spPr>
        <p:txBody>
          <a:bodyPr wrap="square" lIns="0" tIns="0" rIns="0" bIns="0" rtlCol="0" anchor="t"/>
          <a:lstStyle/>
          <a:p>
            <a:pPr marL="0" indent="0">
              <a:buNone/>
            </a:pPr>
            <a:r>
              <a:rPr lang="en-US" sz="1500" b="1" dirty="0">
                <a:solidFill>
                  <a:schemeClr val="accent1"/>
                </a:solidFill>
              </a:rPr>
              <a:t>Everyday commands</a:t>
            </a:r>
            <a:endParaRPr lang="en-US" sz="1500" dirty="0"/>
          </a:p>
        </p:txBody>
      </p:sp>
      <p:sp>
        <p:nvSpPr>
          <p:cNvPr id="36" name="Text 28"/>
          <p:cNvSpPr txBox="1"/>
          <p:nvPr/>
        </p:nvSpPr>
        <p:spPr>
          <a:xfrm>
            <a:off x="6995160" y="2148840"/>
            <a:ext cx="4480560" cy="3886200"/>
          </a:xfrm>
          <a:prstGeom prst="rect">
            <a:avLst/>
          </a:prstGeom>
          <a:noFill/>
          <a:ln/>
        </p:spPr>
        <p:txBody>
          <a:bodyPr wrap="square" lIns="0" tIns="0" rIns="0" bIns="0" rtlCol="0" anchor="t"/>
          <a:lstStyle/>
          <a:p>
            <a:pPr marL="0" indent="0">
              <a:spcAft>
                <a:spcPts val="200"/>
              </a:spcAft>
              <a:buNone/>
            </a:pPr>
            <a:r>
              <a:rPr lang="en-US" sz="1300" dirty="0">
                <a:solidFill>
                  <a:srgbClr val="8FA394"/>
                </a:solidFill>
                <a:latin typeface="Courier New" pitchFamily="34" charset="0"/>
                <a:ea typeface="Courier New" pitchFamily="34" charset="-122"/>
                <a:cs typeface="Courier New" pitchFamily="34" charset="-120"/>
              </a:rPr>
              <a:t># GPU status, memory, processes</a:t>
            </a:r>
            <a:endParaRPr lang="en-US" sz="1300" dirty="0"/>
          </a:p>
          <a:p>
            <a:pPr marL="0" indent="0">
              <a:spcAft>
                <a:spcPts val="200"/>
              </a:spcAft>
              <a:buNone/>
            </a:pPr>
            <a:r>
              <a:rPr lang="en-US" sz="1300" b="1" dirty="0">
                <a:solidFill>
                  <a:srgbClr val="EAF2E6"/>
                </a:solidFill>
                <a:latin typeface="Courier New" pitchFamily="34" charset="0"/>
                <a:ea typeface="Courier New" pitchFamily="34" charset="-122"/>
                <a:cs typeface="Courier New" pitchFamily="34" charset="-120"/>
              </a:rPr>
              <a:t>nvidia-smi</a:t>
            </a:r>
            <a:endParaRPr lang="en-US" sz="1300" dirty="0"/>
          </a:p>
          <a:p>
            <a:pPr marL="0" indent="0">
              <a:spcAft>
                <a:spcPts val="200"/>
              </a:spcAft>
              <a:buNone/>
            </a:pPr>
            <a:r>
              <a:rPr lang="en-US" sz="1300" dirty="0">
                <a:solidFill>
                  <a:srgbClr val="8FA394"/>
                </a:solidFill>
                <a:latin typeface="Courier New" pitchFamily="34" charset="0"/>
                <a:ea typeface="Courier New" pitchFamily="34" charset="-122"/>
                <a:cs typeface="Courier New" pitchFamily="34" charset="-120"/>
              </a:rPr>
              <a:t># Topology: NVLink vs PCIe paths</a:t>
            </a:r>
            <a:endParaRPr lang="en-US" sz="1300" dirty="0"/>
          </a:p>
          <a:p>
            <a:pPr marL="0" indent="0">
              <a:spcAft>
                <a:spcPts val="200"/>
              </a:spcAft>
              <a:buNone/>
            </a:pPr>
            <a:r>
              <a:rPr lang="en-US" sz="1300" b="1" dirty="0">
                <a:solidFill>
                  <a:srgbClr val="EAF2E6"/>
                </a:solidFill>
                <a:latin typeface="Courier New" pitchFamily="34" charset="0"/>
                <a:ea typeface="Courier New" pitchFamily="34" charset="-122"/>
                <a:cs typeface="Courier New" pitchFamily="34" charset="-120"/>
              </a:rPr>
              <a:t>nvidia-smi topo -m</a:t>
            </a:r>
            <a:endParaRPr lang="en-US" sz="1300" dirty="0"/>
          </a:p>
          <a:p>
            <a:pPr marL="0" indent="0">
              <a:spcAft>
                <a:spcPts val="200"/>
              </a:spcAft>
              <a:buNone/>
            </a:pPr>
            <a:r>
              <a:rPr lang="en-US" sz="1300" dirty="0">
                <a:solidFill>
                  <a:srgbClr val="8FA394"/>
                </a:solidFill>
                <a:latin typeface="Courier New" pitchFamily="34" charset="0"/>
                <a:ea typeface="Courier New" pitchFamily="34" charset="-122"/>
                <a:cs typeface="Courier New" pitchFamily="34" charset="-120"/>
              </a:rPr>
              <a:t># Details: ECC, remapped rows, clocks</a:t>
            </a:r>
            <a:endParaRPr lang="en-US" sz="1300" dirty="0"/>
          </a:p>
          <a:p>
            <a:pPr marL="0" indent="0">
              <a:spcAft>
                <a:spcPts val="200"/>
              </a:spcAft>
              <a:buNone/>
            </a:pPr>
            <a:r>
              <a:rPr lang="en-US" sz="1300" b="1" dirty="0">
                <a:solidFill>
                  <a:srgbClr val="EAF2E6"/>
                </a:solidFill>
                <a:latin typeface="Courier New" pitchFamily="34" charset="0"/>
                <a:ea typeface="Courier New" pitchFamily="34" charset="-122"/>
                <a:cs typeface="Courier New" pitchFamily="34" charset="-120"/>
              </a:rPr>
              <a:t>nvidia-smi -q -d ECC,ROW_REMAPPER</a:t>
            </a:r>
            <a:endParaRPr lang="en-US" sz="1300" dirty="0"/>
          </a:p>
          <a:p>
            <a:pPr marL="0" indent="0">
              <a:spcAft>
                <a:spcPts val="200"/>
              </a:spcAft>
              <a:buNone/>
            </a:pPr>
            <a:r>
              <a:rPr lang="en-US" sz="1300" dirty="0">
                <a:solidFill>
                  <a:srgbClr val="8FA394"/>
                </a:solidFill>
                <a:latin typeface="Courier New" pitchFamily="34" charset="0"/>
                <a:ea typeface="Courier New" pitchFamily="34" charset="-122"/>
                <a:cs typeface="Courier New" pitchFamily="34" charset="-120"/>
              </a:rPr>
              <a:t># List MIG GPU instance profiles</a:t>
            </a:r>
            <a:endParaRPr lang="en-US" sz="1300" dirty="0"/>
          </a:p>
          <a:p>
            <a:pPr marL="0" indent="0">
              <a:spcAft>
                <a:spcPts val="200"/>
              </a:spcAft>
              <a:buNone/>
            </a:pPr>
            <a:r>
              <a:rPr lang="en-US" sz="1300" b="1" dirty="0">
                <a:solidFill>
                  <a:srgbClr val="EAF2E6"/>
                </a:solidFill>
                <a:latin typeface="Courier New" pitchFamily="34" charset="0"/>
                <a:ea typeface="Courier New" pitchFamily="34" charset="-122"/>
                <a:cs typeface="Courier New" pitchFamily="34" charset="-120"/>
              </a:rPr>
              <a:t>nvidia-smi mig -lgip</a:t>
            </a:r>
            <a:endParaRPr lang="en-US" sz="1300" dirty="0"/>
          </a:p>
          <a:p>
            <a:pPr marL="0" indent="0">
              <a:spcAft>
                <a:spcPts val="200"/>
              </a:spcAft>
              <a:buNone/>
            </a:pPr>
            <a:r>
              <a:rPr lang="en-US" sz="1300" dirty="0">
                <a:solidFill>
                  <a:srgbClr val="8FA394"/>
                </a:solidFill>
                <a:latin typeface="Courier New" pitchFamily="34" charset="0"/>
                <a:ea typeface="Courier New" pitchFamily="34" charset="-122"/>
                <a:cs typeface="Courier New" pitchFamily="34" charset="-120"/>
              </a:rPr>
              <a:t># Health diagnostics (level 3)</a:t>
            </a:r>
            <a:endParaRPr lang="en-US" sz="1300" dirty="0"/>
          </a:p>
          <a:p>
            <a:pPr marL="0" indent="0">
              <a:spcAft>
                <a:spcPts val="200"/>
              </a:spcAft>
              <a:buNone/>
            </a:pPr>
            <a:r>
              <a:rPr lang="en-US" sz="1300" b="1" dirty="0">
                <a:solidFill>
                  <a:srgbClr val="EAF2E6"/>
                </a:solidFill>
                <a:latin typeface="Courier New" pitchFamily="34" charset="0"/>
                <a:ea typeface="Courier New" pitchFamily="34" charset="-122"/>
                <a:cs typeface="Courier New" pitchFamily="34" charset="-120"/>
              </a:rPr>
              <a:t>dcgmi diag -r 3</a:t>
            </a:r>
            <a:endParaRPr lang="en-US" sz="1300" dirty="0"/>
          </a:p>
          <a:p>
            <a:pPr marL="0" indent="0">
              <a:spcAft>
                <a:spcPts val="200"/>
              </a:spcAft>
              <a:buNone/>
            </a:pPr>
            <a:r>
              <a:rPr lang="en-US" sz="1300" dirty="0">
                <a:solidFill>
                  <a:srgbClr val="8FA394"/>
                </a:solidFill>
                <a:latin typeface="Courier New" pitchFamily="34" charset="0"/>
                <a:ea typeface="Courier New" pitchFamily="34" charset="-122"/>
                <a:cs typeface="Courier New" pitchFamily="34" charset="-120"/>
              </a:rPr>
              <a:t># GPUs visible to Kubernetes</a:t>
            </a:r>
            <a:endParaRPr lang="en-US" sz="1300" dirty="0"/>
          </a:p>
          <a:p>
            <a:pPr marL="0" indent="0">
              <a:spcAft>
                <a:spcPts val="200"/>
              </a:spcAft>
              <a:buNone/>
            </a:pPr>
            <a:r>
              <a:rPr lang="en-US" sz="1300" b="1" dirty="0">
                <a:solidFill>
                  <a:srgbClr val="EAF2E6"/>
                </a:solidFill>
                <a:latin typeface="Courier New" pitchFamily="34" charset="0"/>
                <a:ea typeface="Courier New" pitchFamily="34" charset="-122"/>
                <a:cs typeface="Courier New" pitchFamily="34" charset="-120"/>
              </a:rPr>
              <a:t>kubectl describe node | grep nvidia.com</a:t>
            </a:r>
            <a:endParaRPr lang="en-US" sz="1300" dirty="0"/>
          </a:p>
        </p:txBody>
      </p:sp>
      <p:sp>
        <p:nvSpPr>
          <p:cNvPr id="3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Command reference: GPUs, SMs, cores, DPUs and NPUs</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Node-level commands to see what hardware is installed and how hard it is working</a:t>
            </a:r>
            <a:endParaRPr lang="en-US" sz="1600" dirty="0"/>
          </a:p>
        </p:txBody>
      </p:sp>
      <p:sp>
        <p:nvSpPr>
          <p:cNvPr id="3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36</a:t>
            </a:fld>
            <a:endParaRPr lang="en-US"/>
          </a:p>
        </p:txBody>
      </p:sp>
      <p:sp>
        <p:nvSpPr>
          <p:cNvPr id="100" name="Command card 1"/>
          <p:cNvSpPr/>
          <p:nvPr/>
        </p:nvSpPr>
        <p:spPr>
          <a:xfrm>
            <a:off x="548640" y="1554480"/>
            <a:ext cx="5440680" cy="635000"/>
          </a:xfrm>
          <a:prstGeom prst="roundRect">
            <a:avLst>
              <a:gd name="adj" fmla="val 6000"/>
            </a:avLst>
          </a:prstGeom>
          <a:solidFill>
            <a:schemeClr val="bg2"/>
          </a:solidFill>
          <a:ln>
            <a:noFill/>
          </a:ln>
        </p:spPr>
        <p:txBody>
          <a:bodyPr wrap="square" lIns="139700" tIns="50800" rIns="139700" bIns="50800" rtlCol="0" anchor="ctr">
            <a:noAutofit/>
          </a:bodyPr>
          <a:lstStyle/>
          <a:p>
            <a:pPr marL="0" indent="0" algn="l">
              <a:spcAft>
                <a:spcPts val="150"/>
              </a:spcAft>
              <a:buNone/>
            </a:pPr>
            <a:r>
              <a:rPr lang="en-US" sz="1050" b="1" dirty="0">
                <a:solidFill>
                  <a:schemeClr val="accent2"/>
                </a:solidFill>
              </a:rPr>
              <a:t>GPU   </a:t>
            </a:r>
            <a:r>
              <a:rPr lang="en-US" sz="1100" b="1" dirty="0">
                <a:solidFill>
                  <a:schemeClr val="tx1"/>
                </a:solidFill>
                <a:latin typeface="Courier New" pitchFamily="49" charset="0"/>
                <a:cs typeface="Courier New" pitchFamily="49" charset="0"/>
              </a:rPr>
              <a:t>nvidia-smi -L</a:t>
            </a:r>
          </a:p>
          <a:p>
            <a:pPr marL="0" indent="0" algn="l">
              <a:lnSpc>
                <a:spcPct val="95000"/>
              </a:lnSpc>
              <a:buNone/>
            </a:pPr>
            <a:r>
              <a:rPr lang="en-US" sz="1200" dirty="0">
                <a:solidFill>
                  <a:schemeClr val="tx2"/>
                </a:solidFill>
              </a:rPr>
              <a:t>Lists every GPU the driver can see, with model name and UUID. First check after an install or when a GPU seems missing.</a:t>
            </a:r>
          </a:p>
        </p:txBody>
      </p:sp>
      <p:sp>
        <p:nvSpPr>
          <p:cNvPr id="101" name="Command card 2"/>
          <p:cNvSpPr/>
          <p:nvPr/>
        </p:nvSpPr>
        <p:spPr>
          <a:xfrm>
            <a:off x="548640" y="2291080"/>
            <a:ext cx="5440680" cy="635000"/>
          </a:xfrm>
          <a:prstGeom prst="roundRect">
            <a:avLst>
              <a:gd name="adj" fmla="val 6000"/>
            </a:avLst>
          </a:prstGeom>
          <a:solidFill>
            <a:schemeClr val="bg2"/>
          </a:solidFill>
          <a:ln>
            <a:noFill/>
          </a:ln>
        </p:spPr>
        <p:txBody>
          <a:bodyPr wrap="square" lIns="139700" tIns="50800" rIns="139700" bIns="50800" rtlCol="0" anchor="ctr">
            <a:noAutofit/>
          </a:bodyPr>
          <a:lstStyle/>
          <a:p>
            <a:pPr marL="0" indent="0" algn="l">
              <a:spcAft>
                <a:spcPts val="150"/>
              </a:spcAft>
              <a:buNone/>
            </a:pPr>
            <a:r>
              <a:rPr lang="en-US" sz="1050" b="1" dirty="0">
                <a:solidFill>
                  <a:schemeClr val="accent2"/>
                </a:solidFill>
              </a:rPr>
              <a:t>GPU   </a:t>
            </a:r>
            <a:r>
              <a:rPr lang="en-US" sz="1100" b="1" dirty="0">
                <a:solidFill>
                  <a:schemeClr val="tx1"/>
                </a:solidFill>
                <a:latin typeface="Courier New" pitchFamily="49" charset="0"/>
                <a:cs typeface="Courier New" pitchFamily="49" charset="0"/>
              </a:rPr>
              <a:t>nvidia-smi -q -d MEMORY,CLOCK,POWER</a:t>
            </a:r>
          </a:p>
          <a:p>
            <a:pPr marL="0" indent="0" algn="l">
              <a:lnSpc>
                <a:spcPct val="95000"/>
              </a:lnSpc>
              <a:buNone/>
            </a:pPr>
            <a:r>
              <a:rPr lang="en-US" sz="1200" dirty="0">
                <a:solidFill>
                  <a:schemeClr val="tx2"/>
                </a:solidFill>
              </a:rPr>
              <a:t>Per-GPU detail: memory used vs total, SM and memory clocks, power draw vs limit. Leave out the filter for the full report.</a:t>
            </a:r>
          </a:p>
        </p:txBody>
      </p:sp>
      <p:sp>
        <p:nvSpPr>
          <p:cNvPr id="102" name="Command card 3"/>
          <p:cNvSpPr/>
          <p:nvPr/>
        </p:nvSpPr>
        <p:spPr>
          <a:xfrm>
            <a:off x="548640" y="3027680"/>
            <a:ext cx="5440680" cy="635000"/>
          </a:xfrm>
          <a:prstGeom prst="roundRect">
            <a:avLst>
              <a:gd name="adj" fmla="val 6000"/>
            </a:avLst>
          </a:prstGeom>
          <a:solidFill>
            <a:schemeClr val="bg2"/>
          </a:solidFill>
          <a:ln>
            <a:noFill/>
          </a:ln>
        </p:spPr>
        <p:txBody>
          <a:bodyPr wrap="square" lIns="139700" tIns="50800" rIns="139700" bIns="50800" rtlCol="0" anchor="ctr">
            <a:noAutofit/>
          </a:bodyPr>
          <a:lstStyle/>
          <a:p>
            <a:pPr marL="0" indent="0" algn="l">
              <a:spcAft>
                <a:spcPts val="150"/>
              </a:spcAft>
              <a:buNone/>
            </a:pPr>
            <a:r>
              <a:rPr lang="en-US" sz="1050" b="1" dirty="0">
                <a:solidFill>
                  <a:schemeClr val="accent2"/>
                </a:solidFill>
              </a:rPr>
              <a:t>SM / CUDA CORES   </a:t>
            </a:r>
            <a:r>
              <a:rPr lang="en-US" sz="1100" b="1" dirty="0">
                <a:solidFill>
                  <a:schemeClr val="tx1"/>
                </a:solidFill>
                <a:latin typeface="Courier New" pitchFamily="49" charset="0"/>
                <a:cs typeface="Courier New" pitchFamily="49" charset="0"/>
              </a:rPr>
              <a:t>deviceQuery</a:t>
            </a:r>
          </a:p>
          <a:p>
            <a:pPr marL="0" indent="0" algn="l">
              <a:lnSpc>
                <a:spcPct val="95000"/>
              </a:lnSpc>
              <a:buNone/>
            </a:pPr>
            <a:r>
              <a:rPr lang="en-US" sz="1200" dirty="0">
                <a:solidFill>
                  <a:schemeClr val="tx2"/>
                </a:solidFill>
              </a:rPr>
              <a:t>CUDA sample that prints SM count and CUDA cores per SM, e.g. H100 SXM: 132 SMs × 128 = 16,896 CUDA cores.</a:t>
            </a:r>
          </a:p>
        </p:txBody>
      </p:sp>
      <p:sp>
        <p:nvSpPr>
          <p:cNvPr id="103" name="Command card 4"/>
          <p:cNvSpPr/>
          <p:nvPr/>
        </p:nvSpPr>
        <p:spPr>
          <a:xfrm>
            <a:off x="548640" y="3764280"/>
            <a:ext cx="5440680" cy="635000"/>
          </a:xfrm>
          <a:prstGeom prst="roundRect">
            <a:avLst>
              <a:gd name="adj" fmla="val 6000"/>
            </a:avLst>
          </a:prstGeom>
          <a:solidFill>
            <a:schemeClr val="bg2"/>
          </a:solidFill>
          <a:ln>
            <a:noFill/>
          </a:ln>
        </p:spPr>
        <p:txBody>
          <a:bodyPr wrap="square" lIns="139700" tIns="50800" rIns="139700" bIns="50800" rtlCol="0" anchor="ctr">
            <a:noAutofit/>
          </a:bodyPr>
          <a:lstStyle/>
          <a:p>
            <a:pPr marL="0" indent="0" algn="l">
              <a:spcAft>
                <a:spcPts val="150"/>
              </a:spcAft>
              <a:buNone/>
            </a:pPr>
            <a:r>
              <a:rPr lang="en-US" sz="1050" b="1" dirty="0">
                <a:solidFill>
                  <a:schemeClr val="accent2"/>
                </a:solidFill>
              </a:rPr>
              <a:t>CUDA   </a:t>
            </a:r>
            <a:r>
              <a:rPr lang="en-US" sz="1100" b="1" dirty="0">
                <a:solidFill>
                  <a:schemeClr val="tx1"/>
                </a:solidFill>
                <a:latin typeface="Courier New" pitchFamily="49" charset="0"/>
                <a:cs typeface="Courier New" pitchFamily="49" charset="0"/>
              </a:rPr>
              <a:t>nvcc --version</a:t>
            </a:r>
          </a:p>
          <a:p>
            <a:pPr marL="0" indent="0" algn="l">
              <a:lnSpc>
                <a:spcPct val="95000"/>
              </a:lnSpc>
              <a:buNone/>
            </a:pPr>
            <a:r>
              <a:rPr lang="en-US" sz="1200" dirty="0">
                <a:solidFill>
                  <a:schemeClr val="tx2"/>
                </a:solidFill>
              </a:rPr>
              <a:t>Shows the installed CUDA toolkit version. The nvidia-smi header shows the newest CUDA version the driver supports.</a:t>
            </a:r>
          </a:p>
        </p:txBody>
      </p:sp>
      <p:sp>
        <p:nvSpPr>
          <p:cNvPr id="104" name="Command card 5"/>
          <p:cNvSpPr/>
          <p:nvPr/>
        </p:nvSpPr>
        <p:spPr>
          <a:xfrm>
            <a:off x="548640" y="4500880"/>
            <a:ext cx="5440680" cy="635000"/>
          </a:xfrm>
          <a:prstGeom prst="roundRect">
            <a:avLst>
              <a:gd name="adj" fmla="val 6000"/>
            </a:avLst>
          </a:prstGeom>
          <a:solidFill>
            <a:schemeClr val="bg2"/>
          </a:solidFill>
          <a:ln>
            <a:noFill/>
          </a:ln>
        </p:spPr>
        <p:txBody>
          <a:bodyPr wrap="square" lIns="139700" tIns="50800" rIns="139700" bIns="50800" rtlCol="0" anchor="ctr">
            <a:noAutofit/>
          </a:bodyPr>
          <a:lstStyle/>
          <a:p>
            <a:pPr marL="0" indent="0" algn="l">
              <a:spcAft>
                <a:spcPts val="150"/>
              </a:spcAft>
              <a:buNone/>
            </a:pPr>
            <a:r>
              <a:rPr lang="en-US" sz="1050" b="1" dirty="0">
                <a:solidFill>
                  <a:schemeClr val="accent2"/>
                </a:solidFill>
              </a:rPr>
              <a:t>TENSOR   </a:t>
            </a:r>
            <a:r>
              <a:rPr lang="en-US" sz="1100" b="1" dirty="0">
                <a:solidFill>
                  <a:schemeClr val="tx1"/>
                </a:solidFill>
                <a:latin typeface="Courier New" pitchFamily="49" charset="0"/>
                <a:cs typeface="Courier New" pitchFamily="49" charset="0"/>
              </a:rPr>
              <a:t>nvidia-smi --query-gpu=compute_cap --format=csv</a:t>
            </a:r>
          </a:p>
          <a:p>
            <a:pPr marL="0" indent="0" algn="l">
              <a:lnSpc>
                <a:spcPct val="95000"/>
              </a:lnSpc>
              <a:buNone/>
            </a:pPr>
            <a:r>
              <a:rPr lang="en-US" sz="1200" dirty="0">
                <a:solidFill>
                  <a:schemeClr val="tx2"/>
                </a:solidFill>
              </a:rPr>
              <a:t>Compute capability gives the Tensor Core generation: 8.0 Ampere (3rd), 9.0 Hopper (4th), 10.0 Blackwell (5th).</a:t>
            </a:r>
          </a:p>
        </p:txBody>
      </p:sp>
      <p:sp>
        <p:nvSpPr>
          <p:cNvPr id="105" name="Command card 6"/>
          <p:cNvSpPr/>
          <p:nvPr/>
        </p:nvSpPr>
        <p:spPr>
          <a:xfrm>
            <a:off x="548640" y="5237480"/>
            <a:ext cx="5440680" cy="635000"/>
          </a:xfrm>
          <a:prstGeom prst="roundRect">
            <a:avLst>
              <a:gd name="adj" fmla="val 6000"/>
            </a:avLst>
          </a:prstGeom>
          <a:solidFill>
            <a:schemeClr val="bg2"/>
          </a:solidFill>
          <a:ln>
            <a:noFill/>
          </a:ln>
        </p:spPr>
        <p:txBody>
          <a:bodyPr wrap="square" lIns="139700" tIns="50800" rIns="139700" bIns="50800" rtlCol="0" anchor="ctr">
            <a:noAutofit/>
          </a:bodyPr>
          <a:lstStyle/>
          <a:p>
            <a:pPr marL="0" indent="0" algn="l">
              <a:spcAft>
                <a:spcPts val="150"/>
              </a:spcAft>
              <a:buNone/>
            </a:pPr>
            <a:r>
              <a:rPr lang="en-US" sz="1050" b="1" dirty="0">
                <a:solidFill>
                  <a:schemeClr val="accent2"/>
                </a:solidFill>
              </a:rPr>
              <a:t>SM / TENSOR   </a:t>
            </a:r>
            <a:r>
              <a:rPr lang="en-US" sz="1100" b="1" dirty="0">
                <a:solidFill>
                  <a:schemeClr val="tx1"/>
                </a:solidFill>
                <a:latin typeface="Courier New" pitchFamily="49" charset="0"/>
                <a:cs typeface="Courier New" pitchFamily="49" charset="0"/>
              </a:rPr>
              <a:t>dcgmi dmon -e 1002,1003,1004</a:t>
            </a:r>
          </a:p>
          <a:p>
            <a:pPr marL="0" indent="0" algn="l">
              <a:lnSpc>
                <a:spcPct val="95000"/>
              </a:lnSpc>
              <a:buNone/>
            </a:pPr>
            <a:r>
              <a:rPr lang="en-US" sz="1200" dirty="0">
                <a:solidFill>
                  <a:schemeClr val="tx2"/>
                </a:solidFill>
              </a:rPr>
              <a:t>Live SM activity, SM occupancy and Tensor Core activity per GPU. Low Tensor activity on an AI job points to FP32 or data stalls.</a:t>
            </a:r>
          </a:p>
        </p:txBody>
      </p:sp>
      <p:sp>
        <p:nvSpPr>
          <p:cNvPr id="106" name="Command card 7"/>
          <p:cNvSpPr/>
          <p:nvPr/>
        </p:nvSpPr>
        <p:spPr>
          <a:xfrm>
            <a:off x="6172200" y="1554480"/>
            <a:ext cx="5440680" cy="635000"/>
          </a:xfrm>
          <a:prstGeom prst="roundRect">
            <a:avLst>
              <a:gd name="adj" fmla="val 6000"/>
            </a:avLst>
          </a:prstGeom>
          <a:solidFill>
            <a:schemeClr val="bg2"/>
          </a:solidFill>
          <a:ln>
            <a:noFill/>
          </a:ln>
        </p:spPr>
        <p:txBody>
          <a:bodyPr wrap="square" lIns="139700" tIns="50800" rIns="139700" bIns="50800" rtlCol="0" anchor="ctr">
            <a:noAutofit/>
          </a:bodyPr>
          <a:lstStyle/>
          <a:p>
            <a:pPr marL="0" indent="0" algn="l">
              <a:spcAft>
                <a:spcPts val="150"/>
              </a:spcAft>
              <a:buNone/>
            </a:pPr>
            <a:r>
              <a:rPr lang="en-US" sz="1050" b="1" dirty="0">
                <a:solidFill>
                  <a:schemeClr val="accent2"/>
                </a:solidFill>
              </a:rPr>
              <a:t>PROFILING   </a:t>
            </a:r>
            <a:r>
              <a:rPr lang="en-US" sz="1100" b="1" dirty="0">
                <a:solidFill>
                  <a:schemeClr val="tx1"/>
                </a:solidFill>
                <a:latin typeface="Courier New" pitchFamily="49" charset="0"/>
                <a:cs typeface="Courier New" pitchFamily="49" charset="0"/>
              </a:rPr>
              <a:t>ncu --set full ./app</a:t>
            </a:r>
          </a:p>
          <a:p>
            <a:pPr marL="0" indent="0" algn="l">
              <a:lnSpc>
                <a:spcPct val="95000"/>
              </a:lnSpc>
              <a:buNone/>
            </a:pPr>
            <a:r>
              <a:rPr lang="en-US" sz="1200" dirty="0">
                <a:solidFill>
                  <a:schemeClr val="tx2"/>
                </a:solidFill>
              </a:rPr>
              <a:t>Nsight Compute profiles each CUDA kernel: SM throughput, Tensor Core use, memory bandwidth and what limits occupancy.</a:t>
            </a:r>
          </a:p>
        </p:txBody>
      </p:sp>
      <p:sp>
        <p:nvSpPr>
          <p:cNvPr id="107" name="Command card 8"/>
          <p:cNvSpPr/>
          <p:nvPr/>
        </p:nvSpPr>
        <p:spPr>
          <a:xfrm>
            <a:off x="6172200" y="2291080"/>
            <a:ext cx="5440680" cy="635000"/>
          </a:xfrm>
          <a:prstGeom prst="roundRect">
            <a:avLst>
              <a:gd name="adj" fmla="val 6000"/>
            </a:avLst>
          </a:prstGeom>
          <a:solidFill>
            <a:schemeClr val="bg2"/>
          </a:solidFill>
          <a:ln>
            <a:noFill/>
          </a:ln>
        </p:spPr>
        <p:txBody>
          <a:bodyPr wrap="square" lIns="139700" tIns="50800" rIns="139700" bIns="50800" rtlCol="0" anchor="ctr">
            <a:noAutofit/>
          </a:bodyPr>
          <a:lstStyle/>
          <a:p>
            <a:pPr marL="0" indent="0" algn="l">
              <a:spcAft>
                <a:spcPts val="150"/>
              </a:spcAft>
              <a:buNone/>
            </a:pPr>
            <a:r>
              <a:rPr lang="en-US" sz="1050" b="1" dirty="0">
                <a:solidFill>
                  <a:schemeClr val="accent2"/>
                </a:solidFill>
              </a:rPr>
              <a:t>DPU   </a:t>
            </a:r>
            <a:r>
              <a:rPr lang="en-US" sz="1100" b="1" dirty="0">
                <a:solidFill>
                  <a:schemeClr val="tx1"/>
                </a:solidFill>
                <a:latin typeface="Courier New" pitchFamily="49" charset="0"/>
                <a:cs typeface="Courier New" pitchFamily="49" charset="0"/>
              </a:rPr>
              <a:t>lspci | grep -i bluefield</a:t>
            </a:r>
          </a:p>
          <a:p>
            <a:pPr marL="0" indent="0" algn="l">
              <a:lnSpc>
                <a:spcPct val="95000"/>
              </a:lnSpc>
              <a:buNone/>
            </a:pPr>
            <a:r>
              <a:rPr lang="en-US" sz="1200" dirty="0">
                <a:solidFill>
                  <a:schemeClr val="tx2"/>
                </a:solidFill>
              </a:rPr>
              <a:t>Confirms the BlueField DPU is on the PCIe bus and shows its PCI address and model.</a:t>
            </a:r>
          </a:p>
        </p:txBody>
      </p:sp>
      <p:sp>
        <p:nvSpPr>
          <p:cNvPr id="108" name="Command card 9"/>
          <p:cNvSpPr/>
          <p:nvPr/>
        </p:nvSpPr>
        <p:spPr>
          <a:xfrm>
            <a:off x="6172200" y="3027680"/>
            <a:ext cx="5440680" cy="635000"/>
          </a:xfrm>
          <a:prstGeom prst="roundRect">
            <a:avLst>
              <a:gd name="adj" fmla="val 6000"/>
            </a:avLst>
          </a:prstGeom>
          <a:solidFill>
            <a:schemeClr val="bg2"/>
          </a:solidFill>
          <a:ln>
            <a:noFill/>
          </a:ln>
        </p:spPr>
        <p:txBody>
          <a:bodyPr wrap="square" lIns="139700" tIns="50800" rIns="139700" bIns="50800" rtlCol="0" anchor="ctr">
            <a:noAutofit/>
          </a:bodyPr>
          <a:lstStyle/>
          <a:p>
            <a:pPr marL="0" indent="0" algn="l">
              <a:spcAft>
                <a:spcPts val="150"/>
              </a:spcAft>
              <a:buNone/>
            </a:pPr>
            <a:r>
              <a:rPr lang="en-US" sz="1050" b="1" dirty="0">
                <a:solidFill>
                  <a:schemeClr val="accent2"/>
                </a:solidFill>
              </a:rPr>
              <a:t>DPU   </a:t>
            </a:r>
            <a:r>
              <a:rPr lang="en-US" sz="1100" b="1" dirty="0">
                <a:solidFill>
                  <a:schemeClr val="tx1"/>
                </a:solidFill>
                <a:latin typeface="Courier New" pitchFamily="49" charset="0"/>
                <a:cs typeface="Courier New" pitchFamily="49" charset="0"/>
              </a:rPr>
              <a:t>mst start &amp;&amp; mst status -v</a:t>
            </a:r>
          </a:p>
          <a:p>
            <a:pPr marL="0" indent="0" algn="l">
              <a:lnSpc>
                <a:spcPct val="95000"/>
              </a:lnSpc>
              <a:buNone/>
            </a:pPr>
            <a:r>
              <a:rPr lang="en-US" sz="1200" dirty="0">
                <a:solidFill>
                  <a:schemeClr val="tx2"/>
                </a:solidFill>
              </a:rPr>
              <a:t>NVIDIA Firmware Tools: maps each DPU or NIC to its /dev/mst device, PCI address and network interface.</a:t>
            </a:r>
          </a:p>
        </p:txBody>
      </p:sp>
      <p:sp>
        <p:nvSpPr>
          <p:cNvPr id="109" name="Command card 10"/>
          <p:cNvSpPr/>
          <p:nvPr/>
        </p:nvSpPr>
        <p:spPr>
          <a:xfrm>
            <a:off x="6172200" y="3764280"/>
            <a:ext cx="5440680" cy="635000"/>
          </a:xfrm>
          <a:prstGeom prst="roundRect">
            <a:avLst>
              <a:gd name="adj" fmla="val 6000"/>
            </a:avLst>
          </a:prstGeom>
          <a:solidFill>
            <a:schemeClr val="bg2"/>
          </a:solidFill>
          <a:ln>
            <a:noFill/>
          </a:ln>
        </p:spPr>
        <p:txBody>
          <a:bodyPr wrap="square" lIns="139700" tIns="50800" rIns="139700" bIns="50800" rtlCol="0" anchor="ctr">
            <a:noAutofit/>
          </a:bodyPr>
          <a:lstStyle/>
          <a:p>
            <a:pPr marL="0" indent="0" algn="l">
              <a:spcAft>
                <a:spcPts val="150"/>
              </a:spcAft>
              <a:buNone/>
            </a:pPr>
            <a:r>
              <a:rPr lang="en-US" sz="1050" b="1" dirty="0">
                <a:solidFill>
                  <a:schemeClr val="accent2"/>
                </a:solidFill>
              </a:rPr>
              <a:t>DPU   </a:t>
            </a:r>
            <a:r>
              <a:rPr lang="en-US" sz="1100" b="1" dirty="0">
                <a:solidFill>
                  <a:schemeClr val="tx1"/>
                </a:solidFill>
                <a:latin typeface="Courier New" pitchFamily="49" charset="0"/>
                <a:cs typeface="Courier New" pitchFamily="49" charset="0"/>
              </a:rPr>
              <a:t>mlxconfig -d &lt;dev&gt; q INTERNAL_CPU_MODEL</a:t>
            </a:r>
          </a:p>
          <a:p>
            <a:pPr marL="0" indent="0" algn="l">
              <a:lnSpc>
                <a:spcPct val="95000"/>
              </a:lnSpc>
              <a:buNone/>
            </a:pPr>
            <a:r>
              <a:rPr lang="en-US" sz="1200" dirty="0">
                <a:solidFill>
                  <a:schemeClr val="tx2"/>
                </a:solidFill>
              </a:rPr>
              <a:t>Shows whether the BlueField runs in DPU mode (its Arm cores own the NIC) or as a plain NIC.</a:t>
            </a:r>
          </a:p>
        </p:txBody>
      </p:sp>
      <p:sp>
        <p:nvSpPr>
          <p:cNvPr id="110" name="Command card 11"/>
          <p:cNvSpPr/>
          <p:nvPr/>
        </p:nvSpPr>
        <p:spPr>
          <a:xfrm>
            <a:off x="6172200" y="4500880"/>
            <a:ext cx="5440680" cy="635000"/>
          </a:xfrm>
          <a:prstGeom prst="roundRect">
            <a:avLst>
              <a:gd name="adj" fmla="val 6000"/>
            </a:avLst>
          </a:prstGeom>
          <a:solidFill>
            <a:schemeClr val="bg2"/>
          </a:solidFill>
          <a:ln>
            <a:noFill/>
          </a:ln>
        </p:spPr>
        <p:txBody>
          <a:bodyPr wrap="square" lIns="139700" tIns="50800" rIns="139700" bIns="50800" rtlCol="0" anchor="ctr">
            <a:noAutofit/>
          </a:bodyPr>
          <a:lstStyle/>
          <a:p>
            <a:pPr marL="0" indent="0" algn="l">
              <a:spcAft>
                <a:spcPts val="150"/>
              </a:spcAft>
              <a:buNone/>
            </a:pPr>
            <a:r>
              <a:rPr lang="en-US" sz="1050" b="1" dirty="0">
                <a:solidFill>
                  <a:schemeClr val="accent2"/>
                </a:solidFill>
              </a:rPr>
              <a:t>NPU   </a:t>
            </a:r>
            <a:r>
              <a:rPr lang="en-US" sz="1100" b="1" dirty="0">
                <a:solidFill>
                  <a:schemeClr val="tx1"/>
                </a:solidFill>
                <a:latin typeface="Courier New" pitchFamily="49" charset="0"/>
                <a:cs typeface="Courier New" pitchFamily="49" charset="0"/>
              </a:rPr>
              <a:t>npu-smi info</a:t>
            </a:r>
          </a:p>
          <a:p>
            <a:pPr marL="0" indent="0" algn="l">
              <a:lnSpc>
                <a:spcPct val="95000"/>
              </a:lnSpc>
              <a:buNone/>
            </a:pPr>
            <a:r>
              <a:rPr lang="en-US" sz="1200" dirty="0">
                <a:solidFill>
                  <a:schemeClr val="tx2"/>
                </a:solidFill>
              </a:rPr>
              <a:t>Huawei Ascend NPUs: the nvidia-smi equivalent, listing each NPU with health, power, temperature and AI Core usage.</a:t>
            </a:r>
          </a:p>
        </p:txBody>
      </p:sp>
      <p:sp>
        <p:nvSpPr>
          <p:cNvPr id="111" name="Command card 12"/>
          <p:cNvSpPr/>
          <p:nvPr/>
        </p:nvSpPr>
        <p:spPr>
          <a:xfrm>
            <a:off x="6172200" y="5237480"/>
            <a:ext cx="5440680" cy="635000"/>
          </a:xfrm>
          <a:prstGeom prst="roundRect">
            <a:avLst>
              <a:gd name="adj" fmla="val 6000"/>
            </a:avLst>
          </a:prstGeom>
          <a:solidFill>
            <a:schemeClr val="bg2"/>
          </a:solidFill>
          <a:ln>
            <a:noFill/>
          </a:ln>
        </p:spPr>
        <p:txBody>
          <a:bodyPr wrap="square" lIns="139700" tIns="50800" rIns="139700" bIns="50800" rtlCol="0" anchor="ctr">
            <a:noAutofit/>
          </a:bodyPr>
          <a:lstStyle/>
          <a:p>
            <a:pPr marL="0" indent="0" algn="l">
              <a:spcAft>
                <a:spcPts val="150"/>
              </a:spcAft>
              <a:buNone/>
            </a:pPr>
            <a:r>
              <a:rPr lang="en-US" sz="1050" b="1" dirty="0">
                <a:solidFill>
                  <a:schemeClr val="accent2"/>
                </a:solidFill>
              </a:rPr>
              <a:t>NPU   </a:t>
            </a:r>
            <a:r>
              <a:rPr lang="en-US" sz="1100" b="1" dirty="0">
                <a:solidFill>
                  <a:schemeClr val="tx1"/>
                </a:solidFill>
                <a:latin typeface="Courier New" pitchFamily="49" charset="0"/>
                <a:cs typeface="Courier New" pitchFamily="49" charset="0"/>
              </a:rPr>
              <a:t>xrt-smi examine</a:t>
            </a:r>
          </a:p>
          <a:p>
            <a:pPr marL="0" indent="0" algn="l">
              <a:lnSpc>
                <a:spcPct val="95000"/>
              </a:lnSpc>
              <a:buNone/>
            </a:pPr>
            <a:r>
              <a:rPr lang="en-US" sz="1200" dirty="0">
                <a:solidFill>
                  <a:schemeClr val="tx2"/>
                </a:solidFill>
              </a:rPr>
              <a:t>AMD Ryzen AI (XDNA) NPUs: shows the device, firmware version and active contexts.</a:t>
            </a:r>
          </a:p>
        </p:txBody>
      </p:sp>
      <p:sp>
        <p:nvSpPr>
          <p:cNvPr id="112" name="Footnote"/>
          <p:cNvSpPr txBox="1"/>
          <p:nvPr/>
        </p:nvSpPr>
        <p:spPr>
          <a:xfrm>
            <a:off x="548640" y="5969000"/>
            <a:ext cx="11064240" cy="228600"/>
          </a:xfrm>
          <a:prstGeom prst="rect">
            <a:avLst/>
          </a:prstGeom>
          <a:noFill/>
        </p:spPr>
        <p:txBody>
          <a:bodyPr wrap="square" lIns="0" tIns="0" rIns="0" bIns="0" rtlCol="0" anchor="t">
            <a:noAutofit/>
          </a:bodyPr>
          <a:lstStyle/>
          <a:p>
            <a:pPr marL="0" indent="0">
              <a:buNone/>
            </a:pPr>
            <a:r>
              <a:rPr lang="en-US" sz="1000" dirty="0">
                <a:solidFill>
                  <a:schemeClr val="accent5"/>
                </a:solidFill>
              </a:rPr>
              <a:t>CUDA cores = SMs × cores per SM; Tensor Cores = 4 per SM since Ampere (H100 SXM: 528). NPUs are not NVIDIA products, so their tools are vendor-specific.</a:t>
            </a:r>
          </a:p>
        </p:txBody>
      </p:sp>
    </p:spTree>
    <p:extLst>
      <p:ext uri="{BB962C8B-B14F-4D97-AF65-F5344CB8AC3E}">
        <p14:creationId xmlns:p14="http://schemas.microsoft.com/office/powerpoint/2010/main" val="30019626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Command reference: monitoring GPUs in Kubernetes</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Confirm GPUs are discovered, healthy, allocated to pods and actually busy</a:t>
            </a:r>
            <a:endParaRPr lang="en-US" sz="1600" dirty="0"/>
          </a:p>
        </p:txBody>
      </p:sp>
      <p:sp>
        <p:nvSpPr>
          <p:cNvPr id="3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37</a:t>
            </a:fld>
            <a:endParaRPr lang="en-US"/>
          </a:p>
        </p:txBody>
      </p:sp>
      <p:graphicFrame>
        <p:nvGraphicFramePr>
          <p:cNvPr id="100" name="K8s command table"/>
          <p:cNvGraphicFramePr>
            <a:graphicFrameLocks noGrp="1"/>
          </p:cNvGraphicFramePr>
          <p:nvPr>
            <p:extLst>
              <p:ext uri="{D42A27DB-BD31-4B8C-83A1-F6EECF244321}">
                <p14:modId xmlns:p14="http://schemas.microsoft.com/office/powerpoint/2010/main" val="1517168357"/>
              </p:ext>
            </p:extLst>
          </p:nvPr>
        </p:nvGraphicFramePr>
        <p:xfrm>
          <a:off x="548640" y="1498600"/>
          <a:ext cx="11064240" cy="4146550"/>
        </p:xfrm>
        <a:graphic>
          <a:graphicData uri="http://schemas.openxmlformats.org/drawingml/2006/table">
            <a:tbl>
              <a:tblPr firstRow="1"/>
              <a:tblGrid>
                <a:gridCol w="1066800">
                  <a:extLst>
                    <a:ext uri="{9D8B030D-6E8A-4147-A177-3AD203B41FA5}">
                      <a16:colId xmlns:a16="http://schemas.microsoft.com/office/drawing/2014/main" val="20000"/>
                    </a:ext>
                  </a:extLst>
                </a:gridCol>
                <a:gridCol w="5435600">
                  <a:extLst>
                    <a:ext uri="{9D8B030D-6E8A-4147-A177-3AD203B41FA5}">
                      <a16:colId xmlns:a16="http://schemas.microsoft.com/office/drawing/2014/main" val="20001"/>
                    </a:ext>
                  </a:extLst>
                </a:gridCol>
                <a:gridCol w="4561840">
                  <a:extLst>
                    <a:ext uri="{9D8B030D-6E8A-4147-A177-3AD203B41FA5}">
                      <a16:colId xmlns:a16="http://schemas.microsoft.com/office/drawing/2014/main" val="20002"/>
                    </a:ext>
                  </a:extLst>
                </a:gridCol>
              </a:tblGrid>
              <a:tr h="279400">
                <a:tc>
                  <a:txBody>
                    <a:bodyPr/>
                    <a:lstStyle/>
                    <a:p>
                      <a:pPr marL="0" indent="0" algn="l">
                        <a:lnSpc>
                          <a:spcPct val="92000"/>
                        </a:lnSpc>
                        <a:buNone/>
                      </a:pPr>
                      <a:r>
                        <a:rPr lang="en-US" sz="1200" b="1" dirty="0">
                          <a:solidFill>
                            <a:schemeClr val="tx1"/>
                          </a:solidFill>
                        </a:rPr>
                        <a:t>Area</a:t>
                      </a:r>
                      <a:endParaRPr lang="en-US" sz="1200" dirty="0"/>
                    </a:p>
                  </a:txBody>
                  <a:tcPr marL="76200" marR="76200" marT="25400" marB="25400" anchor="ctr">
                    <a:lnL w="0">
                      <a:noFill/>
                    </a:lnL>
                    <a:lnR w="0">
                      <a:noFill/>
                    </a:lnR>
                    <a:lnT w="0">
                      <a:noFill/>
                    </a:lnT>
                    <a:lnB w="15875">
                      <a:solidFill>
                        <a:schemeClr val="accent5"/>
                      </a:solidFill>
                    </a:lnB>
                    <a:noFill/>
                  </a:tcPr>
                </a:tc>
                <a:tc>
                  <a:txBody>
                    <a:bodyPr/>
                    <a:lstStyle/>
                    <a:p>
                      <a:pPr marL="0" indent="0" algn="l">
                        <a:lnSpc>
                          <a:spcPct val="92000"/>
                        </a:lnSpc>
                        <a:buNone/>
                      </a:pPr>
                      <a:r>
                        <a:rPr lang="en-US" sz="1200" b="1" dirty="0">
                          <a:solidFill>
                            <a:schemeClr val="tx1"/>
                          </a:solidFill>
                        </a:rPr>
                        <a:t>Command</a:t>
                      </a:r>
                      <a:endParaRPr lang="en-US" sz="1200" dirty="0"/>
                    </a:p>
                  </a:txBody>
                  <a:tcPr marL="76200" marR="76200" marT="25400" marB="25400" anchor="ctr">
                    <a:lnL w="0">
                      <a:noFill/>
                    </a:lnL>
                    <a:lnR w="0">
                      <a:noFill/>
                    </a:lnR>
                    <a:lnT w="0">
                      <a:noFill/>
                    </a:lnT>
                    <a:lnB w="15875">
                      <a:solidFill>
                        <a:schemeClr val="accent5"/>
                      </a:solidFill>
                    </a:lnB>
                    <a:noFill/>
                  </a:tcPr>
                </a:tc>
                <a:tc>
                  <a:txBody>
                    <a:bodyPr/>
                    <a:lstStyle/>
                    <a:p>
                      <a:pPr marL="0" indent="0" algn="l">
                        <a:lnSpc>
                          <a:spcPct val="92000"/>
                        </a:lnSpc>
                        <a:buNone/>
                      </a:pPr>
                      <a:r>
                        <a:rPr lang="en-US" sz="1200" b="1" dirty="0">
                          <a:solidFill>
                            <a:schemeClr val="tx1"/>
                          </a:solidFill>
                        </a:rPr>
                        <a:t>What it tells you</a:t>
                      </a:r>
                      <a:endParaRPr lang="en-US" sz="1200" dirty="0"/>
                    </a:p>
                  </a:txBody>
                  <a:tcPr marL="76200" marR="76200" marT="25400" marB="25400" anchor="ctr">
                    <a:lnL w="0">
                      <a:noFill/>
                    </a:lnL>
                    <a:lnR w="0">
                      <a:noFill/>
                    </a:lnR>
                    <a:lnT w="0">
                      <a:noFill/>
                    </a:lnT>
                    <a:lnB w="15875">
                      <a:solidFill>
                        <a:schemeClr val="accent5"/>
                      </a:solidFill>
                    </a:lnB>
                    <a:noFill/>
                  </a:tcPr>
                </a:tc>
                <a:extLst>
                  <a:ext uri="{0D108BD9-81ED-4DB2-BD59-A6C34878D82A}">
                    <a16:rowId xmlns:a16="http://schemas.microsoft.com/office/drawing/2014/main" val="10000"/>
                  </a:ext>
                </a:extLst>
              </a:tr>
              <a:tr h="381000">
                <a:tc rowSpan="2">
                  <a:txBody>
                    <a:bodyPr/>
                    <a:lstStyle/>
                    <a:p>
                      <a:pPr marL="0" indent="0" algn="l">
                        <a:lnSpc>
                          <a:spcPct val="92000"/>
                        </a:lnSpc>
                        <a:buNone/>
                      </a:pPr>
                      <a:r>
                        <a:rPr lang="en-US" sz="1200" b="1" dirty="0">
                          <a:solidFill>
                            <a:schemeClr val="accent2"/>
                          </a:solidFill>
                        </a:rPr>
                        <a:t>Nodes</a:t>
                      </a:r>
                      <a:endParaRPr lang="en-US" sz="1200" dirty="0"/>
                    </a:p>
                  </a:txBody>
                  <a:tcPr marL="76200" marR="76200" marT="25400" marB="25400" anchor="ctr">
                    <a:lnL w="0">
                      <a:noFill/>
                    </a:lnL>
                    <a:lnR w="0">
                      <a:noFill/>
                    </a:lnR>
                    <a:lnT w="15875" cap="flat" cmpd="sng" algn="ctr">
                      <a:solidFill>
                        <a:schemeClr val="accent5"/>
                      </a:solidFill>
                      <a:prstDash val="solid"/>
                      <a:round/>
                      <a:headEnd type="none" w="med" len="med"/>
                      <a:tailEnd type="none" w="med" len="med"/>
                    </a:lnT>
                    <a:lnB w="9525">
                      <a:solidFill>
                        <a:srgbClr val="D5DDD2"/>
                      </a:solidFill>
                    </a:lnB>
                    <a:noFill/>
                  </a:tcPr>
                </a:tc>
                <a:tc>
                  <a:txBody>
                    <a:bodyPr/>
                    <a:lstStyle/>
                    <a:p>
                      <a:pPr marL="0" indent="0" algn="l">
                        <a:lnSpc>
                          <a:spcPct val="92000"/>
                        </a:lnSpc>
                        <a:buNone/>
                      </a:pPr>
                      <a:r>
                        <a:rPr lang="en-US" sz="1050" b="1" dirty="0">
                          <a:solidFill>
                            <a:schemeClr val="tx1"/>
                          </a:solidFill>
                          <a:latin typeface="Courier New" pitchFamily="49" charset="0"/>
                          <a:cs typeface="Courier New" pitchFamily="49" charset="0"/>
                        </a:rPr>
                        <a:t>kubectl get nodes -L nvidia.com/gpu.product,nvidia.com/gpu.count</a:t>
                      </a:r>
                      <a:endParaRPr lang="en-US" sz="1050" dirty="0"/>
                    </a:p>
                  </a:txBody>
                  <a:tcPr marL="76200" marR="76200" marT="25400" marB="25400" anchor="ctr">
                    <a:lnL w="0">
                      <a:noFill/>
                    </a:lnL>
                    <a:lnR w="0">
                      <a:noFill/>
                    </a:lnR>
                    <a:lnT w="15875" cap="flat" cmpd="sng" algn="ctr">
                      <a:solidFill>
                        <a:schemeClr val="accent5"/>
                      </a:solidFill>
                      <a:prstDash val="solid"/>
                      <a:round/>
                      <a:headEnd type="none" w="med" len="med"/>
                      <a:tailEnd type="none" w="med" len="med"/>
                    </a:lnT>
                    <a:lnB w="9525">
                      <a:solidFill>
                        <a:srgbClr val="D5DDD2"/>
                      </a:solidFill>
                    </a:lnB>
                    <a:noFill/>
                  </a:tcPr>
                </a:tc>
                <a:tc>
                  <a:txBody>
                    <a:bodyPr/>
                    <a:lstStyle/>
                    <a:p>
                      <a:pPr marL="0" indent="0" algn="l">
                        <a:lnSpc>
                          <a:spcPct val="92000"/>
                        </a:lnSpc>
                        <a:buNone/>
                      </a:pPr>
                      <a:r>
                        <a:rPr lang="en-US" sz="1200" dirty="0">
                          <a:solidFill>
                            <a:schemeClr val="tx2"/>
                          </a:solidFill>
                        </a:rPr>
                        <a:t>GPU model and count per node, from GPU Feature Discovery labels. Blank columns mean no GPUs were discovered.</a:t>
                      </a:r>
                      <a:endParaRPr lang="en-US" sz="1200" dirty="0"/>
                    </a:p>
                  </a:txBody>
                  <a:tcPr marL="76200" marR="76200" marT="25400" marB="25400" anchor="ctr">
                    <a:lnL w="0">
                      <a:noFill/>
                    </a:lnL>
                    <a:lnR w="0">
                      <a:noFill/>
                    </a:lnR>
                    <a:lnT w="15875" cap="flat" cmpd="sng" algn="ctr">
                      <a:solidFill>
                        <a:schemeClr val="accent5"/>
                      </a:solidFill>
                      <a:prstDash val="solid"/>
                      <a:round/>
                      <a:headEnd type="none" w="med" len="med"/>
                      <a:tailEnd type="none" w="med" len="med"/>
                    </a:lnT>
                    <a:lnB w="9525">
                      <a:solidFill>
                        <a:srgbClr val="D5DDD2"/>
                      </a:solidFill>
                    </a:lnB>
                    <a:noFill/>
                  </a:tcPr>
                </a:tc>
                <a:extLst>
                  <a:ext uri="{0D108BD9-81ED-4DB2-BD59-A6C34878D82A}">
                    <a16:rowId xmlns:a16="http://schemas.microsoft.com/office/drawing/2014/main" val="10001"/>
                  </a:ext>
                </a:extLst>
              </a:tr>
              <a:tr h="381000">
                <a:tc vMerge="1">
                  <a:txBody>
                    <a:bodyPr/>
                    <a:lstStyle/>
                    <a:p>
                      <a:pPr marL="0" indent="0" algn="l">
                        <a:lnSpc>
                          <a:spcPct val="92000"/>
                        </a:lnSpc>
                        <a:buNone/>
                      </a:pPr>
                      <a:endParaRPr lang="en-US" sz="1200" dirty="0"/>
                    </a:p>
                  </a:txBody>
                  <a:tcPr marL="76200" marR="76200" marT="25400" marB="25400" anchor="ctr">
                    <a:lnL w="0">
                      <a:noFill/>
                    </a:lnL>
                    <a:lnR w="0">
                      <a:noFill/>
                    </a:lnR>
                    <a:lnT w="0">
                      <a:noFill/>
                    </a:lnT>
                    <a:lnB w="9525">
                      <a:solidFill>
                        <a:srgbClr val="D5DDD2"/>
                      </a:solidFill>
                    </a:lnB>
                    <a:noFill/>
                  </a:tcPr>
                </a:tc>
                <a:tc>
                  <a:txBody>
                    <a:bodyPr/>
                    <a:lstStyle/>
                    <a:p>
                      <a:pPr marL="0" indent="0" algn="l">
                        <a:lnSpc>
                          <a:spcPct val="92000"/>
                        </a:lnSpc>
                        <a:buNone/>
                      </a:pPr>
                      <a:r>
                        <a:rPr lang="en-US" sz="1050" b="1" dirty="0">
                          <a:solidFill>
                            <a:schemeClr val="tx1"/>
                          </a:solidFill>
                          <a:latin typeface="Courier New" pitchFamily="49" charset="0"/>
                          <a:cs typeface="Courier New" pitchFamily="49" charset="0"/>
                        </a:rPr>
                        <a:t>kubectl get nodes -L nvidia.com/mig.config.state</a:t>
                      </a:r>
                      <a:endParaRPr lang="en-US" sz="1050" dirty="0"/>
                    </a:p>
                  </a:txBody>
                  <a:tcPr marL="76200" marR="76200" marT="25400" marB="25400" anchor="ctr">
                    <a:lnL w="0">
                      <a:noFill/>
                    </a:lnL>
                    <a:lnR w="0">
                      <a:noFill/>
                    </a:lnR>
                    <a:lnT w="9525" cap="flat" cmpd="sng" algn="ctr">
                      <a:solidFill>
                        <a:srgbClr val="D5DDD2"/>
                      </a:solidFill>
                      <a:prstDash val="solid"/>
                      <a:round/>
                      <a:headEnd type="none" w="med" len="med"/>
                      <a:tailEnd type="none" w="med" len="med"/>
                    </a:lnT>
                    <a:lnB w="9525">
                      <a:solidFill>
                        <a:srgbClr val="D5DDD2"/>
                      </a:solidFill>
                    </a:lnB>
                    <a:noFill/>
                  </a:tcPr>
                </a:tc>
                <a:tc>
                  <a:txBody>
                    <a:bodyPr/>
                    <a:lstStyle/>
                    <a:p>
                      <a:pPr marL="0" indent="0" algn="l">
                        <a:lnSpc>
                          <a:spcPct val="92000"/>
                        </a:lnSpc>
                        <a:buNone/>
                      </a:pPr>
                      <a:r>
                        <a:rPr lang="en-US" sz="1200" dirty="0">
                          <a:solidFill>
                            <a:schemeClr val="tx2"/>
                          </a:solidFill>
                        </a:rPr>
                        <a:t>MIG reconfiguration state per node: success, pending or failed.</a:t>
                      </a:r>
                      <a:endParaRPr lang="en-US" sz="1200" dirty="0"/>
                    </a:p>
                  </a:txBody>
                  <a:tcPr marL="76200" marR="76200" marT="25400" marB="25400" anchor="ctr">
                    <a:lnL w="0">
                      <a:noFill/>
                    </a:lnL>
                    <a:lnR w="0">
                      <a:noFill/>
                    </a:lnR>
                    <a:lnT w="9525" cap="flat" cmpd="sng" algn="ctr">
                      <a:solidFill>
                        <a:srgbClr val="D5DDD2"/>
                      </a:solidFill>
                      <a:prstDash val="solid"/>
                      <a:round/>
                      <a:headEnd type="none" w="med" len="med"/>
                      <a:tailEnd type="none" w="med" len="med"/>
                    </a:lnT>
                    <a:lnB w="9525">
                      <a:solidFill>
                        <a:srgbClr val="D5DDD2"/>
                      </a:solidFill>
                    </a:lnB>
                    <a:noFill/>
                  </a:tcPr>
                </a:tc>
                <a:extLst>
                  <a:ext uri="{0D108BD9-81ED-4DB2-BD59-A6C34878D82A}">
                    <a16:rowId xmlns:a16="http://schemas.microsoft.com/office/drawing/2014/main" val="10002"/>
                  </a:ext>
                </a:extLst>
              </a:tr>
              <a:tr h="381000">
                <a:tc rowSpan="3">
                  <a:txBody>
                    <a:bodyPr/>
                    <a:lstStyle/>
                    <a:p>
                      <a:pPr marL="0" indent="0" algn="l">
                        <a:lnSpc>
                          <a:spcPct val="92000"/>
                        </a:lnSpc>
                        <a:buNone/>
                      </a:pPr>
                      <a:r>
                        <a:rPr lang="en-US" sz="1200" b="1" dirty="0">
                          <a:solidFill>
                            <a:schemeClr val="accent2"/>
                          </a:solidFill>
                        </a:rPr>
                        <a:t>GPU Operator</a:t>
                      </a:r>
                      <a:endParaRPr lang="en-US" sz="1200" dirty="0"/>
                    </a:p>
                  </a:txBody>
                  <a:tcPr marL="76200" marR="76200" marT="25400" marB="25400" anchor="ctr">
                    <a:lnL w="0">
                      <a:noFill/>
                    </a:lnL>
                    <a:lnR w="0">
                      <a:noFill/>
                    </a:lnR>
                    <a:lnT w="9525" cap="flat" cmpd="sng" algn="ctr">
                      <a:solidFill>
                        <a:srgbClr val="D5DDD2"/>
                      </a:solidFill>
                      <a:prstDash val="solid"/>
                      <a:round/>
                      <a:headEnd type="none" w="med" len="med"/>
                      <a:tailEnd type="none" w="med" len="med"/>
                    </a:lnT>
                    <a:lnB w="9525">
                      <a:solidFill>
                        <a:srgbClr val="D5DDD2"/>
                      </a:solidFill>
                    </a:lnB>
                    <a:noFill/>
                  </a:tcPr>
                </a:tc>
                <a:tc>
                  <a:txBody>
                    <a:bodyPr/>
                    <a:lstStyle/>
                    <a:p>
                      <a:pPr marL="0" indent="0" algn="l">
                        <a:lnSpc>
                          <a:spcPct val="92000"/>
                        </a:lnSpc>
                        <a:buNone/>
                      </a:pPr>
                      <a:r>
                        <a:rPr lang="en-US" sz="1050" b="1" dirty="0">
                          <a:solidFill>
                            <a:schemeClr val="tx1"/>
                          </a:solidFill>
                          <a:latin typeface="Courier New" pitchFamily="49" charset="0"/>
                          <a:cs typeface="Courier New" pitchFamily="49" charset="0"/>
                        </a:rPr>
                        <a:t>kubectl get clusterpolicies.nvidia.com</a:t>
                      </a:r>
                      <a:endParaRPr lang="en-US" sz="1050" dirty="0"/>
                    </a:p>
                  </a:txBody>
                  <a:tcPr marL="76200" marR="76200" marT="25400" marB="25400" anchor="ctr">
                    <a:lnL w="0">
                      <a:noFill/>
                    </a:lnL>
                    <a:lnR w="0">
                      <a:noFill/>
                    </a:lnR>
                    <a:lnT w="9525" cap="flat" cmpd="sng" algn="ctr">
                      <a:solidFill>
                        <a:srgbClr val="D5DDD2"/>
                      </a:solidFill>
                      <a:prstDash val="solid"/>
                      <a:round/>
                      <a:headEnd type="none" w="med" len="med"/>
                      <a:tailEnd type="none" w="med" len="med"/>
                    </a:lnT>
                    <a:lnB w="9525">
                      <a:solidFill>
                        <a:srgbClr val="D5DDD2"/>
                      </a:solidFill>
                    </a:lnB>
                    <a:noFill/>
                  </a:tcPr>
                </a:tc>
                <a:tc>
                  <a:txBody>
                    <a:bodyPr/>
                    <a:lstStyle/>
                    <a:p>
                      <a:pPr marL="0" indent="0" algn="l">
                        <a:lnSpc>
                          <a:spcPct val="92000"/>
                        </a:lnSpc>
                        <a:buNone/>
                      </a:pPr>
                      <a:r>
                        <a:rPr lang="en-US" sz="1200" dirty="0">
                          <a:solidFill>
                            <a:schemeClr val="tx2"/>
                          </a:solidFill>
                        </a:rPr>
                        <a:t>Overall GPU Operator status; "ready" means driver, toolkit and plugins are healthy on every GPU node.</a:t>
                      </a:r>
                      <a:endParaRPr lang="en-US" sz="1200" dirty="0"/>
                    </a:p>
                  </a:txBody>
                  <a:tcPr marL="76200" marR="76200" marT="25400" marB="25400" anchor="ctr">
                    <a:lnL w="0">
                      <a:noFill/>
                    </a:lnL>
                    <a:lnR w="0">
                      <a:noFill/>
                    </a:lnR>
                    <a:lnT w="9525" cap="flat" cmpd="sng" algn="ctr">
                      <a:solidFill>
                        <a:srgbClr val="D5DDD2"/>
                      </a:solidFill>
                      <a:prstDash val="solid"/>
                      <a:round/>
                      <a:headEnd type="none" w="med" len="med"/>
                      <a:tailEnd type="none" w="med" len="med"/>
                    </a:lnT>
                    <a:lnB w="9525">
                      <a:solidFill>
                        <a:srgbClr val="D5DDD2"/>
                      </a:solidFill>
                    </a:lnB>
                    <a:noFill/>
                  </a:tcPr>
                </a:tc>
                <a:extLst>
                  <a:ext uri="{0D108BD9-81ED-4DB2-BD59-A6C34878D82A}">
                    <a16:rowId xmlns:a16="http://schemas.microsoft.com/office/drawing/2014/main" val="10003"/>
                  </a:ext>
                </a:extLst>
              </a:tr>
              <a:tr h="381000">
                <a:tc vMerge="1">
                  <a:txBody>
                    <a:bodyPr/>
                    <a:lstStyle/>
                    <a:p>
                      <a:pPr marL="0" indent="0" algn="l">
                        <a:lnSpc>
                          <a:spcPct val="92000"/>
                        </a:lnSpc>
                        <a:buNone/>
                      </a:pPr>
                      <a:endParaRPr lang="en-US" sz="1200" dirty="0"/>
                    </a:p>
                  </a:txBody>
                  <a:tcPr marL="76200" marR="76200" marT="25400" marB="25400" anchor="ctr">
                    <a:lnL w="0">
                      <a:noFill/>
                    </a:lnL>
                    <a:lnR w="0">
                      <a:noFill/>
                    </a:lnR>
                    <a:lnT w="0">
                      <a:noFill/>
                    </a:lnT>
                    <a:lnB w="9525">
                      <a:solidFill>
                        <a:srgbClr val="D5DDD2"/>
                      </a:solidFill>
                    </a:lnB>
                    <a:noFill/>
                  </a:tcPr>
                </a:tc>
                <a:tc>
                  <a:txBody>
                    <a:bodyPr/>
                    <a:lstStyle/>
                    <a:p>
                      <a:pPr marL="0" indent="0" algn="l">
                        <a:lnSpc>
                          <a:spcPct val="92000"/>
                        </a:lnSpc>
                        <a:buNone/>
                      </a:pPr>
                      <a:r>
                        <a:rPr lang="en-US" sz="1050" b="1" dirty="0">
                          <a:solidFill>
                            <a:schemeClr val="tx1"/>
                          </a:solidFill>
                          <a:latin typeface="Courier New" pitchFamily="49" charset="0"/>
                          <a:cs typeface="Courier New" pitchFamily="49" charset="0"/>
                        </a:rPr>
                        <a:t>kubectl get pods -n gpu-operator -o wide</a:t>
                      </a:r>
                      <a:endParaRPr lang="en-US" sz="1050" dirty="0"/>
                    </a:p>
                  </a:txBody>
                  <a:tcPr marL="76200" marR="76200" marT="25400" marB="25400" anchor="ctr">
                    <a:lnL w="0">
                      <a:noFill/>
                    </a:lnL>
                    <a:lnR w="0">
                      <a:noFill/>
                    </a:lnR>
                    <a:lnT w="9525" cap="flat" cmpd="sng" algn="ctr">
                      <a:solidFill>
                        <a:srgbClr val="D5DDD2"/>
                      </a:solidFill>
                      <a:prstDash val="solid"/>
                      <a:round/>
                      <a:headEnd type="none" w="med" len="med"/>
                      <a:tailEnd type="none" w="med" len="med"/>
                    </a:lnT>
                    <a:lnB w="9525">
                      <a:solidFill>
                        <a:srgbClr val="D5DDD2"/>
                      </a:solidFill>
                    </a:lnB>
                    <a:noFill/>
                  </a:tcPr>
                </a:tc>
                <a:tc>
                  <a:txBody>
                    <a:bodyPr/>
                    <a:lstStyle/>
                    <a:p>
                      <a:pPr marL="0" indent="0" algn="l">
                        <a:lnSpc>
                          <a:spcPct val="92000"/>
                        </a:lnSpc>
                        <a:buNone/>
                      </a:pPr>
                      <a:r>
                        <a:rPr lang="en-US" sz="1200" dirty="0">
                          <a:solidFill>
                            <a:schemeClr val="tx2"/>
                          </a:solidFill>
                        </a:rPr>
                        <a:t>Driver, toolkit, device plugin, DCGM exporter and MIG manager pods per node; all should be Running.</a:t>
                      </a:r>
                      <a:endParaRPr lang="en-US" sz="1200" dirty="0"/>
                    </a:p>
                  </a:txBody>
                  <a:tcPr marL="76200" marR="76200" marT="25400" marB="25400" anchor="ctr">
                    <a:lnL w="0">
                      <a:noFill/>
                    </a:lnL>
                    <a:lnR w="0">
                      <a:noFill/>
                    </a:lnR>
                    <a:lnT w="9525" cap="flat" cmpd="sng" algn="ctr">
                      <a:solidFill>
                        <a:srgbClr val="D5DDD2"/>
                      </a:solidFill>
                      <a:prstDash val="solid"/>
                      <a:round/>
                      <a:headEnd type="none" w="med" len="med"/>
                      <a:tailEnd type="none" w="med" len="med"/>
                    </a:lnT>
                    <a:lnB w="9525">
                      <a:solidFill>
                        <a:srgbClr val="D5DDD2"/>
                      </a:solidFill>
                    </a:lnB>
                    <a:noFill/>
                  </a:tcPr>
                </a:tc>
                <a:extLst>
                  <a:ext uri="{0D108BD9-81ED-4DB2-BD59-A6C34878D82A}">
                    <a16:rowId xmlns:a16="http://schemas.microsoft.com/office/drawing/2014/main" val="10004"/>
                  </a:ext>
                </a:extLst>
              </a:tr>
              <a:tr h="381000">
                <a:tc vMerge="1">
                  <a:txBody>
                    <a:bodyPr/>
                    <a:lstStyle/>
                    <a:p>
                      <a:pPr marL="0" indent="0" algn="l">
                        <a:lnSpc>
                          <a:spcPct val="92000"/>
                        </a:lnSpc>
                        <a:buNone/>
                      </a:pPr>
                      <a:endParaRPr lang="en-US" sz="1200" dirty="0"/>
                    </a:p>
                  </a:txBody>
                  <a:tcPr marL="76200" marR="76200" marT="25400" marB="25400" anchor="ctr">
                    <a:lnL w="0">
                      <a:noFill/>
                    </a:lnL>
                    <a:lnR w="0">
                      <a:noFill/>
                    </a:lnR>
                    <a:lnT w="0">
                      <a:noFill/>
                    </a:lnT>
                    <a:lnB w="9525">
                      <a:solidFill>
                        <a:srgbClr val="D5DDD2"/>
                      </a:solidFill>
                    </a:lnB>
                    <a:noFill/>
                  </a:tcPr>
                </a:tc>
                <a:tc>
                  <a:txBody>
                    <a:bodyPr/>
                    <a:lstStyle/>
                    <a:p>
                      <a:pPr marL="0" indent="0" algn="l">
                        <a:lnSpc>
                          <a:spcPct val="92000"/>
                        </a:lnSpc>
                        <a:buNone/>
                      </a:pPr>
                      <a:r>
                        <a:rPr lang="en-US" sz="1050" b="1" dirty="0">
                          <a:solidFill>
                            <a:schemeClr val="tx1"/>
                          </a:solidFill>
                          <a:latin typeface="Courier New" pitchFamily="49" charset="0"/>
                          <a:cs typeface="Courier New" pitchFamily="49" charset="0"/>
                        </a:rPr>
                        <a:t>kubectl logs -n gpu-operator ds/nvidia-device-plugin-daemonset</a:t>
                      </a:r>
                      <a:endParaRPr lang="en-US" sz="1050" dirty="0"/>
                    </a:p>
                  </a:txBody>
                  <a:tcPr marL="76200" marR="76200" marT="25400" marB="25400" anchor="ctr">
                    <a:lnL w="0">
                      <a:noFill/>
                    </a:lnL>
                    <a:lnR w="0">
                      <a:noFill/>
                    </a:lnR>
                    <a:lnT w="9525" cap="flat" cmpd="sng" algn="ctr">
                      <a:solidFill>
                        <a:srgbClr val="D5DDD2"/>
                      </a:solidFill>
                      <a:prstDash val="solid"/>
                      <a:round/>
                      <a:headEnd type="none" w="med" len="med"/>
                      <a:tailEnd type="none" w="med" len="med"/>
                    </a:lnT>
                    <a:lnB w="9525">
                      <a:solidFill>
                        <a:srgbClr val="D5DDD2"/>
                      </a:solidFill>
                    </a:lnB>
                    <a:noFill/>
                  </a:tcPr>
                </a:tc>
                <a:tc>
                  <a:txBody>
                    <a:bodyPr/>
                    <a:lstStyle/>
                    <a:p>
                      <a:pPr marL="0" indent="0" algn="l">
                        <a:lnSpc>
                          <a:spcPct val="92000"/>
                        </a:lnSpc>
                        <a:buNone/>
                      </a:pPr>
                      <a:r>
                        <a:rPr lang="en-US" sz="1200" dirty="0">
                          <a:solidFill>
                            <a:schemeClr val="tx2"/>
                          </a:solidFill>
                        </a:rPr>
                        <a:t>GPU registration with the kubelet, and GPUs marked unhealthy after XID errors.</a:t>
                      </a:r>
                      <a:endParaRPr lang="en-US" sz="1200" dirty="0"/>
                    </a:p>
                  </a:txBody>
                  <a:tcPr marL="76200" marR="76200" marT="25400" marB="25400" anchor="ctr">
                    <a:lnL w="0">
                      <a:noFill/>
                    </a:lnL>
                    <a:lnR w="0">
                      <a:noFill/>
                    </a:lnR>
                    <a:lnT w="9525" cap="flat" cmpd="sng" algn="ctr">
                      <a:solidFill>
                        <a:srgbClr val="D5DDD2"/>
                      </a:solidFill>
                      <a:prstDash val="solid"/>
                      <a:round/>
                      <a:headEnd type="none" w="med" len="med"/>
                      <a:tailEnd type="none" w="med" len="med"/>
                    </a:lnT>
                    <a:lnB w="9525">
                      <a:solidFill>
                        <a:srgbClr val="D5DDD2"/>
                      </a:solidFill>
                    </a:lnB>
                    <a:noFill/>
                  </a:tcPr>
                </a:tc>
                <a:extLst>
                  <a:ext uri="{0D108BD9-81ED-4DB2-BD59-A6C34878D82A}">
                    <a16:rowId xmlns:a16="http://schemas.microsoft.com/office/drawing/2014/main" val="10005"/>
                  </a:ext>
                </a:extLst>
              </a:tr>
              <a:tr h="381000">
                <a:tc rowSpan="3">
                  <a:txBody>
                    <a:bodyPr/>
                    <a:lstStyle/>
                    <a:p>
                      <a:pPr marL="0" indent="0" algn="l">
                        <a:lnSpc>
                          <a:spcPct val="92000"/>
                        </a:lnSpc>
                        <a:buNone/>
                      </a:pPr>
                      <a:r>
                        <a:rPr lang="en-US" sz="1200" b="1" dirty="0">
                          <a:solidFill>
                            <a:schemeClr val="accent2"/>
                          </a:solidFill>
                        </a:rPr>
                        <a:t>Workloads</a:t>
                      </a:r>
                      <a:endParaRPr lang="en-US" sz="1200" dirty="0"/>
                    </a:p>
                  </a:txBody>
                  <a:tcPr marL="76200" marR="76200" marT="25400" marB="25400" anchor="ctr">
                    <a:lnL w="0">
                      <a:noFill/>
                    </a:lnL>
                    <a:lnR w="0">
                      <a:noFill/>
                    </a:lnR>
                    <a:lnT w="9525" cap="flat" cmpd="sng" algn="ctr">
                      <a:solidFill>
                        <a:srgbClr val="D5DDD2"/>
                      </a:solidFill>
                      <a:prstDash val="solid"/>
                      <a:round/>
                      <a:headEnd type="none" w="med" len="med"/>
                      <a:tailEnd type="none" w="med" len="med"/>
                    </a:lnT>
                    <a:lnB w="9525">
                      <a:solidFill>
                        <a:srgbClr val="D5DDD2"/>
                      </a:solidFill>
                    </a:lnB>
                    <a:noFill/>
                  </a:tcPr>
                </a:tc>
                <a:tc>
                  <a:txBody>
                    <a:bodyPr/>
                    <a:lstStyle/>
                    <a:p>
                      <a:pPr marL="0" indent="0" algn="l">
                        <a:lnSpc>
                          <a:spcPct val="92000"/>
                        </a:lnSpc>
                        <a:buNone/>
                      </a:pPr>
                      <a:r>
                        <a:rPr lang="en-US" sz="1050" b="1" dirty="0">
                          <a:solidFill>
                            <a:schemeClr val="tx1"/>
                          </a:solidFill>
                          <a:latin typeface="Courier New" pitchFamily="49" charset="0"/>
                          <a:cs typeface="Courier New" pitchFamily="49" charset="0"/>
                        </a:rPr>
                        <a:t>kubectl exec -it &lt;pod&gt; -- nvidia-smi</a:t>
                      </a:r>
                      <a:endParaRPr lang="en-US" sz="1050" dirty="0"/>
                    </a:p>
                  </a:txBody>
                  <a:tcPr marL="76200" marR="76200" marT="25400" marB="25400" anchor="ctr">
                    <a:lnL w="0">
                      <a:noFill/>
                    </a:lnL>
                    <a:lnR w="0">
                      <a:noFill/>
                    </a:lnR>
                    <a:lnT w="9525" cap="flat" cmpd="sng" algn="ctr">
                      <a:solidFill>
                        <a:srgbClr val="D5DDD2"/>
                      </a:solidFill>
                      <a:prstDash val="solid"/>
                      <a:round/>
                      <a:headEnd type="none" w="med" len="med"/>
                      <a:tailEnd type="none" w="med" len="med"/>
                    </a:lnT>
                    <a:lnB w="9525">
                      <a:solidFill>
                        <a:srgbClr val="D5DDD2"/>
                      </a:solidFill>
                    </a:lnB>
                    <a:noFill/>
                  </a:tcPr>
                </a:tc>
                <a:tc>
                  <a:txBody>
                    <a:bodyPr/>
                    <a:lstStyle/>
                    <a:p>
                      <a:pPr marL="0" indent="0" algn="l">
                        <a:lnSpc>
                          <a:spcPct val="92000"/>
                        </a:lnSpc>
                        <a:buNone/>
                      </a:pPr>
                      <a:r>
                        <a:rPr lang="en-US" sz="1200" dirty="0">
                          <a:solidFill>
                            <a:schemeClr val="tx2"/>
                          </a:solidFill>
                        </a:rPr>
                        <a:t>Shows which GPU the pod received, with live utilization and memory, from inside the container.</a:t>
                      </a:r>
                      <a:endParaRPr lang="en-US" sz="1200" dirty="0"/>
                    </a:p>
                  </a:txBody>
                  <a:tcPr marL="76200" marR="76200" marT="25400" marB="25400" anchor="ctr">
                    <a:lnL w="0">
                      <a:noFill/>
                    </a:lnL>
                    <a:lnR w="0">
                      <a:noFill/>
                    </a:lnR>
                    <a:lnT w="9525" cap="flat" cmpd="sng" algn="ctr">
                      <a:solidFill>
                        <a:srgbClr val="D5DDD2"/>
                      </a:solidFill>
                      <a:prstDash val="solid"/>
                      <a:round/>
                      <a:headEnd type="none" w="med" len="med"/>
                      <a:tailEnd type="none" w="med" len="med"/>
                    </a:lnT>
                    <a:lnB w="9525">
                      <a:solidFill>
                        <a:srgbClr val="D5DDD2"/>
                      </a:solidFill>
                    </a:lnB>
                    <a:noFill/>
                  </a:tcPr>
                </a:tc>
                <a:extLst>
                  <a:ext uri="{0D108BD9-81ED-4DB2-BD59-A6C34878D82A}">
                    <a16:rowId xmlns:a16="http://schemas.microsoft.com/office/drawing/2014/main" val="10006"/>
                  </a:ext>
                </a:extLst>
              </a:tr>
              <a:tr h="381000">
                <a:tc vMerge="1">
                  <a:txBody>
                    <a:bodyPr/>
                    <a:lstStyle/>
                    <a:p>
                      <a:pPr marL="0" indent="0" algn="l">
                        <a:lnSpc>
                          <a:spcPct val="92000"/>
                        </a:lnSpc>
                        <a:buNone/>
                      </a:pPr>
                      <a:endParaRPr lang="en-US" sz="1200" dirty="0"/>
                    </a:p>
                  </a:txBody>
                  <a:tcPr marL="76200" marR="76200" marT="25400" marB="25400" anchor="ctr">
                    <a:lnL w="0">
                      <a:noFill/>
                    </a:lnL>
                    <a:lnR w="0">
                      <a:noFill/>
                    </a:lnR>
                    <a:lnT w="0">
                      <a:noFill/>
                    </a:lnT>
                    <a:lnB w="9525">
                      <a:solidFill>
                        <a:srgbClr val="D5DDD2"/>
                      </a:solidFill>
                    </a:lnB>
                    <a:noFill/>
                  </a:tcPr>
                </a:tc>
                <a:tc>
                  <a:txBody>
                    <a:bodyPr/>
                    <a:lstStyle/>
                    <a:p>
                      <a:pPr marL="0" indent="0" algn="l">
                        <a:lnSpc>
                          <a:spcPct val="92000"/>
                        </a:lnSpc>
                        <a:buNone/>
                      </a:pPr>
                      <a:r>
                        <a:rPr lang="en-US" sz="1050" b="1" dirty="0">
                          <a:solidFill>
                            <a:schemeClr val="tx1"/>
                          </a:solidFill>
                          <a:latin typeface="Courier New" pitchFamily="49" charset="0"/>
                          <a:cs typeface="Courier New" pitchFamily="49" charset="0"/>
                        </a:rPr>
                        <a:t>kubectl get events -A --field-selector reason=FailedScheduling</a:t>
                      </a:r>
                      <a:endParaRPr lang="en-US" sz="1050" dirty="0"/>
                    </a:p>
                  </a:txBody>
                  <a:tcPr marL="76200" marR="76200" marT="25400" marB="25400" anchor="ctr">
                    <a:lnL w="0">
                      <a:noFill/>
                    </a:lnL>
                    <a:lnR w="0">
                      <a:noFill/>
                    </a:lnR>
                    <a:lnT w="9525" cap="flat" cmpd="sng" algn="ctr">
                      <a:solidFill>
                        <a:srgbClr val="D5DDD2"/>
                      </a:solidFill>
                      <a:prstDash val="solid"/>
                      <a:round/>
                      <a:headEnd type="none" w="med" len="med"/>
                      <a:tailEnd type="none" w="med" len="med"/>
                    </a:lnT>
                    <a:lnB w="9525">
                      <a:solidFill>
                        <a:srgbClr val="D5DDD2"/>
                      </a:solidFill>
                    </a:lnB>
                    <a:noFill/>
                  </a:tcPr>
                </a:tc>
                <a:tc>
                  <a:txBody>
                    <a:bodyPr/>
                    <a:lstStyle/>
                    <a:p>
                      <a:pPr marL="0" indent="0" algn="l">
                        <a:lnSpc>
                          <a:spcPct val="92000"/>
                        </a:lnSpc>
                        <a:buNone/>
                      </a:pPr>
                      <a:r>
                        <a:rPr lang="en-US" sz="1200" dirty="0">
                          <a:solidFill>
                            <a:schemeClr val="tx2"/>
                          </a:solidFill>
                        </a:rPr>
                        <a:t>Pods stuck Pending; "Insufficient nvidia.com/gpu" means no free GPU matches the request.</a:t>
                      </a:r>
                      <a:endParaRPr lang="en-US" sz="1200" dirty="0"/>
                    </a:p>
                  </a:txBody>
                  <a:tcPr marL="76200" marR="76200" marT="25400" marB="25400" anchor="ctr">
                    <a:lnL w="0">
                      <a:noFill/>
                    </a:lnL>
                    <a:lnR w="0">
                      <a:noFill/>
                    </a:lnR>
                    <a:lnT w="9525" cap="flat" cmpd="sng" algn="ctr">
                      <a:solidFill>
                        <a:srgbClr val="D5DDD2"/>
                      </a:solidFill>
                      <a:prstDash val="solid"/>
                      <a:round/>
                      <a:headEnd type="none" w="med" len="med"/>
                      <a:tailEnd type="none" w="med" len="med"/>
                    </a:lnT>
                    <a:lnB w="9525">
                      <a:solidFill>
                        <a:srgbClr val="D5DDD2"/>
                      </a:solidFill>
                    </a:lnB>
                    <a:noFill/>
                  </a:tcPr>
                </a:tc>
                <a:extLst>
                  <a:ext uri="{0D108BD9-81ED-4DB2-BD59-A6C34878D82A}">
                    <a16:rowId xmlns:a16="http://schemas.microsoft.com/office/drawing/2014/main" val="10007"/>
                  </a:ext>
                </a:extLst>
              </a:tr>
              <a:tr h="381000">
                <a:tc vMerge="1">
                  <a:txBody>
                    <a:bodyPr/>
                    <a:lstStyle/>
                    <a:p>
                      <a:pPr marL="0" indent="0" algn="l">
                        <a:lnSpc>
                          <a:spcPct val="92000"/>
                        </a:lnSpc>
                        <a:buNone/>
                      </a:pPr>
                      <a:endParaRPr lang="en-US" sz="1200" dirty="0"/>
                    </a:p>
                  </a:txBody>
                  <a:tcPr marL="76200" marR="76200" marT="25400" marB="25400" anchor="ctr">
                    <a:lnL w="0">
                      <a:noFill/>
                    </a:lnL>
                    <a:lnR w="0">
                      <a:noFill/>
                    </a:lnR>
                    <a:lnT w="0">
                      <a:noFill/>
                    </a:lnT>
                    <a:lnB w="9525">
                      <a:solidFill>
                        <a:srgbClr val="D5DDD2"/>
                      </a:solidFill>
                    </a:lnB>
                    <a:noFill/>
                  </a:tcPr>
                </a:tc>
                <a:tc>
                  <a:txBody>
                    <a:bodyPr/>
                    <a:lstStyle/>
                    <a:p>
                      <a:pPr marL="0" indent="0" algn="l">
                        <a:lnSpc>
                          <a:spcPct val="92000"/>
                        </a:lnSpc>
                        <a:buNone/>
                      </a:pPr>
                      <a:r>
                        <a:rPr lang="en-US" sz="1050" b="1" dirty="0">
                          <a:solidFill>
                            <a:schemeClr val="tx1"/>
                          </a:solidFill>
                          <a:latin typeface="Courier New" pitchFamily="49" charset="0"/>
                          <a:cs typeface="Courier New" pitchFamily="49" charset="0"/>
                        </a:rPr>
                        <a:t>kubectl top pod -A</a:t>
                      </a:r>
                      <a:endParaRPr lang="en-US" sz="1050" dirty="0"/>
                    </a:p>
                  </a:txBody>
                  <a:tcPr marL="76200" marR="76200" marT="25400" marB="25400" anchor="ctr">
                    <a:lnL w="0">
                      <a:noFill/>
                    </a:lnL>
                    <a:lnR w="0">
                      <a:noFill/>
                    </a:lnR>
                    <a:lnT w="9525" cap="flat" cmpd="sng" algn="ctr">
                      <a:solidFill>
                        <a:srgbClr val="D5DDD2"/>
                      </a:solidFill>
                      <a:prstDash val="solid"/>
                      <a:round/>
                      <a:headEnd type="none" w="med" len="med"/>
                      <a:tailEnd type="none" w="med" len="med"/>
                    </a:lnT>
                    <a:lnB w="9525">
                      <a:solidFill>
                        <a:srgbClr val="D5DDD2"/>
                      </a:solidFill>
                    </a:lnB>
                    <a:noFill/>
                  </a:tcPr>
                </a:tc>
                <a:tc>
                  <a:txBody>
                    <a:bodyPr/>
                    <a:lstStyle/>
                    <a:p>
                      <a:pPr marL="0" indent="0" algn="l">
                        <a:lnSpc>
                          <a:spcPct val="92000"/>
                        </a:lnSpc>
                        <a:buNone/>
                      </a:pPr>
                      <a:r>
                        <a:rPr lang="en-US" sz="1200" dirty="0">
                          <a:solidFill>
                            <a:schemeClr val="tx2"/>
                          </a:solidFill>
                        </a:rPr>
                        <a:t>CPU and memory only: metrics-server does not report GPUs, so use DCGM metrics for GPU usage.</a:t>
                      </a:r>
                      <a:endParaRPr lang="en-US" sz="1200" dirty="0"/>
                    </a:p>
                  </a:txBody>
                  <a:tcPr marL="76200" marR="76200" marT="25400" marB="25400" anchor="ctr">
                    <a:lnL w="0">
                      <a:noFill/>
                    </a:lnL>
                    <a:lnR w="0">
                      <a:noFill/>
                    </a:lnR>
                    <a:lnT w="9525" cap="flat" cmpd="sng" algn="ctr">
                      <a:solidFill>
                        <a:srgbClr val="D5DDD2"/>
                      </a:solidFill>
                      <a:prstDash val="solid"/>
                      <a:round/>
                      <a:headEnd type="none" w="med" len="med"/>
                      <a:tailEnd type="none" w="med" len="med"/>
                    </a:lnT>
                    <a:lnB w="9525">
                      <a:solidFill>
                        <a:srgbClr val="D5DDD2"/>
                      </a:solidFill>
                    </a:lnB>
                    <a:noFill/>
                  </a:tcPr>
                </a:tc>
                <a:extLst>
                  <a:ext uri="{0D108BD9-81ED-4DB2-BD59-A6C34878D82A}">
                    <a16:rowId xmlns:a16="http://schemas.microsoft.com/office/drawing/2014/main" val="10008"/>
                  </a:ext>
                </a:extLst>
              </a:tr>
              <a:tr h="381000">
                <a:tc rowSpan="2">
                  <a:txBody>
                    <a:bodyPr/>
                    <a:lstStyle/>
                    <a:p>
                      <a:pPr marL="0" indent="0" algn="l">
                        <a:lnSpc>
                          <a:spcPct val="92000"/>
                        </a:lnSpc>
                        <a:buNone/>
                      </a:pPr>
                      <a:r>
                        <a:rPr lang="en-US" sz="1200" b="1" dirty="0">
                          <a:solidFill>
                            <a:schemeClr val="accent2"/>
                          </a:solidFill>
                        </a:rPr>
                        <a:t>Metrics</a:t>
                      </a:r>
                      <a:endParaRPr lang="en-US" sz="1200" dirty="0"/>
                    </a:p>
                  </a:txBody>
                  <a:tcPr marL="76200" marR="76200" marT="25400" marB="25400" anchor="ctr">
                    <a:lnL w="0">
                      <a:noFill/>
                    </a:lnL>
                    <a:lnR w="0">
                      <a:noFill/>
                    </a:lnR>
                    <a:lnT w="9525" cap="flat" cmpd="sng" algn="ctr">
                      <a:solidFill>
                        <a:srgbClr val="D5DDD2"/>
                      </a:solidFill>
                      <a:prstDash val="solid"/>
                      <a:round/>
                      <a:headEnd type="none" w="med" len="med"/>
                      <a:tailEnd type="none" w="med" len="med"/>
                    </a:lnT>
                    <a:lnB w="9525">
                      <a:solidFill>
                        <a:srgbClr val="D5DDD2"/>
                      </a:solidFill>
                    </a:lnB>
                    <a:noFill/>
                  </a:tcPr>
                </a:tc>
                <a:tc>
                  <a:txBody>
                    <a:bodyPr/>
                    <a:lstStyle/>
                    <a:p>
                      <a:pPr marL="0" indent="0" algn="l">
                        <a:lnSpc>
                          <a:spcPct val="92000"/>
                        </a:lnSpc>
                        <a:buNone/>
                      </a:pPr>
                      <a:r>
                        <a:rPr lang="en-US" sz="1050" b="1" dirty="0">
                          <a:solidFill>
                            <a:schemeClr val="tx1"/>
                          </a:solidFill>
                          <a:latin typeface="Courier New" pitchFamily="49" charset="0"/>
                          <a:cs typeface="Courier New" pitchFamily="49" charset="0"/>
                        </a:rPr>
                        <a:t>kubectl port-forward -n gpu-operator svc/nvidia-dcgm-exporter 9400</a:t>
                      </a:r>
                      <a:endParaRPr lang="en-US" sz="1050" dirty="0"/>
                    </a:p>
                  </a:txBody>
                  <a:tcPr marL="76200" marR="76200" marT="25400" marB="25400" anchor="ctr">
                    <a:lnL w="0">
                      <a:noFill/>
                    </a:lnL>
                    <a:lnR w="0">
                      <a:noFill/>
                    </a:lnR>
                    <a:lnT w="9525" cap="flat" cmpd="sng" algn="ctr">
                      <a:solidFill>
                        <a:srgbClr val="D5DDD2"/>
                      </a:solidFill>
                      <a:prstDash val="solid"/>
                      <a:round/>
                      <a:headEnd type="none" w="med" len="med"/>
                      <a:tailEnd type="none" w="med" len="med"/>
                    </a:lnT>
                    <a:lnB w="9525">
                      <a:solidFill>
                        <a:srgbClr val="D5DDD2"/>
                      </a:solidFill>
                    </a:lnB>
                    <a:noFill/>
                  </a:tcPr>
                </a:tc>
                <a:tc>
                  <a:txBody>
                    <a:bodyPr/>
                    <a:lstStyle/>
                    <a:p>
                      <a:pPr marL="0" indent="0" algn="l">
                        <a:lnSpc>
                          <a:spcPct val="92000"/>
                        </a:lnSpc>
                        <a:buNone/>
                      </a:pPr>
                      <a:r>
                        <a:rPr lang="en-US" sz="1200" dirty="0">
                          <a:solidFill>
                            <a:schemeClr val="tx2"/>
                          </a:solidFill>
                        </a:rPr>
                        <a:t>Then curl localhost:9400/metrics for raw per-GPU metrics labelled by pod: utilization, memory, power, XID.</a:t>
                      </a:r>
                      <a:endParaRPr lang="en-US" sz="1200" dirty="0"/>
                    </a:p>
                  </a:txBody>
                  <a:tcPr marL="76200" marR="76200" marT="25400" marB="25400" anchor="ctr">
                    <a:lnL w="0">
                      <a:noFill/>
                    </a:lnL>
                    <a:lnR w="0">
                      <a:noFill/>
                    </a:lnR>
                    <a:lnT w="9525" cap="flat" cmpd="sng" algn="ctr">
                      <a:solidFill>
                        <a:srgbClr val="D5DDD2"/>
                      </a:solidFill>
                      <a:prstDash val="solid"/>
                      <a:round/>
                      <a:headEnd type="none" w="med" len="med"/>
                      <a:tailEnd type="none" w="med" len="med"/>
                    </a:lnT>
                    <a:lnB w="9525">
                      <a:solidFill>
                        <a:srgbClr val="D5DDD2"/>
                      </a:solidFill>
                    </a:lnB>
                    <a:noFill/>
                  </a:tcPr>
                </a:tc>
                <a:extLst>
                  <a:ext uri="{0D108BD9-81ED-4DB2-BD59-A6C34878D82A}">
                    <a16:rowId xmlns:a16="http://schemas.microsoft.com/office/drawing/2014/main" val="10009"/>
                  </a:ext>
                </a:extLst>
              </a:tr>
              <a:tr h="381000">
                <a:tc vMerge="1">
                  <a:txBody>
                    <a:bodyPr/>
                    <a:lstStyle/>
                    <a:p>
                      <a:pPr marL="0" indent="0" algn="l">
                        <a:lnSpc>
                          <a:spcPct val="92000"/>
                        </a:lnSpc>
                        <a:buNone/>
                      </a:pPr>
                      <a:endParaRPr lang="en-US" sz="1200" dirty="0"/>
                    </a:p>
                  </a:txBody>
                  <a:tcPr marL="76200" marR="76200" marT="25400" marB="25400" anchor="ctr">
                    <a:lnL w="0">
                      <a:noFill/>
                    </a:lnL>
                    <a:lnR w="0">
                      <a:noFill/>
                    </a:lnR>
                    <a:lnT w="0">
                      <a:noFill/>
                    </a:lnT>
                    <a:lnB w="9525">
                      <a:solidFill>
                        <a:srgbClr val="D5DDD2"/>
                      </a:solidFill>
                    </a:lnB>
                    <a:noFill/>
                  </a:tcPr>
                </a:tc>
                <a:tc>
                  <a:txBody>
                    <a:bodyPr/>
                    <a:lstStyle/>
                    <a:p>
                      <a:pPr marL="0" indent="0" algn="l">
                        <a:lnSpc>
                          <a:spcPct val="92000"/>
                        </a:lnSpc>
                        <a:buNone/>
                      </a:pPr>
                      <a:r>
                        <a:rPr lang="en-US" sz="1050" b="1" dirty="0">
                          <a:solidFill>
                            <a:schemeClr val="tx1"/>
                          </a:solidFill>
                          <a:latin typeface="Courier New" pitchFamily="49" charset="0"/>
                          <a:cs typeface="Courier New" pitchFamily="49" charset="0"/>
                        </a:rPr>
                        <a:t>avg by (pod) (DCGM_FI_PROF_PIPE_TENSOR_ACTIVE)</a:t>
                      </a:r>
                      <a:endParaRPr lang="en-US" sz="1050" dirty="0"/>
                    </a:p>
                  </a:txBody>
                  <a:tcPr marL="76200" marR="76200" marT="25400" marB="25400" anchor="ctr">
                    <a:lnL w="0">
                      <a:noFill/>
                    </a:lnL>
                    <a:lnR w="0">
                      <a:noFill/>
                    </a:lnR>
                    <a:lnT w="9525" cap="flat" cmpd="sng" algn="ctr">
                      <a:solidFill>
                        <a:srgbClr val="D5DDD2"/>
                      </a:solidFill>
                      <a:prstDash val="solid"/>
                      <a:round/>
                      <a:headEnd type="none" w="med" len="med"/>
                      <a:tailEnd type="none" w="med" len="med"/>
                    </a:lnT>
                    <a:lnB w="9525">
                      <a:solidFill>
                        <a:srgbClr val="D5DDD2"/>
                      </a:solidFill>
                    </a:lnB>
                    <a:noFill/>
                  </a:tcPr>
                </a:tc>
                <a:tc>
                  <a:txBody>
                    <a:bodyPr/>
                    <a:lstStyle/>
                    <a:p>
                      <a:pPr marL="0" indent="0" algn="l">
                        <a:lnSpc>
                          <a:spcPct val="92000"/>
                        </a:lnSpc>
                        <a:buNone/>
                      </a:pPr>
                      <a:r>
                        <a:rPr lang="en-US" sz="1200" dirty="0">
                          <a:solidFill>
                            <a:schemeClr val="tx2"/>
                          </a:solidFill>
                        </a:rPr>
                        <a:t>PromQL for Prometheus or Grafana: Tensor Core activity per pod, the clearest sign an AI job uses the GPU well.</a:t>
                      </a:r>
                      <a:endParaRPr lang="en-US" sz="1200" dirty="0"/>
                    </a:p>
                  </a:txBody>
                  <a:tcPr marL="76200" marR="76200" marT="25400" marB="25400" anchor="ctr">
                    <a:lnL w="0">
                      <a:noFill/>
                    </a:lnL>
                    <a:lnR w="0">
                      <a:noFill/>
                    </a:lnR>
                    <a:lnT w="9525" cap="flat" cmpd="sng" algn="ctr">
                      <a:solidFill>
                        <a:srgbClr val="D5DDD2"/>
                      </a:solidFill>
                      <a:prstDash val="solid"/>
                      <a:round/>
                      <a:headEnd type="none" w="med" len="med"/>
                      <a:tailEnd type="none" w="med" len="med"/>
                    </a:lnT>
                    <a:lnB w="9525">
                      <a:solidFill>
                        <a:srgbClr val="D5DDD2"/>
                      </a:solidFill>
                    </a:lnB>
                    <a:noFill/>
                  </a:tcPr>
                </a:tc>
                <a:extLst>
                  <a:ext uri="{0D108BD9-81ED-4DB2-BD59-A6C34878D82A}">
                    <a16:rowId xmlns:a16="http://schemas.microsoft.com/office/drawing/2014/main" val="10010"/>
                  </a:ext>
                </a:extLst>
              </a:tr>
            </a:tbl>
          </a:graphicData>
        </a:graphic>
      </p:graphicFrame>
      <p:sp>
        <p:nvSpPr>
          <p:cNvPr id="101" name="Footnote"/>
          <p:cNvSpPr txBox="1"/>
          <p:nvPr/>
        </p:nvSpPr>
        <p:spPr>
          <a:xfrm>
            <a:off x="548640" y="6019800"/>
            <a:ext cx="11064240" cy="203200"/>
          </a:xfrm>
          <a:prstGeom prst="rect">
            <a:avLst/>
          </a:prstGeom>
          <a:noFill/>
        </p:spPr>
        <p:txBody>
          <a:bodyPr wrap="square" lIns="0" tIns="0" rIns="0" bIns="0" rtlCol="0" anchor="t">
            <a:noAutofit/>
          </a:bodyPr>
          <a:lstStyle/>
          <a:p>
            <a:pPr marL="0" indent="0">
              <a:buNone/>
            </a:pPr>
            <a:r>
              <a:rPr lang="en-US" sz="1000" dirty="0">
                <a:solidFill>
                  <a:schemeClr val="accent5"/>
                </a:solidFill>
              </a:rPr>
              <a:t>Assumes the NVIDIA GPU Operator installed in the gpu-operator namespace with default names; 9400 is the DCGM exporter's default port.</a:t>
            </a:r>
          </a:p>
        </p:txBody>
      </p:sp>
    </p:spTree>
    <p:extLst>
      <p:ext uri="{BB962C8B-B14F-4D97-AF65-F5344CB8AC3E}">
        <p14:creationId xmlns:p14="http://schemas.microsoft.com/office/powerpoint/2010/main" val="2932595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Power, cooling and facility planning</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AI racks draw many times the power of traditional enterprise racks</a:t>
            </a:r>
            <a:endParaRPr lang="en-US" sz="1600" dirty="0"/>
          </a:p>
        </p:txBody>
      </p:sp>
      <p:graphicFrame>
        <p:nvGraphicFramePr>
          <p:cNvPr id="4" name="Chart 0"/>
          <p:cNvGraphicFramePr/>
          <p:nvPr/>
        </p:nvGraphicFramePr>
        <p:xfrm>
          <a:off x="548640" y="1554480"/>
          <a:ext cx="658368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548640" y="5806440"/>
            <a:ext cx="6583680" cy="411480"/>
          </a:xfrm>
          <a:prstGeom prst="rect">
            <a:avLst/>
          </a:prstGeom>
          <a:noFill/>
          <a:ln/>
        </p:spPr>
        <p:txBody>
          <a:bodyPr wrap="square" lIns="0" tIns="0" rIns="0" bIns="0" rtlCol="0" anchor="t"/>
          <a:lstStyle/>
          <a:p>
            <a:pPr marL="0" indent="0">
              <a:buNone/>
            </a:pPr>
            <a:r>
              <a:rPr lang="en-US" sz="1100" dirty="0">
                <a:solidFill>
                  <a:schemeClr val="accent5"/>
                </a:solidFill>
              </a:rPr>
              <a:t>Estimates from published maximum system power (~10.2 kW HGX H100, ~14.3 kW DGX B200), excluding networking.</a:t>
            </a:r>
            <a:endParaRPr lang="en-US" sz="1100" dirty="0"/>
          </a:p>
        </p:txBody>
      </p:sp>
      <p:sp>
        <p:nvSpPr>
          <p:cNvPr id="6" name="card"/>
          <p:cNvSpPr/>
          <p:nvPr/>
        </p:nvSpPr>
        <p:spPr>
          <a:xfrm>
            <a:off x="7406640" y="1572768"/>
            <a:ext cx="4206240" cy="2240280"/>
          </a:xfrm>
          <a:prstGeom prst="roundRect">
            <a:avLst>
              <a:gd name="adj" fmla="val 3265"/>
            </a:avLst>
          </a:prstGeom>
          <a:solidFill>
            <a:schemeClr val="bg2"/>
          </a:solidFill>
          <a:ln/>
        </p:spPr>
        <p:txBody>
          <a:bodyPr/>
          <a:lstStyle/>
          <a:p>
            <a:endParaRPr lang="en-US"/>
          </a:p>
        </p:txBody>
      </p:sp>
      <p:sp>
        <p:nvSpPr>
          <p:cNvPr id="7" name="Shape 4"/>
          <p:cNvSpPr/>
          <p:nvPr/>
        </p:nvSpPr>
        <p:spPr>
          <a:xfrm>
            <a:off x="7607808" y="1773936"/>
            <a:ext cx="548640" cy="548640"/>
          </a:xfrm>
          <a:prstGeom prst="ellipse">
            <a:avLst/>
          </a:prstGeom>
          <a:solidFill>
            <a:schemeClr val="accent1"/>
          </a:solidFill>
          <a:ln/>
        </p:spPr>
        <p:txBody>
          <a:bodyPr/>
          <a:lstStyle/>
          <a:p>
            <a:endParaRPr lang="en-US"/>
          </a:p>
        </p:txBody>
      </p:sp>
      <p:pic>
        <p:nvPicPr>
          <p:cNvPr id="8" name="Image 0" descr="preencoded.png"/>
          <p:cNvPicPr>
            <a:picLocks noChangeAspect="1"/>
          </p:cNvPicPr>
          <p:nvPr/>
        </p:nvPicPr>
        <p:blipFill>
          <a:blip r:embed="rId4"/>
          <a:stretch>
            <a:fillRect/>
          </a:stretch>
        </p:blipFill>
        <p:spPr>
          <a:xfrm>
            <a:off x="7728509" y="1894637"/>
            <a:ext cx="307238" cy="307238"/>
          </a:xfrm>
          <a:prstGeom prst="rect">
            <a:avLst/>
          </a:prstGeom>
        </p:spPr>
      </p:pic>
      <p:sp>
        <p:nvSpPr>
          <p:cNvPr id="9" name="Text 5"/>
          <p:cNvSpPr txBox="1"/>
          <p:nvPr/>
        </p:nvSpPr>
        <p:spPr>
          <a:xfrm>
            <a:off x="8275320" y="1773936"/>
            <a:ext cx="3154680" cy="548640"/>
          </a:xfrm>
          <a:prstGeom prst="rect">
            <a:avLst/>
          </a:prstGeom>
          <a:noFill/>
          <a:ln/>
        </p:spPr>
        <p:txBody>
          <a:bodyPr wrap="square" lIns="0" tIns="0" rIns="0" bIns="0" rtlCol="0" anchor="ctr"/>
          <a:lstStyle/>
          <a:p>
            <a:pPr marL="0" indent="0">
              <a:buNone/>
            </a:pPr>
            <a:r>
              <a:rPr lang="en-US" sz="1600" b="1" dirty="0">
                <a:solidFill>
                  <a:schemeClr val="tx1"/>
                </a:solidFill>
              </a:rPr>
              <a:t>Cooling options</a:t>
            </a:r>
            <a:endParaRPr lang="en-US" sz="1600" dirty="0"/>
          </a:p>
        </p:txBody>
      </p:sp>
      <p:sp>
        <p:nvSpPr>
          <p:cNvPr id="10" name="Text 6"/>
          <p:cNvSpPr txBox="1"/>
          <p:nvPr/>
        </p:nvSpPr>
        <p:spPr>
          <a:xfrm>
            <a:off x="7607808" y="2468880"/>
            <a:ext cx="3803904" cy="1207008"/>
          </a:xfrm>
          <a:prstGeom prst="rect">
            <a:avLst/>
          </a:prstGeom>
          <a:noFill/>
          <a:ln/>
        </p:spPr>
        <p:txBody>
          <a:bodyPr wrap="square" lIns="0" tIns="0" rIns="0" bIns="0" rtlCol="0" anchor="t"/>
          <a:lstStyle/>
          <a:p>
            <a:pPr marL="342900" indent="-342900">
              <a:spcAft>
                <a:spcPts val="500"/>
              </a:spcAft>
              <a:buSzPct val="100000"/>
              <a:buChar char="•"/>
            </a:pPr>
            <a:r>
              <a:rPr lang="en-US" sz="1300" b="1" dirty="0">
                <a:solidFill>
                  <a:schemeClr val="tx2"/>
                </a:solidFill>
              </a:rPr>
              <a:t>Air: </a:t>
            </a:r>
            <a:r>
              <a:rPr lang="en-US" sz="1300" dirty="0">
                <a:solidFill>
                  <a:schemeClr val="tx2"/>
                </a:solidFill>
              </a:rPr>
              <a:t>practical up to ~30–40 kW per rack with hot-aisle containment.</a:t>
            </a:r>
            <a:endParaRPr lang="en-US" sz="1300" dirty="0"/>
          </a:p>
          <a:p>
            <a:pPr marL="342900" indent="-342900">
              <a:spcAft>
                <a:spcPts val="500"/>
              </a:spcAft>
              <a:buSzPct val="100000"/>
              <a:buChar char="•"/>
            </a:pPr>
            <a:r>
              <a:rPr lang="en-US" sz="1300" b="1" dirty="0">
                <a:solidFill>
                  <a:schemeClr val="tx2"/>
                </a:solidFill>
              </a:rPr>
              <a:t>Direct liquid cooling: </a:t>
            </a:r>
            <a:r>
              <a:rPr lang="en-US" sz="1300" dirty="0">
                <a:solidFill>
                  <a:schemeClr val="tx2"/>
                </a:solidFill>
              </a:rPr>
              <a:t>cold plates on GPUs and CPUs; needed for NVL72-class racks.</a:t>
            </a:r>
            <a:endParaRPr lang="en-US" sz="1300" dirty="0"/>
          </a:p>
        </p:txBody>
      </p:sp>
      <p:sp>
        <p:nvSpPr>
          <p:cNvPr id="11" name="card"/>
          <p:cNvSpPr/>
          <p:nvPr/>
        </p:nvSpPr>
        <p:spPr>
          <a:xfrm>
            <a:off x="7406640" y="3931920"/>
            <a:ext cx="4206240" cy="2240280"/>
          </a:xfrm>
          <a:prstGeom prst="roundRect">
            <a:avLst>
              <a:gd name="adj" fmla="val 3265"/>
            </a:avLst>
          </a:prstGeom>
          <a:solidFill>
            <a:schemeClr val="bg2"/>
          </a:solidFill>
          <a:ln/>
        </p:spPr>
        <p:txBody>
          <a:bodyPr/>
          <a:lstStyle/>
          <a:p>
            <a:endParaRPr lang="en-US"/>
          </a:p>
        </p:txBody>
      </p:sp>
      <p:sp>
        <p:nvSpPr>
          <p:cNvPr id="12" name="Shape 8"/>
          <p:cNvSpPr/>
          <p:nvPr/>
        </p:nvSpPr>
        <p:spPr>
          <a:xfrm>
            <a:off x="7607808" y="4133088"/>
            <a:ext cx="548640" cy="548640"/>
          </a:xfrm>
          <a:prstGeom prst="ellipse">
            <a:avLst/>
          </a:prstGeom>
          <a:solidFill>
            <a:schemeClr val="accent1"/>
          </a:solidFill>
          <a:ln/>
        </p:spPr>
        <p:txBody>
          <a:bodyPr/>
          <a:lstStyle/>
          <a:p>
            <a:endParaRPr lang="en-US"/>
          </a:p>
        </p:txBody>
      </p:sp>
      <p:pic>
        <p:nvPicPr>
          <p:cNvPr id="13" name="Image 1" descr="preencoded.png"/>
          <p:cNvPicPr>
            <a:picLocks noChangeAspect="1"/>
          </p:cNvPicPr>
          <p:nvPr/>
        </p:nvPicPr>
        <p:blipFill>
          <a:blip r:embed="rId5"/>
          <a:stretch>
            <a:fillRect/>
          </a:stretch>
        </p:blipFill>
        <p:spPr>
          <a:xfrm>
            <a:off x="7728509" y="4253789"/>
            <a:ext cx="307238" cy="307238"/>
          </a:xfrm>
          <a:prstGeom prst="rect">
            <a:avLst/>
          </a:prstGeom>
        </p:spPr>
      </p:pic>
      <p:sp>
        <p:nvSpPr>
          <p:cNvPr id="14" name="Text 9"/>
          <p:cNvSpPr txBox="1"/>
          <p:nvPr/>
        </p:nvSpPr>
        <p:spPr>
          <a:xfrm>
            <a:off x="8275320" y="4133088"/>
            <a:ext cx="3154680" cy="548640"/>
          </a:xfrm>
          <a:prstGeom prst="rect">
            <a:avLst/>
          </a:prstGeom>
          <a:noFill/>
          <a:ln/>
        </p:spPr>
        <p:txBody>
          <a:bodyPr wrap="square" lIns="0" tIns="0" rIns="0" bIns="0" rtlCol="0" anchor="ctr"/>
          <a:lstStyle/>
          <a:p>
            <a:pPr marL="0" indent="0">
              <a:buNone/>
            </a:pPr>
            <a:r>
              <a:rPr lang="en-US" sz="1600" b="1" dirty="0">
                <a:solidFill>
                  <a:schemeClr val="tx1"/>
                </a:solidFill>
              </a:rPr>
              <a:t>Planning checklist</a:t>
            </a:r>
            <a:endParaRPr lang="en-US" sz="1600" dirty="0"/>
          </a:p>
        </p:txBody>
      </p:sp>
      <p:sp>
        <p:nvSpPr>
          <p:cNvPr id="15" name="Text 10"/>
          <p:cNvSpPr txBox="1"/>
          <p:nvPr/>
        </p:nvSpPr>
        <p:spPr>
          <a:xfrm>
            <a:off x="7607808" y="4828032"/>
            <a:ext cx="3803904" cy="1207008"/>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2"/>
                </a:solidFill>
              </a:rPr>
              <a:t>Power per rack and redundancy (N+1, 2N)</a:t>
            </a:r>
            <a:endParaRPr lang="en-US" sz="1300" dirty="0"/>
          </a:p>
          <a:p>
            <a:pPr marL="342900" indent="-342900">
              <a:spcAft>
                <a:spcPts val="500"/>
              </a:spcAft>
              <a:buSzPct val="100000"/>
              <a:buChar char="•"/>
            </a:pPr>
            <a:r>
              <a:rPr lang="en-US" sz="1300" dirty="0">
                <a:solidFill>
                  <a:schemeClr val="tx2"/>
                </a:solidFill>
              </a:rPr>
              <a:t>Floor loading: liquid-cooled racks exceed 1,000 kg</a:t>
            </a:r>
            <a:endParaRPr lang="en-US" sz="1300" dirty="0"/>
          </a:p>
          <a:p>
            <a:pPr marL="342900" indent="-342900">
              <a:spcAft>
                <a:spcPts val="500"/>
              </a:spcAft>
              <a:buSzPct val="100000"/>
              <a:buChar char="•"/>
            </a:pPr>
            <a:r>
              <a:rPr lang="en-US" sz="1300" dirty="0">
                <a:solidFill>
                  <a:schemeClr val="tx2"/>
                </a:solidFill>
              </a:rPr>
              <a:t>Lead time for power and cooling upgrades</a:t>
            </a:r>
            <a:endParaRPr lang="en-US" sz="1300" dirty="0"/>
          </a:p>
          <a:p>
            <a:pPr marL="342900" indent="-342900">
              <a:spcAft>
                <a:spcPts val="500"/>
              </a:spcAft>
              <a:buSzPct val="100000"/>
              <a:buChar char="•"/>
            </a:pPr>
            <a:r>
              <a:rPr lang="en-US" sz="1300" dirty="0">
                <a:solidFill>
                  <a:schemeClr val="tx2"/>
                </a:solidFill>
              </a:rPr>
              <a:t>PUE and sustainability targets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Deployment models: on-premises, cloud and hybrid</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Most enterprises end up hybrid: steady base load on-premises, bursts and experiments in the cloud</a:t>
            </a:r>
            <a:endParaRPr lang="en-US" sz="1600" dirty="0"/>
          </a:p>
        </p:txBody>
      </p:sp>
      <p:sp>
        <p:nvSpPr>
          <p:cNvPr id="4" name="card"/>
          <p:cNvSpPr/>
          <p:nvPr/>
        </p:nvSpPr>
        <p:spPr>
          <a:xfrm>
            <a:off x="548640" y="1572768"/>
            <a:ext cx="3566160" cy="3794760"/>
          </a:xfrm>
          <a:prstGeom prst="roundRect">
            <a:avLst>
              <a:gd name="adj" fmla="val 2051"/>
            </a:avLst>
          </a:prstGeom>
          <a:solidFill>
            <a:schemeClr val="bg2"/>
          </a:solidFill>
          <a:ln/>
        </p:spPr>
        <p:txBody>
          <a:bodyPr/>
          <a:lstStyle/>
          <a:p>
            <a:endParaRPr lang="en-US"/>
          </a:p>
        </p:txBody>
      </p:sp>
      <p:sp>
        <p:nvSpPr>
          <p:cNvPr id="5" name="Shape 3"/>
          <p:cNvSpPr/>
          <p:nvPr/>
        </p:nvSpPr>
        <p:spPr>
          <a:xfrm>
            <a:off x="749808" y="1773936"/>
            <a:ext cx="548640" cy="548640"/>
          </a:xfrm>
          <a:prstGeom prst="ellipse">
            <a:avLst/>
          </a:prstGeom>
          <a:solidFill>
            <a:schemeClr val="accent1"/>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870509" y="1894637"/>
            <a:ext cx="307238" cy="307238"/>
          </a:xfrm>
          <a:prstGeom prst="rect">
            <a:avLst/>
          </a:prstGeom>
        </p:spPr>
      </p:pic>
      <p:sp>
        <p:nvSpPr>
          <p:cNvPr id="7" name="Text 4"/>
          <p:cNvSpPr txBox="1"/>
          <p:nvPr/>
        </p:nvSpPr>
        <p:spPr>
          <a:xfrm>
            <a:off x="1417320" y="1773936"/>
            <a:ext cx="2514600" cy="548640"/>
          </a:xfrm>
          <a:prstGeom prst="rect">
            <a:avLst/>
          </a:prstGeom>
          <a:noFill/>
          <a:ln/>
        </p:spPr>
        <p:txBody>
          <a:bodyPr wrap="square" lIns="0" tIns="0" rIns="0" bIns="0" rtlCol="0" anchor="ctr"/>
          <a:lstStyle/>
          <a:p>
            <a:pPr marL="0" indent="0">
              <a:buNone/>
            </a:pPr>
            <a:r>
              <a:rPr lang="en-US" sz="1700" b="1" dirty="0">
                <a:solidFill>
                  <a:schemeClr val="tx1"/>
                </a:solidFill>
              </a:rPr>
              <a:t>On-premises / colocation</a:t>
            </a:r>
            <a:endParaRPr lang="en-US" sz="1700" dirty="0"/>
          </a:p>
        </p:txBody>
      </p:sp>
      <p:sp>
        <p:nvSpPr>
          <p:cNvPr id="8" name="Text 5"/>
          <p:cNvSpPr txBox="1"/>
          <p:nvPr/>
        </p:nvSpPr>
        <p:spPr>
          <a:xfrm>
            <a:off x="749808" y="2468880"/>
            <a:ext cx="3163824" cy="2761488"/>
          </a:xfrm>
          <a:prstGeom prst="rect">
            <a:avLst/>
          </a:prstGeom>
          <a:noFill/>
          <a:ln/>
        </p:spPr>
        <p:txBody>
          <a:bodyPr wrap="square" lIns="0" tIns="0" rIns="0" bIns="0" rtlCol="0" anchor="t"/>
          <a:lstStyle/>
          <a:p>
            <a:pPr marL="342900" indent="-342900">
              <a:spcAft>
                <a:spcPts val="500"/>
              </a:spcAft>
              <a:buSzPct val="100000"/>
              <a:buChar char="•"/>
            </a:pPr>
            <a:r>
              <a:rPr lang="en-US" sz="1500" b="1" dirty="0">
                <a:solidFill>
                  <a:schemeClr val="tx2"/>
                </a:solidFill>
              </a:rPr>
              <a:t>Pros: </a:t>
            </a:r>
            <a:r>
              <a:rPr lang="en-US" sz="1500" dirty="0">
                <a:solidFill>
                  <a:schemeClr val="tx2"/>
                </a:solidFill>
              </a:rPr>
              <a:t>lowest cost at high utilization, data control, predictable performance</a:t>
            </a:r>
            <a:endParaRPr lang="en-US" sz="1500" dirty="0"/>
          </a:p>
          <a:p>
            <a:pPr marL="342900" indent="-342900">
              <a:spcAft>
                <a:spcPts val="500"/>
              </a:spcAft>
              <a:buSzPct val="100000"/>
              <a:buChar char="•"/>
            </a:pPr>
            <a:r>
              <a:rPr lang="en-US" sz="1500" b="1" dirty="0">
                <a:solidFill>
                  <a:schemeClr val="tx2"/>
                </a:solidFill>
              </a:rPr>
              <a:t>Cons: </a:t>
            </a:r>
            <a:r>
              <a:rPr lang="en-US" sz="1500" dirty="0">
                <a:solidFill>
                  <a:schemeClr val="tx2"/>
                </a:solidFill>
              </a:rPr>
              <a:t>capital expense, facility work, long lead times, refresh risk</a:t>
            </a:r>
            <a:endParaRPr lang="en-US" sz="1500" dirty="0"/>
          </a:p>
          <a:p>
            <a:pPr marL="342900" indent="-342900">
              <a:spcAft>
                <a:spcPts val="500"/>
              </a:spcAft>
              <a:buSzPct val="100000"/>
              <a:buChar char="•"/>
            </a:pPr>
            <a:r>
              <a:rPr lang="en-US" sz="1500" b="1" dirty="0">
                <a:solidFill>
                  <a:schemeClr val="tx2"/>
                </a:solidFill>
              </a:rPr>
              <a:t>Fits: </a:t>
            </a:r>
            <a:r>
              <a:rPr lang="en-US" sz="1500" dirty="0">
                <a:solidFill>
                  <a:schemeClr val="tx2"/>
                </a:solidFill>
              </a:rPr>
              <a:t>steady, high-utilization training and inference, regulated data</a:t>
            </a:r>
            <a:endParaRPr lang="en-US" sz="1500" dirty="0"/>
          </a:p>
        </p:txBody>
      </p:sp>
      <p:sp>
        <p:nvSpPr>
          <p:cNvPr id="9" name="card"/>
          <p:cNvSpPr/>
          <p:nvPr/>
        </p:nvSpPr>
        <p:spPr>
          <a:xfrm>
            <a:off x="4297680" y="1572768"/>
            <a:ext cx="3566160" cy="3794760"/>
          </a:xfrm>
          <a:prstGeom prst="roundRect">
            <a:avLst>
              <a:gd name="adj" fmla="val 2051"/>
            </a:avLst>
          </a:prstGeom>
          <a:solidFill>
            <a:schemeClr val="bg2"/>
          </a:solidFill>
          <a:ln/>
        </p:spPr>
        <p:txBody>
          <a:bodyPr/>
          <a:lstStyle/>
          <a:p>
            <a:endParaRPr lang="en-US"/>
          </a:p>
        </p:txBody>
      </p:sp>
      <p:sp>
        <p:nvSpPr>
          <p:cNvPr id="10" name="Shape 7"/>
          <p:cNvSpPr/>
          <p:nvPr/>
        </p:nvSpPr>
        <p:spPr>
          <a:xfrm>
            <a:off x="4498848" y="1773936"/>
            <a:ext cx="548640" cy="548640"/>
          </a:xfrm>
          <a:prstGeom prst="ellipse">
            <a:avLst/>
          </a:prstGeom>
          <a:solidFill>
            <a:schemeClr val="accent1"/>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4619549" y="1894637"/>
            <a:ext cx="307238" cy="307238"/>
          </a:xfrm>
          <a:prstGeom prst="rect">
            <a:avLst/>
          </a:prstGeom>
        </p:spPr>
      </p:pic>
      <p:sp>
        <p:nvSpPr>
          <p:cNvPr id="12" name="Text 8"/>
          <p:cNvSpPr txBox="1"/>
          <p:nvPr/>
        </p:nvSpPr>
        <p:spPr>
          <a:xfrm>
            <a:off x="5166360" y="1773936"/>
            <a:ext cx="2514600" cy="548640"/>
          </a:xfrm>
          <a:prstGeom prst="rect">
            <a:avLst/>
          </a:prstGeom>
          <a:noFill/>
          <a:ln/>
        </p:spPr>
        <p:txBody>
          <a:bodyPr wrap="square" lIns="0" tIns="0" rIns="0" bIns="0" rtlCol="0" anchor="ctr"/>
          <a:lstStyle/>
          <a:p>
            <a:pPr marL="0" indent="0">
              <a:buNone/>
            </a:pPr>
            <a:r>
              <a:rPr lang="en-US" sz="1700" b="1" dirty="0">
                <a:solidFill>
                  <a:schemeClr val="tx1"/>
                </a:solidFill>
              </a:rPr>
              <a:t>Public cloud and GPU clouds</a:t>
            </a:r>
            <a:endParaRPr lang="en-US" sz="1700" dirty="0"/>
          </a:p>
        </p:txBody>
      </p:sp>
      <p:sp>
        <p:nvSpPr>
          <p:cNvPr id="13" name="Text 9"/>
          <p:cNvSpPr txBox="1"/>
          <p:nvPr/>
        </p:nvSpPr>
        <p:spPr>
          <a:xfrm>
            <a:off x="4498848" y="2468880"/>
            <a:ext cx="3163824" cy="2761488"/>
          </a:xfrm>
          <a:prstGeom prst="rect">
            <a:avLst/>
          </a:prstGeom>
          <a:noFill/>
          <a:ln/>
        </p:spPr>
        <p:txBody>
          <a:bodyPr wrap="square" lIns="0" tIns="0" rIns="0" bIns="0" rtlCol="0" anchor="t"/>
          <a:lstStyle/>
          <a:p>
            <a:pPr marL="342900" indent="-342900">
              <a:spcAft>
                <a:spcPts val="500"/>
              </a:spcAft>
              <a:buSzPct val="100000"/>
              <a:buChar char="•"/>
            </a:pPr>
            <a:r>
              <a:rPr lang="en-US" sz="1500" b="1" dirty="0">
                <a:solidFill>
                  <a:schemeClr val="tx2"/>
                </a:solidFill>
              </a:rPr>
              <a:t>Pros: </a:t>
            </a:r>
            <a:r>
              <a:rPr lang="en-US" sz="1500" dirty="0">
                <a:solidFill>
                  <a:schemeClr val="tx2"/>
                </a:solidFill>
              </a:rPr>
              <a:t>fast start, elastic, latest GPUs, managed services</a:t>
            </a:r>
            <a:endParaRPr lang="en-US" sz="1500" dirty="0"/>
          </a:p>
          <a:p>
            <a:pPr marL="342900" indent="-342900">
              <a:spcAft>
                <a:spcPts val="500"/>
              </a:spcAft>
              <a:buSzPct val="100000"/>
              <a:buChar char="•"/>
            </a:pPr>
            <a:r>
              <a:rPr lang="en-US" sz="1500" b="1" dirty="0">
                <a:solidFill>
                  <a:schemeClr val="tx2"/>
                </a:solidFill>
              </a:rPr>
              <a:t>Cons: </a:t>
            </a:r>
            <a:r>
              <a:rPr lang="en-US" sz="1500" dirty="0">
                <a:solidFill>
                  <a:schemeClr val="tx2"/>
                </a:solidFill>
              </a:rPr>
              <a:t>expensive at constant high use, capacity limits, data egress</a:t>
            </a:r>
            <a:endParaRPr lang="en-US" sz="1500" dirty="0"/>
          </a:p>
          <a:p>
            <a:pPr marL="342900" indent="-342900">
              <a:spcAft>
                <a:spcPts val="500"/>
              </a:spcAft>
              <a:buSzPct val="100000"/>
              <a:buChar char="•"/>
            </a:pPr>
            <a:r>
              <a:rPr lang="en-US" sz="1500" b="1" dirty="0">
                <a:solidFill>
                  <a:schemeClr val="tx2"/>
                </a:solidFill>
              </a:rPr>
              <a:t>Fits: </a:t>
            </a:r>
            <a:r>
              <a:rPr lang="en-US" sz="1500" dirty="0">
                <a:solidFill>
                  <a:schemeClr val="tx2"/>
                </a:solidFill>
              </a:rPr>
              <a:t>experiments, bursty training, early-stage projects</a:t>
            </a:r>
            <a:endParaRPr lang="en-US" sz="1500" dirty="0"/>
          </a:p>
        </p:txBody>
      </p:sp>
      <p:sp>
        <p:nvSpPr>
          <p:cNvPr id="14" name="card"/>
          <p:cNvSpPr/>
          <p:nvPr/>
        </p:nvSpPr>
        <p:spPr>
          <a:xfrm>
            <a:off x="8046720" y="1572768"/>
            <a:ext cx="3566160" cy="3794760"/>
          </a:xfrm>
          <a:prstGeom prst="roundRect">
            <a:avLst>
              <a:gd name="adj" fmla="val 2051"/>
            </a:avLst>
          </a:prstGeom>
          <a:solidFill>
            <a:srgbClr val="DCE6DB"/>
          </a:solidFill>
          <a:ln/>
        </p:spPr>
        <p:txBody>
          <a:bodyPr/>
          <a:lstStyle/>
          <a:p>
            <a:endParaRPr lang="en-US"/>
          </a:p>
        </p:txBody>
      </p:sp>
      <p:sp>
        <p:nvSpPr>
          <p:cNvPr id="15" name="Shape 11"/>
          <p:cNvSpPr/>
          <p:nvPr/>
        </p:nvSpPr>
        <p:spPr>
          <a:xfrm>
            <a:off x="8247888" y="1773936"/>
            <a:ext cx="548640" cy="548640"/>
          </a:xfrm>
          <a:prstGeom prst="ellipse">
            <a:avLst/>
          </a:prstGeom>
          <a:solidFill>
            <a:schemeClr val="accent1"/>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8368589" y="1894637"/>
            <a:ext cx="307238" cy="307238"/>
          </a:xfrm>
          <a:prstGeom prst="rect">
            <a:avLst/>
          </a:prstGeom>
        </p:spPr>
      </p:pic>
      <p:sp>
        <p:nvSpPr>
          <p:cNvPr id="17" name="Text 12"/>
          <p:cNvSpPr txBox="1"/>
          <p:nvPr/>
        </p:nvSpPr>
        <p:spPr>
          <a:xfrm>
            <a:off x="8915400" y="1773936"/>
            <a:ext cx="2514600" cy="548640"/>
          </a:xfrm>
          <a:prstGeom prst="rect">
            <a:avLst/>
          </a:prstGeom>
          <a:noFill/>
          <a:ln/>
        </p:spPr>
        <p:txBody>
          <a:bodyPr wrap="square" lIns="0" tIns="0" rIns="0" bIns="0" rtlCol="0" anchor="ctr"/>
          <a:lstStyle/>
          <a:p>
            <a:pPr marL="0" indent="0">
              <a:buNone/>
            </a:pPr>
            <a:r>
              <a:rPr lang="en-US" sz="1700" b="1" dirty="0">
                <a:solidFill>
                  <a:schemeClr val="tx1"/>
                </a:solidFill>
              </a:rPr>
              <a:t>Hybrid</a:t>
            </a:r>
            <a:endParaRPr lang="en-US" sz="1700" dirty="0"/>
          </a:p>
        </p:txBody>
      </p:sp>
      <p:sp>
        <p:nvSpPr>
          <p:cNvPr id="18" name="Text 13"/>
          <p:cNvSpPr txBox="1"/>
          <p:nvPr/>
        </p:nvSpPr>
        <p:spPr>
          <a:xfrm>
            <a:off x="8247888" y="2468880"/>
            <a:ext cx="3163824" cy="2761488"/>
          </a:xfrm>
          <a:prstGeom prst="rect">
            <a:avLst/>
          </a:prstGeom>
          <a:noFill/>
          <a:ln/>
        </p:spPr>
        <p:txBody>
          <a:bodyPr wrap="square" lIns="0" tIns="0" rIns="0" bIns="0" rtlCol="0" anchor="t"/>
          <a:lstStyle/>
          <a:p>
            <a:pPr marL="342900" indent="-342900">
              <a:spcAft>
                <a:spcPts val="500"/>
              </a:spcAft>
              <a:buSzPct val="100000"/>
              <a:buChar char="•"/>
            </a:pPr>
            <a:r>
              <a:rPr lang="en-US" sz="1500" b="1" dirty="0">
                <a:solidFill>
                  <a:schemeClr val="tx2"/>
                </a:solidFill>
              </a:rPr>
              <a:t>Pros: </a:t>
            </a:r>
            <a:r>
              <a:rPr lang="en-US" sz="1500" dirty="0">
                <a:solidFill>
                  <a:schemeClr val="tx2"/>
                </a:solidFill>
              </a:rPr>
              <a:t>base load on-prem, burst to cloud, avoids lock-in</a:t>
            </a:r>
            <a:endParaRPr lang="en-US" sz="1500" dirty="0"/>
          </a:p>
          <a:p>
            <a:pPr marL="342900" indent="-342900">
              <a:spcAft>
                <a:spcPts val="500"/>
              </a:spcAft>
              <a:buSzPct val="100000"/>
              <a:buChar char="•"/>
            </a:pPr>
            <a:r>
              <a:rPr lang="en-US" sz="1500" b="1" dirty="0">
                <a:solidFill>
                  <a:schemeClr val="tx2"/>
                </a:solidFill>
              </a:rPr>
              <a:t>Cons: </a:t>
            </a:r>
            <a:r>
              <a:rPr lang="en-US" sz="1500" dirty="0">
                <a:solidFill>
                  <a:schemeClr val="tx2"/>
                </a:solidFill>
              </a:rPr>
              <a:t>needs consistent tooling, identity and data movement</a:t>
            </a:r>
            <a:endParaRPr lang="en-US" sz="1500" dirty="0"/>
          </a:p>
          <a:p>
            <a:pPr marL="342900" indent="-342900">
              <a:spcAft>
                <a:spcPts val="500"/>
              </a:spcAft>
              <a:buSzPct val="100000"/>
              <a:buChar char="•"/>
            </a:pPr>
            <a:r>
              <a:rPr lang="en-US" sz="1500" b="1" dirty="0">
                <a:solidFill>
                  <a:schemeClr val="tx2"/>
                </a:solidFill>
              </a:rPr>
              <a:t>Fits: </a:t>
            </a:r>
            <a:r>
              <a:rPr lang="en-US" sz="1500" dirty="0">
                <a:solidFill>
                  <a:schemeClr val="tx2"/>
                </a:solidFill>
              </a:rPr>
              <a:t>most enterprises; Kubernetes and NGC containers help portability</a:t>
            </a:r>
            <a:endParaRPr lang="en-US" sz="1500" dirty="0"/>
          </a:p>
        </p:txBody>
      </p:sp>
      <p:sp>
        <p:nvSpPr>
          <p:cNvPr id="19" name="Shape 14"/>
          <p:cNvSpPr/>
          <p:nvPr/>
        </p:nvSpPr>
        <p:spPr>
          <a:xfrm>
            <a:off x="548640" y="5532120"/>
            <a:ext cx="11064240" cy="640080"/>
          </a:xfrm>
          <a:prstGeom prst="roundRect">
            <a:avLst>
              <a:gd name="adj" fmla="val 11429"/>
            </a:avLst>
          </a:prstGeom>
          <a:solidFill>
            <a:schemeClr val="tx1"/>
          </a:solidFill>
          <a:ln/>
        </p:spPr>
        <p:txBody>
          <a:bodyPr/>
          <a:lstStyle/>
          <a:p>
            <a:endParaRPr lang="en-US"/>
          </a:p>
        </p:txBody>
      </p:sp>
      <p:pic>
        <p:nvPicPr>
          <p:cNvPr id="20" name="Image 3" descr="preencoded.png"/>
          <p:cNvPicPr>
            <a:picLocks noChangeAspect="1"/>
          </p:cNvPicPr>
          <p:nvPr/>
        </p:nvPicPr>
        <p:blipFill>
          <a:blip r:embed="rId6"/>
          <a:stretch>
            <a:fillRect/>
          </a:stretch>
        </p:blipFill>
        <p:spPr>
          <a:xfrm>
            <a:off x="777240" y="5669280"/>
            <a:ext cx="365760" cy="365760"/>
          </a:xfrm>
          <a:prstGeom prst="rect">
            <a:avLst/>
          </a:prstGeom>
        </p:spPr>
      </p:pic>
      <p:sp>
        <p:nvSpPr>
          <p:cNvPr id="21" name="Text 15"/>
          <p:cNvSpPr txBox="1"/>
          <p:nvPr/>
        </p:nvSpPr>
        <p:spPr>
          <a:xfrm>
            <a:off x="1325880" y="5532120"/>
            <a:ext cx="10058400" cy="640080"/>
          </a:xfrm>
          <a:prstGeom prst="rect">
            <a:avLst/>
          </a:prstGeom>
          <a:noFill/>
          <a:ln/>
        </p:spPr>
        <p:txBody>
          <a:bodyPr wrap="square" lIns="0" tIns="0" rIns="0" bIns="0" rtlCol="0" anchor="ctr"/>
          <a:lstStyle/>
          <a:p>
            <a:pPr marL="0" indent="0">
              <a:buNone/>
            </a:pPr>
            <a:r>
              <a:rPr lang="en-US" sz="1400" dirty="0">
                <a:solidFill>
                  <a:schemeClr val="bg1"/>
                </a:solidFill>
              </a:rPr>
              <a:t>Decision drivers: expected GPU utilization, data sensitivity and location, time to value, in-house skills and total cost over 3–5 years.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bg1"/>
                </a:solidFill>
              </a:rPr>
              <a:t>Key takeaways</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1"/>
                </a:solidFill>
              </a:rPr>
              <a:t>Six ideas to remember</a:t>
            </a:r>
            <a:endParaRPr lang="en-US" sz="1600" dirty="0"/>
          </a:p>
        </p:txBody>
      </p:sp>
      <p:sp>
        <p:nvSpPr>
          <p:cNvPr id="4" name="Shape 2"/>
          <p:cNvSpPr/>
          <p:nvPr/>
        </p:nvSpPr>
        <p:spPr>
          <a:xfrm>
            <a:off x="548640" y="1645920"/>
            <a:ext cx="3566160" cy="2103120"/>
          </a:xfrm>
          <a:prstGeom prst="roundRect">
            <a:avLst>
              <a:gd name="adj" fmla="val 3478"/>
            </a:avLst>
          </a:prstGeom>
          <a:solidFill>
            <a:srgbClr val="1F2A21"/>
          </a:solidFill>
          <a:ln/>
        </p:spPr>
        <p:txBody>
          <a:bodyPr/>
          <a:lstStyle/>
          <a:p>
            <a:endParaRPr lang="en-US"/>
          </a:p>
        </p:txBody>
      </p:sp>
      <p:sp>
        <p:nvSpPr>
          <p:cNvPr id="5" name="Text 3"/>
          <p:cNvSpPr txBox="1"/>
          <p:nvPr/>
        </p:nvSpPr>
        <p:spPr>
          <a:xfrm>
            <a:off x="777240" y="1828800"/>
            <a:ext cx="914400" cy="502920"/>
          </a:xfrm>
          <a:prstGeom prst="rect">
            <a:avLst/>
          </a:prstGeom>
          <a:noFill/>
          <a:ln/>
        </p:spPr>
        <p:txBody>
          <a:bodyPr wrap="square" lIns="0" tIns="0" rIns="0" bIns="0" rtlCol="0" anchor="t"/>
          <a:lstStyle/>
          <a:p>
            <a:pPr marL="0" indent="0">
              <a:buNone/>
            </a:pPr>
            <a:r>
              <a:rPr lang="en-US" sz="2800" b="1" dirty="0">
                <a:solidFill>
                  <a:schemeClr val="accent1"/>
                </a:solidFill>
                <a:latin typeface="Arial" pitchFamily="34" charset="0"/>
                <a:ea typeface="Arial" pitchFamily="34" charset="-122"/>
                <a:cs typeface="Arial" pitchFamily="34" charset="-120"/>
              </a:rPr>
              <a:t>01</a:t>
            </a:r>
            <a:endParaRPr lang="en-US" sz="2800" dirty="0"/>
          </a:p>
        </p:txBody>
      </p:sp>
      <p:sp>
        <p:nvSpPr>
          <p:cNvPr id="6" name="Text 4"/>
          <p:cNvSpPr txBox="1"/>
          <p:nvPr/>
        </p:nvSpPr>
        <p:spPr>
          <a:xfrm>
            <a:off x="777240" y="2377440"/>
            <a:ext cx="3154680" cy="411480"/>
          </a:xfrm>
          <a:prstGeom prst="rect">
            <a:avLst/>
          </a:prstGeom>
          <a:noFill/>
          <a:ln/>
        </p:spPr>
        <p:txBody>
          <a:bodyPr wrap="square" lIns="0" tIns="0" rIns="0" bIns="0" rtlCol="0" anchor="t"/>
          <a:lstStyle/>
          <a:p>
            <a:pPr marL="0" indent="0">
              <a:buNone/>
            </a:pPr>
            <a:r>
              <a:rPr lang="en-US" sz="1700" b="1" dirty="0">
                <a:solidFill>
                  <a:schemeClr val="bg1"/>
                </a:solidFill>
              </a:rPr>
              <a:t>Compute, memory, interconnect</a:t>
            </a:r>
            <a:endParaRPr lang="en-US" sz="1700" dirty="0"/>
          </a:p>
        </p:txBody>
      </p:sp>
      <p:sp>
        <p:nvSpPr>
          <p:cNvPr id="7" name="Text 5"/>
          <p:cNvSpPr txBox="1"/>
          <p:nvPr/>
        </p:nvSpPr>
        <p:spPr>
          <a:xfrm>
            <a:off x="777240" y="2816352"/>
            <a:ext cx="3154680" cy="822960"/>
          </a:xfrm>
          <a:prstGeom prst="rect">
            <a:avLst/>
          </a:prstGeom>
          <a:noFill/>
          <a:ln/>
        </p:spPr>
        <p:txBody>
          <a:bodyPr wrap="square" lIns="0" tIns="0" rIns="0" bIns="0" rtlCol="0" anchor="t"/>
          <a:lstStyle/>
          <a:p>
            <a:pPr marL="0" indent="0">
              <a:buNone/>
            </a:pPr>
            <a:r>
              <a:rPr lang="en-US" sz="1400" dirty="0">
                <a:solidFill>
                  <a:srgbClr val="C9D3CC"/>
                </a:solidFill>
              </a:rPr>
              <a:t>AI performance is a balance of all three; find the bottleneck first.</a:t>
            </a:r>
            <a:endParaRPr lang="en-US" sz="1400" dirty="0"/>
          </a:p>
        </p:txBody>
      </p:sp>
      <p:sp>
        <p:nvSpPr>
          <p:cNvPr id="8" name="Shape 6"/>
          <p:cNvSpPr/>
          <p:nvPr/>
        </p:nvSpPr>
        <p:spPr>
          <a:xfrm>
            <a:off x="4297680" y="1645920"/>
            <a:ext cx="3566160" cy="2103120"/>
          </a:xfrm>
          <a:prstGeom prst="roundRect">
            <a:avLst>
              <a:gd name="adj" fmla="val 3478"/>
            </a:avLst>
          </a:prstGeom>
          <a:solidFill>
            <a:srgbClr val="1F2A21"/>
          </a:solidFill>
          <a:ln/>
        </p:spPr>
        <p:txBody>
          <a:bodyPr/>
          <a:lstStyle/>
          <a:p>
            <a:endParaRPr lang="en-US"/>
          </a:p>
        </p:txBody>
      </p:sp>
      <p:sp>
        <p:nvSpPr>
          <p:cNvPr id="9" name="Text 7"/>
          <p:cNvSpPr txBox="1"/>
          <p:nvPr/>
        </p:nvSpPr>
        <p:spPr>
          <a:xfrm>
            <a:off x="4526280" y="1828800"/>
            <a:ext cx="914400" cy="502920"/>
          </a:xfrm>
          <a:prstGeom prst="rect">
            <a:avLst/>
          </a:prstGeom>
          <a:noFill/>
          <a:ln/>
        </p:spPr>
        <p:txBody>
          <a:bodyPr wrap="square" lIns="0" tIns="0" rIns="0" bIns="0" rtlCol="0" anchor="t"/>
          <a:lstStyle/>
          <a:p>
            <a:pPr marL="0" indent="0">
              <a:buNone/>
            </a:pPr>
            <a:r>
              <a:rPr lang="en-US" sz="2800" b="1" dirty="0">
                <a:solidFill>
                  <a:schemeClr val="accent1"/>
                </a:solidFill>
                <a:latin typeface="Arial" pitchFamily="34" charset="0"/>
                <a:ea typeface="Arial" pitchFamily="34" charset="-122"/>
                <a:cs typeface="Arial" pitchFamily="34" charset="-120"/>
              </a:rPr>
              <a:t>02</a:t>
            </a:r>
            <a:endParaRPr lang="en-US" sz="2800" dirty="0"/>
          </a:p>
        </p:txBody>
      </p:sp>
      <p:sp>
        <p:nvSpPr>
          <p:cNvPr id="10" name="Text 8"/>
          <p:cNvSpPr txBox="1"/>
          <p:nvPr/>
        </p:nvSpPr>
        <p:spPr>
          <a:xfrm>
            <a:off x="4526280" y="2377440"/>
            <a:ext cx="3154680" cy="411480"/>
          </a:xfrm>
          <a:prstGeom prst="rect">
            <a:avLst/>
          </a:prstGeom>
          <a:noFill/>
          <a:ln/>
        </p:spPr>
        <p:txBody>
          <a:bodyPr wrap="square" lIns="0" tIns="0" rIns="0" bIns="0" rtlCol="0" anchor="t"/>
          <a:lstStyle/>
          <a:p>
            <a:pPr marL="0" indent="0">
              <a:buNone/>
            </a:pPr>
            <a:r>
              <a:rPr lang="en-US" sz="1700" b="1" dirty="0">
                <a:solidFill>
                  <a:schemeClr val="bg1"/>
                </a:solidFill>
              </a:rPr>
              <a:t>Tensor Cores + low precision</a:t>
            </a:r>
            <a:endParaRPr lang="en-US" sz="1700" dirty="0"/>
          </a:p>
        </p:txBody>
      </p:sp>
      <p:sp>
        <p:nvSpPr>
          <p:cNvPr id="11" name="Text 9"/>
          <p:cNvSpPr txBox="1"/>
          <p:nvPr/>
        </p:nvSpPr>
        <p:spPr>
          <a:xfrm>
            <a:off x="4526280" y="2816352"/>
            <a:ext cx="3154680" cy="822960"/>
          </a:xfrm>
          <a:prstGeom prst="rect">
            <a:avLst/>
          </a:prstGeom>
          <a:noFill/>
          <a:ln/>
        </p:spPr>
        <p:txBody>
          <a:bodyPr wrap="square" lIns="0" tIns="0" rIns="0" bIns="0" rtlCol="0" anchor="t"/>
          <a:lstStyle/>
          <a:p>
            <a:pPr marL="0" indent="0">
              <a:buNone/>
            </a:pPr>
            <a:r>
              <a:rPr lang="en-US" sz="1400" dirty="0">
                <a:solidFill>
                  <a:srgbClr val="C9D3CC"/>
                </a:solidFill>
              </a:rPr>
              <a:t>Each format step (BF16 → FP8 → FP4) roughly doubles throughput.</a:t>
            </a:r>
            <a:endParaRPr lang="en-US" sz="1400" dirty="0"/>
          </a:p>
        </p:txBody>
      </p:sp>
      <p:sp>
        <p:nvSpPr>
          <p:cNvPr id="12" name="Shape 10"/>
          <p:cNvSpPr/>
          <p:nvPr/>
        </p:nvSpPr>
        <p:spPr>
          <a:xfrm>
            <a:off x="8046720" y="1645920"/>
            <a:ext cx="3566160" cy="2103120"/>
          </a:xfrm>
          <a:prstGeom prst="roundRect">
            <a:avLst>
              <a:gd name="adj" fmla="val 3478"/>
            </a:avLst>
          </a:prstGeom>
          <a:solidFill>
            <a:srgbClr val="1F2A21"/>
          </a:solidFill>
          <a:ln/>
        </p:spPr>
        <p:txBody>
          <a:bodyPr/>
          <a:lstStyle/>
          <a:p>
            <a:endParaRPr lang="en-US"/>
          </a:p>
        </p:txBody>
      </p:sp>
      <p:sp>
        <p:nvSpPr>
          <p:cNvPr id="13" name="Text 11"/>
          <p:cNvSpPr txBox="1"/>
          <p:nvPr/>
        </p:nvSpPr>
        <p:spPr>
          <a:xfrm>
            <a:off x="8275320" y="1828800"/>
            <a:ext cx="914400" cy="502920"/>
          </a:xfrm>
          <a:prstGeom prst="rect">
            <a:avLst/>
          </a:prstGeom>
          <a:noFill/>
          <a:ln/>
        </p:spPr>
        <p:txBody>
          <a:bodyPr wrap="square" lIns="0" tIns="0" rIns="0" bIns="0" rtlCol="0" anchor="t"/>
          <a:lstStyle/>
          <a:p>
            <a:pPr marL="0" indent="0">
              <a:buNone/>
            </a:pPr>
            <a:r>
              <a:rPr lang="en-US" sz="2800" b="1" dirty="0">
                <a:solidFill>
                  <a:schemeClr val="accent1"/>
                </a:solidFill>
                <a:latin typeface="Arial" pitchFamily="34" charset="0"/>
                <a:ea typeface="Arial" pitchFamily="34" charset="-122"/>
                <a:cs typeface="Arial" pitchFamily="34" charset="-120"/>
              </a:rPr>
              <a:t>03</a:t>
            </a:r>
            <a:endParaRPr lang="en-US" sz="2800" dirty="0"/>
          </a:p>
        </p:txBody>
      </p:sp>
      <p:sp>
        <p:nvSpPr>
          <p:cNvPr id="14" name="Text 12"/>
          <p:cNvSpPr txBox="1"/>
          <p:nvPr/>
        </p:nvSpPr>
        <p:spPr>
          <a:xfrm>
            <a:off x="8275320" y="2377440"/>
            <a:ext cx="3154680" cy="411480"/>
          </a:xfrm>
          <a:prstGeom prst="rect">
            <a:avLst/>
          </a:prstGeom>
          <a:noFill/>
          <a:ln/>
        </p:spPr>
        <p:txBody>
          <a:bodyPr wrap="square" lIns="0" tIns="0" rIns="0" bIns="0" rtlCol="0" anchor="t"/>
          <a:lstStyle/>
          <a:p>
            <a:pPr marL="0" indent="0">
              <a:buNone/>
            </a:pPr>
            <a:r>
              <a:rPr lang="en-US" sz="1700" b="1" dirty="0">
                <a:solidFill>
                  <a:schemeClr val="bg1"/>
                </a:solidFill>
              </a:rPr>
              <a:t>Memory decides inference</a:t>
            </a:r>
            <a:endParaRPr lang="en-US" sz="1700" dirty="0"/>
          </a:p>
        </p:txBody>
      </p:sp>
      <p:sp>
        <p:nvSpPr>
          <p:cNvPr id="15" name="Text 13"/>
          <p:cNvSpPr txBox="1"/>
          <p:nvPr/>
        </p:nvSpPr>
        <p:spPr>
          <a:xfrm>
            <a:off x="8275320" y="2816352"/>
            <a:ext cx="3154680" cy="822960"/>
          </a:xfrm>
          <a:prstGeom prst="rect">
            <a:avLst/>
          </a:prstGeom>
          <a:noFill/>
          <a:ln/>
        </p:spPr>
        <p:txBody>
          <a:bodyPr wrap="square" lIns="0" tIns="0" rIns="0" bIns="0" rtlCol="0" anchor="t"/>
          <a:lstStyle/>
          <a:p>
            <a:pPr marL="0" indent="0">
              <a:buNone/>
            </a:pPr>
            <a:r>
              <a:rPr lang="en-US" sz="1400" dirty="0">
                <a:solidFill>
                  <a:srgbClr val="C9D3CC"/>
                </a:solidFill>
              </a:rPr>
              <a:t>HBM capacity and bandwidth set model size, batch size and tokens per second.</a:t>
            </a:r>
            <a:endParaRPr lang="en-US" sz="1400" dirty="0"/>
          </a:p>
        </p:txBody>
      </p:sp>
      <p:sp>
        <p:nvSpPr>
          <p:cNvPr id="16" name="Shape 14"/>
          <p:cNvSpPr/>
          <p:nvPr/>
        </p:nvSpPr>
        <p:spPr>
          <a:xfrm>
            <a:off x="548640" y="3931920"/>
            <a:ext cx="3566160" cy="2103120"/>
          </a:xfrm>
          <a:prstGeom prst="roundRect">
            <a:avLst>
              <a:gd name="adj" fmla="val 3478"/>
            </a:avLst>
          </a:prstGeom>
          <a:solidFill>
            <a:srgbClr val="1F2A21"/>
          </a:solidFill>
          <a:ln/>
        </p:spPr>
        <p:txBody>
          <a:bodyPr/>
          <a:lstStyle/>
          <a:p>
            <a:endParaRPr lang="en-US"/>
          </a:p>
        </p:txBody>
      </p:sp>
      <p:sp>
        <p:nvSpPr>
          <p:cNvPr id="17" name="Text 15"/>
          <p:cNvSpPr txBox="1"/>
          <p:nvPr/>
        </p:nvSpPr>
        <p:spPr>
          <a:xfrm>
            <a:off x="777240" y="4114800"/>
            <a:ext cx="914400" cy="502920"/>
          </a:xfrm>
          <a:prstGeom prst="rect">
            <a:avLst/>
          </a:prstGeom>
          <a:noFill/>
          <a:ln/>
        </p:spPr>
        <p:txBody>
          <a:bodyPr wrap="square" lIns="0" tIns="0" rIns="0" bIns="0" rtlCol="0" anchor="t"/>
          <a:lstStyle/>
          <a:p>
            <a:pPr marL="0" indent="0">
              <a:buNone/>
            </a:pPr>
            <a:r>
              <a:rPr lang="en-US" sz="2800" b="1" dirty="0">
                <a:solidFill>
                  <a:schemeClr val="accent1"/>
                </a:solidFill>
                <a:latin typeface="Arial" pitchFamily="34" charset="0"/>
                <a:ea typeface="Arial" pitchFamily="34" charset="-122"/>
                <a:cs typeface="Arial" pitchFamily="34" charset="-120"/>
              </a:rPr>
              <a:t>04</a:t>
            </a:r>
            <a:endParaRPr lang="en-US" sz="2800" dirty="0"/>
          </a:p>
        </p:txBody>
      </p:sp>
      <p:sp>
        <p:nvSpPr>
          <p:cNvPr id="18" name="Text 16"/>
          <p:cNvSpPr txBox="1"/>
          <p:nvPr/>
        </p:nvSpPr>
        <p:spPr>
          <a:xfrm>
            <a:off x="777240" y="4663440"/>
            <a:ext cx="3154680" cy="411480"/>
          </a:xfrm>
          <a:prstGeom prst="rect">
            <a:avLst/>
          </a:prstGeom>
          <a:noFill/>
          <a:ln/>
        </p:spPr>
        <p:txBody>
          <a:bodyPr wrap="square" lIns="0" tIns="0" rIns="0" bIns="0" rtlCol="0" anchor="t"/>
          <a:lstStyle/>
          <a:p>
            <a:pPr marL="0" indent="0">
              <a:buNone/>
            </a:pPr>
            <a:r>
              <a:rPr lang="en-US" sz="1700" b="1" dirty="0">
                <a:solidFill>
                  <a:schemeClr val="bg1"/>
                </a:solidFill>
              </a:rPr>
              <a:t>Pick GPUs by workload</a:t>
            </a:r>
            <a:endParaRPr lang="en-US" sz="1700" dirty="0"/>
          </a:p>
        </p:txBody>
      </p:sp>
      <p:sp>
        <p:nvSpPr>
          <p:cNvPr id="19" name="Text 17"/>
          <p:cNvSpPr txBox="1"/>
          <p:nvPr/>
        </p:nvSpPr>
        <p:spPr>
          <a:xfrm>
            <a:off x="777240" y="5102352"/>
            <a:ext cx="3154680" cy="822960"/>
          </a:xfrm>
          <a:prstGeom prst="rect">
            <a:avLst/>
          </a:prstGeom>
          <a:noFill/>
          <a:ln/>
        </p:spPr>
        <p:txBody>
          <a:bodyPr wrap="square" lIns="0" tIns="0" rIns="0" bIns="0" rtlCol="0" anchor="t"/>
          <a:lstStyle/>
          <a:p>
            <a:pPr marL="0" indent="0">
              <a:buNone/>
            </a:pPr>
            <a:r>
              <a:rPr lang="en-US" sz="1400" dirty="0">
                <a:solidFill>
                  <a:srgbClr val="C9D3CC"/>
                </a:solidFill>
              </a:rPr>
              <a:t>Training flagships, universal PCIe GPUs and edge modules each have a place.</a:t>
            </a:r>
            <a:endParaRPr lang="en-US" sz="1400" dirty="0"/>
          </a:p>
        </p:txBody>
      </p:sp>
      <p:sp>
        <p:nvSpPr>
          <p:cNvPr id="20" name="Shape 18"/>
          <p:cNvSpPr/>
          <p:nvPr/>
        </p:nvSpPr>
        <p:spPr>
          <a:xfrm>
            <a:off x="4297680" y="3931920"/>
            <a:ext cx="3566160" cy="2103120"/>
          </a:xfrm>
          <a:prstGeom prst="roundRect">
            <a:avLst>
              <a:gd name="adj" fmla="val 3478"/>
            </a:avLst>
          </a:prstGeom>
          <a:solidFill>
            <a:srgbClr val="1F2A21"/>
          </a:solidFill>
          <a:ln/>
        </p:spPr>
        <p:txBody>
          <a:bodyPr/>
          <a:lstStyle/>
          <a:p>
            <a:endParaRPr lang="en-US"/>
          </a:p>
        </p:txBody>
      </p:sp>
      <p:sp>
        <p:nvSpPr>
          <p:cNvPr id="21" name="Text 19"/>
          <p:cNvSpPr txBox="1"/>
          <p:nvPr/>
        </p:nvSpPr>
        <p:spPr>
          <a:xfrm>
            <a:off x="4526280" y="4114800"/>
            <a:ext cx="914400" cy="502920"/>
          </a:xfrm>
          <a:prstGeom prst="rect">
            <a:avLst/>
          </a:prstGeom>
          <a:noFill/>
          <a:ln/>
        </p:spPr>
        <p:txBody>
          <a:bodyPr wrap="square" lIns="0" tIns="0" rIns="0" bIns="0" rtlCol="0" anchor="t"/>
          <a:lstStyle/>
          <a:p>
            <a:pPr marL="0" indent="0">
              <a:buNone/>
            </a:pPr>
            <a:r>
              <a:rPr lang="en-US" sz="2800" b="1" dirty="0">
                <a:solidFill>
                  <a:schemeClr val="accent1"/>
                </a:solidFill>
                <a:latin typeface="Arial" pitchFamily="34" charset="0"/>
                <a:ea typeface="Arial" pitchFamily="34" charset="-122"/>
                <a:cs typeface="Arial" pitchFamily="34" charset="-120"/>
              </a:rPr>
              <a:t>05</a:t>
            </a:r>
            <a:endParaRPr lang="en-US" sz="2800" dirty="0"/>
          </a:p>
        </p:txBody>
      </p:sp>
      <p:sp>
        <p:nvSpPr>
          <p:cNvPr id="22" name="Text 20"/>
          <p:cNvSpPr txBox="1"/>
          <p:nvPr/>
        </p:nvSpPr>
        <p:spPr>
          <a:xfrm>
            <a:off x="4526280" y="4663440"/>
            <a:ext cx="3154680" cy="411480"/>
          </a:xfrm>
          <a:prstGeom prst="rect">
            <a:avLst/>
          </a:prstGeom>
          <a:noFill/>
          <a:ln/>
        </p:spPr>
        <p:txBody>
          <a:bodyPr wrap="square" lIns="0" tIns="0" rIns="0" bIns="0" rtlCol="0" anchor="t"/>
          <a:lstStyle/>
          <a:p>
            <a:pPr marL="0" indent="0">
              <a:buNone/>
            </a:pPr>
            <a:r>
              <a:rPr lang="en-US" sz="1700" b="1" dirty="0">
                <a:solidFill>
                  <a:schemeClr val="bg1"/>
                </a:solidFill>
              </a:rPr>
              <a:t>The cluster is the computer</a:t>
            </a:r>
            <a:endParaRPr lang="en-US" sz="1700" dirty="0"/>
          </a:p>
        </p:txBody>
      </p:sp>
      <p:sp>
        <p:nvSpPr>
          <p:cNvPr id="23" name="Text 21"/>
          <p:cNvSpPr txBox="1"/>
          <p:nvPr/>
        </p:nvSpPr>
        <p:spPr>
          <a:xfrm>
            <a:off x="4526280" y="5102352"/>
            <a:ext cx="3154680" cy="822960"/>
          </a:xfrm>
          <a:prstGeom prst="rect">
            <a:avLst/>
          </a:prstGeom>
          <a:noFill/>
          <a:ln/>
        </p:spPr>
        <p:txBody>
          <a:bodyPr wrap="square" lIns="0" tIns="0" rIns="0" bIns="0" rtlCol="0" anchor="t"/>
          <a:lstStyle/>
          <a:p>
            <a:pPr marL="0" indent="0">
              <a:buNone/>
            </a:pPr>
            <a:r>
              <a:rPr lang="en-US" sz="1400" dirty="0">
                <a:solidFill>
                  <a:srgbClr val="C9D3CC"/>
                </a:solidFill>
              </a:rPr>
              <a:t>NVLink, a rail-optimized fabric, storage and orchestration matter as much as GPUs.</a:t>
            </a:r>
            <a:endParaRPr lang="en-US" sz="1400" dirty="0"/>
          </a:p>
        </p:txBody>
      </p:sp>
      <p:sp>
        <p:nvSpPr>
          <p:cNvPr id="24" name="Shape 22"/>
          <p:cNvSpPr/>
          <p:nvPr/>
        </p:nvSpPr>
        <p:spPr>
          <a:xfrm>
            <a:off x="8046720" y="3931920"/>
            <a:ext cx="3566160" cy="2103120"/>
          </a:xfrm>
          <a:prstGeom prst="roundRect">
            <a:avLst>
              <a:gd name="adj" fmla="val 3478"/>
            </a:avLst>
          </a:prstGeom>
          <a:solidFill>
            <a:srgbClr val="1F2A21"/>
          </a:solidFill>
          <a:ln/>
        </p:spPr>
        <p:txBody>
          <a:bodyPr/>
          <a:lstStyle/>
          <a:p>
            <a:endParaRPr lang="en-US"/>
          </a:p>
        </p:txBody>
      </p:sp>
      <p:sp>
        <p:nvSpPr>
          <p:cNvPr id="25" name="Text 23"/>
          <p:cNvSpPr txBox="1"/>
          <p:nvPr/>
        </p:nvSpPr>
        <p:spPr>
          <a:xfrm>
            <a:off x="8275320" y="4114800"/>
            <a:ext cx="914400" cy="502920"/>
          </a:xfrm>
          <a:prstGeom prst="rect">
            <a:avLst/>
          </a:prstGeom>
          <a:noFill/>
          <a:ln/>
        </p:spPr>
        <p:txBody>
          <a:bodyPr wrap="square" lIns="0" tIns="0" rIns="0" bIns="0" rtlCol="0" anchor="t"/>
          <a:lstStyle/>
          <a:p>
            <a:pPr marL="0" indent="0">
              <a:buNone/>
            </a:pPr>
            <a:r>
              <a:rPr lang="en-US" sz="2800" b="1" dirty="0">
                <a:solidFill>
                  <a:schemeClr val="accent1"/>
                </a:solidFill>
                <a:latin typeface="Arial" pitchFamily="34" charset="0"/>
                <a:ea typeface="Arial" pitchFamily="34" charset="-122"/>
                <a:cs typeface="Arial" pitchFamily="34" charset="-120"/>
              </a:rPr>
              <a:t>06</a:t>
            </a:r>
            <a:endParaRPr lang="en-US" sz="2800" dirty="0"/>
          </a:p>
        </p:txBody>
      </p:sp>
      <p:sp>
        <p:nvSpPr>
          <p:cNvPr id="26" name="Text 24"/>
          <p:cNvSpPr txBox="1"/>
          <p:nvPr/>
        </p:nvSpPr>
        <p:spPr>
          <a:xfrm>
            <a:off x="8275320" y="4663440"/>
            <a:ext cx="3154680" cy="411480"/>
          </a:xfrm>
          <a:prstGeom prst="rect">
            <a:avLst/>
          </a:prstGeom>
          <a:noFill/>
          <a:ln/>
        </p:spPr>
        <p:txBody>
          <a:bodyPr wrap="square" lIns="0" tIns="0" rIns="0" bIns="0" rtlCol="0" anchor="t"/>
          <a:lstStyle/>
          <a:p>
            <a:pPr marL="0" indent="0">
              <a:buNone/>
            </a:pPr>
            <a:r>
              <a:rPr lang="en-US" sz="1700" b="1" dirty="0">
                <a:solidFill>
                  <a:schemeClr val="bg1"/>
                </a:solidFill>
              </a:rPr>
              <a:t>Plan power and operations early</a:t>
            </a:r>
            <a:endParaRPr lang="en-US" sz="1700" dirty="0"/>
          </a:p>
        </p:txBody>
      </p:sp>
      <p:sp>
        <p:nvSpPr>
          <p:cNvPr id="27" name="Text 25"/>
          <p:cNvSpPr txBox="1"/>
          <p:nvPr/>
        </p:nvSpPr>
        <p:spPr>
          <a:xfrm>
            <a:off x="8275320" y="5102352"/>
            <a:ext cx="3154680" cy="822960"/>
          </a:xfrm>
          <a:prstGeom prst="rect">
            <a:avLst/>
          </a:prstGeom>
          <a:noFill/>
          <a:ln/>
        </p:spPr>
        <p:txBody>
          <a:bodyPr wrap="square" lIns="0" tIns="0" rIns="0" bIns="0" rtlCol="0" anchor="t"/>
          <a:lstStyle/>
          <a:p>
            <a:pPr marL="0" indent="0">
              <a:buNone/>
            </a:pPr>
            <a:r>
              <a:rPr lang="en-US" sz="1400" dirty="0">
                <a:solidFill>
                  <a:srgbClr val="C9D3CC"/>
                </a:solidFill>
              </a:rPr>
              <a:t>Facilities, monitoring and sharing (MIG) decide real-world value.</a:t>
            </a:r>
            <a:endParaRPr lang="en-US" sz="14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59E"/>
                </a:solidFill>
              </a:defRPr>
            </a:lvl1pPr>
          </a:lstStyle>
          <a:p>
            <a:pPr algn="r"/>
            <a:fld id="{F7021451-1387-4CA6-816F-3879F97B5CBC}" type="slidenum">
              <a:rPr lang="en-US" b="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Knowledge check</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Discuss in pairs for 5 minutes, then we review together</a:t>
            </a:r>
            <a:endParaRPr lang="en-US" sz="1600" dirty="0"/>
          </a:p>
        </p:txBody>
      </p:sp>
      <p:sp>
        <p:nvSpPr>
          <p:cNvPr id="4" name="Shape 2"/>
          <p:cNvSpPr/>
          <p:nvPr/>
        </p:nvSpPr>
        <p:spPr>
          <a:xfrm>
            <a:off x="548640" y="1600200"/>
            <a:ext cx="5440680" cy="1389888"/>
          </a:xfrm>
          <a:prstGeom prst="roundRect">
            <a:avLst>
              <a:gd name="adj" fmla="val 5263"/>
            </a:avLst>
          </a:prstGeom>
          <a:solidFill>
            <a:schemeClr val="bg2"/>
          </a:solidFill>
          <a:ln/>
        </p:spPr>
        <p:txBody>
          <a:bodyPr/>
          <a:lstStyle/>
          <a:p>
            <a:endParaRPr lang="en-US"/>
          </a:p>
        </p:txBody>
      </p:sp>
      <p:sp>
        <p:nvSpPr>
          <p:cNvPr id="5" name="Text 3"/>
          <p:cNvSpPr/>
          <p:nvPr/>
        </p:nvSpPr>
        <p:spPr>
          <a:xfrm>
            <a:off x="731520" y="1947672"/>
            <a:ext cx="685800" cy="685800"/>
          </a:xfrm>
          <a:prstGeom prst="roundRect">
            <a:avLst>
              <a:gd name="adj" fmla="val 6667"/>
            </a:avLst>
          </a:prstGeom>
          <a:solidFill>
            <a:schemeClr val="accent1"/>
          </a:solidFill>
          <a:ln/>
        </p:spPr>
        <p:txBody>
          <a:bodyPr wrap="square" lIns="381" tIns="381" rIns="381" bIns="381" rtlCol="0" anchor="ctr"/>
          <a:lstStyle/>
          <a:p>
            <a:pPr marL="0" indent="0" algn="ctr">
              <a:buNone/>
            </a:pPr>
            <a:r>
              <a:rPr lang="en-US" sz="1800" b="1" dirty="0">
                <a:solidFill>
                  <a:schemeClr val="tx1"/>
                </a:solidFill>
              </a:rPr>
              <a:t>Q1</a:t>
            </a:r>
            <a:endParaRPr lang="en-US" sz="1800" dirty="0"/>
          </a:p>
        </p:txBody>
      </p:sp>
      <p:sp>
        <p:nvSpPr>
          <p:cNvPr id="6" name="Text 4"/>
          <p:cNvSpPr txBox="1"/>
          <p:nvPr/>
        </p:nvSpPr>
        <p:spPr>
          <a:xfrm>
            <a:off x="1600200" y="1709928"/>
            <a:ext cx="4206240" cy="1170432"/>
          </a:xfrm>
          <a:prstGeom prst="rect">
            <a:avLst/>
          </a:prstGeom>
          <a:noFill/>
          <a:ln/>
        </p:spPr>
        <p:txBody>
          <a:bodyPr wrap="square" lIns="0" tIns="0" rIns="0" bIns="0" rtlCol="0" anchor="ctr"/>
          <a:lstStyle/>
          <a:p>
            <a:pPr marL="0" indent="0">
              <a:buNone/>
            </a:pPr>
            <a:r>
              <a:rPr lang="en-US" sz="1400" dirty="0">
                <a:solidFill>
                  <a:schemeClr val="tx1"/>
                </a:solidFill>
              </a:rPr>
              <a:t>What is the difference between a CUDA core and a Tensor Core, and which one does most of the work in LLM training?</a:t>
            </a:r>
            <a:endParaRPr lang="en-US" sz="1400" dirty="0"/>
          </a:p>
        </p:txBody>
      </p:sp>
      <p:sp>
        <p:nvSpPr>
          <p:cNvPr id="7" name="Shape 5"/>
          <p:cNvSpPr/>
          <p:nvPr/>
        </p:nvSpPr>
        <p:spPr>
          <a:xfrm>
            <a:off x="6172200" y="1600200"/>
            <a:ext cx="5440680" cy="1389888"/>
          </a:xfrm>
          <a:prstGeom prst="roundRect">
            <a:avLst>
              <a:gd name="adj" fmla="val 5263"/>
            </a:avLst>
          </a:prstGeom>
          <a:solidFill>
            <a:schemeClr val="bg2"/>
          </a:solidFill>
          <a:ln/>
        </p:spPr>
        <p:txBody>
          <a:bodyPr/>
          <a:lstStyle/>
          <a:p>
            <a:endParaRPr lang="en-US"/>
          </a:p>
        </p:txBody>
      </p:sp>
      <p:sp>
        <p:nvSpPr>
          <p:cNvPr id="8" name="Text 6"/>
          <p:cNvSpPr/>
          <p:nvPr/>
        </p:nvSpPr>
        <p:spPr>
          <a:xfrm>
            <a:off x="6355080" y="1947672"/>
            <a:ext cx="685800" cy="685800"/>
          </a:xfrm>
          <a:prstGeom prst="roundRect">
            <a:avLst>
              <a:gd name="adj" fmla="val 6667"/>
            </a:avLst>
          </a:prstGeom>
          <a:solidFill>
            <a:schemeClr val="accent1"/>
          </a:solidFill>
          <a:ln/>
        </p:spPr>
        <p:txBody>
          <a:bodyPr wrap="square" lIns="381" tIns="381" rIns="381" bIns="381" rtlCol="0" anchor="ctr"/>
          <a:lstStyle/>
          <a:p>
            <a:pPr marL="0" indent="0" algn="ctr">
              <a:buNone/>
            </a:pPr>
            <a:r>
              <a:rPr lang="en-US" sz="1800" b="1" dirty="0">
                <a:solidFill>
                  <a:schemeClr val="tx1"/>
                </a:solidFill>
              </a:rPr>
              <a:t>Q2</a:t>
            </a:r>
            <a:endParaRPr lang="en-US" sz="1800" dirty="0"/>
          </a:p>
        </p:txBody>
      </p:sp>
      <p:sp>
        <p:nvSpPr>
          <p:cNvPr id="9" name="Text 7"/>
          <p:cNvSpPr txBox="1"/>
          <p:nvPr/>
        </p:nvSpPr>
        <p:spPr>
          <a:xfrm>
            <a:off x="7223760" y="1709928"/>
            <a:ext cx="4206240" cy="1170432"/>
          </a:xfrm>
          <a:prstGeom prst="rect">
            <a:avLst/>
          </a:prstGeom>
          <a:noFill/>
          <a:ln/>
        </p:spPr>
        <p:txBody>
          <a:bodyPr wrap="square" lIns="0" tIns="0" rIns="0" bIns="0" rtlCol="0" anchor="ctr"/>
          <a:lstStyle/>
          <a:p>
            <a:pPr marL="0" indent="0">
              <a:buNone/>
            </a:pPr>
            <a:r>
              <a:rPr lang="en-US" sz="1400" dirty="0">
                <a:solidFill>
                  <a:schemeClr val="tx1"/>
                </a:solidFill>
              </a:rPr>
              <a:t>Why can an H200 serve LLMs much faster than an H100 even though their compute is the same?</a:t>
            </a:r>
            <a:endParaRPr lang="en-US" sz="1400" dirty="0"/>
          </a:p>
        </p:txBody>
      </p:sp>
      <p:sp>
        <p:nvSpPr>
          <p:cNvPr id="10" name="Shape 8"/>
          <p:cNvSpPr/>
          <p:nvPr/>
        </p:nvSpPr>
        <p:spPr>
          <a:xfrm>
            <a:off x="548640" y="3136392"/>
            <a:ext cx="5440680" cy="1389888"/>
          </a:xfrm>
          <a:prstGeom prst="roundRect">
            <a:avLst>
              <a:gd name="adj" fmla="val 5263"/>
            </a:avLst>
          </a:prstGeom>
          <a:solidFill>
            <a:schemeClr val="bg2"/>
          </a:solidFill>
          <a:ln/>
        </p:spPr>
        <p:txBody>
          <a:bodyPr/>
          <a:lstStyle/>
          <a:p>
            <a:endParaRPr lang="en-US"/>
          </a:p>
        </p:txBody>
      </p:sp>
      <p:sp>
        <p:nvSpPr>
          <p:cNvPr id="11" name="Text 9"/>
          <p:cNvSpPr/>
          <p:nvPr/>
        </p:nvSpPr>
        <p:spPr>
          <a:xfrm>
            <a:off x="731520" y="3483864"/>
            <a:ext cx="685800" cy="685800"/>
          </a:xfrm>
          <a:prstGeom prst="roundRect">
            <a:avLst>
              <a:gd name="adj" fmla="val 6667"/>
            </a:avLst>
          </a:prstGeom>
          <a:solidFill>
            <a:schemeClr val="accent1"/>
          </a:solidFill>
          <a:ln/>
        </p:spPr>
        <p:txBody>
          <a:bodyPr wrap="square" lIns="381" tIns="381" rIns="381" bIns="381" rtlCol="0" anchor="ctr"/>
          <a:lstStyle/>
          <a:p>
            <a:pPr marL="0" indent="0" algn="ctr">
              <a:buNone/>
            </a:pPr>
            <a:r>
              <a:rPr lang="en-US" sz="1800" b="1" dirty="0">
                <a:solidFill>
                  <a:schemeClr val="tx1"/>
                </a:solidFill>
              </a:rPr>
              <a:t>Q3</a:t>
            </a:r>
            <a:endParaRPr lang="en-US" sz="1800" dirty="0"/>
          </a:p>
        </p:txBody>
      </p:sp>
      <p:sp>
        <p:nvSpPr>
          <p:cNvPr id="12" name="Text 10"/>
          <p:cNvSpPr txBox="1"/>
          <p:nvPr/>
        </p:nvSpPr>
        <p:spPr>
          <a:xfrm>
            <a:off x="1600200" y="3246120"/>
            <a:ext cx="4206240" cy="1170432"/>
          </a:xfrm>
          <a:prstGeom prst="rect">
            <a:avLst/>
          </a:prstGeom>
          <a:noFill/>
          <a:ln/>
        </p:spPr>
        <p:txBody>
          <a:bodyPr wrap="square" lIns="0" tIns="0" rIns="0" bIns="0" rtlCol="0" anchor="ctr"/>
          <a:lstStyle/>
          <a:p>
            <a:pPr marL="0" indent="0">
              <a:buNone/>
            </a:pPr>
            <a:r>
              <a:rPr lang="en-US" sz="1400" dirty="0">
                <a:solidFill>
                  <a:schemeClr val="tx1"/>
                </a:solidFill>
              </a:rPr>
              <a:t>Decode the product name "GB200 NVL72". What does each part mean?</a:t>
            </a:r>
            <a:endParaRPr lang="en-US" sz="1400" dirty="0"/>
          </a:p>
        </p:txBody>
      </p:sp>
      <p:sp>
        <p:nvSpPr>
          <p:cNvPr id="13" name="Shape 11"/>
          <p:cNvSpPr/>
          <p:nvPr/>
        </p:nvSpPr>
        <p:spPr>
          <a:xfrm>
            <a:off x="6172200" y="3136392"/>
            <a:ext cx="5440680" cy="1389888"/>
          </a:xfrm>
          <a:prstGeom prst="roundRect">
            <a:avLst>
              <a:gd name="adj" fmla="val 5263"/>
            </a:avLst>
          </a:prstGeom>
          <a:solidFill>
            <a:schemeClr val="bg2"/>
          </a:solidFill>
          <a:ln/>
        </p:spPr>
        <p:txBody>
          <a:bodyPr/>
          <a:lstStyle/>
          <a:p>
            <a:endParaRPr lang="en-US"/>
          </a:p>
        </p:txBody>
      </p:sp>
      <p:sp>
        <p:nvSpPr>
          <p:cNvPr id="14" name="Text 12"/>
          <p:cNvSpPr/>
          <p:nvPr/>
        </p:nvSpPr>
        <p:spPr>
          <a:xfrm>
            <a:off x="6355080" y="3483864"/>
            <a:ext cx="685800" cy="685800"/>
          </a:xfrm>
          <a:prstGeom prst="roundRect">
            <a:avLst>
              <a:gd name="adj" fmla="val 6667"/>
            </a:avLst>
          </a:prstGeom>
          <a:solidFill>
            <a:schemeClr val="accent1"/>
          </a:solidFill>
          <a:ln/>
        </p:spPr>
        <p:txBody>
          <a:bodyPr wrap="square" lIns="381" tIns="381" rIns="381" bIns="381" rtlCol="0" anchor="ctr"/>
          <a:lstStyle/>
          <a:p>
            <a:pPr marL="0" indent="0" algn="ctr">
              <a:buNone/>
            </a:pPr>
            <a:r>
              <a:rPr lang="en-US" sz="1800" b="1" dirty="0">
                <a:solidFill>
                  <a:schemeClr val="tx1"/>
                </a:solidFill>
              </a:rPr>
              <a:t>Q4</a:t>
            </a:r>
            <a:endParaRPr lang="en-US" sz="1800" dirty="0"/>
          </a:p>
        </p:txBody>
      </p:sp>
      <p:sp>
        <p:nvSpPr>
          <p:cNvPr id="15" name="Text 13"/>
          <p:cNvSpPr txBox="1"/>
          <p:nvPr/>
        </p:nvSpPr>
        <p:spPr>
          <a:xfrm>
            <a:off x="7223760" y="3246120"/>
            <a:ext cx="4206240" cy="1170432"/>
          </a:xfrm>
          <a:prstGeom prst="rect">
            <a:avLst/>
          </a:prstGeom>
          <a:noFill/>
          <a:ln/>
        </p:spPr>
        <p:txBody>
          <a:bodyPr wrap="square" lIns="0" tIns="0" rIns="0" bIns="0" rtlCol="0" anchor="ctr"/>
          <a:lstStyle/>
          <a:p>
            <a:pPr marL="0" indent="0">
              <a:buNone/>
            </a:pPr>
            <a:r>
              <a:rPr lang="en-US" sz="1400" dirty="0">
                <a:solidFill>
                  <a:schemeClr val="tx1"/>
                </a:solidFill>
              </a:rPr>
              <a:t>A team needs to fine-tune a 70B model with QLoRA. Which GPU class would you recommend, and why?</a:t>
            </a:r>
            <a:endParaRPr lang="en-US" sz="1400" dirty="0"/>
          </a:p>
        </p:txBody>
      </p:sp>
      <p:sp>
        <p:nvSpPr>
          <p:cNvPr id="16" name="Shape 14"/>
          <p:cNvSpPr/>
          <p:nvPr/>
        </p:nvSpPr>
        <p:spPr>
          <a:xfrm>
            <a:off x="548640" y="4672584"/>
            <a:ext cx="5440680" cy="1389888"/>
          </a:xfrm>
          <a:prstGeom prst="roundRect">
            <a:avLst>
              <a:gd name="adj" fmla="val 5263"/>
            </a:avLst>
          </a:prstGeom>
          <a:solidFill>
            <a:schemeClr val="bg2"/>
          </a:solidFill>
          <a:ln/>
        </p:spPr>
        <p:txBody>
          <a:bodyPr/>
          <a:lstStyle/>
          <a:p>
            <a:endParaRPr lang="en-US"/>
          </a:p>
        </p:txBody>
      </p:sp>
      <p:sp>
        <p:nvSpPr>
          <p:cNvPr id="17" name="Text 15"/>
          <p:cNvSpPr/>
          <p:nvPr/>
        </p:nvSpPr>
        <p:spPr>
          <a:xfrm>
            <a:off x="731520" y="5020056"/>
            <a:ext cx="685800" cy="685800"/>
          </a:xfrm>
          <a:prstGeom prst="roundRect">
            <a:avLst>
              <a:gd name="adj" fmla="val 6667"/>
            </a:avLst>
          </a:prstGeom>
          <a:solidFill>
            <a:schemeClr val="accent1"/>
          </a:solidFill>
          <a:ln/>
        </p:spPr>
        <p:txBody>
          <a:bodyPr wrap="square" lIns="381" tIns="381" rIns="381" bIns="381" rtlCol="0" anchor="ctr"/>
          <a:lstStyle/>
          <a:p>
            <a:pPr marL="0" indent="0" algn="ctr">
              <a:buNone/>
            </a:pPr>
            <a:r>
              <a:rPr lang="en-US" sz="1800" b="1" dirty="0">
                <a:solidFill>
                  <a:schemeClr val="tx1"/>
                </a:solidFill>
              </a:rPr>
              <a:t>Q5</a:t>
            </a:r>
            <a:endParaRPr lang="en-US" sz="1800" dirty="0"/>
          </a:p>
        </p:txBody>
      </p:sp>
      <p:sp>
        <p:nvSpPr>
          <p:cNvPr id="18" name="Text 16"/>
          <p:cNvSpPr txBox="1"/>
          <p:nvPr/>
        </p:nvSpPr>
        <p:spPr>
          <a:xfrm>
            <a:off x="1600200" y="4782312"/>
            <a:ext cx="4206240" cy="1170432"/>
          </a:xfrm>
          <a:prstGeom prst="rect">
            <a:avLst/>
          </a:prstGeom>
          <a:noFill/>
          <a:ln/>
        </p:spPr>
        <p:txBody>
          <a:bodyPr wrap="square" lIns="0" tIns="0" rIns="0" bIns="0" rtlCol="0" anchor="ctr"/>
          <a:lstStyle/>
          <a:p>
            <a:pPr marL="0" indent="0">
              <a:buNone/>
            </a:pPr>
            <a:r>
              <a:rPr lang="en-US" sz="1400" dirty="0">
                <a:solidFill>
                  <a:schemeClr val="tx1"/>
                </a:solidFill>
              </a:rPr>
              <a:t>Name the four networks in an AI cluster and the main purpose of each.</a:t>
            </a:r>
            <a:endParaRPr lang="en-US" sz="1400" dirty="0"/>
          </a:p>
        </p:txBody>
      </p:sp>
      <p:sp>
        <p:nvSpPr>
          <p:cNvPr id="19" name="Shape 17"/>
          <p:cNvSpPr/>
          <p:nvPr/>
        </p:nvSpPr>
        <p:spPr>
          <a:xfrm>
            <a:off x="6172200" y="4672584"/>
            <a:ext cx="5440680" cy="1389888"/>
          </a:xfrm>
          <a:prstGeom prst="roundRect">
            <a:avLst>
              <a:gd name="adj" fmla="val 5263"/>
            </a:avLst>
          </a:prstGeom>
          <a:solidFill>
            <a:schemeClr val="bg2"/>
          </a:solidFill>
          <a:ln/>
        </p:spPr>
        <p:txBody>
          <a:bodyPr/>
          <a:lstStyle/>
          <a:p>
            <a:endParaRPr lang="en-US"/>
          </a:p>
        </p:txBody>
      </p:sp>
      <p:sp>
        <p:nvSpPr>
          <p:cNvPr id="20" name="Text 18"/>
          <p:cNvSpPr/>
          <p:nvPr/>
        </p:nvSpPr>
        <p:spPr>
          <a:xfrm>
            <a:off x="6355080" y="5020056"/>
            <a:ext cx="685800" cy="685800"/>
          </a:xfrm>
          <a:prstGeom prst="roundRect">
            <a:avLst>
              <a:gd name="adj" fmla="val 6667"/>
            </a:avLst>
          </a:prstGeom>
          <a:solidFill>
            <a:schemeClr val="accent1"/>
          </a:solidFill>
          <a:ln/>
        </p:spPr>
        <p:txBody>
          <a:bodyPr wrap="square" lIns="381" tIns="381" rIns="381" bIns="381" rtlCol="0" anchor="ctr"/>
          <a:lstStyle/>
          <a:p>
            <a:pPr marL="0" indent="0" algn="ctr">
              <a:buNone/>
            </a:pPr>
            <a:r>
              <a:rPr lang="en-US" sz="1800" b="1" dirty="0">
                <a:solidFill>
                  <a:schemeClr val="tx1"/>
                </a:solidFill>
              </a:rPr>
              <a:t>Q6</a:t>
            </a:r>
            <a:endParaRPr lang="en-US" sz="1800" dirty="0"/>
          </a:p>
        </p:txBody>
      </p:sp>
      <p:sp>
        <p:nvSpPr>
          <p:cNvPr id="21" name="Text 19"/>
          <p:cNvSpPr txBox="1"/>
          <p:nvPr/>
        </p:nvSpPr>
        <p:spPr>
          <a:xfrm>
            <a:off x="7223760" y="4782312"/>
            <a:ext cx="4206240" cy="1170432"/>
          </a:xfrm>
          <a:prstGeom prst="rect">
            <a:avLst/>
          </a:prstGeom>
          <a:noFill/>
          <a:ln/>
        </p:spPr>
        <p:txBody>
          <a:bodyPr wrap="square" lIns="0" tIns="0" rIns="0" bIns="0" rtlCol="0" anchor="ctr"/>
          <a:lstStyle/>
          <a:p>
            <a:pPr marL="0" indent="0">
              <a:buNone/>
            </a:pPr>
            <a:r>
              <a:rPr lang="en-US" sz="1400" dirty="0">
                <a:solidFill>
                  <a:schemeClr val="tx1"/>
                </a:solidFill>
              </a:rPr>
              <a:t>Your Kubernetes cluster must give 7 teams isolated, guaranteed GPU slices for inference. Which sharing method fits?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640080" y="1097280"/>
            <a:ext cx="6400800" cy="365760"/>
          </a:xfrm>
          <a:prstGeom prst="rect">
            <a:avLst/>
          </a:prstGeom>
          <a:noFill/>
          <a:ln/>
        </p:spPr>
        <p:txBody>
          <a:bodyPr wrap="square" lIns="0" tIns="0" rIns="0" bIns="0" rtlCol="0" anchor="t"/>
          <a:lstStyle/>
          <a:p>
            <a:pPr marL="0" indent="0">
              <a:buNone/>
            </a:pPr>
            <a:r>
              <a:rPr lang="en-US" sz="1400" b="1" kern="0" spc="300" dirty="0">
                <a:solidFill>
                  <a:schemeClr val="accent1"/>
                </a:solidFill>
              </a:rPr>
              <a:t>THANK YOU</a:t>
            </a:r>
            <a:endParaRPr lang="en-US" sz="1400" dirty="0"/>
          </a:p>
        </p:txBody>
      </p:sp>
      <p:sp>
        <p:nvSpPr>
          <p:cNvPr id="3" name="Text 0"/>
          <p:cNvSpPr>
            <a:spLocks noGrp="1"/>
          </p:cNvSpPr>
          <p:nvPr>
            <p:ph type="title" idx="100" hasCustomPrompt="1"/>
          </p:nvPr>
        </p:nvSpPr>
        <p:spPr>
          <a:xfrm>
            <a:off x="640080" y="1737360"/>
            <a:ext cx="6949440" cy="2194560"/>
          </a:xfrm>
          <a:prstGeom prst="rect">
            <a:avLst/>
          </a:prstGeom>
          <a:noFill/>
          <a:ln/>
        </p:spPr>
        <p:txBody>
          <a:bodyPr wrap="square" lIns="0" tIns="0" rIns="0" bIns="0" rtlCol="0" anchor="t"/>
          <a:lstStyle/>
          <a:p>
            <a:pPr marL="0" indent="0" algn="l">
              <a:buNone/>
            </a:pPr>
            <a:r>
              <a:rPr lang="en-US" sz="4200" b="1" dirty="0">
                <a:solidFill>
                  <a:schemeClr val="bg1"/>
                </a:solidFill>
              </a:rPr>
              <a:t>Questions and discussion</a:t>
            </a:r>
            <a:endParaRPr lang="en-US" sz="4200" dirty="0"/>
          </a:p>
        </p:txBody>
      </p:sp>
      <p:sp>
        <p:nvSpPr>
          <p:cNvPr id="4" name="Text 0"/>
          <p:cNvSpPr>
            <a:spLocks noGrp="1"/>
          </p:cNvSpPr>
          <p:nvPr>
            <p:ph type="body" idx="101" hasCustomPrompt="1"/>
          </p:nvPr>
        </p:nvSpPr>
        <p:spPr>
          <a:xfrm>
            <a:off x="640080" y="4069080"/>
            <a:ext cx="6766560" cy="822960"/>
          </a:xfrm>
          <a:prstGeom prst="rect">
            <a:avLst/>
          </a:prstGeom>
          <a:noFill/>
          <a:ln/>
        </p:spPr>
        <p:txBody>
          <a:bodyPr wrap="square" lIns="0" tIns="0" rIns="0" bIns="0" rtlCol="0" anchor="t"/>
          <a:lstStyle/>
          <a:p>
            <a:pPr marL="0" indent="0">
              <a:buNone/>
            </a:pPr>
            <a:r>
              <a:rPr lang="en-US" sz="1800" dirty="0">
                <a:solidFill>
                  <a:schemeClr val="accent1"/>
                </a:solidFill>
              </a:rPr>
              <a:t>Further reading for participants:</a:t>
            </a:r>
            <a:endParaRPr lang="en-US" sz="1800" dirty="0"/>
          </a:p>
        </p:txBody>
      </p:sp>
      <p:sp>
        <p:nvSpPr>
          <p:cNvPr id="5" name="Text 3"/>
          <p:cNvSpPr txBox="1"/>
          <p:nvPr/>
        </p:nvSpPr>
        <p:spPr>
          <a:xfrm>
            <a:off x="640080" y="4526280"/>
            <a:ext cx="7132320" cy="18288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C9D3CC"/>
                </a:solidFill>
              </a:rPr>
              <a:t>NVIDIA architecture whitepapers: Hopper (H100) and Blackwell</a:t>
            </a:r>
            <a:endParaRPr lang="en-US" sz="1500" dirty="0"/>
          </a:p>
          <a:p>
            <a:pPr marL="342900" indent="-342900">
              <a:spcAft>
                <a:spcPts val="600"/>
              </a:spcAft>
              <a:buSzPct val="100000"/>
              <a:buChar char="•"/>
            </a:pPr>
            <a:r>
              <a:rPr lang="en-US" sz="1500" dirty="0">
                <a:solidFill>
                  <a:srgbClr val="C9D3CC"/>
                </a:solidFill>
              </a:rPr>
              <a:t>NVIDIA DGX SuperPOD and BasePOD reference architectures</a:t>
            </a:r>
            <a:endParaRPr lang="en-US" sz="1500" dirty="0"/>
          </a:p>
          <a:p>
            <a:pPr marL="342900" indent="-342900">
              <a:spcAft>
                <a:spcPts val="600"/>
              </a:spcAft>
              <a:buSzPct val="100000"/>
              <a:buChar char="•"/>
            </a:pPr>
            <a:r>
              <a:rPr lang="en-US" sz="1500" dirty="0">
                <a:solidFill>
                  <a:srgbClr val="C9D3CC"/>
                </a:solidFill>
              </a:rPr>
              <a:t>NVIDIA GPU Operator and DCGM documentation</a:t>
            </a:r>
            <a:endParaRPr lang="en-US" sz="1500" dirty="0"/>
          </a:p>
          <a:p>
            <a:pPr marL="342900" indent="-342900">
              <a:spcAft>
                <a:spcPts val="600"/>
              </a:spcAft>
              <a:buSzPct val="100000"/>
              <a:buChar char="•"/>
            </a:pPr>
            <a:r>
              <a:rPr lang="en-US" sz="1500" dirty="0">
                <a:solidFill>
                  <a:srgbClr val="C9D3CC"/>
                </a:solidFill>
              </a:rPr>
              <a:t>CUDA C++ Programming Guide: hardware implementation chapter</a:t>
            </a:r>
            <a:endParaRPr lang="en-US" sz="1500" dirty="0"/>
          </a:p>
          <a:p>
            <a:pPr marL="342900" indent="-342900">
              <a:spcAft>
                <a:spcPts val="600"/>
              </a:spcAft>
              <a:buSzPct val="100000"/>
              <a:buChar char="•"/>
            </a:pPr>
            <a:r>
              <a:rPr lang="en-US" sz="1500" dirty="0">
                <a:solidFill>
                  <a:srgbClr val="C9D3CC"/>
                </a:solidFill>
              </a:rPr>
              <a:t>NVIDIA datasheets for current GPU specifications</a:t>
            </a:r>
            <a:endParaRPr lang="en-US" sz="1500" dirty="0"/>
          </a:p>
        </p:txBody>
      </p:sp>
      <p:sp>
        <p:nvSpPr>
          <p:cNvPr id="6" name="Shape 4"/>
          <p:cNvSpPr/>
          <p:nvPr/>
        </p:nvSpPr>
        <p:spPr>
          <a:xfrm>
            <a:off x="8321040" y="822960"/>
            <a:ext cx="457200" cy="481584"/>
          </a:xfrm>
          <a:prstGeom prst="roundRect">
            <a:avLst>
              <a:gd name="adj" fmla="val 8000"/>
            </a:avLst>
          </a:prstGeom>
          <a:solidFill>
            <a:schemeClr val="accent1"/>
          </a:solidFill>
          <a:ln/>
        </p:spPr>
        <p:txBody>
          <a:bodyPr/>
          <a:lstStyle/>
          <a:p>
            <a:endParaRPr lang="en-US"/>
          </a:p>
        </p:txBody>
      </p:sp>
      <p:sp>
        <p:nvSpPr>
          <p:cNvPr id="7" name="Shape 5"/>
          <p:cNvSpPr/>
          <p:nvPr/>
        </p:nvSpPr>
        <p:spPr>
          <a:xfrm>
            <a:off x="8887968" y="822960"/>
            <a:ext cx="457200" cy="481584"/>
          </a:xfrm>
          <a:prstGeom prst="roundRect">
            <a:avLst>
              <a:gd name="adj" fmla="val 8000"/>
            </a:avLst>
          </a:prstGeom>
          <a:solidFill>
            <a:schemeClr val="accent1">
              <a:alpha val="20000"/>
            </a:schemeClr>
          </a:solidFill>
          <a:ln/>
        </p:spPr>
        <p:txBody>
          <a:bodyPr/>
          <a:lstStyle/>
          <a:p>
            <a:endParaRPr lang="en-US"/>
          </a:p>
        </p:txBody>
      </p:sp>
      <p:sp>
        <p:nvSpPr>
          <p:cNvPr id="8" name="Shape 6"/>
          <p:cNvSpPr/>
          <p:nvPr/>
        </p:nvSpPr>
        <p:spPr>
          <a:xfrm>
            <a:off x="9454896" y="822960"/>
            <a:ext cx="457200" cy="481584"/>
          </a:xfrm>
          <a:prstGeom prst="roundRect">
            <a:avLst>
              <a:gd name="adj" fmla="val 8000"/>
            </a:avLst>
          </a:prstGeom>
          <a:solidFill>
            <a:schemeClr val="accent1">
              <a:alpha val="45000"/>
            </a:schemeClr>
          </a:solidFill>
          <a:ln/>
        </p:spPr>
        <p:txBody>
          <a:bodyPr/>
          <a:lstStyle/>
          <a:p>
            <a:endParaRPr lang="en-US"/>
          </a:p>
        </p:txBody>
      </p:sp>
      <p:sp>
        <p:nvSpPr>
          <p:cNvPr id="9" name="Shape 7"/>
          <p:cNvSpPr/>
          <p:nvPr/>
        </p:nvSpPr>
        <p:spPr>
          <a:xfrm>
            <a:off x="10021824" y="822960"/>
            <a:ext cx="457200" cy="481584"/>
          </a:xfrm>
          <a:prstGeom prst="roundRect">
            <a:avLst>
              <a:gd name="adj" fmla="val 8000"/>
            </a:avLst>
          </a:prstGeom>
          <a:solidFill>
            <a:schemeClr val="accent1">
              <a:alpha val="75000"/>
            </a:schemeClr>
          </a:solidFill>
          <a:ln/>
        </p:spPr>
        <p:txBody>
          <a:bodyPr/>
          <a:lstStyle/>
          <a:p>
            <a:endParaRPr lang="en-US"/>
          </a:p>
        </p:txBody>
      </p:sp>
      <p:sp>
        <p:nvSpPr>
          <p:cNvPr id="10" name="Shape 8"/>
          <p:cNvSpPr/>
          <p:nvPr/>
        </p:nvSpPr>
        <p:spPr>
          <a:xfrm>
            <a:off x="10588752" y="822960"/>
            <a:ext cx="457200" cy="481584"/>
          </a:xfrm>
          <a:prstGeom prst="roundRect">
            <a:avLst>
              <a:gd name="adj" fmla="val 8000"/>
            </a:avLst>
          </a:prstGeom>
          <a:solidFill>
            <a:schemeClr val="accent1"/>
          </a:solidFill>
          <a:ln/>
        </p:spPr>
        <p:txBody>
          <a:bodyPr/>
          <a:lstStyle/>
          <a:p>
            <a:endParaRPr lang="en-US"/>
          </a:p>
        </p:txBody>
      </p:sp>
      <p:sp>
        <p:nvSpPr>
          <p:cNvPr id="11" name="Shape 9"/>
          <p:cNvSpPr/>
          <p:nvPr/>
        </p:nvSpPr>
        <p:spPr>
          <a:xfrm>
            <a:off x="11155680" y="822960"/>
            <a:ext cx="457200" cy="481584"/>
          </a:xfrm>
          <a:prstGeom prst="roundRect">
            <a:avLst>
              <a:gd name="adj" fmla="val 8000"/>
            </a:avLst>
          </a:prstGeom>
          <a:solidFill>
            <a:schemeClr val="accent1">
              <a:alpha val="20000"/>
            </a:schemeClr>
          </a:solidFill>
          <a:ln/>
        </p:spPr>
        <p:txBody>
          <a:bodyPr/>
          <a:lstStyle/>
          <a:p>
            <a:endParaRPr lang="en-US"/>
          </a:p>
        </p:txBody>
      </p:sp>
      <p:sp>
        <p:nvSpPr>
          <p:cNvPr id="12" name="Shape 10"/>
          <p:cNvSpPr/>
          <p:nvPr/>
        </p:nvSpPr>
        <p:spPr>
          <a:xfrm>
            <a:off x="8321040" y="1414272"/>
            <a:ext cx="457200" cy="481584"/>
          </a:xfrm>
          <a:prstGeom prst="roundRect">
            <a:avLst>
              <a:gd name="adj" fmla="val 8000"/>
            </a:avLst>
          </a:prstGeom>
          <a:solidFill>
            <a:schemeClr val="accent1">
              <a:alpha val="20000"/>
            </a:schemeClr>
          </a:solidFill>
          <a:ln/>
        </p:spPr>
        <p:txBody>
          <a:bodyPr/>
          <a:lstStyle/>
          <a:p>
            <a:endParaRPr lang="en-US"/>
          </a:p>
        </p:txBody>
      </p:sp>
      <p:sp>
        <p:nvSpPr>
          <p:cNvPr id="13" name="Shape 11"/>
          <p:cNvSpPr/>
          <p:nvPr/>
        </p:nvSpPr>
        <p:spPr>
          <a:xfrm>
            <a:off x="8887968" y="1414272"/>
            <a:ext cx="457200" cy="481584"/>
          </a:xfrm>
          <a:prstGeom prst="roundRect">
            <a:avLst>
              <a:gd name="adj" fmla="val 8000"/>
            </a:avLst>
          </a:prstGeom>
          <a:solidFill>
            <a:schemeClr val="accent1">
              <a:alpha val="20000"/>
            </a:schemeClr>
          </a:solidFill>
          <a:ln/>
        </p:spPr>
        <p:txBody>
          <a:bodyPr/>
          <a:lstStyle/>
          <a:p>
            <a:endParaRPr lang="en-US"/>
          </a:p>
        </p:txBody>
      </p:sp>
      <p:sp>
        <p:nvSpPr>
          <p:cNvPr id="14" name="Shape 12"/>
          <p:cNvSpPr/>
          <p:nvPr/>
        </p:nvSpPr>
        <p:spPr>
          <a:xfrm>
            <a:off x="9454896" y="1414272"/>
            <a:ext cx="457200" cy="481584"/>
          </a:xfrm>
          <a:prstGeom prst="roundRect">
            <a:avLst>
              <a:gd name="adj" fmla="val 8000"/>
            </a:avLst>
          </a:prstGeom>
          <a:solidFill>
            <a:schemeClr val="accent1">
              <a:alpha val="20000"/>
            </a:schemeClr>
          </a:solidFill>
          <a:ln/>
        </p:spPr>
        <p:txBody>
          <a:bodyPr/>
          <a:lstStyle/>
          <a:p>
            <a:endParaRPr lang="en-US"/>
          </a:p>
        </p:txBody>
      </p:sp>
      <p:sp>
        <p:nvSpPr>
          <p:cNvPr id="15" name="Shape 13"/>
          <p:cNvSpPr/>
          <p:nvPr/>
        </p:nvSpPr>
        <p:spPr>
          <a:xfrm>
            <a:off x="10021824" y="1414272"/>
            <a:ext cx="457200" cy="481584"/>
          </a:xfrm>
          <a:prstGeom prst="roundRect">
            <a:avLst>
              <a:gd name="adj" fmla="val 8000"/>
            </a:avLst>
          </a:prstGeom>
          <a:solidFill>
            <a:schemeClr val="accent1">
              <a:alpha val="20000"/>
            </a:schemeClr>
          </a:solidFill>
          <a:ln/>
        </p:spPr>
        <p:txBody>
          <a:bodyPr/>
          <a:lstStyle/>
          <a:p>
            <a:endParaRPr lang="en-US"/>
          </a:p>
        </p:txBody>
      </p:sp>
      <p:sp>
        <p:nvSpPr>
          <p:cNvPr id="16" name="Shape 14"/>
          <p:cNvSpPr/>
          <p:nvPr/>
        </p:nvSpPr>
        <p:spPr>
          <a:xfrm>
            <a:off x="10588752" y="1414272"/>
            <a:ext cx="457200" cy="481584"/>
          </a:xfrm>
          <a:prstGeom prst="roundRect">
            <a:avLst>
              <a:gd name="adj" fmla="val 8000"/>
            </a:avLst>
          </a:prstGeom>
          <a:solidFill>
            <a:schemeClr val="accent1">
              <a:alpha val="20000"/>
            </a:schemeClr>
          </a:solidFill>
          <a:ln/>
        </p:spPr>
        <p:txBody>
          <a:bodyPr/>
          <a:lstStyle/>
          <a:p>
            <a:endParaRPr lang="en-US"/>
          </a:p>
        </p:txBody>
      </p:sp>
      <p:sp>
        <p:nvSpPr>
          <p:cNvPr id="17" name="Shape 15"/>
          <p:cNvSpPr/>
          <p:nvPr/>
        </p:nvSpPr>
        <p:spPr>
          <a:xfrm>
            <a:off x="11155680" y="1414272"/>
            <a:ext cx="457200" cy="481584"/>
          </a:xfrm>
          <a:prstGeom prst="roundRect">
            <a:avLst>
              <a:gd name="adj" fmla="val 8000"/>
            </a:avLst>
          </a:prstGeom>
          <a:solidFill>
            <a:schemeClr val="accent1">
              <a:alpha val="20000"/>
            </a:schemeClr>
          </a:solidFill>
          <a:ln/>
        </p:spPr>
        <p:txBody>
          <a:bodyPr/>
          <a:lstStyle/>
          <a:p>
            <a:endParaRPr lang="en-US"/>
          </a:p>
        </p:txBody>
      </p:sp>
      <p:sp>
        <p:nvSpPr>
          <p:cNvPr id="18" name="Shape 16"/>
          <p:cNvSpPr/>
          <p:nvPr/>
        </p:nvSpPr>
        <p:spPr>
          <a:xfrm>
            <a:off x="8321040" y="2005584"/>
            <a:ext cx="457200" cy="481584"/>
          </a:xfrm>
          <a:prstGeom prst="roundRect">
            <a:avLst>
              <a:gd name="adj" fmla="val 8000"/>
            </a:avLst>
          </a:prstGeom>
          <a:solidFill>
            <a:schemeClr val="accent1">
              <a:alpha val="45000"/>
            </a:schemeClr>
          </a:solidFill>
          <a:ln/>
        </p:spPr>
        <p:txBody>
          <a:bodyPr/>
          <a:lstStyle/>
          <a:p>
            <a:endParaRPr lang="en-US"/>
          </a:p>
        </p:txBody>
      </p:sp>
      <p:sp>
        <p:nvSpPr>
          <p:cNvPr id="19" name="Shape 17"/>
          <p:cNvSpPr/>
          <p:nvPr/>
        </p:nvSpPr>
        <p:spPr>
          <a:xfrm>
            <a:off x="8887968" y="2005584"/>
            <a:ext cx="457200" cy="481584"/>
          </a:xfrm>
          <a:prstGeom prst="roundRect">
            <a:avLst>
              <a:gd name="adj" fmla="val 8000"/>
            </a:avLst>
          </a:prstGeom>
          <a:solidFill>
            <a:schemeClr val="accent1">
              <a:alpha val="20000"/>
            </a:schemeClr>
          </a:solidFill>
          <a:ln/>
        </p:spPr>
        <p:txBody>
          <a:bodyPr/>
          <a:lstStyle/>
          <a:p>
            <a:endParaRPr lang="en-US"/>
          </a:p>
        </p:txBody>
      </p:sp>
      <p:sp>
        <p:nvSpPr>
          <p:cNvPr id="20" name="Shape 18"/>
          <p:cNvSpPr/>
          <p:nvPr/>
        </p:nvSpPr>
        <p:spPr>
          <a:xfrm>
            <a:off x="9454896" y="2005584"/>
            <a:ext cx="457200" cy="481584"/>
          </a:xfrm>
          <a:prstGeom prst="roundRect">
            <a:avLst>
              <a:gd name="adj" fmla="val 8000"/>
            </a:avLst>
          </a:prstGeom>
          <a:solidFill>
            <a:schemeClr val="accent1"/>
          </a:solidFill>
          <a:ln/>
        </p:spPr>
        <p:txBody>
          <a:bodyPr/>
          <a:lstStyle/>
          <a:p>
            <a:endParaRPr lang="en-US"/>
          </a:p>
        </p:txBody>
      </p:sp>
      <p:sp>
        <p:nvSpPr>
          <p:cNvPr id="21" name="Shape 19"/>
          <p:cNvSpPr/>
          <p:nvPr/>
        </p:nvSpPr>
        <p:spPr>
          <a:xfrm>
            <a:off x="10021824" y="2005584"/>
            <a:ext cx="457200" cy="481584"/>
          </a:xfrm>
          <a:prstGeom prst="roundRect">
            <a:avLst>
              <a:gd name="adj" fmla="val 8000"/>
            </a:avLst>
          </a:prstGeom>
          <a:solidFill>
            <a:schemeClr val="accent1">
              <a:alpha val="75000"/>
            </a:schemeClr>
          </a:solidFill>
          <a:ln/>
        </p:spPr>
        <p:txBody>
          <a:bodyPr/>
          <a:lstStyle/>
          <a:p>
            <a:endParaRPr lang="en-US"/>
          </a:p>
        </p:txBody>
      </p:sp>
      <p:sp>
        <p:nvSpPr>
          <p:cNvPr id="22" name="Shape 20"/>
          <p:cNvSpPr/>
          <p:nvPr/>
        </p:nvSpPr>
        <p:spPr>
          <a:xfrm>
            <a:off x="10588752" y="2005584"/>
            <a:ext cx="457200" cy="481584"/>
          </a:xfrm>
          <a:prstGeom prst="roundRect">
            <a:avLst>
              <a:gd name="adj" fmla="val 8000"/>
            </a:avLst>
          </a:prstGeom>
          <a:solidFill>
            <a:schemeClr val="accent1">
              <a:alpha val="45000"/>
            </a:schemeClr>
          </a:solidFill>
          <a:ln/>
        </p:spPr>
        <p:txBody>
          <a:bodyPr/>
          <a:lstStyle/>
          <a:p>
            <a:endParaRPr lang="en-US"/>
          </a:p>
        </p:txBody>
      </p:sp>
      <p:sp>
        <p:nvSpPr>
          <p:cNvPr id="23" name="Shape 21"/>
          <p:cNvSpPr/>
          <p:nvPr/>
        </p:nvSpPr>
        <p:spPr>
          <a:xfrm>
            <a:off x="11155680" y="2005584"/>
            <a:ext cx="457200" cy="481584"/>
          </a:xfrm>
          <a:prstGeom prst="roundRect">
            <a:avLst>
              <a:gd name="adj" fmla="val 8000"/>
            </a:avLst>
          </a:prstGeom>
          <a:solidFill>
            <a:schemeClr val="accent1">
              <a:alpha val="20000"/>
            </a:schemeClr>
          </a:solidFill>
          <a:ln/>
        </p:spPr>
        <p:txBody>
          <a:bodyPr/>
          <a:lstStyle/>
          <a:p>
            <a:endParaRPr lang="en-US"/>
          </a:p>
        </p:txBody>
      </p:sp>
      <p:sp>
        <p:nvSpPr>
          <p:cNvPr id="24" name="Shape 22"/>
          <p:cNvSpPr/>
          <p:nvPr/>
        </p:nvSpPr>
        <p:spPr>
          <a:xfrm>
            <a:off x="8321040" y="2596896"/>
            <a:ext cx="457200" cy="481584"/>
          </a:xfrm>
          <a:prstGeom prst="roundRect">
            <a:avLst>
              <a:gd name="adj" fmla="val 8000"/>
            </a:avLst>
          </a:prstGeom>
          <a:solidFill>
            <a:schemeClr val="accent1">
              <a:alpha val="75000"/>
            </a:schemeClr>
          </a:solidFill>
          <a:ln/>
        </p:spPr>
        <p:txBody>
          <a:bodyPr/>
          <a:lstStyle/>
          <a:p>
            <a:endParaRPr lang="en-US"/>
          </a:p>
        </p:txBody>
      </p:sp>
      <p:sp>
        <p:nvSpPr>
          <p:cNvPr id="25" name="Shape 23"/>
          <p:cNvSpPr/>
          <p:nvPr/>
        </p:nvSpPr>
        <p:spPr>
          <a:xfrm>
            <a:off x="8887968" y="2596896"/>
            <a:ext cx="457200" cy="481584"/>
          </a:xfrm>
          <a:prstGeom prst="roundRect">
            <a:avLst>
              <a:gd name="adj" fmla="val 8000"/>
            </a:avLst>
          </a:prstGeom>
          <a:solidFill>
            <a:schemeClr val="accent1">
              <a:alpha val="20000"/>
            </a:schemeClr>
          </a:solidFill>
          <a:ln/>
        </p:spPr>
        <p:txBody>
          <a:bodyPr/>
          <a:lstStyle/>
          <a:p>
            <a:endParaRPr lang="en-US"/>
          </a:p>
        </p:txBody>
      </p:sp>
      <p:sp>
        <p:nvSpPr>
          <p:cNvPr id="26" name="Shape 24"/>
          <p:cNvSpPr/>
          <p:nvPr/>
        </p:nvSpPr>
        <p:spPr>
          <a:xfrm>
            <a:off x="9454896" y="2596896"/>
            <a:ext cx="457200" cy="481584"/>
          </a:xfrm>
          <a:prstGeom prst="roundRect">
            <a:avLst>
              <a:gd name="adj" fmla="val 8000"/>
            </a:avLst>
          </a:prstGeom>
          <a:solidFill>
            <a:schemeClr val="accent1">
              <a:alpha val="75000"/>
            </a:schemeClr>
          </a:solidFill>
          <a:ln/>
        </p:spPr>
        <p:txBody>
          <a:bodyPr/>
          <a:lstStyle/>
          <a:p>
            <a:endParaRPr lang="en-US"/>
          </a:p>
        </p:txBody>
      </p:sp>
      <p:sp>
        <p:nvSpPr>
          <p:cNvPr id="27" name="Shape 25"/>
          <p:cNvSpPr/>
          <p:nvPr/>
        </p:nvSpPr>
        <p:spPr>
          <a:xfrm>
            <a:off x="10021824" y="2596896"/>
            <a:ext cx="457200" cy="481584"/>
          </a:xfrm>
          <a:prstGeom prst="roundRect">
            <a:avLst>
              <a:gd name="adj" fmla="val 8000"/>
            </a:avLst>
          </a:prstGeom>
          <a:solidFill>
            <a:schemeClr val="accent1">
              <a:alpha val="20000"/>
            </a:schemeClr>
          </a:solidFill>
          <a:ln/>
        </p:spPr>
        <p:txBody>
          <a:bodyPr/>
          <a:lstStyle/>
          <a:p>
            <a:endParaRPr lang="en-US"/>
          </a:p>
        </p:txBody>
      </p:sp>
      <p:sp>
        <p:nvSpPr>
          <p:cNvPr id="28" name="Shape 26"/>
          <p:cNvSpPr/>
          <p:nvPr/>
        </p:nvSpPr>
        <p:spPr>
          <a:xfrm>
            <a:off x="10588752" y="2596896"/>
            <a:ext cx="457200" cy="481584"/>
          </a:xfrm>
          <a:prstGeom prst="roundRect">
            <a:avLst>
              <a:gd name="adj" fmla="val 8000"/>
            </a:avLst>
          </a:prstGeom>
          <a:solidFill>
            <a:schemeClr val="accent1">
              <a:alpha val="75000"/>
            </a:schemeClr>
          </a:solidFill>
          <a:ln/>
        </p:spPr>
        <p:txBody>
          <a:bodyPr/>
          <a:lstStyle/>
          <a:p>
            <a:endParaRPr lang="en-US"/>
          </a:p>
        </p:txBody>
      </p:sp>
      <p:sp>
        <p:nvSpPr>
          <p:cNvPr id="29" name="Shape 27"/>
          <p:cNvSpPr/>
          <p:nvPr/>
        </p:nvSpPr>
        <p:spPr>
          <a:xfrm>
            <a:off x="11155680" y="2596896"/>
            <a:ext cx="457200" cy="481584"/>
          </a:xfrm>
          <a:prstGeom prst="roundRect">
            <a:avLst>
              <a:gd name="adj" fmla="val 8000"/>
            </a:avLst>
          </a:prstGeom>
          <a:solidFill>
            <a:schemeClr val="accent1">
              <a:alpha val="20000"/>
            </a:schemeClr>
          </a:solidFill>
          <a:ln/>
        </p:spPr>
        <p:txBody>
          <a:bodyPr/>
          <a:lstStyle/>
          <a:p>
            <a:endParaRPr lang="en-US"/>
          </a:p>
        </p:txBody>
      </p:sp>
      <p:sp>
        <p:nvSpPr>
          <p:cNvPr id="30" name="Shape 28"/>
          <p:cNvSpPr/>
          <p:nvPr/>
        </p:nvSpPr>
        <p:spPr>
          <a:xfrm>
            <a:off x="8321040" y="3188208"/>
            <a:ext cx="457200" cy="481584"/>
          </a:xfrm>
          <a:prstGeom prst="roundRect">
            <a:avLst>
              <a:gd name="adj" fmla="val 8000"/>
            </a:avLst>
          </a:prstGeom>
          <a:solidFill>
            <a:schemeClr val="accent1"/>
          </a:solidFill>
          <a:ln/>
        </p:spPr>
        <p:txBody>
          <a:bodyPr/>
          <a:lstStyle/>
          <a:p>
            <a:endParaRPr lang="en-US"/>
          </a:p>
        </p:txBody>
      </p:sp>
      <p:sp>
        <p:nvSpPr>
          <p:cNvPr id="31" name="Shape 29"/>
          <p:cNvSpPr/>
          <p:nvPr/>
        </p:nvSpPr>
        <p:spPr>
          <a:xfrm>
            <a:off x="8887968" y="3188208"/>
            <a:ext cx="457200" cy="481584"/>
          </a:xfrm>
          <a:prstGeom prst="roundRect">
            <a:avLst>
              <a:gd name="adj" fmla="val 8000"/>
            </a:avLst>
          </a:prstGeom>
          <a:solidFill>
            <a:schemeClr val="accent1">
              <a:alpha val="20000"/>
            </a:schemeClr>
          </a:solidFill>
          <a:ln/>
        </p:spPr>
        <p:txBody>
          <a:bodyPr/>
          <a:lstStyle/>
          <a:p>
            <a:endParaRPr lang="en-US"/>
          </a:p>
        </p:txBody>
      </p:sp>
      <p:sp>
        <p:nvSpPr>
          <p:cNvPr id="32" name="Shape 30"/>
          <p:cNvSpPr/>
          <p:nvPr/>
        </p:nvSpPr>
        <p:spPr>
          <a:xfrm>
            <a:off x="9454896" y="3188208"/>
            <a:ext cx="457200" cy="481584"/>
          </a:xfrm>
          <a:prstGeom prst="roundRect">
            <a:avLst>
              <a:gd name="adj" fmla="val 8000"/>
            </a:avLst>
          </a:prstGeom>
          <a:solidFill>
            <a:schemeClr val="accent1">
              <a:alpha val="45000"/>
            </a:schemeClr>
          </a:solidFill>
          <a:ln/>
        </p:spPr>
        <p:txBody>
          <a:bodyPr/>
          <a:lstStyle/>
          <a:p>
            <a:endParaRPr lang="en-US"/>
          </a:p>
        </p:txBody>
      </p:sp>
      <p:sp>
        <p:nvSpPr>
          <p:cNvPr id="33" name="Shape 31"/>
          <p:cNvSpPr/>
          <p:nvPr/>
        </p:nvSpPr>
        <p:spPr>
          <a:xfrm>
            <a:off x="10021824" y="3188208"/>
            <a:ext cx="457200" cy="481584"/>
          </a:xfrm>
          <a:prstGeom prst="roundRect">
            <a:avLst>
              <a:gd name="adj" fmla="val 8000"/>
            </a:avLst>
          </a:prstGeom>
          <a:solidFill>
            <a:schemeClr val="accent1">
              <a:alpha val="75000"/>
            </a:schemeClr>
          </a:solidFill>
          <a:ln/>
        </p:spPr>
        <p:txBody>
          <a:bodyPr/>
          <a:lstStyle/>
          <a:p>
            <a:endParaRPr lang="en-US"/>
          </a:p>
        </p:txBody>
      </p:sp>
      <p:sp>
        <p:nvSpPr>
          <p:cNvPr id="34" name="Shape 32"/>
          <p:cNvSpPr/>
          <p:nvPr/>
        </p:nvSpPr>
        <p:spPr>
          <a:xfrm>
            <a:off x="10588752" y="3188208"/>
            <a:ext cx="457200" cy="481584"/>
          </a:xfrm>
          <a:prstGeom prst="roundRect">
            <a:avLst>
              <a:gd name="adj" fmla="val 8000"/>
            </a:avLst>
          </a:prstGeom>
          <a:solidFill>
            <a:schemeClr val="accent1"/>
          </a:solidFill>
          <a:ln/>
        </p:spPr>
        <p:txBody>
          <a:bodyPr/>
          <a:lstStyle/>
          <a:p>
            <a:endParaRPr lang="en-US"/>
          </a:p>
        </p:txBody>
      </p:sp>
      <p:sp>
        <p:nvSpPr>
          <p:cNvPr id="35" name="Shape 33"/>
          <p:cNvSpPr/>
          <p:nvPr/>
        </p:nvSpPr>
        <p:spPr>
          <a:xfrm>
            <a:off x="11155680" y="3188208"/>
            <a:ext cx="457200" cy="481584"/>
          </a:xfrm>
          <a:prstGeom prst="roundRect">
            <a:avLst>
              <a:gd name="adj" fmla="val 8000"/>
            </a:avLst>
          </a:prstGeom>
          <a:solidFill>
            <a:schemeClr val="accent1">
              <a:alpha val="20000"/>
            </a:schemeClr>
          </a:solidFill>
          <a:ln/>
        </p:spPr>
        <p:txBody>
          <a:bodyPr/>
          <a:lstStyle/>
          <a:p>
            <a:endParaRPr lang="en-US"/>
          </a:p>
        </p:txBody>
      </p:sp>
      <p:sp>
        <p:nvSpPr>
          <p:cNvPr id="36" name="Shape 34"/>
          <p:cNvSpPr/>
          <p:nvPr/>
        </p:nvSpPr>
        <p:spPr>
          <a:xfrm>
            <a:off x="8321040" y="3779520"/>
            <a:ext cx="457200" cy="481584"/>
          </a:xfrm>
          <a:prstGeom prst="roundRect">
            <a:avLst>
              <a:gd name="adj" fmla="val 8000"/>
            </a:avLst>
          </a:prstGeom>
          <a:solidFill>
            <a:schemeClr val="accent1">
              <a:alpha val="20000"/>
            </a:schemeClr>
          </a:solidFill>
          <a:ln/>
        </p:spPr>
        <p:txBody>
          <a:bodyPr/>
          <a:lstStyle/>
          <a:p>
            <a:endParaRPr lang="en-US"/>
          </a:p>
        </p:txBody>
      </p:sp>
      <p:sp>
        <p:nvSpPr>
          <p:cNvPr id="37" name="Shape 35"/>
          <p:cNvSpPr/>
          <p:nvPr/>
        </p:nvSpPr>
        <p:spPr>
          <a:xfrm>
            <a:off x="8887968" y="3779520"/>
            <a:ext cx="457200" cy="481584"/>
          </a:xfrm>
          <a:prstGeom prst="roundRect">
            <a:avLst>
              <a:gd name="adj" fmla="val 8000"/>
            </a:avLst>
          </a:prstGeom>
          <a:solidFill>
            <a:schemeClr val="accent1">
              <a:alpha val="20000"/>
            </a:schemeClr>
          </a:solidFill>
          <a:ln/>
        </p:spPr>
        <p:txBody>
          <a:bodyPr/>
          <a:lstStyle/>
          <a:p>
            <a:endParaRPr lang="en-US"/>
          </a:p>
        </p:txBody>
      </p:sp>
      <p:sp>
        <p:nvSpPr>
          <p:cNvPr id="38" name="Shape 36"/>
          <p:cNvSpPr/>
          <p:nvPr/>
        </p:nvSpPr>
        <p:spPr>
          <a:xfrm>
            <a:off x="9454896" y="3779520"/>
            <a:ext cx="457200" cy="481584"/>
          </a:xfrm>
          <a:prstGeom prst="roundRect">
            <a:avLst>
              <a:gd name="adj" fmla="val 8000"/>
            </a:avLst>
          </a:prstGeom>
          <a:solidFill>
            <a:schemeClr val="accent1">
              <a:alpha val="20000"/>
            </a:schemeClr>
          </a:solidFill>
          <a:ln/>
        </p:spPr>
        <p:txBody>
          <a:bodyPr/>
          <a:lstStyle/>
          <a:p>
            <a:endParaRPr lang="en-US"/>
          </a:p>
        </p:txBody>
      </p:sp>
      <p:sp>
        <p:nvSpPr>
          <p:cNvPr id="39" name="Shape 37"/>
          <p:cNvSpPr/>
          <p:nvPr/>
        </p:nvSpPr>
        <p:spPr>
          <a:xfrm>
            <a:off x="10021824" y="3779520"/>
            <a:ext cx="457200" cy="481584"/>
          </a:xfrm>
          <a:prstGeom prst="roundRect">
            <a:avLst>
              <a:gd name="adj" fmla="val 8000"/>
            </a:avLst>
          </a:prstGeom>
          <a:solidFill>
            <a:schemeClr val="accent1">
              <a:alpha val="20000"/>
            </a:schemeClr>
          </a:solidFill>
          <a:ln/>
        </p:spPr>
        <p:txBody>
          <a:bodyPr/>
          <a:lstStyle/>
          <a:p>
            <a:endParaRPr lang="en-US"/>
          </a:p>
        </p:txBody>
      </p:sp>
      <p:sp>
        <p:nvSpPr>
          <p:cNvPr id="40" name="Shape 38"/>
          <p:cNvSpPr/>
          <p:nvPr/>
        </p:nvSpPr>
        <p:spPr>
          <a:xfrm>
            <a:off x="10588752" y="3779520"/>
            <a:ext cx="457200" cy="481584"/>
          </a:xfrm>
          <a:prstGeom prst="roundRect">
            <a:avLst>
              <a:gd name="adj" fmla="val 8000"/>
            </a:avLst>
          </a:prstGeom>
          <a:solidFill>
            <a:schemeClr val="accent1">
              <a:alpha val="20000"/>
            </a:schemeClr>
          </a:solidFill>
          <a:ln/>
        </p:spPr>
        <p:txBody>
          <a:bodyPr/>
          <a:lstStyle/>
          <a:p>
            <a:endParaRPr lang="en-US"/>
          </a:p>
        </p:txBody>
      </p:sp>
      <p:sp>
        <p:nvSpPr>
          <p:cNvPr id="41" name="Shape 39"/>
          <p:cNvSpPr/>
          <p:nvPr/>
        </p:nvSpPr>
        <p:spPr>
          <a:xfrm>
            <a:off x="11155680" y="3779520"/>
            <a:ext cx="457200" cy="481584"/>
          </a:xfrm>
          <a:prstGeom prst="roundRect">
            <a:avLst>
              <a:gd name="adj" fmla="val 8000"/>
            </a:avLst>
          </a:prstGeom>
          <a:solidFill>
            <a:schemeClr val="accent1">
              <a:alpha val="20000"/>
            </a:schemeClr>
          </a:solidFill>
          <a:ln/>
        </p:spPr>
        <p:txBody>
          <a:bodyPr/>
          <a:lstStyle/>
          <a:p>
            <a:endParaRPr lang="en-US"/>
          </a:p>
        </p:txBody>
      </p:sp>
      <p:sp>
        <p:nvSpPr>
          <p:cNvPr id="42" name="Shape 40"/>
          <p:cNvSpPr/>
          <p:nvPr/>
        </p:nvSpPr>
        <p:spPr>
          <a:xfrm>
            <a:off x="8321040" y="4370832"/>
            <a:ext cx="457200" cy="481584"/>
          </a:xfrm>
          <a:prstGeom prst="roundRect">
            <a:avLst>
              <a:gd name="adj" fmla="val 8000"/>
            </a:avLst>
          </a:prstGeom>
          <a:solidFill>
            <a:schemeClr val="accent1">
              <a:alpha val="45000"/>
            </a:schemeClr>
          </a:solidFill>
          <a:ln/>
        </p:spPr>
        <p:txBody>
          <a:bodyPr/>
          <a:lstStyle/>
          <a:p>
            <a:endParaRPr lang="en-US"/>
          </a:p>
        </p:txBody>
      </p:sp>
      <p:sp>
        <p:nvSpPr>
          <p:cNvPr id="43" name="Shape 41"/>
          <p:cNvSpPr/>
          <p:nvPr/>
        </p:nvSpPr>
        <p:spPr>
          <a:xfrm>
            <a:off x="8887968" y="4370832"/>
            <a:ext cx="457200" cy="481584"/>
          </a:xfrm>
          <a:prstGeom prst="roundRect">
            <a:avLst>
              <a:gd name="adj" fmla="val 8000"/>
            </a:avLst>
          </a:prstGeom>
          <a:solidFill>
            <a:schemeClr val="accent1">
              <a:alpha val="20000"/>
            </a:schemeClr>
          </a:solidFill>
          <a:ln/>
        </p:spPr>
        <p:txBody>
          <a:bodyPr/>
          <a:lstStyle/>
          <a:p>
            <a:endParaRPr lang="en-US"/>
          </a:p>
        </p:txBody>
      </p:sp>
      <p:sp>
        <p:nvSpPr>
          <p:cNvPr id="44" name="Shape 42"/>
          <p:cNvSpPr/>
          <p:nvPr/>
        </p:nvSpPr>
        <p:spPr>
          <a:xfrm>
            <a:off x="9454896" y="4370832"/>
            <a:ext cx="457200" cy="481584"/>
          </a:xfrm>
          <a:prstGeom prst="roundRect">
            <a:avLst>
              <a:gd name="adj" fmla="val 8000"/>
            </a:avLst>
          </a:prstGeom>
          <a:solidFill>
            <a:schemeClr val="accent1"/>
          </a:solidFill>
          <a:ln/>
        </p:spPr>
        <p:txBody>
          <a:bodyPr/>
          <a:lstStyle/>
          <a:p>
            <a:endParaRPr lang="en-US"/>
          </a:p>
        </p:txBody>
      </p:sp>
      <p:sp>
        <p:nvSpPr>
          <p:cNvPr id="45" name="Shape 43"/>
          <p:cNvSpPr/>
          <p:nvPr/>
        </p:nvSpPr>
        <p:spPr>
          <a:xfrm>
            <a:off x="10021824" y="4370832"/>
            <a:ext cx="457200" cy="481584"/>
          </a:xfrm>
          <a:prstGeom prst="roundRect">
            <a:avLst>
              <a:gd name="adj" fmla="val 8000"/>
            </a:avLst>
          </a:prstGeom>
          <a:solidFill>
            <a:schemeClr val="accent1">
              <a:alpha val="75000"/>
            </a:schemeClr>
          </a:solidFill>
          <a:ln/>
        </p:spPr>
        <p:txBody>
          <a:bodyPr/>
          <a:lstStyle/>
          <a:p>
            <a:endParaRPr lang="en-US"/>
          </a:p>
        </p:txBody>
      </p:sp>
      <p:sp>
        <p:nvSpPr>
          <p:cNvPr id="46" name="Shape 44"/>
          <p:cNvSpPr/>
          <p:nvPr/>
        </p:nvSpPr>
        <p:spPr>
          <a:xfrm>
            <a:off x="10588752" y="4370832"/>
            <a:ext cx="457200" cy="481584"/>
          </a:xfrm>
          <a:prstGeom prst="roundRect">
            <a:avLst>
              <a:gd name="adj" fmla="val 8000"/>
            </a:avLst>
          </a:prstGeom>
          <a:solidFill>
            <a:schemeClr val="accent1">
              <a:alpha val="45000"/>
            </a:schemeClr>
          </a:solidFill>
          <a:ln/>
        </p:spPr>
        <p:txBody>
          <a:bodyPr/>
          <a:lstStyle/>
          <a:p>
            <a:endParaRPr lang="en-US"/>
          </a:p>
        </p:txBody>
      </p:sp>
      <p:sp>
        <p:nvSpPr>
          <p:cNvPr id="47" name="Shape 45"/>
          <p:cNvSpPr/>
          <p:nvPr/>
        </p:nvSpPr>
        <p:spPr>
          <a:xfrm>
            <a:off x="11155680" y="4370832"/>
            <a:ext cx="457200" cy="481584"/>
          </a:xfrm>
          <a:prstGeom prst="roundRect">
            <a:avLst>
              <a:gd name="adj" fmla="val 8000"/>
            </a:avLst>
          </a:prstGeom>
          <a:solidFill>
            <a:schemeClr val="accent1">
              <a:alpha val="20000"/>
            </a:schemeClr>
          </a:solidFill>
          <a:ln/>
        </p:spPr>
        <p:txBody>
          <a:bodyPr/>
          <a:lstStyle/>
          <a:p>
            <a:endParaRPr lang="en-US"/>
          </a:p>
        </p:txBody>
      </p:sp>
      <p:sp>
        <p:nvSpPr>
          <p:cNvPr id="48" name="Shape 46"/>
          <p:cNvSpPr/>
          <p:nvPr/>
        </p:nvSpPr>
        <p:spPr>
          <a:xfrm>
            <a:off x="8321040" y="4962144"/>
            <a:ext cx="457200" cy="481584"/>
          </a:xfrm>
          <a:prstGeom prst="roundRect">
            <a:avLst>
              <a:gd name="adj" fmla="val 8000"/>
            </a:avLst>
          </a:prstGeom>
          <a:solidFill>
            <a:schemeClr val="accent1">
              <a:alpha val="75000"/>
            </a:schemeClr>
          </a:solidFill>
          <a:ln/>
        </p:spPr>
        <p:txBody>
          <a:bodyPr/>
          <a:lstStyle/>
          <a:p>
            <a:endParaRPr lang="en-US"/>
          </a:p>
        </p:txBody>
      </p:sp>
      <p:sp>
        <p:nvSpPr>
          <p:cNvPr id="49" name="Shape 47"/>
          <p:cNvSpPr/>
          <p:nvPr/>
        </p:nvSpPr>
        <p:spPr>
          <a:xfrm>
            <a:off x="8887968" y="4962144"/>
            <a:ext cx="457200" cy="481584"/>
          </a:xfrm>
          <a:prstGeom prst="roundRect">
            <a:avLst>
              <a:gd name="adj" fmla="val 8000"/>
            </a:avLst>
          </a:prstGeom>
          <a:solidFill>
            <a:schemeClr val="accent1">
              <a:alpha val="20000"/>
            </a:schemeClr>
          </a:solidFill>
          <a:ln/>
        </p:spPr>
        <p:txBody>
          <a:bodyPr/>
          <a:lstStyle/>
          <a:p>
            <a:endParaRPr lang="en-US"/>
          </a:p>
        </p:txBody>
      </p:sp>
      <p:sp>
        <p:nvSpPr>
          <p:cNvPr id="50" name="Shape 48"/>
          <p:cNvSpPr/>
          <p:nvPr/>
        </p:nvSpPr>
        <p:spPr>
          <a:xfrm>
            <a:off x="9454896" y="4962144"/>
            <a:ext cx="457200" cy="481584"/>
          </a:xfrm>
          <a:prstGeom prst="roundRect">
            <a:avLst>
              <a:gd name="adj" fmla="val 8000"/>
            </a:avLst>
          </a:prstGeom>
          <a:solidFill>
            <a:schemeClr val="accent1">
              <a:alpha val="75000"/>
            </a:schemeClr>
          </a:solidFill>
          <a:ln/>
        </p:spPr>
        <p:txBody>
          <a:bodyPr/>
          <a:lstStyle/>
          <a:p>
            <a:endParaRPr lang="en-US"/>
          </a:p>
        </p:txBody>
      </p:sp>
      <p:sp>
        <p:nvSpPr>
          <p:cNvPr id="51" name="Shape 49"/>
          <p:cNvSpPr/>
          <p:nvPr/>
        </p:nvSpPr>
        <p:spPr>
          <a:xfrm>
            <a:off x="10021824" y="4962144"/>
            <a:ext cx="457200" cy="481584"/>
          </a:xfrm>
          <a:prstGeom prst="roundRect">
            <a:avLst>
              <a:gd name="adj" fmla="val 8000"/>
            </a:avLst>
          </a:prstGeom>
          <a:solidFill>
            <a:schemeClr val="accent1">
              <a:alpha val="20000"/>
            </a:schemeClr>
          </a:solidFill>
          <a:ln/>
        </p:spPr>
        <p:txBody>
          <a:bodyPr/>
          <a:lstStyle/>
          <a:p>
            <a:endParaRPr lang="en-US"/>
          </a:p>
        </p:txBody>
      </p:sp>
      <p:sp>
        <p:nvSpPr>
          <p:cNvPr id="52" name="Shape 50"/>
          <p:cNvSpPr/>
          <p:nvPr/>
        </p:nvSpPr>
        <p:spPr>
          <a:xfrm>
            <a:off x="10588752" y="4962144"/>
            <a:ext cx="457200" cy="481584"/>
          </a:xfrm>
          <a:prstGeom prst="roundRect">
            <a:avLst>
              <a:gd name="adj" fmla="val 8000"/>
            </a:avLst>
          </a:prstGeom>
          <a:solidFill>
            <a:schemeClr val="accent1">
              <a:alpha val="75000"/>
            </a:schemeClr>
          </a:solidFill>
          <a:ln/>
        </p:spPr>
        <p:txBody>
          <a:bodyPr/>
          <a:lstStyle/>
          <a:p>
            <a:endParaRPr lang="en-US"/>
          </a:p>
        </p:txBody>
      </p:sp>
      <p:sp>
        <p:nvSpPr>
          <p:cNvPr id="53" name="Shape 51"/>
          <p:cNvSpPr/>
          <p:nvPr/>
        </p:nvSpPr>
        <p:spPr>
          <a:xfrm>
            <a:off x="11155680" y="4962144"/>
            <a:ext cx="457200" cy="481584"/>
          </a:xfrm>
          <a:prstGeom prst="roundRect">
            <a:avLst>
              <a:gd name="adj" fmla="val 8000"/>
            </a:avLst>
          </a:prstGeom>
          <a:solidFill>
            <a:schemeClr val="accent1">
              <a:alpha val="20000"/>
            </a:schemeClr>
          </a:solidFill>
          <a:ln/>
        </p:spPr>
        <p:txBody>
          <a:bodyPr/>
          <a:lstStyle/>
          <a:p>
            <a:endParaRPr lang="en-US"/>
          </a:p>
        </p:txBody>
      </p:sp>
      <p:sp>
        <p:nvSpPr>
          <p:cNvPr id="54" name="Shape 52"/>
          <p:cNvSpPr/>
          <p:nvPr/>
        </p:nvSpPr>
        <p:spPr>
          <a:xfrm>
            <a:off x="8321040" y="5553456"/>
            <a:ext cx="457200" cy="481584"/>
          </a:xfrm>
          <a:prstGeom prst="roundRect">
            <a:avLst>
              <a:gd name="adj" fmla="val 8000"/>
            </a:avLst>
          </a:prstGeom>
          <a:solidFill>
            <a:schemeClr val="accent1"/>
          </a:solidFill>
          <a:ln/>
        </p:spPr>
        <p:txBody>
          <a:bodyPr/>
          <a:lstStyle/>
          <a:p>
            <a:endParaRPr lang="en-US"/>
          </a:p>
        </p:txBody>
      </p:sp>
      <p:sp>
        <p:nvSpPr>
          <p:cNvPr id="55" name="Shape 53"/>
          <p:cNvSpPr/>
          <p:nvPr/>
        </p:nvSpPr>
        <p:spPr>
          <a:xfrm>
            <a:off x="8887968" y="5553456"/>
            <a:ext cx="457200" cy="481584"/>
          </a:xfrm>
          <a:prstGeom prst="roundRect">
            <a:avLst>
              <a:gd name="adj" fmla="val 8000"/>
            </a:avLst>
          </a:prstGeom>
          <a:solidFill>
            <a:schemeClr val="accent1">
              <a:alpha val="20000"/>
            </a:schemeClr>
          </a:solidFill>
          <a:ln/>
        </p:spPr>
        <p:txBody>
          <a:bodyPr/>
          <a:lstStyle/>
          <a:p>
            <a:endParaRPr lang="en-US"/>
          </a:p>
        </p:txBody>
      </p:sp>
      <p:sp>
        <p:nvSpPr>
          <p:cNvPr id="56" name="Shape 54"/>
          <p:cNvSpPr/>
          <p:nvPr/>
        </p:nvSpPr>
        <p:spPr>
          <a:xfrm>
            <a:off x="9454896" y="5553456"/>
            <a:ext cx="457200" cy="481584"/>
          </a:xfrm>
          <a:prstGeom prst="roundRect">
            <a:avLst>
              <a:gd name="adj" fmla="val 8000"/>
            </a:avLst>
          </a:prstGeom>
          <a:solidFill>
            <a:schemeClr val="accent1">
              <a:alpha val="45000"/>
            </a:schemeClr>
          </a:solidFill>
          <a:ln/>
        </p:spPr>
        <p:txBody>
          <a:bodyPr/>
          <a:lstStyle/>
          <a:p>
            <a:endParaRPr lang="en-US"/>
          </a:p>
        </p:txBody>
      </p:sp>
      <p:sp>
        <p:nvSpPr>
          <p:cNvPr id="57" name="Shape 55"/>
          <p:cNvSpPr/>
          <p:nvPr/>
        </p:nvSpPr>
        <p:spPr>
          <a:xfrm>
            <a:off x="10021824" y="5553456"/>
            <a:ext cx="457200" cy="481584"/>
          </a:xfrm>
          <a:prstGeom prst="roundRect">
            <a:avLst>
              <a:gd name="adj" fmla="val 8000"/>
            </a:avLst>
          </a:prstGeom>
          <a:solidFill>
            <a:schemeClr val="accent1">
              <a:alpha val="75000"/>
            </a:schemeClr>
          </a:solidFill>
          <a:ln/>
        </p:spPr>
        <p:txBody>
          <a:bodyPr/>
          <a:lstStyle/>
          <a:p>
            <a:endParaRPr lang="en-US"/>
          </a:p>
        </p:txBody>
      </p:sp>
      <p:sp>
        <p:nvSpPr>
          <p:cNvPr id="58" name="Shape 56"/>
          <p:cNvSpPr/>
          <p:nvPr/>
        </p:nvSpPr>
        <p:spPr>
          <a:xfrm>
            <a:off x="10588752" y="5553456"/>
            <a:ext cx="457200" cy="481584"/>
          </a:xfrm>
          <a:prstGeom prst="roundRect">
            <a:avLst>
              <a:gd name="adj" fmla="val 8000"/>
            </a:avLst>
          </a:prstGeom>
          <a:solidFill>
            <a:schemeClr val="accent1"/>
          </a:solidFill>
          <a:ln/>
        </p:spPr>
        <p:txBody>
          <a:bodyPr/>
          <a:lstStyle/>
          <a:p>
            <a:endParaRPr lang="en-US"/>
          </a:p>
        </p:txBody>
      </p:sp>
      <p:sp>
        <p:nvSpPr>
          <p:cNvPr id="59" name="Shape 57"/>
          <p:cNvSpPr/>
          <p:nvPr/>
        </p:nvSpPr>
        <p:spPr>
          <a:xfrm>
            <a:off x="11155680" y="5553456"/>
            <a:ext cx="457200" cy="481584"/>
          </a:xfrm>
          <a:prstGeom prst="roundRect">
            <a:avLst>
              <a:gd name="adj" fmla="val 8000"/>
            </a:avLst>
          </a:prstGeom>
          <a:solidFill>
            <a:schemeClr val="accent1">
              <a:alpha val="20000"/>
            </a:schemeClr>
          </a:solidFill>
          <a:ln/>
        </p:spPr>
        <p:txBody>
          <a:bodyPr/>
          <a:lstStyle/>
          <a:p>
            <a:endParaRPr lang="en-US"/>
          </a:p>
        </p:txBody>
      </p:sp>
    </p:spTree>
  </p:cSld>
  <p:clrMapOvr>
    <a:masterClrMapping/>
  </p:clrMapOvr>
</p:sld>
</file>

<file path=ppt/theme/theme1.xml><?xml version="1.0" encoding="utf-8"?>
<a:theme xmlns:a="http://schemas.openxmlformats.org/drawingml/2006/main" name="GPU Training">
  <a:themeElements>
    <a:clrScheme name="GPU Training">
      <a:dk1>
        <a:srgbClr val="111611"/>
      </a:dk1>
      <a:lt1>
        <a:srgbClr val="FFFFFF"/>
      </a:lt1>
      <a:dk2>
        <a:srgbClr val="3E4842"/>
      </a:dk2>
      <a:lt2>
        <a:srgbClr val="EEF3EA"/>
      </a:lt2>
      <a:accent1>
        <a:srgbClr val="76B900"/>
      </a:accent1>
      <a:accent2>
        <a:srgbClr val="3D7A12"/>
      </a:accent2>
      <a:accent3>
        <a:srgbClr val="F2A900"/>
      </a:accent3>
      <a:accent4>
        <a:srgbClr val="2D8FD5"/>
      </a:accent4>
      <a:accent5>
        <a:srgbClr val="6B7570"/>
      </a:accent5>
      <a:accent6>
        <a:srgbClr val="E4572E"/>
      </a:accent6>
      <a:hlink>
        <a:srgbClr val="2D8FD5"/>
      </a:hlink>
      <a:folHlink>
        <a:srgbClr val="6B7570"/>
      </a:folHlink>
    </a:clrScheme>
    <a:fontScheme name="GPU Training">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9C81BBD-207D-41F8-9CB1-57D96CDD04DC}">
  <we:reference id="wa200010001" version="1.0.0.1" store="en-US" storeType="OMEX"/>
  <we:alternateReferences>
    <we:reference id="WA200010001" version="1.0.0.1" store="" storeType="OMEX"/>
  </we:alternateReferences>
  <we:properties>
    <we:property name="claude.fileId" value="&quot;5764afbf-54b8-4be1-b533-7064d3715187&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118</TotalTime>
  <Words>18763</Words>
  <Application>Microsoft Office PowerPoint</Application>
  <PresentationFormat>Widescreen</PresentationFormat>
  <Paragraphs>1149</Paragraphs>
  <Slides>42</Slides>
  <Notes>42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42</vt:i4>
      </vt:variant>
    </vt:vector>
  </HeadingPairs>
  <TitlesOfParts>
    <vt:vector size="46" baseType="lpstr">
      <vt:lpstr>Arial</vt:lpstr>
      <vt:lpstr>Calibri</vt:lpstr>
      <vt:lpstr>Courier New</vt:lpstr>
      <vt:lpstr>GPU Training</vt:lpstr>
      <vt:lpstr>NVIDIA GPUs for AI: Components, Types and Infrastructure</vt:lpstr>
      <vt:lpstr>Agenda</vt:lpstr>
      <vt:lpstr>Learning objectives</vt:lpstr>
      <vt:lpstr>NVIDIA GPU components</vt:lpstr>
      <vt:lpstr>Why GPUs? CPU latency vs GPU throughput</vt:lpstr>
      <vt:lpstr>Anatomy of a modern data center GPU</vt:lpstr>
      <vt:lpstr>Inside a Streaming Multiprocessor (SM)</vt:lpstr>
      <vt:lpstr>Three kinds of cores: CUDA, Tensor and RT</vt:lpstr>
      <vt:lpstr>Tensor Core generations and number formats</vt:lpstr>
      <vt:lpstr>The GPU memory hierarchy</vt:lpstr>
      <vt:lpstr>HBM capacity and bandwidth by generation</vt:lpstr>
      <vt:lpstr>Interconnects: how GPUs talk to CPUs and to each other</vt:lpstr>
      <vt:lpstr>Form factors: PCIe card, SXM module, superchip</vt:lpstr>
      <vt:lpstr>Board-level components around the GPU</vt:lpstr>
      <vt:lpstr>The software stack that makes the hardware useful</vt:lpstr>
      <vt:lpstr>NVIDIA GPU types</vt:lpstr>
      <vt:lpstr>Architecture generations at a glance</vt:lpstr>
      <vt:lpstr>Product families by market segment</vt:lpstr>
      <vt:lpstr>Decoding NVIDIA product names</vt:lpstr>
      <vt:lpstr>Data center GPU comparison</vt:lpstr>
      <vt:lpstr>Choosing a GPU for the workload</vt:lpstr>
      <vt:lpstr>Superchips and rack-scale systems</vt:lpstr>
      <vt:lpstr>Data center vs workstation vs consumer GPUs</vt:lpstr>
      <vt:lpstr>NVIDIA GPU infrastructure for AI workloads</vt:lpstr>
      <vt:lpstr>The AI factory: layers of a GPU infrastructure</vt:lpstr>
      <vt:lpstr>Compute building blocks: DGX, HGX, MGX and cloud</vt:lpstr>
      <vt:lpstr>Anatomy of an 8-GPU AI server (HGX / DGX class)</vt:lpstr>
      <vt:lpstr>Networking: four distinct networks in an AI cluster</vt:lpstr>
      <vt:lpstr>Rail-optimized topology and scaling to a SuperPOD</vt:lpstr>
      <vt:lpstr>Storage and the data pipeline</vt:lpstr>
      <vt:lpstr>Software stack and orchestration</vt:lpstr>
      <vt:lpstr>GPU sharing strategies</vt:lpstr>
      <vt:lpstr>Mapping AI workloads to infrastructure</vt:lpstr>
      <vt:lpstr>Sizing GPU memory for an LLM: worked example</vt:lpstr>
      <vt:lpstr>Monitoring and operating GPU infrastructure</vt:lpstr>
      <vt:lpstr>Command reference: GPUs, SMs, cores, DPUs and NPUs</vt:lpstr>
      <vt:lpstr>Command reference: monitoring GPUs in Kubernetes</vt:lpstr>
      <vt:lpstr>Power, cooling and facility planning</vt:lpstr>
      <vt:lpstr>Deployment models: on-premises, cloud and hybrid</vt:lpstr>
      <vt:lpstr>Key takeaways</vt:lpstr>
      <vt:lpstr>Knowledge check</vt:lpstr>
      <vt:lpstr>Questions and discussion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NVIDIA GPUs for AI: Components, Types and Infrastructure</dc:title>
  <dc:subject>PptxGenJS Presentation</dc:subject>
  <dc:creator>Corporate Technical Training</dc:creator>
  <cp:lastModifiedBy>Ramesh KHARAT</cp:lastModifiedBy>
  <cp:revision>2</cp:revision>
  <dcterms:created xsi:type="dcterms:W3CDTF">2026-10-05T01:30:54Z</dcterms:created>
  <dcterms:modified xsi:type="dcterms:W3CDTF">2026-10-07T13:38:51Z</dcterms:modified>
</cp:coreProperties>
</file>