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21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separating the model from the application system around it.</a:t>
            </a:r>
          </a:p>
          <a:p>
            <a:r>
              <a:t>Ask: “Which part of your current AI pilot fails most often—the model, the data, or the operating controls?”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 as a decision-making workshop, not a model catalog.</a:t>
            </a:r>
          </a:p>
          <a:p>
            <a:r>
              <a:t>Invite participants to keep one real enterprise use case in mind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left to right through one request. Emphasize identity and policy before retrieval or generation.</a:t>
            </a:r>
          </a:p>
          <a:p>
            <a:r>
              <a:t>Call out that model swapping is easier when orchestration and evaluation are explicit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that evaluation starts before deployment and continues after it.</a:t>
            </a:r>
          </a:p>
          <a:p>
            <a:r>
              <a:t>Ask participants where their current process has a missing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layer has a different release cadence and owner.</a:t>
            </a:r>
          </a:p>
          <a:p>
            <a:r>
              <a:t>The control plane is not a final gate; it is present across every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corpus quality with answer quality; both need separate eval sets.</a:t>
            </a:r>
          </a:p>
          <a:p>
            <a:r>
              <a:t>Point out that access-control metadata must survive chunking and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this as a diagnostic ladder: identify whether the gap is instruction, knowledge, behavior, or foundational capability.</a:t>
            </a:r>
          </a:p>
          <a:p>
            <a:r>
              <a:t>Ask participants for one example where fine-tuning was proposed but RAG was the better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model selection from deployment topology: either model class can appear in several topologies.</a:t>
            </a:r>
          </a:p>
          <a:p>
            <a:r>
              <a:t>Use the six decision inputs at the bottom to challenge a default “just use the API”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each rail, ask for an owner, measurement, threshold, and action.</a:t>
            </a:r>
          </a:p>
          <a:p>
            <a:r>
              <a:t>Highlight that economics is a production property because routing and fallback decisions change cost continuously.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explanation operational: tokenization, vector representation, repeated blocks, next-token prediction.</a:t>
            </a:r>
          </a:p>
          <a:p>
            <a:r>
              <a:t>Avoid implying the model retrieves facts from a database unless the application adds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explicitly that SLM and LLM are industry shorthand, not formal size classes.</a:t>
            </a:r>
          </a:p>
          <a:p>
            <a:r>
              <a:t>Use Phi-3 and Gemma 2 only as examples of “practical size,” not as universal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challenge parameter-count determinism.</a:t>
            </a:r>
          </a:p>
          <a:p>
            <a:r>
              <a:t>Ask: which term in the equation is currently the limiting factor for your use case?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these as tendencies, not absolutes.</a:t>
            </a:r>
          </a:p>
          <a:p>
            <a:r>
              <a:t>Emphasize that focused fine-tuning or distillation can let an SLM beat a larger general model on a narrow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why a smaller model may still be slow if retrieval or tool calls dominate.</a:t>
            </a:r>
          </a:p>
          <a:p>
            <a:r>
              <a:t>Ask which term dominates participants’ current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on each row and ask which dimension is a hard constraint versus an optimization.</a:t>
            </a:r>
          </a:p>
          <a:p>
            <a:r>
              <a:t>The “what to validate” column turns the table into an experiment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hybrid does not mean random model selection; it means an explicit policy with measurable errors.</a:t>
            </a:r>
          </a:p>
          <a:p>
            <a:r>
              <a:t>Discuss false escalation versus false confidence as two router failure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groups five minutes, then ask each to name one assumption that could reverse the candidate choice.</a:t>
            </a:r>
          </a:p>
          <a:p>
            <a:r>
              <a:t>Listen for constraints across all five dimensions: capability, cost, latency, infrastructure, and business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having participants state one use case and the first evaluation they will build.</a:t>
            </a:r>
          </a:p>
          <a:p>
            <a:r>
              <a:t>Reinforce that model selection is reversible when architecture, evaluation, and routing are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41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55CA28-8970-4B81-9368-4AD016E0390C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INSTRUCTOR-LED TECHNICAL WORKSHOP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B76449-0481-4AC5-9382-30B6407D3FB4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7143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39"/>
          </a:bodyPr>
          <a:lstStyle/>
          <a:p>
            <a:pPr algn="l">
              <a:lnSpc>
                <a:spcPct val="90000"/>
              </a:lnSpc>
              <a:buNone/>
              <a:defRPr sz="51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Enterprise AI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93B0C2-04B5-4032-BDB4-F32D219BED72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6667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25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How applications are built, deployed, and matched to LLMs or SLMs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88B8AD-1CF7-499C-80B2-51C256FD6D0F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657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Architecture  •  Model foundations  •  Runtime 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6B5450-EBBB-409D-A6BD-789DDA6968A3}"/>
              </a:ext>
            </a:extLst>
          </p:cNvPr>
          <p:cNvSpPr>
            <a:spLocks noGrp="1"/>
          </p:cNvSpPr>
          <p:nvPr/>
        </p:nvSpPr>
        <p:spPr>
          <a:xfrm>
            <a:off x="8839200" y="2381250"/>
            <a:ext cx="1066800" cy="1066800"/>
          </a:xfrm>
          <a:prstGeom prst="rect">
            <a:avLst/>
          </a:prstGeom>
          <a:solidFill>
            <a:srgbClr val="131C22"/>
          </a:solidFill>
          <a:ln w="1905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DE009-4B05-4436-998B-E0C5023A8FF8}"/>
              </a:ext>
            </a:extLst>
          </p:cNvPr>
          <p:cNvSpPr>
            <a:spLocks noGrp="1"/>
          </p:cNvSpPr>
          <p:nvPr/>
        </p:nvSpPr>
        <p:spPr>
          <a:xfrm>
            <a:off x="8839200" y="2647950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0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30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85DD13-D1FD-43AC-A487-EAE82BCBCE0B}"/>
              </a:ext>
            </a:extLst>
          </p:cNvPr>
          <p:cNvSpPr>
            <a:spLocks noGrp="1"/>
          </p:cNvSpPr>
          <p:nvPr/>
        </p:nvSpPr>
        <p:spPr>
          <a:xfrm>
            <a:off x="7734300" y="1123950"/>
            <a:ext cx="876300" cy="571500"/>
          </a:xfrm>
          <a:prstGeom prst="rect">
            <a:avLst/>
          </a:prstGeom>
          <a:solidFill>
            <a:srgbClr val="131C22"/>
          </a:solidFill>
          <a:ln w="952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D584A4-2C75-4581-9CA4-E50DAEC129DA}"/>
              </a:ext>
            </a:extLst>
          </p:cNvPr>
          <p:cNvSpPr>
            <a:spLocks noGrp="1"/>
          </p:cNvSpPr>
          <p:nvPr/>
        </p:nvSpPr>
        <p:spPr>
          <a:xfrm>
            <a:off x="7734300" y="1285875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4CCB9-C155-4052-BEDA-89BEC5751E13}"/>
              </a:ext>
            </a:extLst>
          </p:cNvPr>
          <p:cNvSpPr>
            <a:spLocks noGrp="1"/>
          </p:cNvSpPr>
          <p:nvPr/>
        </p:nvSpPr>
        <p:spPr>
          <a:xfrm>
            <a:off x="10306050" y="1428750"/>
            <a:ext cx="1066800" cy="571500"/>
          </a:xfrm>
          <a:prstGeom prst="rect">
            <a:avLst/>
          </a:prstGeom>
          <a:solidFill>
            <a:srgbClr val="131C22"/>
          </a:solidFill>
          <a:ln w="952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68D6E-9A7A-411E-AA83-34CF691C172A}"/>
              </a:ext>
            </a:extLst>
          </p:cNvPr>
          <p:cNvSpPr>
            <a:spLocks noGrp="1"/>
          </p:cNvSpPr>
          <p:nvPr/>
        </p:nvSpPr>
        <p:spPr>
          <a:xfrm>
            <a:off x="10306050" y="1590675"/>
            <a:ext cx="106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TOOLS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ADD760-B394-4E09-A86B-20981A447AE1}"/>
              </a:ext>
            </a:extLst>
          </p:cNvPr>
          <p:cNvSpPr>
            <a:spLocks noGrp="1"/>
          </p:cNvSpPr>
          <p:nvPr/>
        </p:nvSpPr>
        <p:spPr>
          <a:xfrm>
            <a:off x="7524750" y="4114800"/>
            <a:ext cx="1143000" cy="571500"/>
          </a:xfrm>
          <a:prstGeom prst="rect">
            <a:avLst/>
          </a:prstGeom>
          <a:solidFill>
            <a:srgbClr val="131C22"/>
          </a:solidFill>
          <a:ln w="9525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75EBA2-ED05-4F0F-B6BF-5569394ECD26}"/>
              </a:ext>
            </a:extLst>
          </p:cNvPr>
          <p:cNvSpPr>
            <a:spLocks noGrp="1"/>
          </p:cNvSpPr>
          <p:nvPr/>
        </p:nvSpPr>
        <p:spPr>
          <a:xfrm>
            <a:off x="7524750" y="427672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B59CF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B59CFF"/>
                </a:solidFill>
                <a:latin typeface="Consolas"/>
                <a:ea typeface="Consolas"/>
                <a:cs typeface="Consolas"/>
              </a:rPr>
              <a:t>POLICY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3C112E-0C86-4330-9CEB-12EF39472946}"/>
              </a:ext>
            </a:extLst>
          </p:cNvPr>
          <p:cNvSpPr>
            <a:spLocks noGrp="1"/>
          </p:cNvSpPr>
          <p:nvPr/>
        </p:nvSpPr>
        <p:spPr>
          <a:xfrm>
            <a:off x="10191750" y="4095750"/>
            <a:ext cx="1257300" cy="571500"/>
          </a:xfrm>
          <a:prstGeom prst="rect">
            <a:avLst/>
          </a:prstGeom>
          <a:solidFill>
            <a:srgbClr val="131C22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70554E-EDCF-4A3C-9C90-556915E7ABFE}"/>
              </a:ext>
            </a:extLst>
          </p:cNvPr>
          <p:cNvSpPr>
            <a:spLocks noGrp="1"/>
          </p:cNvSpPr>
          <p:nvPr/>
        </p:nvSpPr>
        <p:spPr>
          <a:xfrm>
            <a:off x="10191750" y="4257675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EVALS</a:t>
            </a:r>
          </a:p>
        </p:txBody>
      </p:sp>
      <p:cxnSp>
        <p:nvCxnSpPr>
          <p:cNvPr id="15" name="Connector: Elbow 14"/>
          <p:cNvCxnSpPr>
            <a:stCxn id="7" idx="2"/>
            <a:endCxn id="5" idx="0"/>
          </p:cNvCxnSpPr>
          <p:nvPr/>
        </p:nvCxnSpPr>
        <p:spPr>
          <a:xfrm>
            <a:off x="8172450" y="1695450"/>
            <a:ext cx="1200150" cy="6858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7B7FF"/>
            </a:solidFill>
            <a:prstDash val="solid"/>
            <a:tailEnd type="triangle" w="sm" len="sm"/>
          </a:ln>
        </p:spPr>
      </p:cxnSp>
      <p:cxnSp>
        <p:nvCxnSpPr>
          <p:cNvPr id="16" name="Connector: Elbow 15"/>
          <p:cNvCxnSpPr>
            <a:stCxn id="9" idx="1"/>
            <a:endCxn id="5" idx="3"/>
          </p:cNvCxnSpPr>
          <p:nvPr/>
        </p:nvCxnSpPr>
        <p:spPr>
          <a:xfrm flipH="1">
            <a:off x="9906000" y="1714500"/>
            <a:ext cx="400050" cy="1200150"/>
          </a:xfrm>
          <a:prstGeom prst="bentConnector3">
            <a:avLst>
              <a:gd name="adj1" fmla="val 50000"/>
            </a:avLst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17" name="Connector: Elbow 16"/>
          <p:cNvCxnSpPr>
            <a:stCxn id="11" idx="3"/>
            <a:endCxn id="5" idx="1"/>
          </p:cNvCxnSpPr>
          <p:nvPr/>
        </p:nvCxnSpPr>
        <p:spPr>
          <a:xfrm flipV="1">
            <a:off x="8667750" y="2914650"/>
            <a:ext cx="171450" cy="1485900"/>
          </a:xfrm>
          <a:prstGeom prst="bentConnector4">
            <a:avLst/>
          </a:prstGeom>
          <a:ln w="19050">
            <a:solidFill>
              <a:srgbClr val="B59CFF"/>
            </a:solidFill>
            <a:prstDash val="solid"/>
            <a:tailEnd type="triangle" w="sm" len="sm"/>
          </a:ln>
        </p:spPr>
      </p:cxnSp>
      <p:cxnSp>
        <p:nvCxnSpPr>
          <p:cNvPr id="18" name="Connector: Elbow 17"/>
          <p:cNvCxnSpPr>
            <a:stCxn id="13" idx="1"/>
            <a:endCxn id="5" idx="3"/>
          </p:cNvCxnSpPr>
          <p:nvPr/>
        </p:nvCxnSpPr>
        <p:spPr>
          <a:xfrm flipH="1" flipV="1">
            <a:off x="9906000" y="2914650"/>
            <a:ext cx="285750" cy="1466850"/>
          </a:xfrm>
          <a:prstGeom prst="bentConnector3">
            <a:avLst>
              <a:gd name="adj1" fmla="val 50000"/>
            </a:avLst>
          </a:prstGeom>
          <a:ln w="19050">
            <a:solidFill>
              <a:srgbClr val="FF6B6B"/>
            </a:solidFill>
            <a:prstDash val="solid"/>
            <a:tailEnd type="triangle" w="sm" len="sm"/>
          </a:ln>
        </p:spPr>
      </p:cxn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D413A03-8B9F-4AFB-B9CA-190DB2E5B9F3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0689A2-5CCF-4449-8123-C8E598BFABC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4463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400E971-71EB-4CC8-B1A9-3AB1E922392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ORIENTATION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458DDA-0B5C-450B-9AA3-2DBE58E93EE2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673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The session moves from architecture to model choice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B54A94D-5DF6-4466-BFAE-82551C569FB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928BE-5718-4514-BCD3-78A5AC79645B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30A6A-9E62-4565-A8AD-2D8AA74C9AEA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36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593A5B6-BE23-404E-90C2-7D0BACB677C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143250" cy="0"/>
          </a:xfrm>
          <a:prstGeom prst="line">
            <a:avLst/>
          </a:prstGeom>
          <a:noFill/>
          <a:ln w="2857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53AD5-B585-40D7-88D4-6C420CEBFD11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BUILD &amp; 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61668-8A36-481B-9C45-D3F6B15271ED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Trace the request path, lifecycle, RAG, adaptation, and deployment controls.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7FBBA-E46C-424F-84B4-38CEA83148CB}"/>
              </a:ext>
            </a:extLst>
          </p:cNvPr>
          <p:cNvSpPr>
            <a:spLocks noGrp="1"/>
          </p:cNvSpPr>
          <p:nvPr/>
        </p:nvSpPr>
        <p:spPr>
          <a:xfrm>
            <a:off x="4267200" y="17526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360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A917ADB-7FC3-474B-8188-8D655703D101}"/>
              </a:ext>
            </a:extLst>
          </p:cNvPr>
          <p:cNvSpPr>
            <a:spLocks noGrp="1"/>
          </p:cNvSpPr>
          <p:nvPr/>
        </p:nvSpPr>
        <p:spPr>
          <a:xfrm>
            <a:off x="4267200" y="2381250"/>
            <a:ext cx="3143250" cy="0"/>
          </a:xfrm>
          <a:prstGeom prst="line">
            <a:avLst/>
          </a:prstGeom>
          <a:noFill/>
          <a:ln w="2857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5EB42A-A983-4CAF-AE6F-85496D11E659}"/>
              </a:ext>
            </a:extLst>
          </p:cNvPr>
          <p:cNvSpPr>
            <a:spLocks noGrp="1"/>
          </p:cNvSpPr>
          <p:nvPr/>
        </p:nvSpPr>
        <p:spPr>
          <a:xfrm>
            <a:off x="4267200" y="26289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UNDERSTAND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6681C8-C65C-4530-85CF-367C61DB11D0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Explain transformers and why “large” versus “small” is contextual.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DE3C6-4A54-4EAD-AD9F-3FE043D0047D}"/>
              </a:ext>
            </a:extLst>
          </p:cNvPr>
          <p:cNvSpPr>
            <a:spLocks noGrp="1"/>
          </p:cNvSpPr>
          <p:nvPr/>
        </p:nvSpPr>
        <p:spPr>
          <a:xfrm>
            <a:off x="7924800" y="1752600"/>
            <a:ext cx="85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36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3301B05-2978-4041-8037-36E76E50A8B8}"/>
              </a:ext>
            </a:extLst>
          </p:cNvPr>
          <p:cNvSpPr>
            <a:spLocks noGrp="1"/>
          </p:cNvSpPr>
          <p:nvPr/>
        </p:nvSpPr>
        <p:spPr>
          <a:xfrm>
            <a:off x="7924800" y="2381250"/>
            <a:ext cx="3143250" cy="0"/>
          </a:xfrm>
          <a:prstGeom prst="line">
            <a:avLst/>
          </a:prstGeom>
          <a:noFill/>
          <a:ln w="2857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40217E-DA96-401C-ABA4-E578EB65A143}"/>
              </a:ext>
            </a:extLst>
          </p:cNvPr>
          <p:cNvSpPr>
            <a:spLocks noGrp="1"/>
          </p:cNvSpPr>
          <p:nvPr/>
        </p:nvSpPr>
        <p:spPr>
          <a:xfrm>
            <a:off x="7924800" y="26289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SELECT THE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A413FC-14FC-4140-906C-F7CA725E7DB3}"/>
              </a:ext>
            </a:extLst>
          </p:cNvPr>
          <p:cNvSpPr>
            <a:spLocks noGrp="1"/>
          </p:cNvSpPr>
          <p:nvPr/>
        </p:nvSpPr>
        <p:spPr>
          <a:xfrm>
            <a:off x="7924800" y="3086100"/>
            <a:ext cx="3048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Compare capability, cost, latency, infrastructure, and business fit.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4E2BF4-EC0A-47FE-8B08-EF9A2AEF29A8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38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By the end, you can…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B17E7-16B2-40F0-8946-796514E42B5C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3DBAC1-0C40-4F86-9A6E-D8437CFB607F}"/>
              </a:ext>
            </a:extLst>
          </p:cNvPr>
          <p:cNvSpPr>
            <a:spLocks noGrp="1"/>
          </p:cNvSpPr>
          <p:nvPr/>
        </p:nvSpPr>
        <p:spPr>
          <a:xfrm>
            <a:off x="3943350" y="4695825"/>
            <a:ext cx="739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Sketch a production-ready AI application.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E6CFF3-0716-4048-BB85-D888A11767CB}"/>
              </a:ext>
            </a:extLst>
          </p:cNvPr>
          <p:cNvSpPr>
            <a:spLocks noGrp="1"/>
          </p:cNvSpPr>
          <p:nvPr/>
        </p:nvSpPr>
        <p:spPr>
          <a:xfrm>
            <a:off x="3714750" y="5219700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8459BB-7906-444B-8E0B-4B209DA42FA7}"/>
              </a:ext>
            </a:extLst>
          </p:cNvPr>
          <p:cNvSpPr>
            <a:spLocks noGrp="1"/>
          </p:cNvSpPr>
          <p:nvPr/>
        </p:nvSpPr>
        <p:spPr>
          <a:xfrm>
            <a:off x="3943350" y="5153025"/>
            <a:ext cx="739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Explain when an SLM can outperform an LLM for the job.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8BFBA8-F5F1-43E5-911C-AFB58A9075C8}"/>
              </a:ext>
            </a:extLst>
          </p:cNvPr>
          <p:cNvSpPr>
            <a:spLocks noGrp="1"/>
          </p:cNvSpPr>
          <p:nvPr/>
        </p:nvSpPr>
        <p:spPr>
          <a:xfrm>
            <a:off x="3714750" y="5676900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E83587-631A-4C81-BE2E-AC403824561E}"/>
              </a:ext>
            </a:extLst>
          </p:cNvPr>
          <p:cNvSpPr>
            <a:spLocks noGrp="1"/>
          </p:cNvSpPr>
          <p:nvPr/>
        </p:nvSpPr>
        <p:spPr>
          <a:xfrm>
            <a:off x="3943350" y="5610225"/>
            <a:ext cx="7391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Defend a model choice with measurable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85738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7AA8F02-F263-437B-A674-0336168AC26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B81DFA-2726-4099-BA76-D93748FBDC7C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8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A production AI application wraps the model in six system layers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5C3588E-D0F6-4237-B9B2-C0A0E9AB446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1B172-1409-4AE4-95F5-C0A51F3088B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Sources: Microsoft Azure Architecture Center [2]; Anthropic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00FF6-2FC1-4E0C-8FF7-68E5284823C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84023-8C63-4C08-87E9-780AF870CE9E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1581150" cy="1009650"/>
          </a:xfrm>
          <a:prstGeom prst="rect">
            <a:avLst/>
          </a:prstGeom>
          <a:solidFill>
            <a:srgbClr val="131C22"/>
          </a:solidFill>
          <a:ln w="952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BD957F-307B-431A-9882-4E5EBF79752E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57150" cy="100965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2D3D49-9B80-4C0D-8A25-6CBC11C353F4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92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DA23E1-5979-4D53-9FB0-DFAF23AC2C70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UI • API • 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8990BE-6CB5-4753-B518-364981D6D399}"/>
              </a:ext>
            </a:extLst>
          </p:cNvPr>
          <p:cNvSpPr>
            <a:spLocks noGrp="1"/>
          </p:cNvSpPr>
          <p:nvPr/>
        </p:nvSpPr>
        <p:spPr>
          <a:xfrm>
            <a:off x="2571750" y="2133600"/>
            <a:ext cx="1581150" cy="1009650"/>
          </a:xfrm>
          <a:prstGeom prst="rect">
            <a:avLst/>
          </a:prstGeom>
          <a:solidFill>
            <a:srgbClr val="131C22"/>
          </a:solidFill>
          <a:ln w="952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CDFC68-53FE-48C1-A06E-FB840FDEE71C}"/>
              </a:ext>
            </a:extLst>
          </p:cNvPr>
          <p:cNvSpPr>
            <a:spLocks noGrp="1"/>
          </p:cNvSpPr>
          <p:nvPr/>
        </p:nvSpPr>
        <p:spPr>
          <a:xfrm>
            <a:off x="2571750" y="2133600"/>
            <a:ext cx="57150" cy="10096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96BA6-38F0-426A-8508-8843D329B136}"/>
              </a:ext>
            </a:extLst>
          </p:cNvPr>
          <p:cNvSpPr>
            <a:spLocks noGrp="1"/>
          </p:cNvSpPr>
          <p:nvPr/>
        </p:nvSpPr>
        <p:spPr>
          <a:xfrm>
            <a:off x="2724150" y="224790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812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ORCHESTRATION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B5FD5D-C8EE-4D23-8D2B-34464CC90E6C}"/>
              </a:ext>
            </a:extLst>
          </p:cNvPr>
          <p:cNvSpPr>
            <a:spLocks noGrp="1"/>
          </p:cNvSpPr>
          <p:nvPr/>
        </p:nvSpPr>
        <p:spPr>
          <a:xfrm>
            <a:off x="2724150" y="2590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prompt • state • routing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9D72FB-D713-4486-8493-0E2B5741AB20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1581150" cy="1009650"/>
          </a:xfrm>
          <a:prstGeom prst="rect">
            <a:avLst/>
          </a:prstGeom>
          <a:solidFill>
            <a:srgbClr val="131C22"/>
          </a:solidFill>
          <a:ln w="9525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0BDB16-9FF5-4500-A708-DE3E340B62BE}"/>
              </a:ext>
            </a:extLst>
          </p:cNvPr>
          <p:cNvSpPr>
            <a:spLocks noGrp="1"/>
          </p:cNvSpPr>
          <p:nvPr/>
        </p:nvSpPr>
        <p:spPr>
          <a:xfrm>
            <a:off x="4438650" y="2133600"/>
            <a:ext cx="57150" cy="1009650"/>
          </a:xfrm>
          <a:prstGeom prst="rect">
            <a:avLst/>
          </a:prstGeom>
          <a:solidFill>
            <a:srgbClr val="B59CFF"/>
          </a:solidFill>
          <a:ln w="0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C94242-D5C5-4E41-8AF2-A439C0171373}"/>
              </a:ext>
            </a:extLst>
          </p:cNvPr>
          <p:cNvSpPr>
            <a:spLocks noGrp="1"/>
          </p:cNvSpPr>
          <p:nvPr/>
        </p:nvSpPr>
        <p:spPr>
          <a:xfrm>
            <a:off x="4591050" y="224790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1BD371-D137-4E21-83AC-827FC2330857}"/>
              </a:ext>
            </a:extLst>
          </p:cNvPr>
          <p:cNvSpPr>
            <a:spLocks noGrp="1"/>
          </p:cNvSpPr>
          <p:nvPr/>
        </p:nvSpPr>
        <p:spPr>
          <a:xfrm>
            <a:off x="4591050" y="2590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identity • history • policy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C4717C-1FDA-4F28-A234-81B485B4B734}"/>
              </a:ext>
            </a:extLst>
          </p:cNvPr>
          <p:cNvSpPr>
            <a:spLocks noGrp="1"/>
          </p:cNvSpPr>
          <p:nvPr/>
        </p:nvSpPr>
        <p:spPr>
          <a:xfrm>
            <a:off x="6305550" y="2133600"/>
            <a:ext cx="1581150" cy="1009650"/>
          </a:xfrm>
          <a:prstGeom prst="rect">
            <a:avLst/>
          </a:prstGeom>
          <a:solidFill>
            <a:srgbClr val="131C22"/>
          </a:solidFill>
          <a:ln w="952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45656C-A720-4EDC-8852-9E5457FC9702}"/>
              </a:ext>
            </a:extLst>
          </p:cNvPr>
          <p:cNvSpPr>
            <a:spLocks noGrp="1"/>
          </p:cNvSpPr>
          <p:nvPr/>
        </p:nvSpPr>
        <p:spPr>
          <a:xfrm>
            <a:off x="6305550" y="2133600"/>
            <a:ext cx="57150" cy="100965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60D6B5-3C27-4F65-9C40-DF3E7EC9438A}"/>
              </a:ext>
            </a:extLst>
          </p:cNvPr>
          <p:cNvSpPr>
            <a:spLocks noGrp="1"/>
          </p:cNvSpPr>
          <p:nvPr/>
        </p:nvSpPr>
        <p:spPr>
          <a:xfrm>
            <a:off x="6457950" y="224790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622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KNOWLEDGE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3AEE58-9F8B-4204-8EC6-886AC78F4D3F}"/>
              </a:ext>
            </a:extLst>
          </p:cNvPr>
          <p:cNvSpPr>
            <a:spLocks noGrp="1"/>
          </p:cNvSpPr>
          <p:nvPr/>
        </p:nvSpPr>
        <p:spPr>
          <a:xfrm>
            <a:off x="6457950" y="2590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search • vector • graph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C794CD-E1C5-4A12-A160-27170CB3984C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1581150" cy="1009650"/>
          </a:xfrm>
          <a:prstGeom prst="rect">
            <a:avLst/>
          </a:prstGeom>
          <a:solidFill>
            <a:srgbClr val="131C22"/>
          </a:solidFill>
          <a:ln w="952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BBBF34-3A00-4371-BE7C-471B7A1DA447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57150" cy="10096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ADB810-79E0-4879-A3DC-0A7F22CBAE65}"/>
              </a:ext>
            </a:extLst>
          </p:cNvPr>
          <p:cNvSpPr>
            <a:spLocks noGrp="1"/>
          </p:cNvSpPr>
          <p:nvPr/>
        </p:nvSpPr>
        <p:spPr>
          <a:xfrm>
            <a:off x="8324850" y="224790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MODEL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283229-E90B-4311-9327-93EFEECE1A7E}"/>
              </a:ext>
            </a:extLst>
          </p:cNvPr>
          <p:cNvSpPr>
            <a:spLocks noGrp="1"/>
          </p:cNvSpPr>
          <p:nvPr/>
        </p:nvSpPr>
        <p:spPr>
          <a:xfrm>
            <a:off x="8324850" y="2590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LLM / SLM / embeddings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78AB53-1A4D-4EC7-9839-3B3B9A347C66}"/>
              </a:ext>
            </a:extLst>
          </p:cNvPr>
          <p:cNvSpPr>
            <a:spLocks noGrp="1"/>
          </p:cNvSpPr>
          <p:nvPr/>
        </p:nvSpPr>
        <p:spPr>
          <a:xfrm>
            <a:off x="10039350" y="2133600"/>
            <a:ext cx="1581150" cy="1009650"/>
          </a:xfrm>
          <a:prstGeom prst="rect">
            <a:avLst/>
          </a:prstGeom>
          <a:solidFill>
            <a:srgbClr val="131C22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A30CF0-76CE-4260-86D8-9FB644687AFE}"/>
              </a:ext>
            </a:extLst>
          </p:cNvPr>
          <p:cNvSpPr>
            <a:spLocks noGrp="1"/>
          </p:cNvSpPr>
          <p:nvPr/>
        </p:nvSpPr>
        <p:spPr>
          <a:xfrm>
            <a:off x="10039350" y="2133600"/>
            <a:ext cx="57150" cy="100965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DF0E74-6E8D-4E36-8167-2EA9553577AD}"/>
              </a:ext>
            </a:extLst>
          </p:cNvPr>
          <p:cNvSpPr>
            <a:spLocks noGrp="1"/>
          </p:cNvSpPr>
          <p:nvPr/>
        </p:nvSpPr>
        <p:spPr>
          <a:xfrm>
            <a:off x="10191750" y="224790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37BA7B-B142-4376-8FD4-FF8C3D7269F3}"/>
              </a:ext>
            </a:extLst>
          </p:cNvPr>
          <p:cNvSpPr>
            <a:spLocks noGrp="1"/>
          </p:cNvSpPr>
          <p:nvPr/>
        </p:nvSpPr>
        <p:spPr>
          <a:xfrm>
            <a:off x="10191750" y="2590800"/>
            <a:ext cx="1314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tools • enterprise systems</a:t>
            </a:r>
          </a:p>
        </p:txBody>
      </p:sp>
      <p:cxnSp>
        <p:nvCxnSpPr>
          <p:cNvPr id="30" name="Straight Arrow Connector 29"/>
          <p:cNvCxnSpPr>
            <a:stCxn id="6" idx="3"/>
            <a:endCxn id="10" idx="1"/>
          </p:cNvCxnSpPr>
          <p:nvPr/>
        </p:nvCxnSpPr>
        <p:spPr>
          <a:xfrm>
            <a:off x="2286000" y="2638425"/>
            <a:ext cx="285750" cy="0"/>
          </a:xfrm>
          <a:prstGeom prst="straightConnector1">
            <a:avLst/>
          </a:prstGeom>
          <a:ln w="19050">
            <a:solidFill>
              <a:srgbClr val="91A39D"/>
            </a:solidFill>
            <a:prstDash val="solid"/>
            <a:tailEnd type="triangle" w="sm" len="sm"/>
          </a:ln>
        </p:spPr>
      </p:cxnSp>
      <p:cxnSp>
        <p:nvCxnSpPr>
          <p:cNvPr id="31" name="Straight Arrow Connector 30"/>
          <p:cNvCxnSpPr>
            <a:stCxn id="10" idx="3"/>
            <a:endCxn id="14" idx="1"/>
          </p:cNvCxnSpPr>
          <p:nvPr/>
        </p:nvCxnSpPr>
        <p:spPr>
          <a:xfrm>
            <a:off x="4152900" y="2638425"/>
            <a:ext cx="285750" cy="0"/>
          </a:xfrm>
          <a:prstGeom prst="straightConnector1">
            <a:avLst/>
          </a:prstGeom>
          <a:ln w="19050">
            <a:solidFill>
              <a:srgbClr val="91A39D"/>
            </a:solidFill>
            <a:prstDash val="solid"/>
            <a:tailEnd type="triangle" w="sm" len="sm"/>
          </a:ln>
        </p:spPr>
      </p:cxnSp>
      <p:cxnSp>
        <p:nvCxnSpPr>
          <p:cNvPr id="32" name="Straight Arrow Connector 31"/>
          <p:cNvCxnSpPr>
            <a:stCxn id="14" idx="3"/>
            <a:endCxn id="18" idx="1"/>
          </p:cNvCxnSpPr>
          <p:nvPr/>
        </p:nvCxnSpPr>
        <p:spPr>
          <a:xfrm>
            <a:off x="6019800" y="2638425"/>
            <a:ext cx="285750" cy="0"/>
          </a:xfrm>
          <a:prstGeom prst="straightConnector1">
            <a:avLst/>
          </a:prstGeom>
          <a:ln w="19050">
            <a:solidFill>
              <a:srgbClr val="91A39D"/>
            </a:solidFill>
            <a:prstDash val="solid"/>
            <a:tailEnd type="triangle" w="sm" len="sm"/>
          </a:ln>
        </p:spPr>
      </p:cxnSp>
      <p:cxnSp>
        <p:nvCxnSpPr>
          <p:cNvPr id="33" name="Straight Arrow Connector 32"/>
          <p:cNvCxnSpPr>
            <a:stCxn id="18" idx="3"/>
            <a:endCxn id="22" idx="1"/>
          </p:cNvCxnSpPr>
          <p:nvPr/>
        </p:nvCxnSpPr>
        <p:spPr>
          <a:xfrm>
            <a:off x="7886700" y="2638425"/>
            <a:ext cx="285750" cy="0"/>
          </a:xfrm>
          <a:prstGeom prst="straightConnector1">
            <a:avLst/>
          </a:prstGeom>
          <a:ln w="19050">
            <a:solidFill>
              <a:srgbClr val="91A39D"/>
            </a:solidFill>
            <a:prstDash val="solid"/>
            <a:tailEnd type="triangle" w="sm" len="sm"/>
          </a:ln>
        </p:spPr>
      </p:cxnSp>
      <p:cxnSp>
        <p:nvCxnSpPr>
          <p:cNvPr id="34" name="Straight Arrow Connector 33"/>
          <p:cNvCxnSpPr>
            <a:stCxn id="22" idx="3"/>
            <a:endCxn id="26" idx="1"/>
          </p:cNvCxnSpPr>
          <p:nvPr/>
        </p:nvCxnSpPr>
        <p:spPr>
          <a:xfrm>
            <a:off x="9753600" y="2638425"/>
            <a:ext cx="285750" cy="0"/>
          </a:xfrm>
          <a:prstGeom prst="straightConnector1">
            <a:avLst/>
          </a:prstGeom>
          <a:ln w="19050">
            <a:solidFill>
              <a:srgbClr val="91A39D"/>
            </a:solidFill>
            <a:prstDash val="solid"/>
            <a:tailEnd type="triangle" w="sm" len="sm"/>
          </a:ln>
        </p:spPr>
      </p:cxn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BBD95722-6DA9-4F4A-81DF-8CB3802E9110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108585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34244A-163B-4353-AE4F-B3794152CB72}"/>
              </a:ext>
            </a:extLst>
          </p:cNvPr>
          <p:cNvSpPr>
            <a:spLocks noGrp="1"/>
          </p:cNvSpPr>
          <p:nvPr/>
        </p:nvSpPr>
        <p:spPr>
          <a:xfrm>
            <a:off x="704850" y="41148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CROSS-CUTTING CONTROLS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881434-1348-451A-B2D9-9822F56E938E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A0AD21-27CE-4884-9BB2-1CE89B72DC19}"/>
              </a:ext>
            </a:extLst>
          </p:cNvPr>
          <p:cNvSpPr>
            <a:spLocks noGrp="1"/>
          </p:cNvSpPr>
          <p:nvPr/>
        </p:nvSpPr>
        <p:spPr>
          <a:xfrm>
            <a:off x="704850" y="49625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authN/Z • secrets • data boundaries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C380921-6C2D-4FC9-B401-85B68C458DDD}"/>
              </a:ext>
            </a:extLst>
          </p:cNvPr>
          <p:cNvSpPr>
            <a:spLocks noGrp="1"/>
          </p:cNvSpPr>
          <p:nvPr/>
        </p:nvSpPr>
        <p:spPr>
          <a:xfrm>
            <a:off x="4305300" y="4629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FB34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B347"/>
                </a:solidFill>
                <a:latin typeface="Aptos Display"/>
                <a:ea typeface="Aptos Display"/>
                <a:cs typeface="Aptos Display"/>
              </a:rPr>
              <a:t>EVALUATION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03936C-3E98-4050-BC10-A7DD2F65C140}"/>
              </a:ext>
            </a:extLst>
          </p:cNvPr>
          <p:cNvSpPr>
            <a:spLocks noGrp="1"/>
          </p:cNvSpPr>
          <p:nvPr/>
        </p:nvSpPr>
        <p:spPr>
          <a:xfrm>
            <a:off x="4305300" y="49625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quality • safety • regression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B8BC59-3A06-4945-91B4-492532C60761}"/>
              </a:ext>
            </a:extLst>
          </p:cNvPr>
          <p:cNvSpPr>
            <a:spLocks noGrp="1"/>
          </p:cNvSpPr>
          <p:nvPr/>
        </p:nvSpPr>
        <p:spPr>
          <a:xfrm>
            <a:off x="7905750" y="4629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7B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67B7FF"/>
                </a:solidFill>
                <a:latin typeface="Aptos Display"/>
                <a:ea typeface="Aptos Display"/>
                <a:cs typeface="Aptos Display"/>
              </a:rPr>
              <a:t>OBSERVABILITY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C842B05-AAF7-4113-8405-1F82C0FAC114}"/>
              </a:ext>
            </a:extLst>
          </p:cNvPr>
          <p:cNvSpPr>
            <a:spLocks noGrp="1"/>
          </p:cNvSpPr>
          <p:nvPr/>
        </p:nvSpPr>
        <p:spPr>
          <a:xfrm>
            <a:off x="7905750" y="49625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traces • feedback • cost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5DD063-232D-4656-A74C-AE13C012CD7B}"/>
              </a:ext>
            </a:extLst>
          </p:cNvPr>
          <p:cNvSpPr>
            <a:spLocks noGrp="1"/>
          </p:cNvSpPr>
          <p:nvPr/>
        </p:nvSpPr>
        <p:spPr>
          <a:xfrm>
            <a:off x="704850" y="5762625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69F0C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69F0C0"/>
                </a:solidFill>
                <a:latin typeface="Aptos Display"/>
                <a:ea typeface="Aptos Display"/>
                <a:cs typeface="Aptos Display"/>
              </a:rPr>
              <a:t>The model is one replaceable component inside an engineered request path.</a:t>
            </a:r>
          </a:p>
        </p:txBody>
      </p:sp>
    </p:spTree>
    <p:extLst>
      <p:ext uri="{BB962C8B-B14F-4D97-AF65-F5344CB8AC3E}">
        <p14:creationId xmlns:p14="http://schemas.microsoft.com/office/powerpoint/2010/main" val="179116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3162B676-3931-4D68-8278-790CCDCCC1C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B1DEF-D0FE-4A09-9C43-E50E0E7B4497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14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Teams ship AI through an evidence-driven lifecycle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03ECE1B-461F-42A7-8A61-3144914AB47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D8367E-C6F7-4420-AACC-02238BBE776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Source: NIST AI 600-1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B5C1C-D523-485A-A174-1CADB1042192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D9F122-5020-4F62-AB0D-5EF507A67959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90DED-69D5-4254-9E8B-8B42281E7A2E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1562100" cy="1181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E47D4-0521-41BE-8F71-C8077A315512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57150" cy="118110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60A51-F41D-4485-9DB9-08E15573233F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FRAME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2B3C1-FE9F-41E2-BE6A-E9DFF5358D43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user, task, harm, KPI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8269AD-C7A8-4CE2-9071-95C432B7D278}"/>
              </a:ext>
            </a:extLst>
          </p:cNvPr>
          <p:cNvSpPr>
            <a:spLocks noGrp="1"/>
          </p:cNvSpPr>
          <p:nvPr/>
        </p:nvSpPr>
        <p:spPr>
          <a:xfrm>
            <a:off x="2552700" y="17335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124680-EF29-4B4A-BD47-F6E550146FD1}"/>
              </a:ext>
            </a:extLst>
          </p:cNvPr>
          <p:cNvSpPr>
            <a:spLocks noGrp="1"/>
          </p:cNvSpPr>
          <p:nvPr/>
        </p:nvSpPr>
        <p:spPr>
          <a:xfrm>
            <a:off x="2552700" y="2247900"/>
            <a:ext cx="1562100" cy="1181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8F6889-337C-4FD9-9B29-8DFD02A3F77E}"/>
              </a:ext>
            </a:extLst>
          </p:cNvPr>
          <p:cNvSpPr>
            <a:spLocks noGrp="1"/>
          </p:cNvSpPr>
          <p:nvPr/>
        </p:nvSpPr>
        <p:spPr>
          <a:xfrm>
            <a:off x="2552700" y="2247900"/>
            <a:ext cx="57150" cy="118110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8AD8E0-E968-4F3A-879A-7072E918825F}"/>
              </a:ext>
            </a:extLst>
          </p:cNvPr>
          <p:cNvSpPr>
            <a:spLocks noGrp="1"/>
          </p:cNvSpPr>
          <p:nvPr/>
        </p:nvSpPr>
        <p:spPr>
          <a:xfrm>
            <a:off x="2705100" y="23622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BASELINE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7107B6-F094-473B-A10B-0FF84E2A1084}"/>
              </a:ext>
            </a:extLst>
          </p:cNvPr>
          <p:cNvSpPr>
            <a:spLocks noGrp="1"/>
          </p:cNvSpPr>
          <p:nvPr/>
        </p:nvSpPr>
        <p:spPr>
          <a:xfrm>
            <a:off x="2705100" y="2705100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prompt + model + eval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D8401F-9956-42D0-8239-6CF57A1F13E1}"/>
              </a:ext>
            </a:extLst>
          </p:cNvPr>
          <p:cNvSpPr>
            <a:spLocks noGrp="1"/>
          </p:cNvSpPr>
          <p:nvPr/>
        </p:nvSpPr>
        <p:spPr>
          <a:xfrm>
            <a:off x="4400550" y="17335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553FE2-9450-4233-9838-8ADC7671135E}"/>
              </a:ext>
            </a:extLst>
          </p:cNvPr>
          <p:cNvSpPr>
            <a:spLocks noGrp="1"/>
          </p:cNvSpPr>
          <p:nvPr/>
        </p:nvSpPr>
        <p:spPr>
          <a:xfrm>
            <a:off x="4400550" y="2247900"/>
            <a:ext cx="1562100" cy="1181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0AD86-0E54-4B0C-9429-D977F8ED8F5C}"/>
              </a:ext>
            </a:extLst>
          </p:cNvPr>
          <p:cNvSpPr>
            <a:spLocks noGrp="1"/>
          </p:cNvSpPr>
          <p:nvPr/>
        </p:nvSpPr>
        <p:spPr>
          <a:xfrm>
            <a:off x="4400550" y="2247900"/>
            <a:ext cx="57150" cy="118110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CC1210-3A15-45D8-A442-673AB43DC1C2}"/>
              </a:ext>
            </a:extLst>
          </p:cNvPr>
          <p:cNvSpPr>
            <a:spLocks noGrp="1"/>
          </p:cNvSpPr>
          <p:nvPr/>
        </p:nvSpPr>
        <p:spPr>
          <a:xfrm>
            <a:off x="4552950" y="23622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GROUND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EA3F70-C54E-463A-BB7D-F3527656EA5D}"/>
              </a:ext>
            </a:extLst>
          </p:cNvPr>
          <p:cNvSpPr>
            <a:spLocks noGrp="1"/>
          </p:cNvSpPr>
          <p:nvPr/>
        </p:nvSpPr>
        <p:spPr>
          <a:xfrm>
            <a:off x="4552950" y="2705100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data, retrieval, tools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C4F794-91D8-4E51-92CC-DEE3B849C63B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CE91AE-E669-4520-B418-8C62AF359B16}"/>
              </a:ext>
            </a:extLst>
          </p:cNvPr>
          <p:cNvSpPr>
            <a:spLocks noGrp="1"/>
          </p:cNvSpPr>
          <p:nvPr/>
        </p:nvSpPr>
        <p:spPr>
          <a:xfrm>
            <a:off x="6248400" y="2247900"/>
            <a:ext cx="1562100" cy="1181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AA440-92C9-4050-8FE0-37A0CF6EEDD4}"/>
              </a:ext>
            </a:extLst>
          </p:cNvPr>
          <p:cNvSpPr>
            <a:spLocks noGrp="1"/>
          </p:cNvSpPr>
          <p:nvPr/>
        </p:nvSpPr>
        <p:spPr>
          <a:xfrm>
            <a:off x="6248400" y="2247900"/>
            <a:ext cx="57150" cy="11811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D2B447-C09F-4B04-92CD-5B71ABE3E4C8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HARDEN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D4DE38-77B5-446F-8843-7A05EC9A0919}"/>
              </a:ext>
            </a:extLst>
          </p:cNvPr>
          <p:cNvSpPr>
            <a:spLocks noGrp="1"/>
          </p:cNvSpPr>
          <p:nvPr/>
        </p:nvSpPr>
        <p:spPr>
          <a:xfrm>
            <a:off x="6400800" y="2705100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security, red-team, limits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334302-23EB-4F19-849C-6D80445D97F1}"/>
              </a:ext>
            </a:extLst>
          </p:cNvPr>
          <p:cNvSpPr>
            <a:spLocks noGrp="1"/>
          </p:cNvSpPr>
          <p:nvPr/>
        </p:nvSpPr>
        <p:spPr>
          <a:xfrm>
            <a:off x="8096250" y="17335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C131E7-7533-45B9-BA9B-7F9CDD3CFFD6}"/>
              </a:ext>
            </a:extLst>
          </p:cNvPr>
          <p:cNvSpPr>
            <a:spLocks noGrp="1"/>
          </p:cNvSpPr>
          <p:nvPr/>
        </p:nvSpPr>
        <p:spPr>
          <a:xfrm>
            <a:off x="8096250" y="2247900"/>
            <a:ext cx="1562100" cy="1181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F03181-14D5-4E09-A013-9359B4384042}"/>
              </a:ext>
            </a:extLst>
          </p:cNvPr>
          <p:cNvSpPr>
            <a:spLocks noGrp="1"/>
          </p:cNvSpPr>
          <p:nvPr/>
        </p:nvSpPr>
        <p:spPr>
          <a:xfrm>
            <a:off x="8096250" y="2247900"/>
            <a:ext cx="57150" cy="11811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D8E675-C611-4F03-BE7D-CDCC2B118777}"/>
              </a:ext>
            </a:extLst>
          </p:cNvPr>
          <p:cNvSpPr>
            <a:spLocks noGrp="1"/>
          </p:cNvSpPr>
          <p:nvPr/>
        </p:nvSpPr>
        <p:spPr>
          <a:xfrm>
            <a:off x="8248650" y="23622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7E8F96-B692-4BE8-A597-ADE6F9FCF989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canary, fallback, SLOs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124202-AABD-4A9D-8986-9EDDA6609B21}"/>
              </a:ext>
            </a:extLst>
          </p:cNvPr>
          <p:cNvSpPr>
            <a:spLocks noGrp="1"/>
          </p:cNvSpPr>
          <p:nvPr/>
        </p:nvSpPr>
        <p:spPr>
          <a:xfrm>
            <a:off x="9944100" y="1733550"/>
            <a:ext cx="419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5503E07-8348-4BF7-8E45-57A164BA5BA6}"/>
              </a:ext>
            </a:extLst>
          </p:cNvPr>
          <p:cNvSpPr>
            <a:spLocks noGrp="1"/>
          </p:cNvSpPr>
          <p:nvPr/>
        </p:nvSpPr>
        <p:spPr>
          <a:xfrm>
            <a:off x="9944100" y="2247900"/>
            <a:ext cx="1562100" cy="1181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B87E14-E0C4-451A-9F4C-4F884C5C4197}"/>
              </a:ext>
            </a:extLst>
          </p:cNvPr>
          <p:cNvSpPr>
            <a:spLocks noGrp="1"/>
          </p:cNvSpPr>
          <p:nvPr/>
        </p:nvSpPr>
        <p:spPr>
          <a:xfrm>
            <a:off x="9944100" y="2247900"/>
            <a:ext cx="57150" cy="11811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2F7B2E-89D0-4486-9D8D-C9462D69BB2C}"/>
              </a:ext>
            </a:extLst>
          </p:cNvPr>
          <p:cNvSpPr>
            <a:spLocks noGrp="1"/>
          </p:cNvSpPr>
          <p:nvPr/>
        </p:nvSpPr>
        <p:spPr>
          <a:xfrm>
            <a:off x="10096500" y="2362200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OPERATE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150149-52D0-4CDA-9A2F-1D9C88CA8527}"/>
              </a:ext>
            </a:extLst>
          </p:cNvPr>
          <p:cNvSpPr>
            <a:spLocks noGrp="1"/>
          </p:cNvSpPr>
          <p:nvPr/>
        </p:nvSpPr>
        <p:spPr>
          <a:xfrm>
            <a:off x="10096500" y="2705100"/>
            <a:ext cx="1295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trace, monitor, improve</a:t>
            </a:r>
          </a:p>
        </p:txBody>
      </p:sp>
      <p:cxnSp>
        <p:nvCxnSpPr>
          <p:cNvPr id="36" name="Straight Arrow Connector 35"/>
          <p:cNvCxnSpPr>
            <a:stCxn id="7" idx="3"/>
            <a:endCxn id="12" idx="1"/>
          </p:cNvCxnSpPr>
          <p:nvPr/>
        </p:nvCxnSpPr>
        <p:spPr>
          <a:xfrm>
            <a:off x="2266950" y="2838450"/>
            <a:ext cx="28575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37" name="Straight Arrow Connector 36"/>
          <p:cNvCxnSpPr>
            <a:stCxn id="12" idx="3"/>
            <a:endCxn id="17" idx="1"/>
          </p:cNvCxnSpPr>
          <p:nvPr/>
        </p:nvCxnSpPr>
        <p:spPr>
          <a:xfrm>
            <a:off x="4114800" y="2838450"/>
            <a:ext cx="28575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38" name="Straight Arrow Connector 37"/>
          <p:cNvCxnSpPr>
            <a:stCxn id="17" idx="3"/>
            <a:endCxn id="22" idx="1"/>
          </p:cNvCxnSpPr>
          <p:nvPr/>
        </p:nvCxnSpPr>
        <p:spPr>
          <a:xfrm>
            <a:off x="5962650" y="2838450"/>
            <a:ext cx="285750" cy="0"/>
          </a:xfrm>
          <a:prstGeom prst="straightConnector1">
            <a:avLst/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39" name="Straight Arrow Connector 38"/>
          <p:cNvCxnSpPr>
            <a:stCxn id="22" idx="3"/>
            <a:endCxn id="27" idx="1"/>
          </p:cNvCxnSpPr>
          <p:nvPr/>
        </p:nvCxnSpPr>
        <p:spPr>
          <a:xfrm>
            <a:off x="7810500" y="2838450"/>
            <a:ext cx="285750" cy="0"/>
          </a:xfrm>
          <a:prstGeom prst="straightConnector1">
            <a:avLst/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40" name="Straight Arrow Connector 39"/>
          <p:cNvCxnSpPr>
            <a:stCxn id="27" idx="3"/>
            <a:endCxn id="32" idx="1"/>
          </p:cNvCxnSpPr>
          <p:nvPr/>
        </p:nvCxnSpPr>
        <p:spPr>
          <a:xfrm>
            <a:off x="9658350" y="2838450"/>
            <a:ext cx="285750" cy="0"/>
          </a:xfrm>
          <a:prstGeom prst="straightConnector1">
            <a:avLst/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7556F503-07DC-4C54-A3C8-678590401EDA}"/>
              </a:ext>
            </a:extLst>
          </p:cNvPr>
          <p:cNvSpPr>
            <a:spLocks noGrp="1"/>
          </p:cNvSpPr>
          <p:nvPr/>
        </p:nvSpPr>
        <p:spPr>
          <a:xfrm>
            <a:off x="1485900" y="4010025"/>
            <a:ext cx="9239250" cy="0"/>
          </a:xfrm>
          <a:prstGeom prst="line">
            <a:avLst/>
          </a:prstGeom>
          <a:noFill/>
          <a:ln w="19050">
            <a:solidFill>
              <a:srgbClr val="67B7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3A17E9-A00C-4D03-B382-F522CD931396}"/>
              </a:ext>
            </a:extLst>
          </p:cNvPr>
          <p:cNvSpPr>
            <a:spLocks noGrp="1"/>
          </p:cNvSpPr>
          <p:nvPr/>
        </p:nvSpPr>
        <p:spPr>
          <a:xfrm>
            <a:off x="2057400" y="4171950"/>
            <a:ext cx="809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PRODUCTION EVIDENCE FLOWS BACK INTO REQUIREMENTS, EVALS, AND ROUTING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822289-6F07-4CDF-82DD-8A7EDC456075}"/>
              </a:ext>
            </a:extLst>
          </p:cNvPr>
          <p:cNvSpPr>
            <a:spLocks noGrp="1"/>
          </p:cNvSpPr>
          <p:nvPr/>
        </p:nvSpPr>
        <p:spPr>
          <a:xfrm>
            <a:off x="1047750" y="50673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69F0C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69F0C0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FC22A0-A630-49FD-B1BD-021F6C482D2E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Does it solve the task?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7C121C-EB27-4FA8-8648-B334F6217426}"/>
              </a:ext>
            </a:extLst>
          </p:cNvPr>
          <p:cNvSpPr>
            <a:spLocks noGrp="1"/>
          </p:cNvSpPr>
          <p:nvPr/>
        </p:nvSpPr>
        <p:spPr>
          <a:xfrm>
            <a:off x="4572000" y="50673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6B6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787B80-9DB4-4819-9667-C40F98DE83D7}"/>
              </a:ext>
            </a:extLst>
          </p:cNvPr>
          <p:cNvSpPr>
            <a:spLocks noGrp="1"/>
          </p:cNvSpPr>
          <p:nvPr/>
        </p:nvSpPr>
        <p:spPr>
          <a:xfrm>
            <a:off x="4572000" y="5429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What can fail or harm?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5F8889-5A4B-4EC2-B6D9-9C3CCA45ED32}"/>
              </a:ext>
            </a:extLst>
          </p:cNvPr>
          <p:cNvSpPr>
            <a:spLocks noGrp="1"/>
          </p:cNvSpPr>
          <p:nvPr/>
        </p:nvSpPr>
        <p:spPr>
          <a:xfrm>
            <a:off x="8096250" y="50673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FB34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B347"/>
                </a:solidFill>
                <a:latin typeface="Aptos"/>
                <a:ea typeface="Aptos"/>
                <a:cs typeface="Aptos"/>
              </a:rPr>
              <a:t>Economics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EC1F97-00CE-4595-BEA0-23FFFF97CB42}"/>
              </a:ext>
            </a:extLst>
          </p:cNvPr>
          <p:cNvSpPr>
            <a:spLocks noGrp="1"/>
          </p:cNvSpPr>
          <p:nvPr/>
        </p:nvSpPr>
        <p:spPr>
          <a:xfrm>
            <a:off x="8096250" y="54292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Can it run at scale?</a:t>
            </a:r>
          </a:p>
        </p:txBody>
      </p:sp>
    </p:spTree>
    <p:extLst>
      <p:ext uri="{BB962C8B-B14F-4D97-AF65-F5344CB8AC3E}">
        <p14:creationId xmlns:p14="http://schemas.microsoft.com/office/powerpoint/2010/main" val="124951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686DD6D-C849-4CAC-B475-D079A698968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13DC3A-7482-4829-95A4-43EE4C654322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A reference architecture separates change at different speeds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6C25F70-A09E-48A2-AE20-0368C8348D7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A8AE-996C-489E-9409-83373E3C1BC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Sources: Microsoft Azure Architecture Center [2]; Anthropic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DD5FB-25A1-4EF8-B5E3-03815E7C08B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42A2F3-AC24-4D58-B217-175FD40D81FB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8096250" cy="609600"/>
          </a:xfrm>
          <a:prstGeom prst="rect">
            <a:avLst/>
          </a:prstGeom>
          <a:solidFill>
            <a:srgbClr val="131C22"/>
          </a:solidFill>
          <a:ln w="952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1A823-1743-40E6-9E4A-C9AC624A9A11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95250" cy="60960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846793-DE02-4D17-B46C-EEF2B934A16D}"/>
              </a:ext>
            </a:extLst>
          </p:cNvPr>
          <p:cNvSpPr>
            <a:spLocks noGrp="1"/>
          </p:cNvSpPr>
          <p:nvPr/>
        </p:nvSpPr>
        <p:spPr>
          <a:xfrm>
            <a:off x="1762125" y="17621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EF6EA3-54E2-4DE3-B3E8-4246A5DF1977}"/>
              </a:ext>
            </a:extLst>
          </p:cNvPr>
          <p:cNvSpPr>
            <a:spLocks noGrp="1"/>
          </p:cNvSpPr>
          <p:nvPr/>
        </p:nvSpPr>
        <p:spPr>
          <a:xfrm>
            <a:off x="4476750" y="17621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Channels • user workflow • human approval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8505F6-FFCA-4AB7-8FA9-2F038CB6CCAB}"/>
              </a:ext>
            </a:extLst>
          </p:cNvPr>
          <p:cNvSpPr>
            <a:spLocks noGrp="1"/>
          </p:cNvSpPr>
          <p:nvPr/>
        </p:nvSpPr>
        <p:spPr>
          <a:xfrm>
            <a:off x="1428750" y="2324100"/>
            <a:ext cx="8096250" cy="800100"/>
          </a:xfrm>
          <a:prstGeom prst="rect">
            <a:avLst/>
          </a:prstGeom>
          <a:solidFill>
            <a:srgbClr val="1A252C"/>
          </a:solidFill>
          <a:ln w="952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EE1C3D-A973-4B16-92A5-CA79010674B6}"/>
              </a:ext>
            </a:extLst>
          </p:cNvPr>
          <p:cNvSpPr>
            <a:spLocks noGrp="1"/>
          </p:cNvSpPr>
          <p:nvPr/>
        </p:nvSpPr>
        <p:spPr>
          <a:xfrm>
            <a:off x="1428750" y="2324100"/>
            <a:ext cx="95250" cy="80010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2D74D-5E28-4DCB-9B9C-B41A30819D0D}"/>
              </a:ext>
            </a:extLst>
          </p:cNvPr>
          <p:cNvSpPr>
            <a:spLocks noGrp="1"/>
          </p:cNvSpPr>
          <p:nvPr/>
        </p:nvSpPr>
        <p:spPr>
          <a:xfrm>
            <a:off x="1762125" y="24669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ORCHESTRATION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C2F71A-852E-407A-8502-7F1D936CF661}"/>
              </a:ext>
            </a:extLst>
          </p:cNvPr>
          <p:cNvSpPr>
            <a:spLocks noGrp="1"/>
          </p:cNvSpPr>
          <p:nvPr/>
        </p:nvSpPr>
        <p:spPr>
          <a:xfrm>
            <a:off x="4476750" y="246697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Prompt assembly • routing • state • agent/workflow logic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94548B-7B29-4258-9E67-509ABDB36EFE}"/>
              </a:ext>
            </a:extLst>
          </p:cNvPr>
          <p:cNvSpPr>
            <a:spLocks noGrp="1"/>
          </p:cNvSpPr>
          <p:nvPr/>
        </p:nvSpPr>
        <p:spPr>
          <a:xfrm>
            <a:off x="1428750" y="3219450"/>
            <a:ext cx="8096250" cy="800100"/>
          </a:xfrm>
          <a:prstGeom prst="rect">
            <a:avLst/>
          </a:prstGeom>
          <a:solidFill>
            <a:srgbClr val="131C22"/>
          </a:solidFill>
          <a:ln w="952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694551-F305-45CD-9E8C-F8F02FCEC7FB}"/>
              </a:ext>
            </a:extLst>
          </p:cNvPr>
          <p:cNvSpPr>
            <a:spLocks noGrp="1"/>
          </p:cNvSpPr>
          <p:nvPr/>
        </p:nvSpPr>
        <p:spPr>
          <a:xfrm>
            <a:off x="1428750" y="3219450"/>
            <a:ext cx="95250" cy="8001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76D27E-0CD1-4ABB-9212-D3C674970168}"/>
              </a:ext>
            </a:extLst>
          </p:cNvPr>
          <p:cNvSpPr>
            <a:spLocks noGrp="1"/>
          </p:cNvSpPr>
          <p:nvPr/>
        </p:nvSpPr>
        <p:spPr>
          <a:xfrm>
            <a:off x="1762125" y="33623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KNOWLEDGE + TOOLS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6F648E-307E-44B0-9E77-26BCA6E452EE}"/>
              </a:ext>
            </a:extLst>
          </p:cNvPr>
          <p:cNvSpPr>
            <a:spLocks noGrp="1"/>
          </p:cNvSpPr>
          <p:nvPr/>
        </p:nvSpPr>
        <p:spPr>
          <a:xfrm>
            <a:off x="4476750" y="33623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Retrieval • indexes • APIs • transactional systems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ED3AF-90CB-4F4D-8B74-A7EA8275E557}"/>
              </a:ext>
            </a:extLst>
          </p:cNvPr>
          <p:cNvSpPr>
            <a:spLocks noGrp="1"/>
          </p:cNvSpPr>
          <p:nvPr/>
        </p:nvSpPr>
        <p:spPr>
          <a:xfrm>
            <a:off x="1428750" y="4114800"/>
            <a:ext cx="8096250" cy="704850"/>
          </a:xfrm>
          <a:prstGeom prst="rect">
            <a:avLst/>
          </a:prstGeom>
          <a:solidFill>
            <a:srgbClr val="1A252C"/>
          </a:solidFill>
          <a:ln w="9525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9D862C-61E3-4EA5-8547-343CCE96A162}"/>
              </a:ext>
            </a:extLst>
          </p:cNvPr>
          <p:cNvSpPr>
            <a:spLocks noGrp="1"/>
          </p:cNvSpPr>
          <p:nvPr/>
        </p:nvSpPr>
        <p:spPr>
          <a:xfrm>
            <a:off x="1428750" y="4114800"/>
            <a:ext cx="95250" cy="704850"/>
          </a:xfrm>
          <a:prstGeom prst="rect">
            <a:avLst/>
          </a:prstGeom>
          <a:solidFill>
            <a:srgbClr val="B59CFF"/>
          </a:solidFill>
          <a:ln w="0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AD59C7-E904-49EE-BB63-134DE790C997}"/>
              </a:ext>
            </a:extLst>
          </p:cNvPr>
          <p:cNvSpPr>
            <a:spLocks noGrp="1"/>
          </p:cNvSpPr>
          <p:nvPr/>
        </p:nvSpPr>
        <p:spPr>
          <a:xfrm>
            <a:off x="1762125" y="42576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B59C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B59CFF"/>
                </a:solidFill>
                <a:latin typeface="Consolas"/>
                <a:ea typeface="Consolas"/>
                <a:cs typeface="Consolas"/>
              </a:rPr>
              <a:t>MODEL RUNTIME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CE756A-C1BE-4EA6-83A4-5EA41C206474}"/>
              </a:ext>
            </a:extLst>
          </p:cNvPr>
          <p:cNvSpPr>
            <a:spLocks noGrp="1"/>
          </p:cNvSpPr>
          <p:nvPr/>
        </p:nvSpPr>
        <p:spPr>
          <a:xfrm>
            <a:off x="4476750" y="4257675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LLM • SLM • embedding • reranker • safety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FA6062-9C16-4D75-993E-E60425F4E415}"/>
              </a:ext>
            </a:extLst>
          </p:cNvPr>
          <p:cNvSpPr>
            <a:spLocks noGrp="1"/>
          </p:cNvSpPr>
          <p:nvPr/>
        </p:nvSpPr>
        <p:spPr>
          <a:xfrm>
            <a:off x="1428750" y="4914900"/>
            <a:ext cx="8096250" cy="704850"/>
          </a:xfrm>
          <a:prstGeom prst="rect">
            <a:avLst/>
          </a:prstGeom>
          <a:solidFill>
            <a:srgbClr val="131C22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BB6DAD-FEB8-4BF7-952E-4B71C29825C3}"/>
              </a:ext>
            </a:extLst>
          </p:cNvPr>
          <p:cNvSpPr>
            <a:spLocks noGrp="1"/>
          </p:cNvSpPr>
          <p:nvPr/>
        </p:nvSpPr>
        <p:spPr>
          <a:xfrm>
            <a:off x="1428750" y="4914900"/>
            <a:ext cx="95250" cy="70485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0D183-42BE-4FD1-B20E-6372E456C9F8}"/>
              </a:ext>
            </a:extLst>
          </p:cNvPr>
          <p:cNvSpPr>
            <a:spLocks noGrp="1"/>
          </p:cNvSpPr>
          <p:nvPr/>
        </p:nvSpPr>
        <p:spPr>
          <a:xfrm>
            <a:off x="1762125" y="50577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PLATFORM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FC9FE4-D37A-4C1E-B167-5C77ED008AC5}"/>
              </a:ext>
            </a:extLst>
          </p:cNvPr>
          <p:cNvSpPr>
            <a:spLocks noGrp="1"/>
          </p:cNvSpPr>
          <p:nvPr/>
        </p:nvSpPr>
        <p:spPr>
          <a:xfrm>
            <a:off x="4476750" y="5057775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Identity • network • compute • registry • CI/CD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0265C96-DAA4-4F1E-A7FF-D3E52BF95258}"/>
              </a:ext>
            </a:extLst>
          </p:cNvPr>
          <p:cNvSpPr>
            <a:spLocks noGrp="1"/>
          </p:cNvSpPr>
          <p:nvPr/>
        </p:nvSpPr>
        <p:spPr>
          <a:xfrm>
            <a:off x="10001250" y="1619250"/>
            <a:ext cx="0" cy="400050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4DA0CD-ECE3-4D75-BF9E-5FAB10129199}"/>
              </a:ext>
            </a:extLst>
          </p:cNvPr>
          <p:cNvSpPr>
            <a:spLocks noGrp="1"/>
          </p:cNvSpPr>
          <p:nvPr/>
        </p:nvSpPr>
        <p:spPr>
          <a:xfrm>
            <a:off x="10287000" y="1733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CONTROL PLANE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A9B6B2-3663-453E-AEC3-3DA45F811D99}"/>
              </a:ext>
            </a:extLst>
          </p:cNvPr>
          <p:cNvSpPr>
            <a:spLocks noGrp="1"/>
          </p:cNvSpPr>
          <p:nvPr/>
        </p:nvSpPr>
        <p:spPr>
          <a:xfrm>
            <a:off x="10287000" y="2266950"/>
            <a:ext cx="13811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Policy</a:t>
            </a:r>
          </a:p>
          <a:p>
            <a:pPr algn="l">
              <a:lnSpc>
                <a:spcPct val="135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Evaluation</a:t>
            </a:r>
          </a:p>
          <a:p>
            <a:pPr algn="l">
              <a:lnSpc>
                <a:spcPct val="135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Telemetry</a:t>
            </a:r>
          </a:p>
          <a:p>
            <a:pPr algn="l">
              <a:lnSpc>
                <a:spcPct val="135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Cost controls</a:t>
            </a:r>
          </a:p>
          <a:p>
            <a:pPr algn="l">
              <a:lnSpc>
                <a:spcPct val="135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Change approval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0DDFED-E559-4E6A-A6E9-D806915A0D37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744" lnSpcReduction="10000"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Fast-changing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12D431-A496-49E9-99B2-26705BBA7750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0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Stable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0B78B3F6-B359-49DE-B855-E242FCFBC0EE}"/>
              </a:ext>
            </a:extLst>
          </p:cNvPr>
          <p:cNvSpPr>
            <a:spLocks noGrp="1"/>
          </p:cNvSpPr>
          <p:nvPr/>
        </p:nvSpPr>
        <p:spPr>
          <a:xfrm>
            <a:off x="1181100" y="1933575"/>
            <a:ext cx="0" cy="3371850"/>
          </a:xfrm>
          <a:prstGeom prst="line">
            <a:avLst/>
          </a:prstGeom>
          <a:noFill/>
          <a:ln w="19050">
            <a:solidFill>
              <a:srgbClr val="91A3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5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E41E5D93-F48D-4509-8DCE-EE351BE7996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4B81F-C41C-4C39-A730-22B926D93160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42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RAG has two pipelines that must be engineered together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1439FD9-9163-4709-BB1F-6A7E850005A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C4EBDB-4201-41AE-99F9-4AAE5472690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Source: Microsoft Azure Architecture Center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8E69A3-6A73-446E-80C8-DDAF01C67986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9C14F-3432-432C-B6A1-40422DDC922B}"/>
              </a:ext>
            </a:extLst>
          </p:cNvPr>
          <p:cNvSpPr>
            <a:spLocks noGrp="1"/>
          </p:cNvSpPr>
          <p:nvPr/>
        </p:nvSpPr>
        <p:spPr>
          <a:xfrm>
            <a:off x="704850" y="15621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INGESTION / INDEX 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73BD49-5498-4690-A81D-B2FA7174A18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3D060D-DCFF-4907-A5D2-EA087069C23E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7150" cy="78105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DE8E8-1151-44E5-8670-9A431D5B4FF1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D9B477-E6B8-4E68-89FF-BB62C013DFB6}"/>
              </a:ext>
            </a:extLst>
          </p:cNvPr>
          <p:cNvSpPr>
            <a:spLocks noGrp="1"/>
          </p:cNvSpPr>
          <p:nvPr/>
        </p:nvSpPr>
        <p:spPr>
          <a:xfrm>
            <a:off x="857250" y="24955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8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docs • DB • events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FFFA7A-A49E-4C6A-BD27-C4F1F281FEDB}"/>
              </a:ext>
            </a:extLst>
          </p:cNvPr>
          <p:cNvSpPr>
            <a:spLocks noGrp="1"/>
          </p:cNvSpPr>
          <p:nvPr/>
        </p:nvSpPr>
        <p:spPr>
          <a:xfrm>
            <a:off x="2419350" y="203835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EC428-B184-4E1A-922F-77F755D2C63C}"/>
              </a:ext>
            </a:extLst>
          </p:cNvPr>
          <p:cNvSpPr>
            <a:spLocks noGrp="1"/>
          </p:cNvSpPr>
          <p:nvPr/>
        </p:nvSpPr>
        <p:spPr>
          <a:xfrm>
            <a:off x="2419350" y="2038350"/>
            <a:ext cx="57150" cy="78105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FF8A4-CB7E-4097-8E02-8A99F12F8BD9}"/>
              </a:ext>
            </a:extLst>
          </p:cNvPr>
          <p:cNvSpPr>
            <a:spLocks noGrp="1"/>
          </p:cNvSpPr>
          <p:nvPr/>
        </p:nvSpPr>
        <p:spPr>
          <a:xfrm>
            <a:off x="2571750" y="21526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B8D75A-7FCD-4530-BAF3-0FE71FDE9CCA}"/>
              </a:ext>
            </a:extLst>
          </p:cNvPr>
          <p:cNvSpPr>
            <a:spLocks noGrp="1"/>
          </p:cNvSpPr>
          <p:nvPr/>
        </p:nvSpPr>
        <p:spPr>
          <a:xfrm>
            <a:off x="2571750" y="24955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770" lnSpcReduction="2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parse • chunk • clean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44BA1E-D2A9-42A5-BD5B-7C408D79C17B}"/>
              </a:ext>
            </a:extLst>
          </p:cNvPr>
          <p:cNvSpPr>
            <a:spLocks noGrp="1"/>
          </p:cNvSpPr>
          <p:nvPr/>
        </p:nvSpPr>
        <p:spPr>
          <a:xfrm>
            <a:off x="4133850" y="203835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2ABCF1-1738-4DCF-AAF4-9FE7484C53BD}"/>
              </a:ext>
            </a:extLst>
          </p:cNvPr>
          <p:cNvSpPr>
            <a:spLocks noGrp="1"/>
          </p:cNvSpPr>
          <p:nvPr/>
        </p:nvSpPr>
        <p:spPr>
          <a:xfrm>
            <a:off x="4133850" y="2038350"/>
            <a:ext cx="57150" cy="78105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C9DC8C-61CD-4272-B1A3-24FEDB453D3C}"/>
              </a:ext>
            </a:extLst>
          </p:cNvPr>
          <p:cNvSpPr>
            <a:spLocks noGrp="1"/>
          </p:cNvSpPr>
          <p:nvPr/>
        </p:nvSpPr>
        <p:spPr>
          <a:xfrm>
            <a:off x="4286250" y="21526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E361F1-4B09-4940-9210-724C0DC98B59}"/>
              </a:ext>
            </a:extLst>
          </p:cNvPr>
          <p:cNvSpPr>
            <a:spLocks noGrp="1"/>
          </p:cNvSpPr>
          <p:nvPr/>
        </p:nvSpPr>
        <p:spPr>
          <a:xfrm>
            <a:off x="4286250" y="24955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283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metadata • ACL • embed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67698-1BE7-4F68-8186-8C1E315ADB3C}"/>
              </a:ext>
            </a:extLst>
          </p:cNvPr>
          <p:cNvSpPr>
            <a:spLocks noGrp="1"/>
          </p:cNvSpPr>
          <p:nvPr/>
        </p:nvSpPr>
        <p:spPr>
          <a:xfrm>
            <a:off x="5848350" y="203835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4D4FA8-9ECE-4042-90A8-BBC092EF85D4}"/>
              </a:ext>
            </a:extLst>
          </p:cNvPr>
          <p:cNvSpPr>
            <a:spLocks noGrp="1"/>
          </p:cNvSpPr>
          <p:nvPr/>
        </p:nvSpPr>
        <p:spPr>
          <a:xfrm>
            <a:off x="5848350" y="2038350"/>
            <a:ext cx="57150" cy="78105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9D0F10-E76D-4B42-AB6B-F86D3A52606A}"/>
              </a:ext>
            </a:extLst>
          </p:cNvPr>
          <p:cNvSpPr>
            <a:spLocks noGrp="1"/>
          </p:cNvSpPr>
          <p:nvPr/>
        </p:nvSpPr>
        <p:spPr>
          <a:xfrm>
            <a:off x="6000750" y="215265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Index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4155AD-BAE0-4CCF-B003-412625CCAAEE}"/>
              </a:ext>
            </a:extLst>
          </p:cNvPr>
          <p:cNvSpPr>
            <a:spLocks noGrp="1"/>
          </p:cNvSpPr>
          <p:nvPr/>
        </p:nvSpPr>
        <p:spPr>
          <a:xfrm>
            <a:off x="6000750" y="249555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283" lnSpcReduction="1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vector • keyword • graph</a:t>
            </a:r>
          </a:p>
        </p:txBody>
      </p:sp>
      <p:cxnSp>
        <p:nvCxnSpPr>
          <p:cNvPr id="23" name="Straight Arrow Connector 22"/>
          <p:cNvCxnSpPr>
            <a:stCxn id="7" idx="3"/>
            <a:endCxn id="11" idx="1"/>
          </p:cNvCxnSpPr>
          <p:nvPr/>
        </p:nvCxnSpPr>
        <p:spPr>
          <a:xfrm>
            <a:off x="2095500" y="2428875"/>
            <a:ext cx="323850" cy="0"/>
          </a:xfrm>
          <a:prstGeom prst="straightConnector1">
            <a:avLst/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24" name="Straight Arrow Connector 23"/>
          <p:cNvCxnSpPr>
            <a:stCxn id="11" idx="3"/>
            <a:endCxn id="15" idx="1"/>
          </p:cNvCxnSpPr>
          <p:nvPr/>
        </p:nvCxnSpPr>
        <p:spPr>
          <a:xfrm>
            <a:off x="3810000" y="2428875"/>
            <a:ext cx="323850" cy="0"/>
          </a:xfrm>
          <a:prstGeom prst="straightConnector1">
            <a:avLst/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25" name="Straight Arrow Connector 24"/>
          <p:cNvCxnSpPr>
            <a:stCxn id="15" idx="3"/>
            <a:endCxn id="19" idx="1"/>
          </p:cNvCxnSpPr>
          <p:nvPr/>
        </p:nvCxnSpPr>
        <p:spPr>
          <a:xfrm>
            <a:off x="5524500" y="2428875"/>
            <a:ext cx="323850" cy="0"/>
          </a:xfrm>
          <a:prstGeom prst="straightConnector1">
            <a:avLst/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9D56B8F-A38C-4928-9B76-E746E34426D8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QUERY / RUN TIME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D8B0CA-E43E-4D85-BEF7-083AE4CD0B2A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3CDE49-8689-419D-85B4-778540E61D67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57150" cy="7810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672EB0-ECC4-4C50-938F-5041B6EABA02}"/>
              </a:ext>
            </a:extLst>
          </p:cNvPr>
          <p:cNvSpPr>
            <a:spLocks noGrp="1"/>
          </p:cNvSpPr>
          <p:nvPr/>
        </p:nvSpPr>
        <p:spPr>
          <a:xfrm>
            <a:off x="857250" y="41529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Question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094B38-ADA6-4A7D-BA38-4A6F3829ABFB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54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identity • intent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7A8552-04A6-48B8-ADA6-AE73685C5935}"/>
              </a:ext>
            </a:extLst>
          </p:cNvPr>
          <p:cNvSpPr>
            <a:spLocks noGrp="1"/>
          </p:cNvSpPr>
          <p:nvPr/>
        </p:nvSpPr>
        <p:spPr>
          <a:xfrm>
            <a:off x="2419350" y="403860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8CD6D1-2B17-4ECB-9ED2-95A6753CCF4F}"/>
              </a:ext>
            </a:extLst>
          </p:cNvPr>
          <p:cNvSpPr>
            <a:spLocks noGrp="1"/>
          </p:cNvSpPr>
          <p:nvPr/>
        </p:nvSpPr>
        <p:spPr>
          <a:xfrm>
            <a:off x="2419350" y="4038600"/>
            <a:ext cx="57150" cy="7810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C4F9CBA-6412-4E4E-9D87-F8F6749AAC93}"/>
              </a:ext>
            </a:extLst>
          </p:cNvPr>
          <p:cNvSpPr>
            <a:spLocks noGrp="1"/>
          </p:cNvSpPr>
          <p:nvPr/>
        </p:nvSpPr>
        <p:spPr>
          <a:xfrm>
            <a:off x="2571750" y="41529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Retrieve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CBC6FC-9199-4DAA-8DA5-C39E8DB7D229}"/>
              </a:ext>
            </a:extLst>
          </p:cNvPr>
          <p:cNvSpPr>
            <a:spLocks noGrp="1"/>
          </p:cNvSpPr>
          <p:nvPr/>
        </p:nvSpPr>
        <p:spPr>
          <a:xfrm>
            <a:off x="2571750" y="4495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877" lnSpcReduction="2000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filter • search • rerank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54A466-E925-4AFB-921A-61B5D97E2845}"/>
              </a:ext>
            </a:extLst>
          </p:cNvPr>
          <p:cNvSpPr>
            <a:spLocks noGrp="1"/>
          </p:cNvSpPr>
          <p:nvPr/>
        </p:nvSpPr>
        <p:spPr>
          <a:xfrm>
            <a:off x="4133850" y="403860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26B100-18C8-476D-8C12-6E449AAFD59A}"/>
              </a:ext>
            </a:extLst>
          </p:cNvPr>
          <p:cNvSpPr>
            <a:spLocks noGrp="1"/>
          </p:cNvSpPr>
          <p:nvPr/>
        </p:nvSpPr>
        <p:spPr>
          <a:xfrm>
            <a:off x="4133850" y="4038600"/>
            <a:ext cx="57150" cy="7810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D794F3-D607-418F-BAB1-6E08B1D75C27}"/>
              </a:ext>
            </a:extLst>
          </p:cNvPr>
          <p:cNvSpPr>
            <a:spLocks noGrp="1"/>
          </p:cNvSpPr>
          <p:nvPr/>
        </p:nvSpPr>
        <p:spPr>
          <a:xfrm>
            <a:off x="4286250" y="41529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Ground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B9669A-6E18-4492-9063-3C4690E026D1}"/>
              </a:ext>
            </a:extLst>
          </p:cNvPr>
          <p:cNvSpPr>
            <a:spLocks noGrp="1"/>
          </p:cNvSpPr>
          <p:nvPr/>
        </p:nvSpPr>
        <p:spPr>
          <a:xfrm>
            <a:off x="4286250" y="4495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04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evidence • citations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4817DC-8E3C-47C2-A392-AC39B378C2AF}"/>
              </a:ext>
            </a:extLst>
          </p:cNvPr>
          <p:cNvSpPr>
            <a:spLocks noGrp="1"/>
          </p:cNvSpPr>
          <p:nvPr/>
        </p:nvSpPr>
        <p:spPr>
          <a:xfrm>
            <a:off x="5848350" y="403860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711061-D921-4F1C-B321-7ABBA6286892}"/>
              </a:ext>
            </a:extLst>
          </p:cNvPr>
          <p:cNvSpPr>
            <a:spLocks noGrp="1"/>
          </p:cNvSpPr>
          <p:nvPr/>
        </p:nvSpPr>
        <p:spPr>
          <a:xfrm>
            <a:off x="5848350" y="4038600"/>
            <a:ext cx="57150" cy="7810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BAB7C2-A577-4F79-9CDC-C9F86A39FB1A}"/>
              </a:ext>
            </a:extLst>
          </p:cNvPr>
          <p:cNvSpPr>
            <a:spLocks noGrp="1"/>
          </p:cNvSpPr>
          <p:nvPr/>
        </p:nvSpPr>
        <p:spPr>
          <a:xfrm>
            <a:off x="6000750" y="41529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Generate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55C702-6336-44E0-B2BD-19FC538EEE0C}"/>
              </a:ext>
            </a:extLst>
          </p:cNvPr>
          <p:cNvSpPr>
            <a:spLocks noGrp="1"/>
          </p:cNvSpPr>
          <p:nvPr/>
        </p:nvSpPr>
        <p:spPr>
          <a:xfrm>
            <a:off x="6000750" y="4495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9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answer • tool call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1DCAD07-0FC7-4CDB-BD7E-E2075AAB36B4}"/>
              </a:ext>
            </a:extLst>
          </p:cNvPr>
          <p:cNvSpPr>
            <a:spLocks noGrp="1"/>
          </p:cNvSpPr>
          <p:nvPr/>
        </p:nvSpPr>
        <p:spPr>
          <a:xfrm>
            <a:off x="7562850" y="4038600"/>
            <a:ext cx="1390650" cy="7810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35D105-57B5-4049-A6E8-7C9F22C53AEE}"/>
              </a:ext>
            </a:extLst>
          </p:cNvPr>
          <p:cNvSpPr>
            <a:spLocks noGrp="1"/>
          </p:cNvSpPr>
          <p:nvPr/>
        </p:nvSpPr>
        <p:spPr>
          <a:xfrm>
            <a:off x="7562850" y="4038600"/>
            <a:ext cx="57150" cy="78105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6BD3AB-0798-4502-913D-9B6E8C0DEB54}"/>
              </a:ext>
            </a:extLst>
          </p:cNvPr>
          <p:cNvSpPr>
            <a:spLocks noGrp="1"/>
          </p:cNvSpPr>
          <p:nvPr/>
        </p:nvSpPr>
        <p:spPr>
          <a:xfrm>
            <a:off x="7715250" y="4152900"/>
            <a:ext cx="1123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Evaluate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549BCC-AE87-437E-8063-B1A238468D60}"/>
              </a:ext>
            </a:extLst>
          </p:cNvPr>
          <p:cNvSpPr>
            <a:spLocks noGrp="1"/>
          </p:cNvSpPr>
          <p:nvPr/>
        </p:nvSpPr>
        <p:spPr>
          <a:xfrm>
            <a:off x="7715250" y="4495800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25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faithfulness • policy</a:t>
            </a:r>
          </a:p>
        </p:txBody>
      </p:sp>
      <p:cxnSp>
        <p:nvCxnSpPr>
          <p:cNvPr id="47" name="Straight Arrow Connector 46"/>
          <p:cNvCxnSpPr>
            <a:stCxn id="27" idx="3"/>
            <a:endCxn id="31" idx="1"/>
          </p:cNvCxnSpPr>
          <p:nvPr/>
        </p:nvCxnSpPr>
        <p:spPr>
          <a:xfrm>
            <a:off x="2095500" y="4429125"/>
            <a:ext cx="32385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48" name="Straight Arrow Connector 47"/>
          <p:cNvCxnSpPr>
            <a:stCxn id="31" idx="3"/>
            <a:endCxn id="35" idx="1"/>
          </p:cNvCxnSpPr>
          <p:nvPr/>
        </p:nvCxnSpPr>
        <p:spPr>
          <a:xfrm>
            <a:off x="3810000" y="4429125"/>
            <a:ext cx="32385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49" name="Straight Arrow Connector 48"/>
          <p:cNvCxnSpPr>
            <a:stCxn id="35" idx="3"/>
            <a:endCxn id="39" idx="1"/>
          </p:cNvCxnSpPr>
          <p:nvPr/>
        </p:nvCxnSpPr>
        <p:spPr>
          <a:xfrm>
            <a:off x="5524500" y="4429125"/>
            <a:ext cx="32385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50" name="Straight Arrow Connector 49"/>
          <p:cNvCxnSpPr>
            <a:stCxn id="39" idx="3"/>
            <a:endCxn id="43" idx="1"/>
          </p:cNvCxnSpPr>
          <p:nvPr/>
        </p:nvCxnSpPr>
        <p:spPr>
          <a:xfrm>
            <a:off x="7239000" y="4429125"/>
            <a:ext cx="323850" cy="0"/>
          </a:xfrm>
          <a:prstGeom prst="straightConnector1">
            <a:avLst/>
          </a:prstGeom>
          <a:ln w="19050">
            <a:solidFill>
              <a:srgbClr val="67B7FF"/>
            </a:solidFill>
            <a:prstDash val="solid"/>
            <a:tailEnd type="triangle" w="sm" len="sm"/>
          </a:ln>
        </p:spPr>
      </p:cxnSp>
      <p:cxnSp>
        <p:nvCxnSpPr>
          <p:cNvPr id="51" name="Connector: Elbow 50"/>
          <p:cNvCxnSpPr>
            <a:stCxn id="19" idx="2"/>
            <a:endCxn id="31" idx="0"/>
          </p:cNvCxnSpPr>
          <p:nvPr/>
        </p:nvCxnSpPr>
        <p:spPr>
          <a:xfrm flipH="1">
            <a:off x="3114675" y="2819400"/>
            <a:ext cx="3429000" cy="1219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67B7FF"/>
            </a:solidFill>
            <a:prstDash val="solid"/>
            <a:tailEnd type="triangle" w="sm" len="sm"/>
          </a:ln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C9D8B9F-2137-40FA-94D4-7D355CA2E004}"/>
              </a:ext>
            </a:extLst>
          </p:cNvPr>
          <p:cNvSpPr>
            <a:spLocks noGrp="1"/>
          </p:cNvSpPr>
          <p:nvPr/>
        </p:nvSpPr>
        <p:spPr>
          <a:xfrm>
            <a:off x="9525000" y="2076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87" lnSpcReduction="20000"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Two independent quality gates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92923D-3185-4B8A-B2D1-E72C2ABDA68C}"/>
              </a:ext>
            </a:extLst>
          </p:cNvPr>
          <p:cNvSpPr>
            <a:spLocks noGrp="1"/>
          </p:cNvSpPr>
          <p:nvPr/>
        </p:nvSpPr>
        <p:spPr>
          <a:xfrm>
            <a:off x="9525000" y="25812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CF5267-B74C-4B6E-9091-6650C1736F6C}"/>
              </a:ext>
            </a:extLst>
          </p:cNvPr>
          <p:cNvSpPr>
            <a:spLocks noGrp="1"/>
          </p:cNvSpPr>
          <p:nvPr/>
        </p:nvSpPr>
        <p:spPr>
          <a:xfrm>
            <a:off x="9753600" y="25146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Can we retrieve the right evidence?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9EC50D-2DE7-41F0-AFDB-6D7907CFB759}"/>
              </a:ext>
            </a:extLst>
          </p:cNvPr>
          <p:cNvSpPr>
            <a:spLocks noGrp="1"/>
          </p:cNvSpPr>
          <p:nvPr/>
        </p:nvSpPr>
        <p:spPr>
          <a:xfrm>
            <a:off x="9525000" y="32670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974F16-44D5-4457-849A-86269591AFA5}"/>
              </a:ext>
            </a:extLst>
          </p:cNvPr>
          <p:cNvSpPr>
            <a:spLocks noGrp="1"/>
          </p:cNvSpPr>
          <p:nvPr/>
        </p:nvSpPr>
        <p:spPr>
          <a:xfrm>
            <a:off x="9753600" y="32004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Can the model use it faithfully?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FC17E2D-5E87-4825-A0D7-CCCDC4DC32E4}"/>
              </a:ext>
            </a:extLst>
          </p:cNvPr>
          <p:cNvSpPr>
            <a:spLocks noGrp="1"/>
          </p:cNvSpPr>
          <p:nvPr/>
        </p:nvSpPr>
        <p:spPr>
          <a:xfrm>
            <a:off x="9525000" y="39528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C43F11-82E6-422A-8FAA-955CEF67DAB6}"/>
              </a:ext>
            </a:extLst>
          </p:cNvPr>
          <p:cNvSpPr>
            <a:spLocks noGrp="1"/>
          </p:cNvSpPr>
          <p:nvPr/>
        </p:nvSpPr>
        <p:spPr>
          <a:xfrm>
            <a:off x="9753600" y="38862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Are access controls preserved?</a:t>
            </a:r>
          </a:p>
        </p:txBody>
      </p:sp>
    </p:spTree>
    <p:extLst>
      <p:ext uri="{BB962C8B-B14F-4D97-AF65-F5344CB8AC3E}">
        <p14:creationId xmlns:p14="http://schemas.microsoft.com/office/powerpoint/2010/main" val="416834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A83A02C-9564-407B-8089-7365CA653DC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BUILD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D25D84-0093-46E9-9C84-6D8BD688FAFA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Use the least invasive adaptation that closes the quality gap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A448985-76AF-4A4C-8898-10A88493B43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FFA5FC-E388-4FB5-BB28-D062BC00650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Sources: Microsoft Azure Architecture Center [2]; NIST AI 600-1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3240B-EAAE-4FB5-94CD-F096F7E0C4C5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0CBD6-B121-4227-90C2-CA4502861CF3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FD0CAE4-B5A3-417A-99FF-D97B8744BFA3}"/>
              </a:ext>
            </a:extLst>
          </p:cNvPr>
          <p:cNvSpPr>
            <a:spLocks noGrp="1"/>
          </p:cNvSpPr>
          <p:nvPr/>
        </p:nvSpPr>
        <p:spPr>
          <a:xfrm>
            <a:off x="704850" y="2324100"/>
            <a:ext cx="2266950" cy="0"/>
          </a:xfrm>
          <a:prstGeom prst="line">
            <a:avLst/>
          </a:prstGeom>
          <a:noFill/>
          <a:ln w="2857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35092D-639B-413B-8664-04EC5E1E5EC0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16514-7AB3-4FF1-8D68-88EB8666848F}"/>
              </a:ext>
            </a:extLst>
          </p:cNvPr>
          <p:cNvSpPr>
            <a:spLocks noGrp="1"/>
          </p:cNvSpPr>
          <p:nvPr/>
        </p:nvSpPr>
        <p:spPr>
          <a:xfrm>
            <a:off x="704850" y="3009900"/>
            <a:ext cx="2266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Clarify task, format, examples, and constraints.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0BF05-A96E-4473-A016-9D95008D669C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Start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CC2ED8-39B1-4550-A99C-03762E01C151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50E451-4602-4C82-8EE2-BC518880E07F}"/>
              </a:ext>
            </a:extLst>
          </p:cNvPr>
          <p:cNvSpPr>
            <a:spLocks noGrp="1"/>
          </p:cNvSpPr>
          <p:nvPr/>
        </p:nvSpPr>
        <p:spPr>
          <a:xfrm>
            <a:off x="3048000" y="18097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AC6D736-8818-4699-9C6C-42970AD3C71B}"/>
              </a:ext>
            </a:extLst>
          </p:cNvPr>
          <p:cNvSpPr>
            <a:spLocks noGrp="1"/>
          </p:cNvSpPr>
          <p:nvPr/>
        </p:nvSpPr>
        <p:spPr>
          <a:xfrm>
            <a:off x="3048000" y="2324100"/>
            <a:ext cx="2266950" cy="0"/>
          </a:xfrm>
          <a:prstGeom prst="line">
            <a:avLst/>
          </a:prstGeom>
          <a:noFill/>
          <a:ln w="2857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E8A8D-EB93-4ABA-B79C-DCBF2CB58E12}"/>
              </a:ext>
            </a:extLst>
          </p:cNvPr>
          <p:cNvSpPr>
            <a:spLocks noGrp="1"/>
          </p:cNvSpPr>
          <p:nvPr/>
        </p:nvSpPr>
        <p:spPr>
          <a:xfrm>
            <a:off x="3048000" y="2571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RAG / 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42402-BECC-4DC5-9940-2BB71E83C4B1}"/>
              </a:ext>
            </a:extLst>
          </p:cNvPr>
          <p:cNvSpPr>
            <a:spLocks noGrp="1"/>
          </p:cNvSpPr>
          <p:nvPr/>
        </p:nvSpPr>
        <p:spPr>
          <a:xfrm>
            <a:off x="3048000" y="3009900"/>
            <a:ext cx="2266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Inject current knowledge or execute governed actions.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A9BD7-3AA6-4CE4-9A49-A12990F376AF}"/>
              </a:ext>
            </a:extLst>
          </p:cNvPr>
          <p:cNvSpPr>
            <a:spLocks noGrp="1"/>
          </p:cNvSpPr>
          <p:nvPr/>
        </p:nvSpPr>
        <p:spPr>
          <a:xfrm>
            <a:off x="3048000" y="43053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Knowledge gap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6EB8DD-1ED1-44EF-BE8C-6EB7773E476B}"/>
              </a:ext>
            </a:extLst>
          </p:cNvPr>
          <p:cNvSpPr>
            <a:spLocks noGrp="1"/>
          </p:cNvSpPr>
          <p:nvPr/>
        </p:nvSpPr>
        <p:spPr>
          <a:xfrm>
            <a:off x="5334000" y="2914650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89B7C5-C944-4B35-BB10-65FED25F88BB}"/>
              </a:ext>
            </a:extLst>
          </p:cNvPr>
          <p:cNvSpPr>
            <a:spLocks noGrp="1"/>
          </p:cNvSpPr>
          <p:nvPr/>
        </p:nvSpPr>
        <p:spPr>
          <a:xfrm>
            <a:off x="5391150" y="18097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EDB70A4-F729-45E7-B6D4-AA996803F669}"/>
              </a:ext>
            </a:extLst>
          </p:cNvPr>
          <p:cNvSpPr>
            <a:spLocks noGrp="1"/>
          </p:cNvSpPr>
          <p:nvPr/>
        </p:nvSpPr>
        <p:spPr>
          <a:xfrm>
            <a:off x="5391150" y="2324100"/>
            <a:ext cx="2266950" cy="0"/>
          </a:xfrm>
          <a:prstGeom prst="line">
            <a:avLst/>
          </a:prstGeom>
          <a:noFill/>
          <a:ln w="2857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AD1FA1-5363-45D3-BE1D-45D6B96CAB43}"/>
              </a:ext>
            </a:extLst>
          </p:cNvPr>
          <p:cNvSpPr>
            <a:spLocks noGrp="1"/>
          </p:cNvSpPr>
          <p:nvPr/>
        </p:nvSpPr>
        <p:spPr>
          <a:xfrm>
            <a:off x="5391150" y="2571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FINE-TUNE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18981D-340A-4814-A83E-1A3D16C58BFA}"/>
              </a:ext>
            </a:extLst>
          </p:cNvPr>
          <p:cNvSpPr>
            <a:spLocks noGrp="1"/>
          </p:cNvSpPr>
          <p:nvPr/>
        </p:nvSpPr>
        <p:spPr>
          <a:xfrm>
            <a:off x="5391150" y="3009900"/>
            <a:ext cx="2266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Shift behavior, style, or narrow task performance.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00D673-88D2-4382-801E-D9E113CC99ED}"/>
              </a:ext>
            </a:extLst>
          </p:cNvPr>
          <p:cNvSpPr>
            <a:spLocks noGrp="1"/>
          </p:cNvSpPr>
          <p:nvPr/>
        </p:nvSpPr>
        <p:spPr>
          <a:xfrm>
            <a:off x="5391150" y="43053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Behavior gap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2BA82E-3B9B-4972-BD6F-FD1CB5AD44C4}"/>
              </a:ext>
            </a:extLst>
          </p:cNvPr>
          <p:cNvSpPr>
            <a:spLocks noGrp="1"/>
          </p:cNvSpPr>
          <p:nvPr/>
        </p:nvSpPr>
        <p:spPr>
          <a:xfrm>
            <a:off x="7677150" y="2914650"/>
            <a:ext cx="342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225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ED0279-8CDA-4737-B528-ED3270F1FD0E}"/>
              </a:ext>
            </a:extLst>
          </p:cNvPr>
          <p:cNvSpPr>
            <a:spLocks noGrp="1"/>
          </p:cNvSpPr>
          <p:nvPr/>
        </p:nvSpPr>
        <p:spPr>
          <a:xfrm>
            <a:off x="7734300" y="1809750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22FEDD7-8520-42C9-BECC-A925448B98E1}"/>
              </a:ext>
            </a:extLst>
          </p:cNvPr>
          <p:cNvSpPr>
            <a:spLocks noGrp="1"/>
          </p:cNvSpPr>
          <p:nvPr/>
        </p:nvSpPr>
        <p:spPr>
          <a:xfrm>
            <a:off x="7734300" y="2324100"/>
            <a:ext cx="2266950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80B5CD-DA97-4A1D-B191-6817E24FDD2B}"/>
              </a:ext>
            </a:extLst>
          </p:cNvPr>
          <p:cNvSpPr>
            <a:spLocks noGrp="1"/>
          </p:cNvSpPr>
          <p:nvPr/>
        </p:nvSpPr>
        <p:spPr>
          <a:xfrm>
            <a:off x="7734300" y="257175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TRAIN / PRETRAIN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7E729B-1500-4B80-8BA6-81ABD940D1DE}"/>
              </a:ext>
            </a:extLst>
          </p:cNvPr>
          <p:cNvSpPr>
            <a:spLocks noGrp="1"/>
          </p:cNvSpPr>
          <p:nvPr/>
        </p:nvSpPr>
        <p:spPr>
          <a:xfrm>
            <a:off x="7734300" y="3009900"/>
            <a:ext cx="22669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Create a domain model when data, capital, and control justify it.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8D75F2-C170-4707-B910-1BDDFE11FA3D}"/>
              </a:ext>
            </a:extLst>
          </p:cNvPr>
          <p:cNvSpPr>
            <a:spLocks noGrp="1"/>
          </p:cNvSpPr>
          <p:nvPr/>
        </p:nvSpPr>
        <p:spPr>
          <a:xfrm>
            <a:off x="7734300" y="430530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Strategic asset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01C9462-9D5E-4A53-87A0-9CB6F90F1A43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92964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3506CD-24D9-46C8-A64F-672AF3E6FD5C}"/>
              </a:ext>
            </a:extLst>
          </p:cNvPr>
          <p:cNvSpPr>
            <a:spLocks noGrp="1"/>
          </p:cNvSpPr>
          <p:nvPr/>
        </p:nvSpPr>
        <p:spPr>
          <a:xfrm>
            <a:off x="704850" y="5162550"/>
            <a:ext cx="9296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Increasing data, MLOps complexity, regression risk, and governance burden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4CACDD-7A2A-4765-B75C-5112B2983BE2}"/>
              </a:ext>
            </a:extLst>
          </p:cNvPr>
          <p:cNvSpPr>
            <a:spLocks noGrp="1"/>
          </p:cNvSpPr>
          <p:nvPr/>
        </p:nvSpPr>
        <p:spPr>
          <a:xfrm>
            <a:off x="1619250" y="5829300"/>
            <a:ext cx="847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69F0C0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9F0C0"/>
                </a:solidFill>
                <a:latin typeface="Aptos"/>
                <a:ea typeface="Aptos"/>
                <a:cs typeface="Aptos"/>
              </a:rPr>
              <a:t>Do not fine-tune facts that change weekly. Do not use RAG to repair a behavior problem.</a:t>
            </a:r>
          </a:p>
        </p:txBody>
      </p:sp>
    </p:spTree>
    <p:extLst>
      <p:ext uri="{BB962C8B-B14F-4D97-AF65-F5344CB8AC3E}">
        <p14:creationId xmlns:p14="http://schemas.microsoft.com/office/powerpoint/2010/main" val="191418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CFE64D11-07F9-497F-8175-4D5FCE22765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DEPLOY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911F41-05D8-47F8-9CEB-72F267658ECA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597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Deployment topology is a control-plane decision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98DF195-2625-40D7-8644-54B61E1DDE8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ED5B1-4054-486A-9633-1C998D6CB73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Source: NIST AI 600-1 [1]; model deployment patterns synthesized from official cloud guidance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7AA36-846E-4A63-8369-C2F0994D40D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B8BF2B-36B5-4523-A151-2A5E4319295C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MODEL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137EB1-1EBA-480E-B470-DFF6BE5F589B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2324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Fastest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69AAB4-5319-4B19-9A5F-39E93BF025B2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2324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Provider operates runtime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882052B-32FB-49D2-B83A-F4C3D6BFD3DB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2324100" cy="0"/>
          </a:xfrm>
          <a:prstGeom prst="line">
            <a:avLst/>
          </a:prstGeom>
          <a:noFill/>
          <a:ln w="1905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59304D-B719-4189-8E8B-9E64B80B4846}"/>
              </a:ext>
            </a:extLst>
          </p:cNvPr>
          <p:cNvSpPr>
            <a:spLocks noGrp="1"/>
          </p:cNvSpPr>
          <p:nvPr/>
        </p:nvSpPr>
        <p:spPr>
          <a:xfrm>
            <a:off x="704850" y="35718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316126-BE35-4126-9B23-F4C0FB65A452}"/>
              </a:ext>
            </a:extLst>
          </p:cNvPr>
          <p:cNvSpPr>
            <a:spLocks noGrp="1"/>
          </p:cNvSpPr>
          <p:nvPr/>
        </p:nvSpPr>
        <p:spPr>
          <a:xfrm>
            <a:off x="933450" y="35052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67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Lowest platform burden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4FAEA-B3E0-43DE-9F17-4D0F6D7D9E36}"/>
              </a:ext>
            </a:extLst>
          </p:cNvPr>
          <p:cNvSpPr>
            <a:spLocks noGrp="1"/>
          </p:cNvSpPr>
          <p:nvPr/>
        </p:nvSpPr>
        <p:spPr>
          <a:xfrm>
            <a:off x="704850" y="42195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6EA104-01D3-4C17-8202-B28964CD1C63}"/>
              </a:ext>
            </a:extLst>
          </p:cNvPr>
          <p:cNvSpPr>
            <a:spLocks noGrp="1"/>
          </p:cNvSpPr>
          <p:nvPr/>
        </p:nvSpPr>
        <p:spPr>
          <a:xfrm>
            <a:off x="933450" y="41529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Data crosses trust boundary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878EAF-4433-495E-A18A-7D24855E8540}"/>
              </a:ext>
            </a:extLst>
          </p:cNvPr>
          <p:cNvSpPr>
            <a:spLocks noGrp="1"/>
          </p:cNvSpPr>
          <p:nvPr/>
        </p:nvSpPr>
        <p:spPr>
          <a:xfrm>
            <a:off x="704850" y="48672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F76277-61C3-4452-B2CA-6CF2BBC60810}"/>
              </a:ext>
            </a:extLst>
          </p:cNvPr>
          <p:cNvSpPr>
            <a:spLocks noGrp="1"/>
          </p:cNvSpPr>
          <p:nvPr/>
        </p:nvSpPr>
        <p:spPr>
          <a:xfrm>
            <a:off x="933450" y="48006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67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Usage-based economics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D7181F-3620-4705-8233-35A33395E9A0}"/>
              </a:ext>
            </a:extLst>
          </p:cNvPr>
          <p:cNvSpPr>
            <a:spLocks noGrp="1"/>
          </p:cNvSpPr>
          <p:nvPr/>
        </p:nvSpPr>
        <p:spPr>
          <a:xfrm>
            <a:off x="3448050" y="1619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MANAGED ENDPOINT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0101CD-25BD-411E-8820-199642AC0E21}"/>
              </a:ext>
            </a:extLst>
          </p:cNvPr>
          <p:cNvSpPr>
            <a:spLocks noGrp="1"/>
          </p:cNvSpPr>
          <p:nvPr/>
        </p:nvSpPr>
        <p:spPr>
          <a:xfrm>
            <a:off x="3448050" y="2114550"/>
            <a:ext cx="2324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Balanced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2BA37C-48DD-4578-95D5-13CBEF945F3D}"/>
              </a:ext>
            </a:extLst>
          </p:cNvPr>
          <p:cNvSpPr>
            <a:spLocks noGrp="1"/>
          </p:cNvSpPr>
          <p:nvPr/>
        </p:nvSpPr>
        <p:spPr>
          <a:xfrm>
            <a:off x="3448050" y="2647950"/>
            <a:ext cx="2324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Dedicated service in cloud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91B7BC5-3EA8-4EDA-923B-B2C5CF2B7C14}"/>
              </a:ext>
            </a:extLst>
          </p:cNvPr>
          <p:cNvSpPr>
            <a:spLocks noGrp="1"/>
          </p:cNvSpPr>
          <p:nvPr/>
        </p:nvSpPr>
        <p:spPr>
          <a:xfrm>
            <a:off x="3448050" y="3238500"/>
            <a:ext cx="2324100" cy="0"/>
          </a:xfrm>
          <a:prstGeom prst="line">
            <a:avLst/>
          </a:prstGeom>
          <a:noFill/>
          <a:ln w="1905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EB1514-0525-477B-B207-2BE9CC799398}"/>
              </a:ext>
            </a:extLst>
          </p:cNvPr>
          <p:cNvSpPr>
            <a:spLocks noGrp="1"/>
          </p:cNvSpPr>
          <p:nvPr/>
        </p:nvSpPr>
        <p:spPr>
          <a:xfrm>
            <a:off x="3448050" y="35718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78008-1DD3-4548-9276-57D18C17D893}"/>
              </a:ext>
            </a:extLst>
          </p:cNvPr>
          <p:cNvSpPr>
            <a:spLocks noGrp="1"/>
          </p:cNvSpPr>
          <p:nvPr/>
        </p:nvSpPr>
        <p:spPr>
          <a:xfrm>
            <a:off x="3676650" y="35052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More network/data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C9243-D1B1-4F70-90C7-D6CB5BEE8F9D}"/>
              </a:ext>
            </a:extLst>
          </p:cNvPr>
          <p:cNvSpPr>
            <a:spLocks noGrp="1"/>
          </p:cNvSpPr>
          <p:nvPr/>
        </p:nvSpPr>
        <p:spPr>
          <a:xfrm>
            <a:off x="3448050" y="42195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51F137-7F6B-44DE-AAB2-295004AF30D5}"/>
              </a:ext>
            </a:extLst>
          </p:cNvPr>
          <p:cNvSpPr>
            <a:spLocks noGrp="1"/>
          </p:cNvSpPr>
          <p:nvPr/>
        </p:nvSpPr>
        <p:spPr>
          <a:xfrm>
            <a:off x="3676650" y="41529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Elastic operations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5062AA-8469-43BC-8A18-1EF03288E733}"/>
              </a:ext>
            </a:extLst>
          </p:cNvPr>
          <p:cNvSpPr>
            <a:spLocks noGrp="1"/>
          </p:cNvSpPr>
          <p:nvPr/>
        </p:nvSpPr>
        <p:spPr>
          <a:xfrm>
            <a:off x="3448050" y="48672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C65C54-2A3E-4ED0-AA44-8E4B16C62629}"/>
              </a:ext>
            </a:extLst>
          </p:cNvPr>
          <p:cNvSpPr>
            <a:spLocks noGrp="1"/>
          </p:cNvSpPr>
          <p:nvPr/>
        </p:nvSpPr>
        <p:spPr>
          <a:xfrm>
            <a:off x="3676650" y="48006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Cloud dependency remains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BD4655-DEE9-4177-B9BF-66197FF8BA9A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SELF-HOSTED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0C4ABB-49F7-455A-B5CB-316C6ECDB8FF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324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Maximum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1E19BB-48A0-4403-BBD5-928A70E2FEE6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2324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Enterprise runs serving stack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7CB76CBE-9ED3-4E15-B761-694810A5AE63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2324100" cy="0"/>
          </a:xfrm>
          <a:prstGeom prst="line">
            <a:avLst/>
          </a:prstGeom>
          <a:noFill/>
          <a:ln w="1905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CAA9CF-B808-4BF7-B957-87D44D2B787E}"/>
              </a:ext>
            </a:extLst>
          </p:cNvPr>
          <p:cNvSpPr>
            <a:spLocks noGrp="1"/>
          </p:cNvSpPr>
          <p:nvPr/>
        </p:nvSpPr>
        <p:spPr>
          <a:xfrm>
            <a:off x="6191250" y="35718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29D93D-B720-4A36-A4DC-CA7D1910B802}"/>
              </a:ext>
            </a:extLst>
          </p:cNvPr>
          <p:cNvSpPr>
            <a:spLocks noGrp="1"/>
          </p:cNvSpPr>
          <p:nvPr/>
        </p:nvSpPr>
        <p:spPr>
          <a:xfrm>
            <a:off x="6419850" y="35052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Control over model +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FD5889-0F7F-4B13-B858-4DC499DEAE3E}"/>
              </a:ext>
            </a:extLst>
          </p:cNvPr>
          <p:cNvSpPr>
            <a:spLocks noGrp="1"/>
          </p:cNvSpPr>
          <p:nvPr/>
        </p:nvSpPr>
        <p:spPr>
          <a:xfrm>
            <a:off x="6191250" y="42195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01640D-AC09-41BC-9AED-0F902FA256C6}"/>
              </a:ext>
            </a:extLst>
          </p:cNvPr>
          <p:cNvSpPr>
            <a:spLocks noGrp="1"/>
          </p:cNvSpPr>
          <p:nvPr/>
        </p:nvSpPr>
        <p:spPr>
          <a:xfrm>
            <a:off x="6419850" y="41529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GPU/ops expertise required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7AAA81-BABF-45B2-8516-7E387F4AEE8E}"/>
              </a:ext>
            </a:extLst>
          </p:cNvPr>
          <p:cNvSpPr>
            <a:spLocks noGrp="1"/>
          </p:cNvSpPr>
          <p:nvPr/>
        </p:nvSpPr>
        <p:spPr>
          <a:xfrm>
            <a:off x="6191250" y="48672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ED2F9B-7CB2-4A5D-A4FD-7D97BCD423C7}"/>
              </a:ext>
            </a:extLst>
          </p:cNvPr>
          <p:cNvSpPr>
            <a:spLocks noGrp="1"/>
          </p:cNvSpPr>
          <p:nvPr/>
        </p:nvSpPr>
        <p:spPr>
          <a:xfrm>
            <a:off x="6419850" y="48006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Capacity becomes your problem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220417-5513-478D-A2D1-0F5BC5D0B3C7}"/>
              </a:ext>
            </a:extLst>
          </p:cNvPr>
          <p:cNvSpPr>
            <a:spLocks noGrp="1"/>
          </p:cNvSpPr>
          <p:nvPr/>
        </p:nvSpPr>
        <p:spPr>
          <a:xfrm>
            <a:off x="8934450" y="1619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B59C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B59CFF"/>
                </a:solidFill>
                <a:latin typeface="Consolas"/>
                <a:ea typeface="Consolas"/>
                <a:cs typeface="Consolas"/>
              </a:rPr>
              <a:t>EDGE / DEVICE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B54F05-7994-4479-9793-E788D7F6E534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2324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Local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648928-DA0D-4C59-BE5E-6C1D501AA444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2324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Runtime near the user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80D914C5-5920-43EF-AF5F-739CFBC1796C}"/>
              </a:ext>
            </a:extLst>
          </p:cNvPr>
          <p:cNvSpPr>
            <a:spLocks noGrp="1"/>
          </p:cNvSpPr>
          <p:nvPr/>
        </p:nvSpPr>
        <p:spPr>
          <a:xfrm>
            <a:off x="8934450" y="3238500"/>
            <a:ext cx="2324100" cy="0"/>
          </a:xfrm>
          <a:prstGeom prst="line">
            <a:avLst/>
          </a:prstGeom>
          <a:noFill/>
          <a:ln w="19050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8A096B-ACB7-43D4-A266-516B61FA3E80}"/>
              </a:ext>
            </a:extLst>
          </p:cNvPr>
          <p:cNvSpPr>
            <a:spLocks noGrp="1"/>
          </p:cNvSpPr>
          <p:nvPr/>
        </p:nvSpPr>
        <p:spPr>
          <a:xfrm>
            <a:off x="8934450" y="35718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75F99-846F-4452-9701-7AB7064BE938}"/>
              </a:ext>
            </a:extLst>
          </p:cNvPr>
          <p:cNvSpPr>
            <a:spLocks noGrp="1"/>
          </p:cNvSpPr>
          <p:nvPr/>
        </p:nvSpPr>
        <p:spPr>
          <a:xfrm>
            <a:off x="9163050" y="35052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Offline and low data movement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D5DDD5-DEC1-4D36-B593-829FC45090F4}"/>
              </a:ext>
            </a:extLst>
          </p:cNvPr>
          <p:cNvSpPr>
            <a:spLocks noGrp="1"/>
          </p:cNvSpPr>
          <p:nvPr/>
        </p:nvSpPr>
        <p:spPr>
          <a:xfrm>
            <a:off x="8934450" y="42195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991026-BFD4-4C01-8BFA-A338A82F4EA3}"/>
              </a:ext>
            </a:extLst>
          </p:cNvPr>
          <p:cNvSpPr>
            <a:spLocks noGrp="1"/>
          </p:cNvSpPr>
          <p:nvPr/>
        </p:nvSpPr>
        <p:spPr>
          <a:xfrm>
            <a:off x="9163050" y="41529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Tight memory/power limits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A8382E-E048-4E15-81C5-E9D9FF37FE2C}"/>
              </a:ext>
            </a:extLst>
          </p:cNvPr>
          <p:cNvSpPr>
            <a:spLocks noGrp="1"/>
          </p:cNvSpPr>
          <p:nvPr/>
        </p:nvSpPr>
        <p:spPr>
          <a:xfrm>
            <a:off x="8934450" y="48672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7F8F28-37D4-452E-94B8-7411F6CB9012}"/>
              </a:ext>
            </a:extLst>
          </p:cNvPr>
          <p:cNvSpPr>
            <a:spLocks noGrp="1"/>
          </p:cNvSpPr>
          <p:nvPr/>
        </p:nvSpPr>
        <p:spPr>
          <a:xfrm>
            <a:off x="9163050" y="48006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667" lnSpcReduction="10000"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Update fleet must be managed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22AC5A-94AD-4DB2-BC9E-D65DA9E865C0}"/>
              </a:ext>
            </a:extLst>
          </p:cNvPr>
          <p:cNvSpPr>
            <a:spLocks noGrp="1"/>
          </p:cNvSpPr>
          <p:nvPr/>
        </p:nvSpPr>
        <p:spPr>
          <a:xfrm>
            <a:off x="704850" y="5619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Decision inputs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382F035-D503-4B47-952D-B3F0B079A845}"/>
              </a:ext>
            </a:extLst>
          </p:cNvPr>
          <p:cNvSpPr>
            <a:spLocks noGrp="1"/>
          </p:cNvSpPr>
          <p:nvPr/>
        </p:nvSpPr>
        <p:spPr>
          <a:xfrm>
            <a:off x="2571750" y="5638800"/>
            <a:ext cx="885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data boundary  •  peak demand  •  model size  •  skills  •  update cadence  •  availability target</a:t>
            </a:r>
          </a:p>
        </p:txBody>
      </p:sp>
    </p:spTree>
    <p:extLst>
      <p:ext uri="{BB962C8B-B14F-4D97-AF65-F5344CB8AC3E}">
        <p14:creationId xmlns:p14="http://schemas.microsoft.com/office/powerpoint/2010/main" val="921801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2072380-6B72-4B07-B838-0E53506B6A0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1 · OPERATE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75E19B-9AB2-492E-9E65-C85CF0518065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Production readiness means proving four operating properties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78F7E42-4CA5-488E-A5EA-13FE723705E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FD1520-CE52-4A9B-985F-2B7779F2A34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Source: NIST AI 600-1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FBA36-B140-4513-B2EC-C8F50745D01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EA59F-EAD9-4385-A072-D86423C70168}"/>
              </a:ext>
            </a:extLst>
          </p:cNvPr>
          <p:cNvSpPr>
            <a:spLocks noGrp="1"/>
          </p:cNvSpPr>
          <p:nvPr/>
        </p:nvSpPr>
        <p:spPr>
          <a:xfrm>
            <a:off x="704850" y="171450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1F6AF3-84EA-46B5-8E50-ED43FB1A459B}"/>
              </a:ext>
            </a:extLst>
          </p:cNvPr>
          <p:cNvSpPr>
            <a:spLocks noGrp="1"/>
          </p:cNvSpPr>
          <p:nvPr/>
        </p:nvSpPr>
        <p:spPr>
          <a:xfrm>
            <a:off x="1409700" y="17335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69F0C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69F0C0"/>
                </a:solidFill>
                <a:latin typeface="Aptos Display"/>
                <a:ea typeface="Aptos Display"/>
                <a:cs typeface="Aptos Display"/>
              </a:rPr>
              <a:t>QUALITY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73917F-1B39-4AED-B122-870A7C01C524}"/>
              </a:ext>
            </a:extLst>
          </p:cNvPr>
          <p:cNvSpPr>
            <a:spLocks noGrp="1"/>
          </p:cNvSpPr>
          <p:nvPr/>
        </p:nvSpPr>
        <p:spPr>
          <a:xfrm>
            <a:off x="3714750" y="1733550"/>
            <a:ext cx="423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Task success • groundedness • calibration • regression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AB4799-89B5-4842-B12C-67AE36FCD32A}"/>
              </a:ext>
            </a:extLst>
          </p:cNvPr>
          <p:cNvSpPr>
            <a:spLocks noGrp="1"/>
          </p:cNvSpPr>
          <p:nvPr/>
        </p:nvSpPr>
        <p:spPr>
          <a:xfrm>
            <a:off x="8191500" y="171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1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91A39D"/>
                </a:solidFill>
                <a:latin typeface="Aptos"/>
                <a:ea typeface="Aptos"/>
                <a:cs typeface="Aptos"/>
              </a:rPr>
              <a:t>Can we prove it works on representative cases?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00895BF-8CE6-46BF-97A2-E823D97A531D}"/>
              </a:ext>
            </a:extLst>
          </p:cNvPr>
          <p:cNvSpPr>
            <a:spLocks noGrp="1"/>
          </p:cNvSpPr>
          <p:nvPr/>
        </p:nvSpPr>
        <p:spPr>
          <a:xfrm>
            <a:off x="1409700" y="2343150"/>
            <a:ext cx="992505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335F45-E068-4BB9-B953-D5B9E7A42A77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D25A4-F888-43AA-AAB3-B64CB0A55636}"/>
              </a:ext>
            </a:extLst>
          </p:cNvPr>
          <p:cNvSpPr>
            <a:spLocks noGrp="1"/>
          </p:cNvSpPr>
          <p:nvPr/>
        </p:nvSpPr>
        <p:spPr>
          <a:xfrm>
            <a:off x="1409700" y="270510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02"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SAFETY + SECURITY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57EC79-017B-428D-820A-82BA36BE88A9}"/>
              </a:ext>
            </a:extLst>
          </p:cNvPr>
          <p:cNvSpPr>
            <a:spLocks noGrp="1"/>
          </p:cNvSpPr>
          <p:nvPr/>
        </p:nvSpPr>
        <p:spPr>
          <a:xfrm>
            <a:off x="3714750" y="2705100"/>
            <a:ext cx="423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Threat model • prompt injection • privacy • output controls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87F889-CF19-43C4-B4F0-C485F0DFF44C}"/>
              </a:ext>
            </a:extLst>
          </p:cNvPr>
          <p:cNvSpPr>
            <a:spLocks noGrp="1"/>
          </p:cNvSpPr>
          <p:nvPr/>
        </p:nvSpPr>
        <p:spPr>
          <a:xfrm>
            <a:off x="8191500" y="2686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1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91A39D"/>
                </a:solidFill>
                <a:latin typeface="Aptos"/>
                <a:ea typeface="Aptos"/>
                <a:cs typeface="Aptos"/>
              </a:rPr>
              <a:t>Can misuse or data leakage cross the boundary?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C85C566-D028-43D9-B6B7-555D744CA29D}"/>
              </a:ext>
            </a:extLst>
          </p:cNvPr>
          <p:cNvSpPr>
            <a:spLocks noGrp="1"/>
          </p:cNvSpPr>
          <p:nvPr/>
        </p:nvSpPr>
        <p:spPr>
          <a:xfrm>
            <a:off x="1409700" y="3314700"/>
            <a:ext cx="992505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33C2D3-4959-4C12-87E8-5A7865D20DE6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B9FC8D-3D75-48B0-B790-05762ADF55E8}"/>
              </a:ext>
            </a:extLst>
          </p:cNvPr>
          <p:cNvSpPr>
            <a:spLocks noGrp="1"/>
          </p:cNvSpPr>
          <p:nvPr/>
        </p:nvSpPr>
        <p:spPr>
          <a:xfrm>
            <a:off x="1409700" y="36766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67B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67B7FF"/>
                </a:solidFill>
                <a:latin typeface="Aptos Display"/>
                <a:ea typeface="Aptos Display"/>
                <a:cs typeface="Aptos Display"/>
              </a:rPr>
              <a:t>RELIABILITY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6D9149-5786-4555-AABC-88329A14C021}"/>
              </a:ext>
            </a:extLst>
          </p:cNvPr>
          <p:cNvSpPr>
            <a:spLocks noGrp="1"/>
          </p:cNvSpPr>
          <p:nvPr/>
        </p:nvSpPr>
        <p:spPr>
          <a:xfrm>
            <a:off x="3714750" y="3676650"/>
            <a:ext cx="423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SLOs • fallbacks • retries • version rollback • incident response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E9FD20-96C7-46BB-947F-FDBE58BAAD9B}"/>
              </a:ext>
            </a:extLst>
          </p:cNvPr>
          <p:cNvSpPr>
            <a:spLocks noGrp="1"/>
          </p:cNvSpPr>
          <p:nvPr/>
        </p:nvSpPr>
        <p:spPr>
          <a:xfrm>
            <a:off x="8191500" y="3657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1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91A39D"/>
                </a:solidFill>
                <a:latin typeface="Aptos"/>
                <a:ea typeface="Aptos"/>
                <a:cs typeface="Aptos"/>
              </a:rPr>
              <a:t>What happens when a dependency or model fails?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40F845A-A6FD-4B32-83E3-ACCD109DCD1E}"/>
              </a:ext>
            </a:extLst>
          </p:cNvPr>
          <p:cNvSpPr>
            <a:spLocks noGrp="1"/>
          </p:cNvSpPr>
          <p:nvPr/>
        </p:nvSpPr>
        <p:spPr>
          <a:xfrm>
            <a:off x="1409700" y="4286250"/>
            <a:ext cx="992505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9995A8-FF25-427C-B301-6B2E36FD3EC3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47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4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6D5B6D-29D3-4495-9A0D-58FAC2CDEF57}"/>
              </a:ext>
            </a:extLst>
          </p:cNvPr>
          <p:cNvSpPr>
            <a:spLocks noGrp="1"/>
          </p:cNvSpPr>
          <p:nvPr/>
        </p:nvSpPr>
        <p:spPr>
          <a:xfrm>
            <a:off x="1409700" y="464820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FFB34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B347"/>
                </a:solidFill>
                <a:latin typeface="Aptos Display"/>
                <a:ea typeface="Aptos Display"/>
                <a:cs typeface="Aptos Display"/>
              </a:rPr>
              <a:t>ECONOMICS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AD2876-EA0D-4143-BE1C-0D6415A92244}"/>
              </a:ext>
            </a:extLst>
          </p:cNvPr>
          <p:cNvSpPr>
            <a:spLocks noGrp="1"/>
          </p:cNvSpPr>
          <p:nvPr/>
        </p:nvSpPr>
        <p:spPr>
          <a:xfrm>
            <a:off x="3714750" y="4648200"/>
            <a:ext cx="4238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Token budget • utilization • caching • routing • unit cost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977C59-E4CA-4474-803C-D6C916E482F1}"/>
              </a:ext>
            </a:extLst>
          </p:cNvPr>
          <p:cNvSpPr>
            <a:spLocks noGrp="1"/>
          </p:cNvSpPr>
          <p:nvPr/>
        </p:nvSpPr>
        <p:spPr>
          <a:xfrm>
            <a:off x="8191500" y="4629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1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91A39D"/>
                </a:solidFill>
                <a:latin typeface="Aptos"/>
                <a:ea typeface="Aptos"/>
                <a:cs typeface="Aptos"/>
              </a:rPr>
              <a:t>Will the workload remain affordable at peak volume?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2B1D1717-2AD9-4CD1-BD37-1F7195B618B3}"/>
              </a:ext>
            </a:extLst>
          </p:cNvPr>
          <p:cNvSpPr>
            <a:spLocks noGrp="1"/>
          </p:cNvSpPr>
          <p:nvPr/>
        </p:nvSpPr>
        <p:spPr>
          <a:xfrm>
            <a:off x="1409700" y="5257800"/>
            <a:ext cx="992505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8B01BE-C18C-4B71-8197-4EA38B9CDB8E}"/>
              </a:ext>
            </a:extLst>
          </p:cNvPr>
          <p:cNvSpPr>
            <a:spLocks noGrp="1"/>
          </p:cNvSpPr>
          <p:nvPr/>
        </p:nvSpPr>
        <p:spPr>
          <a:xfrm>
            <a:off x="1428750" y="57626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106"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A launch gate is evidence, ownership, thresholds, and a response plan — not a checklist alone.</a:t>
            </a:r>
          </a:p>
        </p:txBody>
      </p:sp>
    </p:spTree>
    <p:extLst>
      <p:ext uri="{BB962C8B-B14F-4D97-AF65-F5344CB8AC3E}">
        <p14:creationId xmlns:p14="http://schemas.microsoft.com/office/powerpoint/2010/main" val="826110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D215056-9AFD-423E-ACB1-E0FA197CD2D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2 · FOUNDATIONS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D302BC-11CA-477F-9B96-BCE9C45F9FBC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888" lnSpcReduction="20000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Language models predict tokens through repeated transformer blocks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1FBC9B9D-9DA6-43BA-9113-A536BD9F1C7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2BE792-3740-4F5E-9D51-5A4AD4523D8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Sources: Vaswani et al. [4]; Stanford CRFM [7]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AC45B-6412-4F41-B7C6-C5448AF0A1DD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476DB6-5C3F-4D73-B3FE-56E8789EB2D0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143000" cy="8191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17A092-C802-446A-8AC0-83D24E18FDBF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7150" cy="81915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B31F22-93F3-43A3-93FC-9C9AA4866C35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C8FE9F-454F-40F1-A020-824B770866B8}"/>
              </a:ext>
            </a:extLst>
          </p:cNvPr>
          <p:cNvSpPr>
            <a:spLocks noGrp="1"/>
          </p:cNvSpPr>
          <p:nvPr/>
        </p:nvSpPr>
        <p:spPr>
          <a:xfrm>
            <a:off x="838200" y="3028950"/>
            <a:ext cx="87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583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“Enterprise AI”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636A98-4379-4236-B369-DA7E4EE7A816}"/>
              </a:ext>
            </a:extLst>
          </p:cNvPr>
          <p:cNvSpPr>
            <a:spLocks noGrp="1"/>
          </p:cNvSpPr>
          <p:nvPr/>
        </p:nvSpPr>
        <p:spPr>
          <a:xfrm>
            <a:off x="2209800" y="2571750"/>
            <a:ext cx="1219200" cy="8191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999BC3-C616-49D3-BAC9-414449A724AD}"/>
              </a:ext>
            </a:extLst>
          </p:cNvPr>
          <p:cNvSpPr>
            <a:spLocks noGrp="1"/>
          </p:cNvSpPr>
          <p:nvPr/>
        </p:nvSpPr>
        <p:spPr>
          <a:xfrm>
            <a:off x="2209800" y="2571750"/>
            <a:ext cx="57150" cy="8191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4B096-D11A-41C9-831F-E853EF85FC7D}"/>
              </a:ext>
            </a:extLst>
          </p:cNvPr>
          <p:cNvSpPr>
            <a:spLocks noGrp="1"/>
          </p:cNvSpPr>
          <p:nvPr/>
        </p:nvSpPr>
        <p:spPr>
          <a:xfrm>
            <a:off x="2362200" y="2686050"/>
            <a:ext cx="95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Tokens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E47F8-EB1F-490B-A51D-A1D0654EF457}"/>
              </a:ext>
            </a:extLst>
          </p:cNvPr>
          <p:cNvSpPr>
            <a:spLocks noGrp="1"/>
          </p:cNvSpPr>
          <p:nvPr/>
        </p:nvSpPr>
        <p:spPr>
          <a:xfrm>
            <a:off x="2362200" y="302895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3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IDs + positions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CCCDA8-34B4-489C-9522-438CB974B940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1371600" cy="8191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988ACF-2298-4E8E-8FDC-85209082A7F6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57150" cy="819150"/>
          </a:xfrm>
          <a:prstGeom prst="rect">
            <a:avLst/>
          </a:prstGeom>
          <a:solidFill>
            <a:srgbClr val="B59CFF"/>
          </a:solidFill>
          <a:ln w="0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B1A5AC-6282-40DF-AB37-BEEFA4E476C4}"/>
              </a:ext>
            </a:extLst>
          </p:cNvPr>
          <p:cNvSpPr>
            <a:spLocks noGrp="1"/>
          </p:cNvSpPr>
          <p:nvPr/>
        </p:nvSpPr>
        <p:spPr>
          <a:xfrm>
            <a:off x="3962400" y="2686050"/>
            <a:ext cx="110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07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Embeddings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85BD8E-0FB7-4F46-AFCE-D89B92D432C5}"/>
              </a:ext>
            </a:extLst>
          </p:cNvPr>
          <p:cNvSpPr>
            <a:spLocks noGrp="1"/>
          </p:cNvSpPr>
          <p:nvPr/>
        </p:nvSpPr>
        <p:spPr>
          <a:xfrm>
            <a:off x="3962400" y="302895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vectors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DF9EB9-72A1-4173-A349-5F4B04D0C356}"/>
              </a:ext>
            </a:extLst>
          </p:cNvPr>
          <p:cNvSpPr>
            <a:spLocks noGrp="1"/>
          </p:cNvSpPr>
          <p:nvPr/>
        </p:nvSpPr>
        <p:spPr>
          <a:xfrm>
            <a:off x="5715000" y="1943100"/>
            <a:ext cx="1600200" cy="800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1EF3EC-321A-4916-8E0C-F1972C1E7C87}"/>
              </a:ext>
            </a:extLst>
          </p:cNvPr>
          <p:cNvSpPr>
            <a:spLocks noGrp="1"/>
          </p:cNvSpPr>
          <p:nvPr/>
        </p:nvSpPr>
        <p:spPr>
          <a:xfrm>
            <a:off x="5715000" y="1943100"/>
            <a:ext cx="57150" cy="8001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ED7C4C-D873-4308-A430-672B3BFB6BF6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Attention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F094FE-3FA2-404B-AB91-E7AC146E6090}"/>
              </a:ext>
            </a:extLst>
          </p:cNvPr>
          <p:cNvSpPr>
            <a:spLocks noGrp="1"/>
          </p:cNvSpPr>
          <p:nvPr/>
        </p:nvSpPr>
        <p:spPr>
          <a:xfrm>
            <a:off x="5867400" y="2400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mix 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11799D-43A6-451F-BB92-E12C0B189915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1600200" cy="8001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065931-4D9B-4681-B59D-58F1540EC291}"/>
              </a:ext>
            </a:extLst>
          </p:cNvPr>
          <p:cNvSpPr>
            <a:spLocks noGrp="1"/>
          </p:cNvSpPr>
          <p:nvPr/>
        </p:nvSpPr>
        <p:spPr>
          <a:xfrm>
            <a:off x="5715000" y="3219450"/>
            <a:ext cx="57150" cy="8001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45BD00-95AA-44ED-97D4-90B45C350D1F}"/>
              </a:ext>
            </a:extLst>
          </p:cNvPr>
          <p:cNvSpPr>
            <a:spLocks noGrp="1"/>
          </p:cNvSpPr>
          <p:nvPr/>
        </p:nvSpPr>
        <p:spPr>
          <a:xfrm>
            <a:off x="5867400" y="33337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MLP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5A672F-230D-43CF-BF97-2EB04B8BF835}"/>
              </a:ext>
            </a:extLst>
          </p:cNvPr>
          <p:cNvSpPr>
            <a:spLocks noGrp="1"/>
          </p:cNvSpPr>
          <p:nvPr/>
        </p:nvSpPr>
        <p:spPr>
          <a:xfrm>
            <a:off x="5867400" y="36766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89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transform features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9F9802-84EE-4348-94BF-823F129B0D0E}"/>
              </a:ext>
            </a:extLst>
          </p:cNvPr>
          <p:cNvSpPr>
            <a:spLocks noGrp="1"/>
          </p:cNvSpPr>
          <p:nvPr/>
        </p:nvSpPr>
        <p:spPr>
          <a:xfrm>
            <a:off x="7848600" y="2571750"/>
            <a:ext cx="1657350" cy="8191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FCB27E-BEA7-4B00-8F13-47D3CC559FAE}"/>
              </a:ext>
            </a:extLst>
          </p:cNvPr>
          <p:cNvSpPr>
            <a:spLocks noGrp="1"/>
          </p:cNvSpPr>
          <p:nvPr/>
        </p:nvSpPr>
        <p:spPr>
          <a:xfrm>
            <a:off x="7848600" y="2571750"/>
            <a:ext cx="57150" cy="8191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71F8E1-B48F-403B-8A68-CC9DFDDAF13D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827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Next-token scores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87937C-E562-4247-AAE2-233BC09CD5F3}"/>
              </a:ext>
            </a:extLst>
          </p:cNvPr>
          <p:cNvSpPr>
            <a:spLocks noGrp="1"/>
          </p:cNvSpPr>
          <p:nvPr/>
        </p:nvSpPr>
        <p:spPr>
          <a:xfrm>
            <a:off x="8001000" y="30289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3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probability distribution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4B9F87-C38B-4A93-8B26-26B6548E017E}"/>
              </a:ext>
            </a:extLst>
          </p:cNvPr>
          <p:cNvSpPr>
            <a:spLocks noGrp="1"/>
          </p:cNvSpPr>
          <p:nvPr/>
        </p:nvSpPr>
        <p:spPr>
          <a:xfrm>
            <a:off x="9944100" y="2571750"/>
            <a:ext cx="1181100" cy="8191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C7E6F9-3E1C-4679-926D-7E4B2687F2C1}"/>
              </a:ext>
            </a:extLst>
          </p:cNvPr>
          <p:cNvSpPr>
            <a:spLocks noGrp="1"/>
          </p:cNvSpPr>
          <p:nvPr/>
        </p:nvSpPr>
        <p:spPr>
          <a:xfrm>
            <a:off x="9944100" y="2571750"/>
            <a:ext cx="57150" cy="81915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EC677F-CC4A-455F-82A1-68CFC99EEE39}"/>
              </a:ext>
            </a:extLst>
          </p:cNvPr>
          <p:cNvSpPr>
            <a:spLocks noGrp="1"/>
          </p:cNvSpPr>
          <p:nvPr/>
        </p:nvSpPr>
        <p:spPr>
          <a:xfrm>
            <a:off x="10096500" y="268605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Token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AA88DF-091A-425B-8BA8-04124AC3CA78}"/>
              </a:ext>
            </a:extLst>
          </p:cNvPr>
          <p:cNvSpPr>
            <a:spLocks noGrp="1"/>
          </p:cNvSpPr>
          <p:nvPr/>
        </p:nvSpPr>
        <p:spPr>
          <a:xfrm>
            <a:off x="10096500" y="30289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77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sample / select</a:t>
            </a:r>
          </a:p>
        </p:txBody>
      </p:sp>
      <p:cxnSp>
        <p:nvCxnSpPr>
          <p:cNvPr id="34" name="Straight Arrow Connector 33"/>
          <p:cNvCxnSpPr>
            <a:stCxn id="6" idx="3"/>
            <a:endCxn id="10" idx="1"/>
          </p:cNvCxnSpPr>
          <p:nvPr/>
        </p:nvCxnSpPr>
        <p:spPr>
          <a:xfrm>
            <a:off x="1828800" y="2981325"/>
            <a:ext cx="38100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35" name="Straight Arrow Connector 34"/>
          <p:cNvCxnSpPr>
            <a:stCxn id="10" idx="3"/>
            <a:endCxn id="14" idx="1"/>
          </p:cNvCxnSpPr>
          <p:nvPr/>
        </p:nvCxnSpPr>
        <p:spPr>
          <a:xfrm>
            <a:off x="3429000" y="2981325"/>
            <a:ext cx="38100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36" name="Connector: Elbow 35"/>
          <p:cNvCxnSpPr>
            <a:stCxn id="14" idx="3"/>
            <a:endCxn id="18" idx="1"/>
          </p:cNvCxnSpPr>
          <p:nvPr/>
        </p:nvCxnSpPr>
        <p:spPr>
          <a:xfrm flipV="1">
            <a:off x="5181600" y="2343150"/>
            <a:ext cx="533400" cy="638175"/>
          </a:xfrm>
          <a:prstGeom prst="bentConnector3">
            <a:avLst>
              <a:gd name="adj1" fmla="val 50000"/>
            </a:avLst>
          </a:prstGeom>
          <a:ln w="19050">
            <a:solidFill>
              <a:srgbClr val="B59CFF"/>
            </a:solidFill>
            <a:prstDash val="solid"/>
            <a:tailEnd type="triangle" w="sm" len="sm"/>
          </a:ln>
        </p:spPr>
      </p:cxnSp>
      <p:cxnSp>
        <p:nvCxnSpPr>
          <p:cNvPr id="37" name="Connector: Elbow 36"/>
          <p:cNvCxnSpPr>
            <a:stCxn id="14" idx="3"/>
            <a:endCxn id="22" idx="1"/>
          </p:cNvCxnSpPr>
          <p:nvPr/>
        </p:nvCxnSpPr>
        <p:spPr>
          <a:xfrm>
            <a:off x="5181600" y="2981325"/>
            <a:ext cx="533400" cy="638175"/>
          </a:xfrm>
          <a:prstGeom prst="bentConnector3">
            <a:avLst>
              <a:gd name="adj1" fmla="val 50000"/>
            </a:avLst>
          </a:prstGeom>
          <a:ln w="19050">
            <a:solidFill>
              <a:srgbClr val="B59CFF"/>
            </a:solidFill>
            <a:prstDash val="solid"/>
            <a:tailEnd type="triangle" w="sm" len="sm"/>
          </a:ln>
        </p:spPr>
      </p:cxnSp>
      <p:cxnSp>
        <p:nvCxnSpPr>
          <p:cNvPr id="38" name="Connector: Elbow 37"/>
          <p:cNvCxnSpPr>
            <a:stCxn id="18" idx="3"/>
            <a:endCxn id="26" idx="1"/>
          </p:cNvCxnSpPr>
          <p:nvPr/>
        </p:nvCxnSpPr>
        <p:spPr>
          <a:xfrm>
            <a:off x="7315200" y="2343150"/>
            <a:ext cx="533400" cy="638175"/>
          </a:xfrm>
          <a:prstGeom prst="bentConnector3">
            <a:avLst>
              <a:gd name="adj1" fmla="val 50000"/>
            </a:avLst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39" name="Connector: Elbow 38"/>
          <p:cNvCxnSpPr>
            <a:stCxn id="22" idx="3"/>
            <a:endCxn id="26" idx="1"/>
          </p:cNvCxnSpPr>
          <p:nvPr/>
        </p:nvCxnSpPr>
        <p:spPr>
          <a:xfrm flipV="1">
            <a:off x="7315200" y="2981325"/>
            <a:ext cx="533400" cy="638175"/>
          </a:xfrm>
          <a:prstGeom prst="bentConnector3">
            <a:avLst>
              <a:gd name="adj1" fmla="val 50000"/>
            </a:avLst>
          </a:prstGeom>
          <a:ln w="19050">
            <a:solidFill>
              <a:srgbClr val="FFB347"/>
            </a:solidFill>
            <a:prstDash val="solid"/>
            <a:tailEnd type="triangle" w="sm" len="sm"/>
          </a:ln>
        </p:spPr>
      </p:cxnSp>
      <p:cxnSp>
        <p:nvCxnSpPr>
          <p:cNvPr id="40" name="Straight Arrow Connector 39"/>
          <p:cNvCxnSpPr>
            <a:stCxn id="26" idx="3"/>
            <a:endCxn id="30" idx="1"/>
          </p:cNvCxnSpPr>
          <p:nvPr/>
        </p:nvCxnSpPr>
        <p:spPr>
          <a:xfrm>
            <a:off x="9505950" y="2981325"/>
            <a:ext cx="438150" cy="0"/>
          </a:xfrm>
          <a:prstGeom prst="straightConnector1">
            <a:avLst/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22E26B8-44D3-4065-ACAA-C8C9E34285C8}"/>
              </a:ext>
            </a:extLst>
          </p:cNvPr>
          <p:cNvSpPr>
            <a:spLocks noGrp="1"/>
          </p:cNvSpPr>
          <p:nvPr/>
        </p:nvSpPr>
        <p:spPr>
          <a:xfrm>
            <a:off x="5467350" y="1600200"/>
            <a:ext cx="2095500" cy="2781300"/>
          </a:xfrm>
          <a:prstGeom prst="rect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D3AA86-F41D-4244-97E5-3BD7E37F5F83}"/>
              </a:ext>
            </a:extLst>
          </p:cNvPr>
          <p:cNvSpPr>
            <a:spLocks noGrp="1"/>
          </p:cNvSpPr>
          <p:nvPr/>
        </p:nvSpPr>
        <p:spPr>
          <a:xfrm>
            <a:off x="5638800" y="42481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REPEATED × N LAYERS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75B549-B805-452C-B8C1-7C31AD36A9A0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8953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13"/>
          </a:bodyPr>
          <a:lstStyle/>
          <a:p>
            <a:pPr algn="ctr">
              <a:lnSpc>
                <a:spcPct val="105000"/>
              </a:lnSpc>
              <a:buNone/>
              <a:defRPr sz="18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Training adjusts weights to reduce prediction error. Inference reuses those weights one token at a time.</a:t>
            </a:r>
          </a:p>
        </p:txBody>
      </p:sp>
    </p:spTree>
    <p:extLst>
      <p:ext uri="{BB962C8B-B14F-4D97-AF65-F5344CB8AC3E}">
        <p14:creationId xmlns:p14="http://schemas.microsoft.com/office/powerpoint/2010/main" val="687628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C4D9A4E-6819-4935-A02F-5981768D3AA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2 · FOUNDATIONS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AA4F6-0E08-4090-AE2E-341BE12EFF24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3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“Large” and “small” are points on a continuum, not standards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DD03060-54F1-4E44-AE92-9619E2CDD8C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C329DC-AAC4-4BFD-8BC0-05DE96E5A13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Examples: Phi-3 technical report [5]; Gemma 2 report [6]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DB2EC-E83A-4443-A864-A5CFE1D36A50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A5CD2DD-4F92-4DC3-A815-D891C749A2B2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9982200" cy="0"/>
          </a:xfrm>
          <a:prstGeom prst="line">
            <a:avLst/>
          </a:prstGeom>
          <a:noFill/>
          <a:ln w="76200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676640-33DA-4EA5-AD52-96917103F102}"/>
              </a:ext>
            </a:extLst>
          </p:cNvPr>
          <p:cNvSpPr>
            <a:spLocks noGrp="1"/>
          </p:cNvSpPr>
          <p:nvPr/>
        </p:nvSpPr>
        <p:spPr>
          <a:xfrm>
            <a:off x="1447800" y="3028950"/>
            <a:ext cx="152400" cy="228600"/>
          </a:xfrm>
          <a:prstGeom prst="rect">
            <a:avLst/>
          </a:prstGeom>
          <a:solidFill>
            <a:srgbClr val="B59CFF"/>
          </a:solidFill>
          <a:ln w="0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602B1-6C55-4FEA-8CE4-49264C40008A}"/>
              </a:ext>
            </a:extLst>
          </p:cNvPr>
          <p:cNvSpPr>
            <a:spLocks noGrp="1"/>
          </p:cNvSpPr>
          <p:nvPr/>
        </p:nvSpPr>
        <p:spPr>
          <a:xfrm>
            <a:off x="38100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B59CF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B59CFF"/>
                </a:solidFill>
                <a:latin typeface="Consolas"/>
                <a:ea typeface="Consolas"/>
                <a:cs typeface="Consolas"/>
              </a:rPr>
              <a:t>DEVICE-SCALE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B11188-571C-42D0-85E1-31B81D9B0C36}"/>
              </a:ext>
            </a:extLst>
          </p:cNvPr>
          <p:cNvSpPr>
            <a:spLocks noGrp="1"/>
          </p:cNvSpPr>
          <p:nvPr/>
        </p:nvSpPr>
        <p:spPr>
          <a:xfrm>
            <a:off x="381000" y="2457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tight memory • offline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39C814-252F-414F-B881-2042FBBD1908}"/>
              </a:ext>
            </a:extLst>
          </p:cNvPr>
          <p:cNvSpPr>
            <a:spLocks noGrp="1"/>
          </p:cNvSpPr>
          <p:nvPr/>
        </p:nvSpPr>
        <p:spPr>
          <a:xfrm>
            <a:off x="3924300" y="3028950"/>
            <a:ext cx="152400" cy="22860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889112-356F-4BF7-BFBA-2D1229273372}"/>
              </a:ext>
            </a:extLst>
          </p:cNvPr>
          <p:cNvSpPr>
            <a:spLocks noGrp="1"/>
          </p:cNvSpPr>
          <p:nvPr/>
        </p:nvSpPr>
        <p:spPr>
          <a:xfrm>
            <a:off x="285750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SMALL / COMPACT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BC32DF-5B9F-4949-9017-178A53BCDDCA}"/>
              </a:ext>
            </a:extLst>
          </p:cNvPr>
          <p:cNvSpPr>
            <a:spLocks noGrp="1"/>
          </p:cNvSpPr>
          <p:nvPr/>
        </p:nvSpPr>
        <p:spPr>
          <a:xfrm>
            <a:off x="2857500" y="2457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bounded tasks • efficient serving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5E5D63-1018-4F23-BD0E-46B9ECADBE10}"/>
              </a:ext>
            </a:extLst>
          </p:cNvPr>
          <p:cNvSpPr>
            <a:spLocks noGrp="1"/>
          </p:cNvSpPr>
          <p:nvPr/>
        </p:nvSpPr>
        <p:spPr>
          <a:xfrm>
            <a:off x="6877050" y="3028950"/>
            <a:ext cx="152400" cy="22860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0ED904-CB64-4D36-9401-FE33335CFE7D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GENERAL-PURPOSE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DF4A22-0310-4510-985E-48E8A971366E}"/>
              </a:ext>
            </a:extLst>
          </p:cNvPr>
          <p:cNvSpPr>
            <a:spLocks noGrp="1"/>
          </p:cNvSpPr>
          <p:nvPr/>
        </p:nvSpPr>
        <p:spPr>
          <a:xfrm>
            <a:off x="5810250" y="2457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broader transfer • larger runtime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FA08BC-76FC-4F30-A3AF-DC57193958DF}"/>
              </a:ext>
            </a:extLst>
          </p:cNvPr>
          <p:cNvSpPr>
            <a:spLocks noGrp="1"/>
          </p:cNvSpPr>
          <p:nvPr/>
        </p:nvSpPr>
        <p:spPr>
          <a:xfrm>
            <a:off x="9829800" y="3028950"/>
            <a:ext cx="152400" cy="2286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29073-8842-4824-9D45-CA0BB6503BDC}"/>
              </a:ext>
            </a:extLst>
          </p:cNvPr>
          <p:cNvSpPr>
            <a:spLocks noGrp="1"/>
          </p:cNvSpPr>
          <p:nvPr/>
        </p:nvSpPr>
        <p:spPr>
          <a:xfrm>
            <a:off x="876300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FRONTIER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7966A9-4439-48D0-AF54-80ECFDCDE208}"/>
              </a:ext>
            </a:extLst>
          </p:cNvPr>
          <p:cNvSpPr>
            <a:spLocks noGrp="1"/>
          </p:cNvSpPr>
          <p:nvPr/>
        </p:nvSpPr>
        <p:spPr>
          <a:xfrm>
            <a:off x="8763000" y="2457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maximum breadth • highest demands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785674-7AD8-4A33-94D0-0E3118FC6E20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fewer parameters / lower memory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F651BA-906E-409F-83A9-6159F1718A16}"/>
              </a:ext>
            </a:extLst>
          </p:cNvPr>
          <p:cNvSpPr>
            <a:spLocks noGrp="1"/>
          </p:cNvSpPr>
          <p:nvPr/>
        </p:nvSpPr>
        <p:spPr>
          <a:xfrm>
            <a:off x="7810500" y="34480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more parameters / more memory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9D9819D-4A09-44D3-99DF-53EFB6095939}"/>
              </a:ext>
            </a:extLst>
          </p:cNvPr>
          <p:cNvSpPr>
            <a:spLocks noGrp="1"/>
          </p:cNvSpPr>
          <p:nvPr/>
        </p:nvSpPr>
        <p:spPr>
          <a:xfrm>
            <a:off x="857250" y="4514850"/>
            <a:ext cx="3143250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A5C815-73BA-42C6-8811-7F3CFA634334}"/>
              </a:ext>
            </a:extLst>
          </p:cNvPr>
          <p:cNvSpPr>
            <a:spLocks noGrp="1"/>
          </p:cNvSpPr>
          <p:nvPr/>
        </p:nvSpPr>
        <p:spPr>
          <a:xfrm>
            <a:off x="857250" y="4705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No universal cut-off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3F40A2-090D-4E04-AA4D-14DED047A940}"/>
              </a:ext>
            </a:extLst>
          </p:cNvPr>
          <p:cNvSpPr>
            <a:spLocks noGrp="1"/>
          </p:cNvSpPr>
          <p:nvPr/>
        </p:nvSpPr>
        <p:spPr>
          <a:xfrm>
            <a:off x="857250" y="50958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Labels vary by era, task, hardware, and vendor.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1975511-739A-48FC-A93E-6313FF5D1F8E}"/>
              </a:ext>
            </a:extLst>
          </p:cNvPr>
          <p:cNvSpPr>
            <a:spLocks noGrp="1"/>
          </p:cNvSpPr>
          <p:nvPr/>
        </p:nvSpPr>
        <p:spPr>
          <a:xfrm>
            <a:off x="4552950" y="4514850"/>
            <a:ext cx="3143250" cy="0"/>
          </a:xfrm>
          <a:prstGeom prst="line">
            <a:avLst/>
          </a:prstGeom>
          <a:noFill/>
          <a:ln w="2857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E4008C-01DB-4D25-866B-59D278E0415C}"/>
              </a:ext>
            </a:extLst>
          </p:cNvPr>
          <p:cNvSpPr>
            <a:spLocks noGrp="1"/>
          </p:cNvSpPr>
          <p:nvPr/>
        </p:nvSpPr>
        <p:spPr>
          <a:xfrm>
            <a:off x="4552950" y="4705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126"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Parameter count is incomplete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4A173B-4E5C-4BCC-8DEC-D0367B196CFB}"/>
              </a:ext>
            </a:extLst>
          </p:cNvPr>
          <p:cNvSpPr>
            <a:spLocks noGrp="1"/>
          </p:cNvSpPr>
          <p:nvPr/>
        </p:nvSpPr>
        <p:spPr>
          <a:xfrm>
            <a:off x="4552950" y="50958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Data quality, architecture, context, and alignment change capability.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0940946B-1C7E-4938-B9BA-27B7D31BB56C}"/>
              </a:ext>
            </a:extLst>
          </p:cNvPr>
          <p:cNvSpPr>
            <a:spLocks noGrp="1"/>
          </p:cNvSpPr>
          <p:nvPr/>
        </p:nvSpPr>
        <p:spPr>
          <a:xfrm>
            <a:off x="8248650" y="4514850"/>
            <a:ext cx="3143250" cy="0"/>
          </a:xfrm>
          <a:prstGeom prst="line">
            <a:avLst/>
          </a:prstGeom>
          <a:noFill/>
          <a:ln w="2857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3D6808-0E7D-4511-96B5-1E908E86F309}"/>
              </a:ext>
            </a:extLst>
          </p:cNvPr>
          <p:cNvSpPr>
            <a:spLocks noGrp="1"/>
          </p:cNvSpPr>
          <p:nvPr/>
        </p:nvSpPr>
        <p:spPr>
          <a:xfrm>
            <a:off x="8248650" y="4705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Fit is empirical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C3A7AA-9F52-4B1B-9224-476680C4FB56}"/>
              </a:ext>
            </a:extLst>
          </p:cNvPr>
          <p:cNvSpPr>
            <a:spLocks noGrp="1"/>
          </p:cNvSpPr>
          <p:nvPr/>
        </p:nvSpPr>
        <p:spPr>
          <a:xfrm>
            <a:off x="8248650" y="5095875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Evaluate candidate models on your workload and constraints.</a:t>
            </a:r>
          </a:p>
        </p:txBody>
      </p:sp>
    </p:spTree>
    <p:extLst>
      <p:ext uri="{BB962C8B-B14F-4D97-AF65-F5344CB8AC3E}">
        <p14:creationId xmlns:p14="http://schemas.microsoft.com/office/powerpoint/2010/main" val="378778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3A063D6-97E6-4102-A043-5B00427BDC49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2 · FOUNDATIONS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55D8A8-5E33-4B2C-96FD-A89E37E4C2A7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888" lnSpcReduction="20000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Model capability depends on the whole recipe, not parameters alone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F29F702-7ADE-4711-98B0-FDEBFB23C74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90AB89-85C8-43BF-B35B-A973EAE136C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Sources: Phi-3 [5]; Gemma 2 [6]; Stanford CRFM [7]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4C3DD-9964-4BC4-BF65-91063C71BC19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E7064C-F75B-433D-A2E8-D40830757BBB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550" b="1" i="0">
                <a:solidFill>
                  <a:srgbClr val="E8F1EE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E8F1EE"/>
                </a:solidFill>
                <a:latin typeface="Consolas"/>
                <a:ea typeface="Consolas"/>
                <a:cs typeface="Consolas"/>
              </a:rPr>
              <a:t>CAPABILITY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6DB3A-1FCF-4E33-8451-75AD7EB30A91}"/>
              </a:ext>
            </a:extLst>
          </p:cNvPr>
          <p:cNvSpPr>
            <a:spLocks noGrp="1"/>
          </p:cNvSpPr>
          <p:nvPr/>
        </p:nvSpPr>
        <p:spPr>
          <a:xfrm>
            <a:off x="3048000" y="177165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3150" b="1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4F35F1-2885-4669-B767-78C4E0900304}"/>
              </a:ext>
            </a:extLst>
          </p:cNvPr>
          <p:cNvSpPr>
            <a:spLocks noGrp="1"/>
          </p:cNvSpPr>
          <p:nvPr/>
        </p:nvSpPr>
        <p:spPr>
          <a:xfrm>
            <a:off x="3619500" y="1600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6A7171-F591-4641-9081-5256E622CF17}"/>
              </a:ext>
            </a:extLst>
          </p:cNvPr>
          <p:cNvSpPr>
            <a:spLocks noGrp="1"/>
          </p:cNvSpPr>
          <p:nvPr/>
        </p:nvSpPr>
        <p:spPr>
          <a:xfrm>
            <a:off x="3619500" y="1962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quality • coverage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17AF4B-DA8D-4005-8EEA-8FB267780F1C}"/>
              </a:ext>
            </a:extLst>
          </p:cNvPr>
          <p:cNvSpPr>
            <a:spLocks noGrp="1"/>
          </p:cNvSpPr>
          <p:nvPr/>
        </p:nvSpPr>
        <p:spPr>
          <a:xfrm>
            <a:off x="5753100" y="16573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0474B-B30F-406D-816F-9079CFD11598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ARCHITECTURE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4557D9-D886-4707-9EEA-72D034571B51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attention • experts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05BB7D-9DF6-4E64-8069-64E9ED9E2EDE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82ABD-842F-4312-B5B9-62C2052130CD}"/>
              </a:ext>
            </a:extLst>
          </p:cNvPr>
          <p:cNvSpPr>
            <a:spLocks noGrp="1"/>
          </p:cNvSpPr>
          <p:nvPr/>
        </p:nvSpPr>
        <p:spPr>
          <a:xfrm>
            <a:off x="8572500" y="16002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TRAINING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D0B2B6-FFA0-48C7-9288-A710D8DDCCBE}"/>
              </a:ext>
            </a:extLst>
          </p:cNvPr>
          <p:cNvSpPr>
            <a:spLocks noGrp="1"/>
          </p:cNvSpPr>
          <p:nvPr/>
        </p:nvSpPr>
        <p:spPr>
          <a:xfrm>
            <a:off x="8572500" y="1962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tokens • objectives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CC7D3D-BF3D-4398-BFF8-7AEB259A17C3}"/>
              </a:ext>
            </a:extLst>
          </p:cNvPr>
          <p:cNvSpPr>
            <a:spLocks noGrp="1"/>
          </p:cNvSpPr>
          <p:nvPr/>
        </p:nvSpPr>
        <p:spPr>
          <a:xfrm>
            <a:off x="10706100" y="16573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2A9611-DA4B-4D46-8702-0C93D3756AD2}"/>
              </a:ext>
            </a:extLst>
          </p:cNvPr>
          <p:cNvSpPr>
            <a:spLocks noGrp="1"/>
          </p:cNvSpPr>
          <p:nvPr/>
        </p:nvSpPr>
        <p:spPr>
          <a:xfrm>
            <a:off x="3619500" y="2895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B59CFF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B59CFF"/>
                </a:solidFill>
                <a:latin typeface="Consolas"/>
                <a:ea typeface="Consolas"/>
                <a:cs typeface="Consolas"/>
              </a:rPr>
              <a:t>ALIGNMENT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C95180-060E-4957-AF9A-8DBEF4A06648}"/>
              </a:ext>
            </a:extLst>
          </p:cNvPr>
          <p:cNvSpPr>
            <a:spLocks noGrp="1"/>
          </p:cNvSpPr>
          <p:nvPr/>
        </p:nvSpPr>
        <p:spPr>
          <a:xfrm>
            <a:off x="3619500" y="3257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instruction • preference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BB5813-9156-4C63-ACAD-9603F2EDA994}"/>
              </a:ext>
            </a:extLst>
          </p:cNvPr>
          <p:cNvSpPr>
            <a:spLocks noGrp="1"/>
          </p:cNvSpPr>
          <p:nvPr/>
        </p:nvSpPr>
        <p:spPr>
          <a:xfrm>
            <a:off x="5753100" y="29527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0" i="0">
                <a:solidFill>
                  <a:srgbClr val="2B3A42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B3A42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AF1395-FBEE-46F1-8C51-9DC084B0902C}"/>
              </a:ext>
            </a:extLst>
          </p:cNvPr>
          <p:cNvSpPr>
            <a:spLocks noGrp="1"/>
          </p:cNvSpPr>
          <p:nvPr/>
        </p:nvSpPr>
        <p:spPr>
          <a:xfrm>
            <a:off x="6096000" y="2895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1500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D9202B-0C09-4A40-A084-02EB91AE95C7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RAG • tools • memory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B2BEA66E-690E-4D6A-8715-F74D0910C194}"/>
              </a:ext>
            </a:extLst>
          </p:cNvPr>
          <p:cNvSpPr>
            <a:spLocks noGrp="1"/>
          </p:cNvSpPr>
          <p:nvPr/>
        </p:nvSpPr>
        <p:spPr>
          <a:xfrm>
            <a:off x="819150" y="3943350"/>
            <a:ext cx="102870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FCA244-9BF4-44C9-96FA-3185A6A68D2C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374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What changes after deployment?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B9796C-F2A9-41D5-AF89-705870613D1D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69F0C0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9F0C0"/>
                </a:solidFill>
                <a:latin typeface="Aptos"/>
                <a:ea typeface="Aptos"/>
                <a:cs typeface="Aptos"/>
              </a:rPr>
              <a:t>Quantization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A8137D-7629-4E78-B864-50D6B49F963F}"/>
              </a:ext>
            </a:extLst>
          </p:cNvPr>
          <p:cNvSpPr>
            <a:spLocks noGrp="1"/>
          </p:cNvSpPr>
          <p:nvPr/>
        </p:nvSpPr>
        <p:spPr>
          <a:xfrm>
            <a:off x="819150" y="518160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reduces memory / may shift quality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A6E5CC-396E-420D-8986-17CAABD56FE0}"/>
              </a:ext>
            </a:extLst>
          </p:cNvPr>
          <p:cNvSpPr>
            <a:spLocks noGrp="1"/>
          </p:cNvSpPr>
          <p:nvPr/>
        </p:nvSpPr>
        <p:spPr>
          <a:xfrm>
            <a:off x="3467100" y="4819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67B7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7B7FF"/>
                </a:solidFill>
                <a:latin typeface="Aptos"/>
                <a:ea typeface="Aptos"/>
                <a:cs typeface="Aptos"/>
              </a:rPr>
              <a:t>Distillation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C29F05-29CA-48BB-9697-2693AFC860CD}"/>
              </a:ext>
            </a:extLst>
          </p:cNvPr>
          <p:cNvSpPr>
            <a:spLocks noGrp="1"/>
          </p:cNvSpPr>
          <p:nvPr/>
        </p:nvSpPr>
        <p:spPr>
          <a:xfrm>
            <a:off x="3467100" y="518160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transfers behavior into a smaller 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959EC2-0590-4B43-9FCF-B8D4FB985AC2}"/>
              </a:ext>
            </a:extLst>
          </p:cNvPr>
          <p:cNvSpPr>
            <a:spLocks noGrp="1"/>
          </p:cNvSpPr>
          <p:nvPr/>
        </p:nvSpPr>
        <p:spPr>
          <a:xfrm>
            <a:off x="6115050" y="4819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FFB347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B347"/>
                </a:solidFill>
                <a:latin typeface="Aptos"/>
                <a:ea typeface="Aptos"/>
                <a:cs typeface="Aptos"/>
              </a:rPr>
              <a:t>Retrieval + tools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65161F-2833-4DD0-8D90-1ABE5915DF0B}"/>
              </a:ext>
            </a:extLst>
          </p:cNvPr>
          <p:cNvSpPr>
            <a:spLocks noGrp="1"/>
          </p:cNvSpPr>
          <p:nvPr/>
        </p:nvSpPr>
        <p:spPr>
          <a:xfrm>
            <a:off x="6115050" y="518160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adds current knowledge and actions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CB8FA0-990A-49A8-90CF-4F45948FF0FF}"/>
              </a:ext>
            </a:extLst>
          </p:cNvPr>
          <p:cNvSpPr>
            <a:spLocks noGrp="1"/>
          </p:cNvSpPr>
          <p:nvPr/>
        </p:nvSpPr>
        <p:spPr>
          <a:xfrm>
            <a:off x="8763000" y="4819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B59C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B59CFF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ED2F40-09A6-4164-A115-63F939839782}"/>
              </a:ext>
            </a:extLst>
          </p:cNvPr>
          <p:cNvSpPr>
            <a:spLocks noGrp="1"/>
          </p:cNvSpPr>
          <p:nvPr/>
        </p:nvSpPr>
        <p:spPr>
          <a:xfrm>
            <a:off x="8763000" y="518160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matches request difficulty to model</a:t>
            </a:r>
          </a:p>
        </p:txBody>
      </p:sp>
    </p:spTree>
    <p:extLst>
      <p:ext uri="{BB962C8B-B14F-4D97-AF65-F5344CB8AC3E}">
        <p14:creationId xmlns:p14="http://schemas.microsoft.com/office/powerpoint/2010/main" val="1431563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29B111D-8B9B-492B-AB66-49DA27EC4FC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2 · COMPARE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2F7EA6-6C33-4CE8-80AD-C0D1FA469A95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8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LLMs maximize breadth; SLMs maximize focus and deployability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60E340D-0A19-43D1-A8E4-B54EBDBB923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0C59FD-39C7-40AF-803A-5D4294E695D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Directional synthesis based on Phi-3 [5], Gemma 2 [6], and foundation-model literature [7]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94977-D50F-40AB-BA57-2B973A2B41D5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9BA84-961B-4F4D-B7E8-C8066B561EF2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LARGE LANGUAGE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C2835-C070-442D-8E86-FCC4BEF10580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62"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Broad capability envelope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8C5E3-1741-4558-B0D5-697C6710C4E5}"/>
              </a:ext>
            </a:extLst>
          </p:cNvPr>
          <p:cNvSpPr>
            <a:spLocks noGrp="1"/>
          </p:cNvSpPr>
          <p:nvPr/>
        </p:nvSpPr>
        <p:spPr>
          <a:xfrm>
            <a:off x="704850" y="28479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DA51FB-CAFC-4DA7-8F2C-FB4DC2106376}"/>
              </a:ext>
            </a:extLst>
          </p:cNvPr>
          <p:cNvSpPr>
            <a:spLocks noGrp="1"/>
          </p:cNvSpPr>
          <p:nvPr/>
        </p:nvSpPr>
        <p:spPr>
          <a:xfrm>
            <a:off x="933450" y="27813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Cross-domain reasoning and synthesis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6F39AE-E164-4D5C-B279-E844C1404CFB}"/>
              </a:ext>
            </a:extLst>
          </p:cNvPr>
          <p:cNvSpPr>
            <a:spLocks noGrp="1"/>
          </p:cNvSpPr>
          <p:nvPr/>
        </p:nvSpPr>
        <p:spPr>
          <a:xfrm>
            <a:off x="704850" y="347662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BCF3E3-A330-4562-8F86-5C4239AC5C61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Stronger zero-/few-shot transfer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E37409-A63A-408F-BF01-B4ABB3D7BF11}"/>
              </a:ext>
            </a:extLst>
          </p:cNvPr>
          <p:cNvSpPr>
            <a:spLocks noGrp="1"/>
          </p:cNvSpPr>
          <p:nvPr/>
        </p:nvSpPr>
        <p:spPr>
          <a:xfrm>
            <a:off x="704850" y="41052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7AFC44-2769-4D00-A1A1-5EFBD1DC53C6}"/>
              </a:ext>
            </a:extLst>
          </p:cNvPr>
          <p:cNvSpPr>
            <a:spLocks noGrp="1"/>
          </p:cNvSpPr>
          <p:nvPr/>
        </p:nvSpPr>
        <p:spPr>
          <a:xfrm>
            <a:off x="933450" y="40386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Richer multilingual and multimodal breadth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03A8C0-FEB0-4577-AFE4-987EDD45B61C}"/>
              </a:ext>
            </a:extLst>
          </p:cNvPr>
          <p:cNvSpPr>
            <a:spLocks noGrp="1"/>
          </p:cNvSpPr>
          <p:nvPr/>
        </p:nvSpPr>
        <p:spPr>
          <a:xfrm>
            <a:off x="704850" y="473392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C96E1B-C2B3-4779-AB6E-02ADFB654B21}"/>
              </a:ext>
            </a:extLst>
          </p:cNvPr>
          <p:cNvSpPr>
            <a:spLocks noGrp="1"/>
          </p:cNvSpPr>
          <p:nvPr/>
        </p:nvSpPr>
        <p:spPr>
          <a:xfrm>
            <a:off x="933450" y="46672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Higher serving and governance complexity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9F4127FA-1FD0-48B0-A499-34CC3690D699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0" cy="400050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D16EAA-D22E-4DD3-B3DC-9CE648D04840}"/>
              </a:ext>
            </a:extLst>
          </p:cNvPr>
          <p:cNvSpPr>
            <a:spLocks noGrp="1"/>
          </p:cNvSpPr>
          <p:nvPr/>
        </p:nvSpPr>
        <p:spPr>
          <a:xfrm>
            <a:off x="6400800" y="16192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SMALL LANGUAGE MODEL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CA6C63-ACAC-48EB-A751-ACFA2E2BCA2B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62"/>
          </a:bodyPr>
          <a:lstStyle/>
          <a:p>
            <a:pPr algn="l">
              <a:lnSpc>
                <a:spcPct val="100000"/>
              </a:lnSpc>
              <a:buNone/>
              <a:def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Focused execution envelope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4B3005-21B2-425B-840D-F366F1ED4C84}"/>
              </a:ext>
            </a:extLst>
          </p:cNvPr>
          <p:cNvSpPr>
            <a:spLocks noGrp="1"/>
          </p:cNvSpPr>
          <p:nvPr/>
        </p:nvSpPr>
        <p:spPr>
          <a:xfrm>
            <a:off x="6400800" y="2847975"/>
            <a:ext cx="76200" cy="76200"/>
          </a:xfrm>
          <a:prstGeom prst="rect">
            <a:avLst/>
          </a:prstGeom>
          <a:solidFill>
            <a:srgbClr val="69F0C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EB8F62-8B38-468B-BA73-1A94F24C8BB5}"/>
              </a:ext>
            </a:extLst>
          </p:cNvPr>
          <p:cNvSpPr>
            <a:spLocks noGrp="1"/>
          </p:cNvSpPr>
          <p:nvPr/>
        </p:nvSpPr>
        <p:spPr>
          <a:xfrm>
            <a:off x="6629400" y="27813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Competitive on bounded, well-specified tasks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DEE744-72CE-4D32-B2CA-9974A4630DBE}"/>
              </a:ext>
            </a:extLst>
          </p:cNvPr>
          <p:cNvSpPr>
            <a:spLocks noGrp="1"/>
          </p:cNvSpPr>
          <p:nvPr/>
        </p:nvSpPr>
        <p:spPr>
          <a:xfrm>
            <a:off x="6400800" y="347662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A7DBF1-22B8-4369-9ED4-5D4B72DD1550}"/>
              </a:ext>
            </a:extLst>
          </p:cNvPr>
          <p:cNvSpPr>
            <a:spLocks noGrp="1"/>
          </p:cNvSpPr>
          <p:nvPr/>
        </p:nvSpPr>
        <p:spPr>
          <a:xfrm>
            <a:off x="6629400" y="34099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Easier local, private, or edge deployment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405DB-FB2F-4157-8133-B0F39D45AFD1}"/>
              </a:ext>
            </a:extLst>
          </p:cNvPr>
          <p:cNvSpPr>
            <a:spLocks noGrp="1"/>
          </p:cNvSpPr>
          <p:nvPr/>
        </p:nvSpPr>
        <p:spPr>
          <a:xfrm>
            <a:off x="6400800" y="410527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CE8757-A96A-4862-B421-89C27D28F79B}"/>
              </a:ext>
            </a:extLst>
          </p:cNvPr>
          <p:cNvSpPr>
            <a:spLocks noGrp="1"/>
          </p:cNvSpPr>
          <p:nvPr/>
        </p:nvSpPr>
        <p:spPr>
          <a:xfrm>
            <a:off x="6629400" y="403860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Lower latency and resource requirements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C8CC51-0F21-4042-99FC-CB705673BF2D}"/>
              </a:ext>
            </a:extLst>
          </p:cNvPr>
          <p:cNvSpPr>
            <a:spLocks noGrp="1"/>
          </p:cNvSpPr>
          <p:nvPr/>
        </p:nvSpPr>
        <p:spPr>
          <a:xfrm>
            <a:off x="6400800" y="4733925"/>
            <a:ext cx="76200" cy="76200"/>
          </a:xfrm>
          <a:prstGeom prst="rect">
            <a:avLst/>
          </a:prstGeom>
          <a:solidFill>
            <a:srgbClr val="FFB34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D38058-96F8-439B-B21D-79F6ABCF66CA}"/>
              </a:ext>
            </a:extLst>
          </p:cNvPr>
          <p:cNvSpPr>
            <a:spLocks noGrp="1"/>
          </p:cNvSpPr>
          <p:nvPr/>
        </p:nvSpPr>
        <p:spPr>
          <a:xfrm>
            <a:off x="6629400" y="4667250"/>
            <a:ext cx="4629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Needs routing or escalation for the long tail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4C6503-50FA-41F0-9134-1CE51DCD655F}"/>
              </a:ext>
            </a:extLst>
          </p:cNvPr>
          <p:cNvSpPr>
            <a:spLocks noGrp="1"/>
          </p:cNvSpPr>
          <p:nvPr/>
        </p:nvSpPr>
        <p:spPr>
          <a:xfrm>
            <a:off x="2286000" y="58102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85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FB3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B347"/>
                </a:solidFill>
                <a:latin typeface="Aptos"/>
                <a:ea typeface="Aptos"/>
                <a:cs typeface="Aptos"/>
              </a:rPr>
              <a:t>Neither profile guarantees quality. The workload evaluation set decides.</a:t>
            </a:r>
          </a:p>
        </p:txBody>
      </p:sp>
    </p:spTree>
    <p:extLst>
      <p:ext uri="{BB962C8B-B14F-4D97-AF65-F5344CB8AC3E}">
        <p14:creationId xmlns:p14="http://schemas.microsoft.com/office/powerpoint/2010/main" val="60625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B4283CF-A1AE-4198-835C-F0FF68DF343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2 · COMPARE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9788F2-13DE-4455-B994-760A92DF2552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01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Cost and latency are workload equations, not model labels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0BE19C5-7A0E-43FF-9291-B13A7888B65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45A2F-EAC0-4986-89C6-D06984F7DB3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Qualitative serving model; validate with provider/runtime measurements on your workload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2C00D-5E29-4310-B30F-443E376DBE0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24591B-EEE5-48F6-A85B-D965BDD0ADA1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UNIT COST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23A925-97FC-429A-A5A5-99F2B030732F}"/>
              </a:ext>
            </a:extLst>
          </p:cNvPr>
          <p:cNvSpPr>
            <a:spLocks noGrp="1"/>
          </p:cNvSpPr>
          <p:nvPr/>
        </p:nvSpPr>
        <p:spPr>
          <a:xfrm>
            <a:off x="704850" y="201930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309"/>
          </a:bodyPr>
          <a:lstStyle/>
          <a:p>
            <a:pPr algn="l">
              <a:lnSpc>
                <a:spcPct val="100000"/>
              </a:lnSpc>
              <a:buNone/>
              <a:defRPr sz="2925" b="1" i="0">
                <a:solidFill>
                  <a:srgbClr val="E8F1EE"/>
                </a:solidFill>
                <a:latin typeface="Consolas"/>
                <a:ea typeface="Consolas"/>
                <a:cs typeface="Consolas"/>
              </a:defRPr>
            </a:pPr>
            <a:r>
              <a:rPr sz="2925" b="1" i="0">
                <a:solidFill>
                  <a:srgbClr val="E8F1EE"/>
                </a:solidFill>
                <a:latin typeface="Consolas"/>
                <a:ea typeface="Consolas"/>
                <a:cs typeface="Consolas"/>
              </a:rPr>
              <a:t>requests × tokens × compute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250C3-9E95-485B-B82C-18BD8D2F92A2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+ retrieval + tools + platform overhead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1648A87-D5FF-4723-BEF4-D2F74F8B2F48}"/>
              </a:ext>
            </a:extLst>
          </p:cNvPr>
          <p:cNvSpPr>
            <a:spLocks noGrp="1"/>
          </p:cNvSpPr>
          <p:nvPr/>
        </p:nvSpPr>
        <p:spPr>
          <a:xfrm>
            <a:off x="6191250" y="1581150"/>
            <a:ext cx="0" cy="171450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E3162-3916-46A6-8E54-31687E8AA0B0}"/>
              </a:ext>
            </a:extLst>
          </p:cNvPr>
          <p:cNvSpPr>
            <a:spLocks noGrp="1"/>
          </p:cNvSpPr>
          <p:nvPr/>
        </p:nvSpPr>
        <p:spPr>
          <a:xfrm>
            <a:off x="6667500" y="1581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END-TO-END LATENCY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CCA939-B7EC-4116-A1C7-57C6A0AE136D}"/>
              </a:ext>
            </a:extLst>
          </p:cNvPr>
          <p:cNvSpPr>
            <a:spLocks noGrp="1"/>
          </p:cNvSpPr>
          <p:nvPr/>
        </p:nvSpPr>
        <p:spPr>
          <a:xfrm>
            <a:off x="6667500" y="20193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947"/>
          </a:bodyPr>
          <a:lstStyle/>
          <a:p>
            <a:pPr algn="l">
              <a:lnSpc>
                <a:spcPct val="100000"/>
              </a:lnSpc>
              <a:buNone/>
              <a:defRPr sz="2925" b="1" i="0">
                <a:solidFill>
                  <a:srgbClr val="E8F1EE"/>
                </a:solidFill>
                <a:latin typeface="Consolas"/>
                <a:ea typeface="Consolas"/>
                <a:cs typeface="Consolas"/>
              </a:defRPr>
            </a:pPr>
            <a:r>
              <a:rPr sz="2925" b="1" i="0">
                <a:solidFill>
                  <a:srgbClr val="E8F1EE"/>
                </a:solidFill>
                <a:latin typeface="Consolas"/>
                <a:ea typeface="Consolas"/>
                <a:cs typeface="Consolas"/>
              </a:rPr>
              <a:t>queue + prefill + decode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21F87-BFFC-4C4F-9EA1-7D01193C2785}"/>
              </a:ext>
            </a:extLst>
          </p:cNvPr>
          <p:cNvSpPr>
            <a:spLocks noGrp="1"/>
          </p:cNvSpPr>
          <p:nvPr/>
        </p:nvSpPr>
        <p:spPr>
          <a:xfrm>
            <a:off x="6667500" y="26289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+ retrieval + tool calls + network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D3E6D89-292A-430A-9439-7DCBB52FBF31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106680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3EA7A9-6AF9-46EE-A59B-D5B1C6A0240D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Engineering levers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4EB7869-6B03-44E4-8A1D-6A607064F1F3}"/>
              </a:ext>
            </a:extLst>
          </p:cNvPr>
          <p:cNvSpPr>
            <a:spLocks noGrp="1"/>
          </p:cNvSpPr>
          <p:nvPr/>
        </p:nvSpPr>
        <p:spPr>
          <a:xfrm>
            <a:off x="704850" y="4343400"/>
            <a:ext cx="1809750" cy="0"/>
          </a:xfrm>
          <a:prstGeom prst="line">
            <a:avLst/>
          </a:prstGeom>
          <a:noFill/>
          <a:ln w="2857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5B4CA5-6414-484E-9F03-9BFDEBA3D2D8}"/>
              </a:ext>
            </a:extLst>
          </p:cNvPr>
          <p:cNvSpPr>
            <a:spLocks noGrp="1"/>
          </p:cNvSpPr>
          <p:nvPr/>
        </p:nvSpPr>
        <p:spPr>
          <a:xfrm>
            <a:off x="704850" y="45339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SHORTEN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B5B82A-B76A-4AA0-B353-1A8A60533E9C}"/>
              </a:ext>
            </a:extLst>
          </p:cNvPr>
          <p:cNvSpPr>
            <a:spLocks noGrp="1"/>
          </p:cNvSpPr>
          <p:nvPr/>
        </p:nvSpPr>
        <p:spPr>
          <a:xfrm>
            <a:off x="704850" y="490537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prompts • context • outputs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D5A8032-B64A-47B8-B3D7-8C1F0D1A62A4}"/>
              </a:ext>
            </a:extLst>
          </p:cNvPr>
          <p:cNvSpPr>
            <a:spLocks noGrp="1"/>
          </p:cNvSpPr>
          <p:nvPr/>
        </p:nvSpPr>
        <p:spPr>
          <a:xfrm>
            <a:off x="2838450" y="4343400"/>
            <a:ext cx="1809750" cy="0"/>
          </a:xfrm>
          <a:prstGeom prst="line">
            <a:avLst/>
          </a:prstGeom>
          <a:noFill/>
          <a:ln w="2857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C6068-A365-4678-B6E9-22025334BB05}"/>
              </a:ext>
            </a:extLst>
          </p:cNvPr>
          <p:cNvSpPr>
            <a:spLocks noGrp="1"/>
          </p:cNvSpPr>
          <p:nvPr/>
        </p:nvSpPr>
        <p:spPr>
          <a:xfrm>
            <a:off x="2838450" y="45339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CACHE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9A6051-8138-4588-9120-7D6FD08A11CB}"/>
              </a:ext>
            </a:extLst>
          </p:cNvPr>
          <p:cNvSpPr>
            <a:spLocks noGrp="1"/>
          </p:cNvSpPr>
          <p:nvPr/>
        </p:nvSpPr>
        <p:spPr>
          <a:xfrm>
            <a:off x="2838450" y="490537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prefixes • retrieval • results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D4BD214B-1053-442E-A658-6A2BB8DB1049}"/>
              </a:ext>
            </a:extLst>
          </p:cNvPr>
          <p:cNvSpPr>
            <a:spLocks noGrp="1"/>
          </p:cNvSpPr>
          <p:nvPr/>
        </p:nvSpPr>
        <p:spPr>
          <a:xfrm>
            <a:off x="4972050" y="4343400"/>
            <a:ext cx="1809750" cy="0"/>
          </a:xfrm>
          <a:prstGeom prst="line">
            <a:avLst/>
          </a:prstGeom>
          <a:noFill/>
          <a:ln w="28575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6A3B51-0FB9-49F3-BB27-8FB9C411075D}"/>
              </a:ext>
            </a:extLst>
          </p:cNvPr>
          <p:cNvSpPr>
            <a:spLocks noGrp="1"/>
          </p:cNvSpPr>
          <p:nvPr/>
        </p:nvSpPr>
        <p:spPr>
          <a:xfrm>
            <a:off x="4972050" y="45339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B59CFF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B59CFF"/>
                </a:solidFill>
                <a:latin typeface="Consolas"/>
                <a:ea typeface="Consolas"/>
                <a:cs typeface="Consolas"/>
              </a:rPr>
              <a:t>BATCH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64817B-09A4-4EC3-B737-6D71FEF6904A}"/>
              </a:ext>
            </a:extLst>
          </p:cNvPr>
          <p:cNvSpPr>
            <a:spLocks noGrp="1"/>
          </p:cNvSpPr>
          <p:nvPr/>
        </p:nvSpPr>
        <p:spPr>
          <a:xfrm>
            <a:off x="4972050" y="490537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throughput vs waiting time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46681C3-5C82-47C5-83D0-9A5015962EAC}"/>
              </a:ext>
            </a:extLst>
          </p:cNvPr>
          <p:cNvSpPr>
            <a:spLocks noGrp="1"/>
          </p:cNvSpPr>
          <p:nvPr/>
        </p:nvSpPr>
        <p:spPr>
          <a:xfrm>
            <a:off x="7105650" y="4343400"/>
            <a:ext cx="1809750" cy="0"/>
          </a:xfrm>
          <a:prstGeom prst="line">
            <a:avLst/>
          </a:prstGeom>
          <a:noFill/>
          <a:ln w="2857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708F35-8909-4D3D-B5CA-07FA1061B00D}"/>
              </a:ext>
            </a:extLst>
          </p:cNvPr>
          <p:cNvSpPr>
            <a:spLocks noGrp="1"/>
          </p:cNvSpPr>
          <p:nvPr/>
        </p:nvSpPr>
        <p:spPr>
          <a:xfrm>
            <a:off x="7105650" y="45339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QUANTIZE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FF023C-E08B-4BD0-B09F-33B23FA7F1AB}"/>
              </a:ext>
            </a:extLst>
          </p:cNvPr>
          <p:cNvSpPr>
            <a:spLocks noGrp="1"/>
          </p:cNvSpPr>
          <p:nvPr/>
        </p:nvSpPr>
        <p:spPr>
          <a:xfrm>
            <a:off x="7105650" y="490537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memory vs quality trade-off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8AFFA2C-0E3D-4EB3-B1FF-9DE4F85DC1D1}"/>
              </a:ext>
            </a:extLst>
          </p:cNvPr>
          <p:cNvSpPr>
            <a:spLocks noGrp="1"/>
          </p:cNvSpPr>
          <p:nvPr/>
        </p:nvSpPr>
        <p:spPr>
          <a:xfrm>
            <a:off x="9239250" y="4343400"/>
            <a:ext cx="1809750" cy="0"/>
          </a:xfrm>
          <a:prstGeom prst="line">
            <a:avLst/>
          </a:prstGeom>
          <a:noFill/>
          <a:ln w="285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AB4FDF-1A3B-4ED5-8DBA-7167E7DADCE5}"/>
              </a:ext>
            </a:extLst>
          </p:cNvPr>
          <p:cNvSpPr>
            <a:spLocks noGrp="1"/>
          </p:cNvSpPr>
          <p:nvPr/>
        </p:nvSpPr>
        <p:spPr>
          <a:xfrm>
            <a:off x="9239250" y="45339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FF6B6B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ROUTE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C4FE2D-FF5E-4843-A26C-37D419A919AF}"/>
              </a:ext>
            </a:extLst>
          </p:cNvPr>
          <p:cNvSpPr>
            <a:spLocks noGrp="1"/>
          </p:cNvSpPr>
          <p:nvPr/>
        </p:nvSpPr>
        <p:spPr>
          <a:xfrm>
            <a:off x="9239250" y="4905375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easy local • hard escalate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7661AC-62DA-4EDE-9B70-FC78F37A38EF}"/>
              </a:ext>
            </a:extLst>
          </p:cNvPr>
          <p:cNvSpPr>
            <a:spLocks noGrp="1"/>
          </p:cNvSpPr>
          <p:nvPr/>
        </p:nvSpPr>
        <p:spPr>
          <a:xfrm>
            <a:off x="1143000" y="58864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83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Measure p50, p95, throughput, quality, and cost together; optimizing one can worsen another.</a:t>
            </a:r>
          </a:p>
        </p:txBody>
      </p:sp>
    </p:spTree>
    <p:extLst>
      <p:ext uri="{BB962C8B-B14F-4D97-AF65-F5344CB8AC3E}">
        <p14:creationId xmlns:p14="http://schemas.microsoft.com/office/powerpoint/2010/main" val="1966030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11A5C-AA99-42A7-B4FA-200978F7F40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3 · SELECT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E6F17-5853-410C-8CF0-99F2B987E21B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The LLM–SLM trade-off is multidimensional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9EC8520-6A4C-45C9-8835-7AF0B7E1918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F69EAB-2DD8-4918-B3DF-3710B3C36AE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Directional comparison; validate against candidate model evaluations and runtime measurements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57630-F984-403F-9897-261D1C8BB71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704850" y="1600200"/>
          <a:ext cx="10782300" cy="409575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8F1EE"/>
                          </a:solidFill>
                        </a:rPr>
                        <a:t>Decision dimension</a:t>
                      </a:r>
                    </a:p>
                  </a:txBody>
                  <a:tcPr>
                    <a:solidFill>
                      <a:srgbClr val="1A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8F1EE"/>
                          </a:solidFill>
                        </a:rPr>
                        <a:t>LLM tendency</a:t>
                      </a:r>
                    </a:p>
                  </a:txBody>
                  <a:tcPr>
                    <a:solidFill>
                      <a:srgbClr val="1A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8F1EE"/>
                          </a:solidFill>
                        </a:rPr>
                        <a:t>SLM tendency</a:t>
                      </a:r>
                    </a:p>
                  </a:txBody>
                  <a:tcPr>
                    <a:solidFill>
                      <a:srgbClr val="1A25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E8F1EE"/>
                          </a:solidFill>
                        </a:rPr>
                        <a:t>What to validate</a:t>
                      </a:r>
                    </a:p>
                  </a:txBody>
                  <a:tcPr>
                    <a:solidFill>
                      <a:srgbClr val="1A25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B347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31C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Broad transfer; stronger long-tail coverage</a:t>
                      </a:r>
                    </a:p>
                  </a:txBody>
                  <a:tcPr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Focused strength on bounded tasks</a:t>
                      </a:r>
                    </a:p>
                  </a:txBody>
                  <a:tcPr>
                    <a:solidFill>
                      <a:srgbClr val="10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91A39D"/>
                          </a:solidFill>
                        </a:rPr>
                        <a:t>Task success, robustness, escalation rate</a:t>
                      </a:r>
                    </a:p>
                  </a:txBody>
                  <a:tcPr>
                    <a:solidFill>
                      <a:srgbClr val="0B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B347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31C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Higher token or compute cost</a:t>
                      </a:r>
                    </a:p>
                  </a:txBody>
                  <a:tcPr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Lower unit cost at sufficient utilization</a:t>
                      </a:r>
                    </a:p>
                  </a:txBody>
                  <a:tcPr>
                    <a:solidFill>
                      <a:srgbClr val="10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91A39D"/>
                          </a:solidFill>
                        </a:rPr>
                        <a:t>Total cost per successful task</a:t>
                      </a:r>
                    </a:p>
                  </a:txBody>
                  <a:tcPr>
                    <a:solidFill>
                      <a:srgbClr val="0B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B347"/>
                          </a:solidFill>
                        </a:rPr>
                        <a:t>Latency</a:t>
                      </a:r>
                    </a:p>
                  </a:txBody>
                  <a:tcPr>
                    <a:solidFill>
                      <a:srgbClr val="131C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More memory/compute; often slower decode</a:t>
                      </a:r>
                    </a:p>
                  </a:txBody>
                  <a:tcPr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Faster local or dedicated inference</a:t>
                      </a:r>
                    </a:p>
                  </a:txBody>
                  <a:tcPr>
                    <a:solidFill>
                      <a:srgbClr val="10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91A39D"/>
                          </a:solidFill>
                        </a:rPr>
                        <a:t>p50/p95 including retrieval and tools</a:t>
                      </a:r>
                    </a:p>
                  </a:txBody>
                  <a:tcPr>
                    <a:solidFill>
                      <a:srgbClr val="0B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B347"/>
                          </a:solidFill>
                        </a:rPr>
                        <a:t>Infrastructure</a:t>
                      </a:r>
                    </a:p>
                  </a:txBody>
                  <a:tcPr>
                    <a:solidFill>
                      <a:srgbClr val="131C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Large accelerators or external API</a:t>
                      </a:r>
                    </a:p>
                  </a:txBody>
                  <a:tcPr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Smaller GPU/CPU/device footprint</a:t>
                      </a:r>
                    </a:p>
                  </a:txBody>
                  <a:tcPr>
                    <a:solidFill>
                      <a:srgbClr val="10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91A39D"/>
                          </a:solidFill>
                        </a:rPr>
                        <a:t>Memory, throughput, fleet operations</a:t>
                      </a:r>
                    </a:p>
                  </a:txBody>
                  <a:tcPr>
                    <a:solidFill>
                      <a:srgbClr val="0B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B347"/>
                          </a:solidFill>
                        </a:rPr>
                        <a:t>Business fit</a:t>
                      </a:r>
                    </a:p>
                  </a:txBody>
                  <a:tcPr>
                    <a:solidFill>
                      <a:srgbClr val="131C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Complex, variable, high-value work</a:t>
                      </a:r>
                    </a:p>
                  </a:txBody>
                  <a:tcPr>
                    <a:solidFill>
                      <a:srgbClr val="10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8F1EE"/>
                          </a:solidFill>
                        </a:rPr>
                        <a:t>High-volume, stable, private workflows</a:t>
                      </a:r>
                    </a:p>
                  </a:txBody>
                  <a:tcPr>
                    <a:solidFill>
                      <a:srgbClr val="10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91A39D"/>
                          </a:solidFill>
                        </a:rPr>
                        <a:t>Risk, volume, data boundary, change rate</a:t>
                      </a:r>
                    </a:p>
                  </a:txBody>
                  <a:tcPr>
                    <a:solidFill>
                      <a:srgbClr val="0B11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2BA5E73-0584-4A33-8DB5-F803864C5456}"/>
              </a:ext>
            </a:extLst>
          </p:cNvPr>
          <p:cNvSpPr>
            <a:spLocks noGrp="1"/>
          </p:cNvSpPr>
          <p:nvPr/>
        </p:nvSpPr>
        <p:spPr>
          <a:xfrm>
            <a:off x="2286000" y="59055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84"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69F0C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69F0C0"/>
                </a:solidFill>
                <a:latin typeface="Aptos"/>
                <a:ea typeface="Aptos"/>
                <a:cs typeface="Aptos"/>
              </a:rPr>
              <a:t>Rule: choose by the evaluated workload, not by model reputation.</a:t>
            </a:r>
          </a:p>
        </p:txBody>
      </p:sp>
    </p:spTree>
    <p:extLst>
      <p:ext uri="{BB962C8B-B14F-4D97-AF65-F5344CB8AC3E}">
        <p14:creationId xmlns:p14="http://schemas.microsoft.com/office/powerpoint/2010/main" val="1036768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4730E59-F09F-49B7-B9F2-6DFBC4F17C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PART 3 · SELECT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00D76C-4149-40B4-814A-6EA6DE46C3D3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79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Hybrid routing turns model choice into a runtime policy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27527D1-1AA9-42B2-BBBD-AC6E8514D5F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D2F2B-D5A5-4251-AF31-BF694DC0AF7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7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Pattern synthesis: simple workflows first [3]; production controls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3C408-D32A-41B8-9A89-411E5E9BBED5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CC0D4-0FDE-4E1A-95DF-E8F9AE8136D6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1257300" cy="8382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291A6-EA55-477A-9F16-875BA42445E4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57150" cy="83820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EACED-C19F-4025-9542-056CBF5E0DD3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99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8F1B58-195B-4F5E-A188-5C2F1135666B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99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370"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task + context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F3407-442A-444E-8289-D146D739A194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1619250" cy="12192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C142D2-A1E1-497D-A023-AD2074A6CB24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57150" cy="1219200"/>
          </a:xfrm>
          <a:prstGeom prst="rect">
            <a:avLst/>
          </a:prstGeom>
          <a:solidFill>
            <a:srgbClr val="FFB347"/>
          </a:solidFill>
          <a:ln w="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F7662-5D0B-490F-B54B-4B259EC6020A}"/>
              </a:ext>
            </a:extLst>
          </p:cNvPr>
          <p:cNvSpPr>
            <a:spLocks noGrp="1"/>
          </p:cNvSpPr>
          <p:nvPr/>
        </p:nvSpPr>
        <p:spPr>
          <a:xfrm>
            <a:off x="2628900" y="26860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122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Policy router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FDE73F-2DF2-4746-ADA7-869E6D06CC48}"/>
              </a:ext>
            </a:extLst>
          </p:cNvPr>
          <p:cNvSpPr>
            <a:spLocks noGrp="1"/>
          </p:cNvSpPr>
          <p:nvPr/>
        </p:nvSpPr>
        <p:spPr>
          <a:xfrm>
            <a:off x="2628900" y="3028950"/>
            <a:ext cx="1352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risk • complexity • confidence • data boundary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FF88A3-D85C-42B1-AC31-2D6F3E9F900B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1809750" cy="9715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7F9243-5EE2-420D-9604-ADFB540B41F2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57150" cy="971550"/>
          </a:xfrm>
          <a:prstGeom prst="rect">
            <a:avLst/>
          </a:prstGeom>
          <a:solidFill>
            <a:srgbClr val="69F0C0"/>
          </a:solidFill>
          <a:ln w="0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8FFAD4-68D4-44B7-A538-11FEF442DF90}"/>
              </a:ext>
            </a:extLst>
          </p:cNvPr>
          <p:cNvSpPr>
            <a:spLocks noGrp="1"/>
          </p:cNvSpPr>
          <p:nvPr/>
        </p:nvSpPr>
        <p:spPr>
          <a:xfrm>
            <a:off x="5010150" y="1924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SLM path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BB759D-7DA0-4374-B70F-22046A8859C7}"/>
              </a:ext>
            </a:extLst>
          </p:cNvPr>
          <p:cNvSpPr>
            <a:spLocks noGrp="1"/>
          </p:cNvSpPr>
          <p:nvPr/>
        </p:nvSpPr>
        <p:spPr>
          <a:xfrm>
            <a:off x="5010150" y="22669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local • fast • bounded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C382FD-9AC3-4210-A1F0-774BDC1F5C2A}"/>
              </a:ext>
            </a:extLst>
          </p:cNvPr>
          <p:cNvSpPr>
            <a:spLocks noGrp="1"/>
          </p:cNvSpPr>
          <p:nvPr/>
        </p:nvSpPr>
        <p:spPr>
          <a:xfrm>
            <a:off x="4857750" y="3714750"/>
            <a:ext cx="1809750" cy="97155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705E66-CD3A-4C58-AF76-CB8B64AC4098}"/>
              </a:ext>
            </a:extLst>
          </p:cNvPr>
          <p:cNvSpPr>
            <a:spLocks noGrp="1"/>
          </p:cNvSpPr>
          <p:nvPr/>
        </p:nvSpPr>
        <p:spPr>
          <a:xfrm>
            <a:off x="4857750" y="3714750"/>
            <a:ext cx="57150" cy="971550"/>
          </a:xfrm>
          <a:prstGeom prst="rect">
            <a:avLst/>
          </a:prstGeom>
          <a:solidFill>
            <a:srgbClr val="67B7FF"/>
          </a:solidFill>
          <a:ln w="0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7AC1C7-D2DE-49DC-930B-7ADB0639DE1F}"/>
              </a:ext>
            </a:extLst>
          </p:cNvPr>
          <p:cNvSpPr>
            <a:spLocks noGrp="1"/>
          </p:cNvSpPr>
          <p:nvPr/>
        </p:nvSpPr>
        <p:spPr>
          <a:xfrm>
            <a:off x="5010150" y="38290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LLM path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30C341-5EBB-464A-B97E-C6CFEC7FAA68}"/>
              </a:ext>
            </a:extLst>
          </p:cNvPr>
          <p:cNvSpPr>
            <a:spLocks noGrp="1"/>
          </p:cNvSpPr>
          <p:nvPr/>
        </p:nvSpPr>
        <p:spPr>
          <a:xfrm>
            <a:off x="5010150" y="4171950"/>
            <a:ext cx="1543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broad • complex • long tail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3E11DA-DB0F-4ECC-ACC8-46B21A20E5C8}"/>
              </a:ext>
            </a:extLst>
          </p:cNvPr>
          <p:cNvSpPr>
            <a:spLocks noGrp="1"/>
          </p:cNvSpPr>
          <p:nvPr/>
        </p:nvSpPr>
        <p:spPr>
          <a:xfrm>
            <a:off x="7429500" y="2762250"/>
            <a:ext cx="1771650" cy="8382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01934E-25DA-4A10-938B-B12F69546914}"/>
              </a:ext>
            </a:extLst>
          </p:cNvPr>
          <p:cNvSpPr>
            <a:spLocks noGrp="1"/>
          </p:cNvSpPr>
          <p:nvPr/>
        </p:nvSpPr>
        <p:spPr>
          <a:xfrm>
            <a:off x="7429500" y="2762250"/>
            <a:ext cx="57150" cy="838200"/>
          </a:xfrm>
          <a:prstGeom prst="rect">
            <a:avLst/>
          </a:prstGeom>
          <a:solidFill>
            <a:srgbClr val="B59CFF"/>
          </a:solidFill>
          <a:ln w="0">
            <a:solidFill>
              <a:srgbClr val="B59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3F6E86-37C3-4919-8FE6-C9E82E520950}"/>
              </a:ext>
            </a:extLst>
          </p:cNvPr>
          <p:cNvSpPr>
            <a:spLocks noGrp="1"/>
          </p:cNvSpPr>
          <p:nvPr/>
        </p:nvSpPr>
        <p:spPr>
          <a:xfrm>
            <a:off x="7581900" y="28765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362"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Ground + tools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80C0C3-8CF3-4E15-BF61-4DB66833B6CF}"/>
              </a:ext>
            </a:extLst>
          </p:cNvPr>
          <p:cNvSpPr>
            <a:spLocks noGrp="1"/>
          </p:cNvSpPr>
          <p:nvPr/>
        </p:nvSpPr>
        <p:spPr>
          <a:xfrm>
            <a:off x="7581900" y="3219450"/>
            <a:ext cx="1504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retrieval • APIs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BE88EA-7C22-4746-853A-1FBF78F5A040}"/>
              </a:ext>
            </a:extLst>
          </p:cNvPr>
          <p:cNvSpPr>
            <a:spLocks noGrp="1"/>
          </p:cNvSpPr>
          <p:nvPr/>
        </p:nvSpPr>
        <p:spPr>
          <a:xfrm>
            <a:off x="9753600" y="2762250"/>
            <a:ext cx="1466850" cy="838200"/>
          </a:xfrm>
          <a:prstGeom prst="rect">
            <a:avLst/>
          </a:prstGeom>
          <a:solidFill>
            <a:srgbClr val="131C22"/>
          </a:solidFill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350B82-CECB-4E66-BD15-7CE406FC053B}"/>
              </a:ext>
            </a:extLst>
          </p:cNvPr>
          <p:cNvSpPr>
            <a:spLocks noGrp="1"/>
          </p:cNvSpPr>
          <p:nvPr/>
        </p:nvSpPr>
        <p:spPr>
          <a:xfrm>
            <a:off x="9753600" y="2762250"/>
            <a:ext cx="57150" cy="838200"/>
          </a:xfrm>
          <a:prstGeom prst="rect">
            <a:avLst/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70726-CF87-45DD-8C29-2CD00F585DB3}"/>
              </a:ext>
            </a:extLst>
          </p:cNvPr>
          <p:cNvSpPr>
            <a:spLocks noGrp="1"/>
          </p:cNvSpPr>
          <p:nvPr/>
        </p:nvSpPr>
        <p:spPr>
          <a:xfrm>
            <a:off x="9906000" y="28765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Validate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EB0356-A7AD-4780-AB84-AADA35C8D680}"/>
              </a:ext>
            </a:extLst>
          </p:cNvPr>
          <p:cNvSpPr>
            <a:spLocks noGrp="1"/>
          </p:cNvSpPr>
          <p:nvPr/>
        </p:nvSpPr>
        <p:spPr>
          <a:xfrm>
            <a:off x="9906000" y="321945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policy • quality</a:t>
            </a:r>
          </a:p>
        </p:txBody>
      </p:sp>
      <p:cxnSp>
        <p:nvCxnSpPr>
          <p:cNvPr id="30" name="Straight Arrow Connector 29"/>
          <p:cNvCxnSpPr>
            <a:stCxn id="6" idx="3"/>
            <a:endCxn id="10" idx="1"/>
          </p:cNvCxnSpPr>
          <p:nvPr/>
        </p:nvCxnSpPr>
        <p:spPr>
          <a:xfrm>
            <a:off x="1962150" y="3181350"/>
            <a:ext cx="514350" cy="0"/>
          </a:xfrm>
          <a:prstGeom prst="straightConnector1">
            <a:avLst/>
          </a:prstGeom>
          <a:ln w="19050">
            <a:solidFill>
              <a:srgbClr val="67B7FF"/>
            </a:solidFill>
            <a:prstDash val="solid"/>
            <a:tailEnd type="triangle" w="sm" len="sm"/>
          </a:ln>
        </p:spPr>
      </p:cxnSp>
      <p:cxnSp>
        <p:nvCxnSpPr>
          <p:cNvPr id="31" name="Connector: Elbow 30"/>
          <p:cNvCxnSpPr>
            <a:stCxn id="10" idx="3"/>
            <a:endCxn id="14" idx="1"/>
          </p:cNvCxnSpPr>
          <p:nvPr/>
        </p:nvCxnSpPr>
        <p:spPr>
          <a:xfrm flipV="1">
            <a:off x="4095750" y="2295525"/>
            <a:ext cx="762000" cy="885825"/>
          </a:xfrm>
          <a:prstGeom prst="bentConnector3">
            <a:avLst>
              <a:gd name="adj1" fmla="val 50000"/>
            </a:avLst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32" name="Connector: Elbow 31"/>
          <p:cNvCxnSpPr>
            <a:stCxn id="10" idx="3"/>
            <a:endCxn id="18" idx="1"/>
          </p:cNvCxnSpPr>
          <p:nvPr/>
        </p:nvCxnSpPr>
        <p:spPr>
          <a:xfrm>
            <a:off x="4095750" y="3181350"/>
            <a:ext cx="762000" cy="1019175"/>
          </a:xfrm>
          <a:prstGeom prst="bentConnector3">
            <a:avLst>
              <a:gd name="adj1" fmla="val 50000"/>
            </a:avLst>
          </a:prstGeom>
          <a:ln w="19050">
            <a:solidFill>
              <a:srgbClr val="67B7FF"/>
            </a:solidFill>
            <a:prstDash val="solid"/>
            <a:tailEnd type="triangle" w="sm" len="sm"/>
          </a:ln>
        </p:spPr>
      </p:cxnSp>
      <p:cxnSp>
        <p:nvCxnSpPr>
          <p:cNvPr id="33" name="Connector: Elbow 32"/>
          <p:cNvCxnSpPr>
            <a:stCxn id="14" idx="3"/>
            <a:endCxn id="22" idx="1"/>
          </p:cNvCxnSpPr>
          <p:nvPr/>
        </p:nvCxnSpPr>
        <p:spPr>
          <a:xfrm>
            <a:off x="6667500" y="2295525"/>
            <a:ext cx="762000" cy="885825"/>
          </a:xfrm>
          <a:prstGeom prst="bentConnector3">
            <a:avLst>
              <a:gd name="adj1" fmla="val 50000"/>
            </a:avLst>
          </a:prstGeom>
          <a:ln w="19050">
            <a:solidFill>
              <a:srgbClr val="69F0C0"/>
            </a:solidFill>
            <a:prstDash val="solid"/>
            <a:tailEnd type="triangle" w="sm" len="sm"/>
          </a:ln>
        </p:spPr>
      </p:cxnSp>
      <p:cxnSp>
        <p:nvCxnSpPr>
          <p:cNvPr id="34" name="Connector: Elbow 33"/>
          <p:cNvCxnSpPr>
            <a:stCxn id="18" idx="3"/>
            <a:endCxn id="22" idx="1"/>
          </p:cNvCxnSpPr>
          <p:nvPr/>
        </p:nvCxnSpPr>
        <p:spPr>
          <a:xfrm flipV="1">
            <a:off x="6667500" y="3181350"/>
            <a:ext cx="762000" cy="1019175"/>
          </a:xfrm>
          <a:prstGeom prst="bentConnector3">
            <a:avLst>
              <a:gd name="adj1" fmla="val 50000"/>
            </a:avLst>
          </a:prstGeom>
          <a:ln w="19050">
            <a:solidFill>
              <a:srgbClr val="67B7FF"/>
            </a:solidFill>
            <a:prstDash val="solid"/>
            <a:tailEnd type="triangle" w="sm" len="sm"/>
          </a:ln>
        </p:spPr>
      </p:cxnSp>
      <p:cxnSp>
        <p:nvCxnSpPr>
          <p:cNvPr id="35" name="Straight Arrow Connector 34"/>
          <p:cNvCxnSpPr>
            <a:stCxn id="22" idx="3"/>
            <a:endCxn id="26" idx="1"/>
          </p:cNvCxnSpPr>
          <p:nvPr/>
        </p:nvCxnSpPr>
        <p:spPr>
          <a:xfrm>
            <a:off x="9201150" y="3181350"/>
            <a:ext cx="552450" cy="0"/>
          </a:xfrm>
          <a:prstGeom prst="straightConnector1">
            <a:avLst/>
          </a:prstGeom>
          <a:ln w="19050">
            <a:solidFill>
              <a:srgbClr val="B59CFF"/>
            </a:solidFill>
            <a:prstDash val="solid"/>
            <a:tailEnd type="triangle" w="sm" len="sm"/>
          </a:ln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67C8751-1926-40B2-9F5B-8009CC9B02F0}"/>
              </a:ext>
            </a:extLst>
          </p:cNvPr>
          <p:cNvSpPr>
            <a:spLocks noGrp="1"/>
          </p:cNvSpPr>
          <p:nvPr/>
        </p:nvSpPr>
        <p:spPr>
          <a:xfrm>
            <a:off x="4762500" y="1428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81"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LOW RISK / HIGH CONFIDENCE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565BEA-91A5-40F2-AD81-FED0727D30F4}"/>
              </a:ext>
            </a:extLst>
          </p:cNvPr>
          <p:cNvSpPr>
            <a:spLocks noGrp="1"/>
          </p:cNvSpPr>
          <p:nvPr/>
        </p:nvSpPr>
        <p:spPr>
          <a:xfrm>
            <a:off x="4762500" y="48577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AMBIGUOUS / HIGH IMPACT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32EAD4-2009-4913-9CC2-8B40BDA288E3}"/>
              </a:ext>
            </a:extLst>
          </p:cNvPr>
          <p:cNvSpPr>
            <a:spLocks noGrp="1"/>
          </p:cNvSpPr>
          <p:nvPr/>
        </p:nvSpPr>
        <p:spPr>
          <a:xfrm>
            <a:off x="704850" y="51054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Fallbacks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ACF281-02F4-4389-AB62-7F1A762F8CBB}"/>
              </a:ext>
            </a:extLst>
          </p:cNvPr>
          <p:cNvSpPr>
            <a:spLocks noGrp="1"/>
          </p:cNvSpPr>
          <p:nvPr/>
        </p:nvSpPr>
        <p:spPr>
          <a:xfrm>
            <a:off x="2343150" y="51244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abstain  •  ask clarification  •  human review  •  escalate model  •  deterministic rule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83EE8B-CB7F-4CDE-A434-82AF89775A1B}"/>
              </a:ext>
            </a:extLst>
          </p:cNvPr>
          <p:cNvSpPr>
            <a:spLocks noGrp="1"/>
          </p:cNvSpPr>
          <p:nvPr/>
        </p:nvSpPr>
        <p:spPr>
          <a:xfrm>
            <a:off x="2857500" y="579120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98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FFB347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B347"/>
                </a:solidFill>
                <a:latin typeface="Aptos"/>
                <a:ea typeface="Aptos"/>
                <a:cs typeface="Aptos"/>
              </a:rPr>
              <a:t>Routing policy must be evaluated like any other model.</a:t>
            </a:r>
          </a:p>
        </p:txBody>
      </p:sp>
    </p:spTree>
    <p:extLst>
      <p:ext uri="{BB962C8B-B14F-4D97-AF65-F5344CB8AC3E}">
        <p14:creationId xmlns:p14="http://schemas.microsoft.com/office/powerpoint/2010/main" val="170973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1E10103-AACA-4EAC-8480-D4685180264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WORKSHOP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22BE4-0DC5-408A-B539-FEDB36F558FB}"/>
              </a:ext>
            </a:extLst>
          </p:cNvPr>
          <p:cNvSpPr>
            <a:spLocks noGrp="1"/>
          </p:cNvSpPr>
          <p:nvPr/>
        </p:nvSpPr>
        <p:spPr>
          <a:xfrm>
            <a:off x="609600" y="581025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88"/>
          </a:bodyPr>
          <a:lstStyle/>
          <a:p>
            <a:pPr algn="l">
              <a:lnSpc>
                <a:spcPct val="92000"/>
              </a:lnSpc>
              <a:buNone/>
              <a:def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Three scenarios reveal different best-fit models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0F674EA-756C-4AA0-9CF5-5C130D0A3AE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0213C-36A2-4F29-9C08-81EA4E8DF42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F46689-FBF3-441F-B270-CCD47BD06BE2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438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8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C05BA8B-976F-4C10-B29F-A5EACBCB1D27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3048000" cy="0"/>
          </a:xfrm>
          <a:prstGeom prst="line">
            <a:avLst/>
          </a:prstGeom>
          <a:noFill/>
          <a:ln w="28575">
            <a:solidFill>
              <a:srgbClr val="69F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F9839-B656-4E90-B254-B4E40F9DBC25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Factory maintenance assistant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EA94D-30BE-429B-B058-B2B16987F8CC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3000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Offline tablet • proprietary manuals • narrow tasks • safety escalation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33B6C3-C4DE-46F4-882F-EE836E71DB17}"/>
              </a:ext>
            </a:extLst>
          </p:cNvPr>
          <p:cNvSpPr>
            <a:spLocks noGrp="1"/>
          </p:cNvSpPr>
          <p:nvPr/>
        </p:nvSpPr>
        <p:spPr>
          <a:xfrm>
            <a:off x="704850" y="4514850"/>
            <a:ext cx="3000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69F0C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9F0C0"/>
                </a:solidFill>
                <a:latin typeface="Aptos"/>
                <a:ea typeface="Aptos"/>
                <a:cs typeface="Aptos"/>
              </a:rPr>
              <a:t>Candidate: on-device SLM + RAG + human escalation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A215A4-0415-4892-878E-B7DED8F5CE4A}"/>
              </a:ext>
            </a:extLst>
          </p:cNvPr>
          <p:cNvSpPr>
            <a:spLocks noGrp="1"/>
          </p:cNvSpPr>
          <p:nvPr/>
        </p:nvSpPr>
        <p:spPr>
          <a:xfrm>
            <a:off x="4210050" y="1581150"/>
            <a:ext cx="438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2850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DE3DCB5-C65C-4673-8777-2C6BC6AE2818}"/>
              </a:ext>
            </a:extLst>
          </p:cNvPr>
          <p:cNvSpPr>
            <a:spLocks noGrp="1"/>
          </p:cNvSpPr>
          <p:nvPr/>
        </p:nvSpPr>
        <p:spPr>
          <a:xfrm>
            <a:off x="4210050" y="2152650"/>
            <a:ext cx="3048000" cy="0"/>
          </a:xfrm>
          <a:prstGeom prst="line">
            <a:avLst/>
          </a:prstGeom>
          <a:noFill/>
          <a:ln w="28575">
            <a:solidFill>
              <a:srgbClr val="67B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4B1DDB-2168-4CB0-9BFD-740959CCFCB4}"/>
              </a:ext>
            </a:extLst>
          </p:cNvPr>
          <p:cNvSpPr>
            <a:spLocks noGrp="1"/>
          </p:cNvSpPr>
          <p:nvPr/>
        </p:nvSpPr>
        <p:spPr>
          <a:xfrm>
            <a:off x="4210050" y="2381250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Strategy research copilot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5F0A0C-6523-40E5-8D95-BDA8098870B6}"/>
              </a:ext>
            </a:extLst>
          </p:cNvPr>
          <p:cNvSpPr>
            <a:spLocks noGrp="1"/>
          </p:cNvSpPr>
          <p:nvPr/>
        </p:nvSpPr>
        <p:spPr>
          <a:xfrm>
            <a:off x="4210050" y="3162300"/>
            <a:ext cx="3000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Cross-domain synthesis • variable questions • high-value users • citations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0DCC70-4C8D-4892-AE07-0DB093B7B248}"/>
              </a:ext>
            </a:extLst>
          </p:cNvPr>
          <p:cNvSpPr>
            <a:spLocks noGrp="1"/>
          </p:cNvSpPr>
          <p:nvPr/>
        </p:nvSpPr>
        <p:spPr>
          <a:xfrm>
            <a:off x="4210050" y="4514850"/>
            <a:ext cx="3000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67B7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7B7FF"/>
                </a:solidFill>
                <a:latin typeface="Aptos"/>
                <a:ea typeface="Aptos"/>
                <a:cs typeface="Aptos"/>
              </a:rPr>
              <a:t>Candidate: LLM + retrieval + analyst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FE0511-BF85-4DE8-93AE-DB8286841D23}"/>
              </a:ext>
            </a:extLst>
          </p:cNvPr>
          <p:cNvSpPr>
            <a:spLocks noGrp="1"/>
          </p:cNvSpPr>
          <p:nvPr/>
        </p:nvSpPr>
        <p:spPr>
          <a:xfrm>
            <a:off x="7715250" y="1581150"/>
            <a:ext cx="438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850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C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53B3078-3BB5-4014-968C-8198B735D9D5}"/>
              </a:ext>
            </a:extLst>
          </p:cNvPr>
          <p:cNvSpPr>
            <a:spLocks noGrp="1"/>
          </p:cNvSpPr>
          <p:nvPr/>
        </p:nvSpPr>
        <p:spPr>
          <a:xfrm>
            <a:off x="7715250" y="2152650"/>
            <a:ext cx="3048000" cy="0"/>
          </a:xfrm>
          <a:prstGeom prst="line">
            <a:avLst/>
          </a:prstGeom>
          <a:noFill/>
          <a:ln w="28575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70173-4130-4DB8-8840-EB6EA0535F5E}"/>
              </a:ext>
            </a:extLst>
          </p:cNvPr>
          <p:cNvSpPr>
            <a:spLocks noGrp="1"/>
          </p:cNvSpPr>
          <p:nvPr/>
        </p:nvSpPr>
        <p:spPr>
          <a:xfrm>
            <a:off x="7715250" y="2381250"/>
            <a:ext cx="304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Ticket classification at 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83F591-9537-4D0D-8839-56E11308227B}"/>
              </a:ext>
            </a:extLst>
          </p:cNvPr>
          <p:cNvSpPr>
            <a:spLocks noGrp="1"/>
          </p:cNvSpPr>
          <p:nvPr/>
        </p:nvSpPr>
        <p:spPr>
          <a:xfrm>
            <a:off x="7715250" y="3162300"/>
            <a:ext cx="300037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Stable labels • high volume • tight SLA • sensitive text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925B07-9DC5-470C-9615-C3B4E2496948}"/>
              </a:ext>
            </a:extLst>
          </p:cNvPr>
          <p:cNvSpPr>
            <a:spLocks noGrp="1"/>
          </p:cNvSpPr>
          <p:nvPr/>
        </p:nvSpPr>
        <p:spPr>
          <a:xfrm>
            <a:off x="7715250" y="4514850"/>
            <a:ext cx="3000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FFB34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B347"/>
                </a:solidFill>
                <a:latin typeface="Aptos"/>
                <a:ea typeface="Aptos"/>
                <a:cs typeface="Aptos"/>
              </a:rPr>
              <a:t>Candidate: fine-tuned SLM or classifier + fallback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54403C-F7A3-4B2C-845D-B2CA1ACE9FE4}"/>
              </a:ext>
            </a:extLst>
          </p:cNvPr>
          <p:cNvSpPr>
            <a:spLocks noGrp="1"/>
          </p:cNvSpPr>
          <p:nvPr/>
        </p:nvSpPr>
        <p:spPr>
          <a:xfrm>
            <a:off x="704850" y="57721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Discuss for 5 minutes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36322B-D901-4882-A931-40CBC79EF194}"/>
              </a:ext>
            </a:extLst>
          </p:cNvPr>
          <p:cNvSpPr>
            <a:spLocks noGrp="1"/>
          </p:cNvSpPr>
          <p:nvPr/>
        </p:nvSpPr>
        <p:spPr>
          <a:xfrm>
            <a:off x="3429000" y="5772150"/>
            <a:ext cx="790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13"/>
          </a:bodyPr>
          <a:lstStyle/>
          <a:p>
            <a:pPr algn="l">
              <a:lnSpc>
                <a:spcPct val="100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Which assumption could flip each recommendation? What evidence would you collect first?</a:t>
            </a:r>
          </a:p>
        </p:txBody>
      </p:sp>
    </p:spTree>
    <p:extLst>
      <p:ext uri="{BB962C8B-B14F-4D97-AF65-F5344CB8AC3E}">
        <p14:creationId xmlns:p14="http://schemas.microsoft.com/office/powerpoint/2010/main" val="214726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35FC18A-E5B6-4564-A8D5-781C267BB70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THE DECISION PRINCIPLE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48C4FA-653F-4189-894C-D1BD1AB65CC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98107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65"/>
          </a:bodyPr>
          <a:lstStyle/>
          <a:p>
            <a:pPr algn="l">
              <a:lnSpc>
                <a:spcPct val="92000"/>
              </a:lnSpc>
              <a:buNone/>
              <a:defRPr sz="43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E8F1EE"/>
                </a:solidFill>
                <a:latin typeface="Aptos Display"/>
                <a:ea typeface="Aptos Display"/>
                <a:cs typeface="Aptos Display"/>
              </a:rPr>
              <a:t>Choose the smallest model that reliably passes the bar.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8580BF-44CE-4B7A-8BE1-F1142AB9DF2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67B7FF"/>
                </a:solidFill>
                <a:latin typeface="Consolas"/>
                <a:ea typeface="Consolas"/>
                <a:cs typeface="Consolas"/>
              </a:defRPr>
            </a:pPr>
            <a:r>
              <a:rPr sz="2325" b="1" i="0">
                <a:solidFill>
                  <a:srgbClr val="67B7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C4E493-2BC2-4557-AE1E-95FEAB348257}"/>
              </a:ext>
            </a:extLst>
          </p:cNvPr>
          <p:cNvSpPr>
            <a:spLocks noGrp="1"/>
          </p:cNvSpPr>
          <p:nvPr/>
        </p:nvSpPr>
        <p:spPr>
          <a:xfrm>
            <a:off x="1219200" y="28575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Engineer the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407A4-A475-4F8D-8C66-1007AEB2AC79}"/>
              </a:ext>
            </a:extLst>
          </p:cNvPr>
          <p:cNvSpPr>
            <a:spLocks noGrp="1"/>
          </p:cNvSpPr>
          <p:nvPr/>
        </p:nvSpPr>
        <p:spPr>
          <a:xfrm>
            <a:off x="4000500" y="2857500"/>
            <a:ext cx="714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Grounding, tools, controls, evaluation, and operations determine production success.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B317A-6B16-4218-B943-40AD261487AF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2325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12974C-567C-42DD-97A3-7F1705E72434}"/>
              </a:ext>
            </a:extLst>
          </p:cNvPr>
          <p:cNvSpPr>
            <a:spLocks noGrp="1"/>
          </p:cNvSpPr>
          <p:nvPr/>
        </p:nvSpPr>
        <p:spPr>
          <a:xfrm>
            <a:off x="1219200" y="37719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98"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Measure on the workload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912395-7F27-477D-83DD-0D81E1F0EAFB}"/>
              </a:ext>
            </a:extLst>
          </p:cNvPr>
          <p:cNvSpPr>
            <a:spLocks noGrp="1"/>
          </p:cNvSpPr>
          <p:nvPr/>
        </p:nvSpPr>
        <p:spPr>
          <a:xfrm>
            <a:off x="4000500" y="3771900"/>
            <a:ext cx="714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Use representative tasks, failure modes, p95 latency, and total cost per success.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C4207D-5F98-4AC8-AAF4-1223293C42C4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325" b="1" i="0">
                <a:solidFill>
                  <a:srgbClr val="FFB347"/>
                </a:solidFill>
                <a:latin typeface="Consolas"/>
                <a:ea typeface="Consolas"/>
                <a:cs typeface="Consolas"/>
              </a:defRPr>
            </a:pPr>
            <a:r>
              <a:rPr sz="2325" b="1" i="0">
                <a:solidFill>
                  <a:srgbClr val="FFB34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D51A9B-2B18-440E-8844-55A20A201477}"/>
              </a:ext>
            </a:extLst>
          </p:cNvPr>
          <p:cNvSpPr>
            <a:spLocks noGrp="1"/>
          </p:cNvSpPr>
          <p:nvPr/>
        </p:nvSpPr>
        <p:spPr>
          <a:xfrm>
            <a:off x="1219200" y="46863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E8F1EE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F1EE"/>
                </a:solidFill>
                <a:latin typeface="Aptos"/>
                <a:ea typeface="Aptos"/>
                <a:cs typeface="Aptos"/>
              </a:rPr>
              <a:t>Route the long tail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88C88-C58B-40B6-9412-0D90C16047BD}"/>
              </a:ext>
            </a:extLst>
          </p:cNvPr>
          <p:cNvSpPr>
            <a:spLocks noGrp="1"/>
          </p:cNvSpPr>
          <p:nvPr/>
        </p:nvSpPr>
        <p:spPr>
          <a:xfrm>
            <a:off x="4000500" y="4686300"/>
            <a:ext cx="714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91A39D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91A39D"/>
                </a:solidFill>
                <a:latin typeface="Aptos"/>
                <a:ea typeface="Aptos"/>
                <a:cs typeface="Aptos"/>
              </a:rPr>
              <a:t>Combine SLM efficiency with LLM breadth when one model cannot optimize every request.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8A462F0-1129-4A17-AEAA-2B6C5C40435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0"/>
          </a:xfrm>
          <a:prstGeom prst="line">
            <a:avLst/>
          </a:prstGeom>
          <a:noFill/>
          <a:ln w="9525">
            <a:solidFill>
              <a:srgbClr val="2B3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7B9C3C-6B41-4924-96B6-D1568259501C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69F0C0"/>
                </a:solidFill>
                <a:latin typeface="Consolas"/>
                <a:ea typeface="Consolas"/>
                <a:cs typeface="Consolas"/>
              </a:rPr>
              <a:t>NEXT: define one use case → build an eval set → benchmark two model paths → choose the operating policy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91951D-708C-46B5-A0D7-CEFF9A6F0CE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1A39D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597896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Systems Lab">
  <a:themeElements>
    <a:clrScheme name="Dark Systems Lab">
      <a:dk1>
        <a:srgbClr val="05080A"/>
      </a:dk1>
      <a:lt1>
        <a:srgbClr val="FFFFFF"/>
      </a:lt1>
      <a:dk2>
        <a:srgbClr val="1A252C"/>
      </a:dk2>
      <a:lt2>
        <a:srgbClr val="D9E5E1"/>
      </a:lt2>
      <a:accent1>
        <a:srgbClr val="69F0C0"/>
      </a:accent1>
      <a:accent2>
        <a:srgbClr val="FFB347"/>
      </a:accent2>
      <a:accent3>
        <a:srgbClr val="67B7FF"/>
      </a:accent3>
      <a:accent4>
        <a:srgbClr val="FF6B6B"/>
      </a:accent4>
      <a:accent5>
        <a:srgbClr val="B59CFF"/>
      </a:accent5>
      <a:accent6>
        <a:srgbClr val="7ED957"/>
      </a:accent6>
      <a:hlink>
        <a:srgbClr val="69F0C0"/>
      </a:hlink>
      <a:folHlink>
        <a:srgbClr val="B59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Dark Systems La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2360</Words>
  <Application>Microsoft Office PowerPoint</Application>
  <PresentationFormat>Widescreen</PresentationFormat>
  <Paragraphs>429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Consolas</vt:lpstr>
      <vt:lpstr>Dark Systems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 KHARAT</dc:creator>
  <cp:lastModifiedBy>Ramesh KHARAT</cp:lastModifiedBy>
  <cp:revision>1</cp:revision>
  <dcterms:created xsi:type="dcterms:W3CDTF">2026-10-05T02:16:12Z</dcterms:created>
  <dcterms:modified xsi:type="dcterms:W3CDTF">2026-10-05T02:18:14Z</dcterms:modified>
</cp:coreProperties>
</file>