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A8B5976-BD6F-A1D9-5FFC-31D47EDD0524}">
          <p14:sldIdLst>
            <p14:sldId id="256"/>
          </p14:sldIdLst>
        </p14:section>
        <p14:section name="The paper" id="{C1ADE3D1-E8DF-31FA-95FC-5428A6FD0C3D}">
          <p14:sldIdLst>
            <p14:sldId id="257"/>
          </p14:sldIdLst>
        </p14:section>
        <p14:section name="Architecture" id="{4816B2AA-3CC3-A06F-34E0-4FF273EAF580}">
          <p14:sldIdLst>
            <p14:sldId id="258"/>
            <p14:sldId id="259"/>
            <p14:sldId id="260"/>
          </p14:sldIdLst>
        </p14:section>
        <p14:section name="Parameters and weights" id="{A4ACED1C-2072-4C10-8F4E-EC0B20889152}">
          <p14:sldIdLst>
            <p14:sldId id="261"/>
            <p14:sldId id="262"/>
            <p14:sldId id="263"/>
            <p14:sldId id="264"/>
          </p14:sldIdLst>
        </p14:section>
        <p14:section name="Wrap-up" id="{743D9D33-1DA0-49D2-041E-41F4364DEFE8}">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3" d="100"/>
          <a:sy n="83"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Attention from 'it'</c:v>
                </c:pt>
              </c:strCache>
            </c:strRef>
          </c:tx>
          <c:spPr>
            <a:solidFill>
              <a:srgbClr val="12968A"/>
            </a:solidFill>
            <a:effectLst/>
          </c:spPr>
          <c:invertIfNegative val="0"/>
          <c:dLbls>
            <c:numFmt formatCode="0.00" sourceLinked="0"/>
            <c:spPr>
              <a:noFill/>
              <a:ln>
                <a:noFill/>
              </a:ln>
              <a:effectLst/>
            </c:spPr>
            <c:txPr>
              <a:bodyPr/>
              <a:lstStyle/>
              <a:p>
                <a:pPr>
                  <a:defRPr sz="1200" b="0" i="0" u="none" strike="noStrike">
                    <a:solidFill>
                      <a:srgbClr val="434A5C"/>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The</c:v>
                </c:pt>
                <c:pt idx="1">
                  <c:v>animal</c:v>
                </c:pt>
                <c:pt idx="2">
                  <c:v>didn't</c:v>
                </c:pt>
                <c:pt idx="3">
                  <c:v>cross</c:v>
                </c:pt>
                <c:pt idx="4">
                  <c:v>the</c:v>
                </c:pt>
                <c:pt idx="5">
                  <c:v>street</c:v>
                </c:pt>
                <c:pt idx="6">
                  <c:v>because</c:v>
                </c:pt>
                <c:pt idx="7">
                  <c:v>it</c:v>
                </c:pt>
                <c:pt idx="8">
                  <c:v>was</c:v>
                </c:pt>
                <c:pt idx="9">
                  <c:v>tired</c:v>
                </c:pt>
              </c:strCache>
            </c:strRef>
          </c:cat>
          <c:val>
            <c:numRef>
              <c:f>Sheet1!$B$2:$B$11</c:f>
              <c:numCache>
                <c:formatCode>General</c:formatCode>
                <c:ptCount val="10"/>
                <c:pt idx="0">
                  <c:v>0.04</c:v>
                </c:pt>
                <c:pt idx="1">
                  <c:v>0.45</c:v>
                </c:pt>
                <c:pt idx="2">
                  <c:v>0.03</c:v>
                </c:pt>
                <c:pt idx="3">
                  <c:v>0.04</c:v>
                </c:pt>
                <c:pt idx="4">
                  <c:v>0.03</c:v>
                </c:pt>
                <c:pt idx="5">
                  <c:v>0.15</c:v>
                </c:pt>
                <c:pt idx="6">
                  <c:v>0.03</c:v>
                </c:pt>
                <c:pt idx="7">
                  <c:v>0.12</c:v>
                </c:pt>
                <c:pt idx="8">
                  <c:v>0.03</c:v>
                </c:pt>
                <c:pt idx="9">
                  <c:v>0.08</c:v>
                </c:pt>
              </c:numCache>
            </c:numRef>
          </c:val>
          <c:extLst>
            <c:ext xmlns:c16="http://schemas.microsoft.com/office/drawing/2014/chart" uri="{C3380CC4-5D6E-409C-BE32-E72D297353CC}">
              <c16:uniqueId val="{00000000-4C56-448F-9B7E-24D2F22FA34A}"/>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434A5C"/>
                </a:solidFill>
                <a:latin typeface="+mn-lt"/>
              </a:defRPr>
            </a:pPr>
            <a:endParaRPr lang="en-US"/>
          </a:p>
        </c:txPr>
        <c:crossAx val="2094734552"/>
        <c:crosses val="autoZero"/>
        <c:auto val="1"/>
        <c:lblAlgn val="ctr"/>
        <c:lblOffset val="100"/>
        <c:noMultiLvlLbl val="1"/>
      </c:catAx>
      <c:valAx>
        <c:axId val="2094734552"/>
        <c:scaling>
          <c:orientation val="minMax"/>
          <c:max val="0.55000000000000004"/>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6640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(3 min)
Today's session explains the transformer, the architecture behind every modern LLM and SLM, starting from the 2017 paper "Attention Is All You Need" by Vaswani et al. (Google Brain / Google Research, NeurIPS 2017).
Note: the paper is sometimes misquoted as "Attention you need to know"; the correct title is "Attention Is All You Need".
Flow of the session (10 slides, about 60–75 minutes):
1. Why the paper mattered.
2. The architecture and self-attention, with a worked example.
3. What parameters and weights are, how they are learned, and how to count them, ending with a full parameter count of the original model and a scaling rule used for GPT-style models.
Ask: "Who has heard the phrase '8 billion parameters'? What do you think a parameter actually is?" Collect answers; we will come back to them on slide 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PAPER MATTERED (6 min)
Before 2017, translation and language tasks used recurrent networks (RNNs, LSTMs), often with attention added on top. RNNs process tokens one after another, so training cannot be parallelised across the sequence, and information from early words has to survive many steps to influence later ones.
The paper's idea: drop recurrence completely and build the model from attention plus simple feed-forward layers. Every token can attend directly to every other token in one step, and all positions are computed in parallel, which suits GPUs.
Results reported in the paper (WMT 2014):
- English to German: 28.4 BLEU, more than 2 BLEU better than the previous best, including ensembles.
- English to French: 41.8 BLEU for a single model.
- Training cost: base model 12 hours (100K steps), big model 3.5 days (300K steps), on 8 P100 GPUs: a fraction of earlier models' cost.
Timeline: within a year the architecture was split into encoder-only (BERT) and decoder-only (GPT) families. Every modern LLM and SLM is a transformer.
BLEU in one sentence: a score from 0 to 100 measuring overlap between machine translation and human reference translations.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(7 min)
Read the diagram from the bottom up, as in Figure 1 of the paper.
Encoder (left): the source sentence is turned into token embeddings, positional information is added, and the result passes through 6 identical layers. Each layer has two sub-layers: multi-head self-attention and a position-wise feed-forward network. Around each sub-layer: a residual connection ("add" the input back) followed by layer normalisation: LayerNorm(x + Sublayer(x)).
Decoder (right): also 6 layers, with three sub-layers each:
1. Masked self-attention: a token may only attend to earlier tokens, so the model cannot "cheat" by looking at the answer.
2. Cross-attention (violet arrow): queries come from the decoder, keys and values from the encoder output. This is how the translation "looks at" the source sentence.
3. Feed-forward network.
A final linear layer + softmax turns the last vector into a probability for every word in the vocabulary.
Modern variants: GPT-style models keep only the decoder (without cross-attention); BERT keeps only the encoder. The building blocks are the same, which is why understanding this one diagram explains today's LLMs and SLMs.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SELF-ATTENTION (8 min)
Use the sentence "The animal didn't cross the street because it was tired." What does "it" refer to? Humans know: the animal. Self-attention is how the model works this out.
Step by step for one attention head:
1. Every token has a vector of d_model = 512 numbers. Multiply it by three learned weight matrices (each 512 × 64 for one head) to get a query q (what am I looking for?), a key k (what do I contain?) and a value v (what do I pass on?).
2. Score: q_it · k_j for every token j. A high dot product means the vectors point in a similar direction, i.e. high relevance.
3. Scale by √d_k = 8. Without this, dot products of 64-dimensional vectors grow large, softmax becomes extremely peaked and gradients vanish. The paper calls this "scaled" dot-product attention for exactly this reason. Then softmax converts scores into weights between 0 and 1 that sum to 1.
4. The new representation of "it" is the weighted average of all value vectors: 45% from "animal", 15% from "street", and so on.
Mini numeric example for the whiteboard: scores [16, 8, 0] / 8 = [2, 1, 0]; softmax ≈ [0.67, 0.24, 0.09].
Point out: W_Q, W_K, W_V are parameters. Training adjusts them so that useful relationships get high scores. The chart values are illustrative, not taken from a real model.
In matrix form, all tokens are processed at once: Q·Kᵀ is an n × n matrix of scores. This is the parallelism advantage, and also why cost grows with the square of sequence length.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BLOCKS AND MODEL SIZES (6 min)
Multi-head attention: instead of one attention with 512-dimensional vectors, the model runs 8 smaller attentions ("heads") of 64 dimensions each, in parallel. Each head has its own W_Q, W_K, W_V, so it can learn a different kind of relationship. The 8 outputs are concatenated back to 512 and multiplied by W_O. Total cost is about the same as one big head.
Positional encoding: attention treats the input as a set, so "dog bites man" and "man bites dog" would look identical. The paper adds a fixed pattern of sine and cosine values to each position's embedding. Because it is computed by formula, it adds no parameters. (Many later models learn position embeddings or use rotary embeddings, RoPE.)
Feed-forward network: two linear layers with a ReLU in between, applied to every token independently. It expands to 4× the width (2048) and back. Research suggests these layers store much of a model's factual "knowledge".
Table: Table 3 of the paper. Point out which rows are hyperparameters (chosen by the researchers) and that the last row, the parameter count, is a consequence of them. Next we look at what a parameter actually is, then compute the 65M ourselves.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A PARAMETER? (7 min)
Start with the smallest possible example: one artificial neuron with two inputs.
- Inputs x₁ = 1.0 and x₂ = 2.0 come from the data (they are NOT parameters).
- Weights w₁ = 0.8 and w₂ = −0.5 say how much each input matters; a negative weight pushes the output down.
- Bias b = 0.1 shifts the result.
- Output y = 0.8 × 1.0 + (−0.5) × 2.0 + 0.1 = 0.8 − 1.0 + 0.1 = −0.1.
This neuron has 3 parameters: two weights and one bias.
Scale up: a linear (dense) layer is many neurons side by side. Its weights form a matrix of size inputs × outputs, plus one bias per output. The FFN's first layer in the Transformer (512 → 2048) therefore has 512 × 2048 = 1,048,576 weights plus 2,048 biases = 1,050,624 parameters.
Glossary, the most common confusions:
- Parameter = learned number stored in the model file (weights + biases, also LayerNorm gain and shift, embedding tables).
- Hyperparameter = design or training choice made by people (number of layers, d_model, heads, learning rate). Changing them changes how many parameters there are.
- Activation = intermediate values for a particular input; they exist only during computation (but they do use memory during training and inference).
"An 8B model" = 8 billion of these learned numbers. Each one is a single floating-point value: 2 bytes at FP16/BF16.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WEIGHTS ARE LEARNED (7 min)
The training loop, repeated for every batch:
1. Forward pass: run the input through the network with current weights and get a probability for every possible next token.
2. Loss: cross-entropy = −log(probability assigned to the correct token). If the model gave the right word probability 0.9, loss ≈ 0.105; if 0.01, loss ≈ 4.6.
3. Backpropagation: using the chain rule, compute for every single parameter how the loss would change if that parameter changed slightly: the gradient.
4. Update: move each weight a tiny step in the opposite direction of its gradient.
Worked example: w = 0.80, gradient 0.25, learning rate 0.01 → w becomes 0.7975. A tiny change, but done for all 65 million parameters at once, 100,000 times (base model), the weights gradually encode grammar, vocabulary and translation patterns.
In practice the paper used Adam, which adapts the step size per parameter using running averages of gradients (that is why Adam needs extra memory: two extra numbers per parameter, see slide 9). The learning rate schedule: lr = d_model^−0.5 × min(step^−0.5, step × warmup^−1.5) with warmup = 4000 steps: increase linearly at first, then decrease.
Key message: nobody sets weights by hand. Their meaning emerges from data, which is also why we cannot easily point to "the weight that knows Paris is in France".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COUNTING THE PARAMETERS (8 min)
This is the centrepiece: we reproduce the paper's model size with arithmetic. Work through it on the whiteboard.
Hyperparameters: d = d_model = 512, d_ff = 2048, h = 8 heads, N = 6 encoder and 6 decoder layers, vocabulary V ≈ 37,000 shared byte-pair-encoding tokens (EN-DE).
1. Embeddings: a table with one 512-number vector per token: 37,000 × 512 = 18,944,000. The paper shares this matrix between the encoder input, decoder input and the final pre-softmax layer, so it is counted once.
2. Positional encoding: computed by formula, 0 parameters.
3. One attention block: four 512 × 512 matrices (W_Q, W_K, W_V for all 8 heads together, plus W_O), each with a 512 bias: 4 × (262,144 + 512) = 1,050,624. The head count does not change this: 8 heads × 64 = 512.
   How many attention blocks? Encoder: 6 (self). Decoder: 12 (6 masked self + 6 cross). Total 18 → 18,911,232.
4. One FFN: W₁ 512 × 2048 + b₁ 2048 + W₂ 2048 × 512 + b₂ 512 = 2,099,712. One per layer, 12 layers → 25,196,544.
5. LayerNorm: each has a gain and a shift per dimension = 1,024. Encoder layers have 2, decoder layers 3: 12 + 18 = 30 → 30,720.
Total ≈ 63.1M. The paper reports 65M; the difference depends on exact vocabulary size and implementation details. For the big model (d = 1024, d_ff = 4096, 16 heads) the same formulas give ≈ 214M vs 213M reported, a good check that the method is right.
Insight: the FFN holds the largest share. In modern LLMs with a much bigger d_model the embedding share shrinks, and attention + FFN dominate.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SCALING UP (7 min)
Today's LLMs are decoder-only transformers. If the FFN inner size is 4 × d_model (as in the paper and GPT-3), each layer has:
- attention: 4 × d² (W_Q, W_K, W_V, W_O)
- FFN: 2 × d × 4d = 8 × d²
- = 12 × d² per layer (biases and LayerNorm are negligible at this scale).
Total ≈ 12 × L × d² + embeddings (V × d).
Worked check, GPT-3: L = 96, d = 12,288 → 12 × 96 × 150,994,944 ≈ 173.9B, plus embeddings 50,257 × 12,288 ≈ 0.62B → ≈ 174.6B, matching the published 175B.
Exercise: apply it to L = 32, d = 4,096 (Llama-like): 12 × 32 × 4,096² ≈ 6.4B, plus embeddings 128,256 × 4,096 ≈ 0.5B (×2 if input and output are not shared). Llama 3.1 8B actually uses a larger SwiGLU FFN (14,336) and grouped-query attention, which is why it lands at 8B. The rule gives the order of magnitude, not the exact number.
Memory (links to the LLM vs SLM session):
- Each parameter is a number: 2 bytes in FP16/BF16 → 8B parameters ≈ 16 GB just for weights; 4-bit quantisation ≈ 4 GB.
- Training needs much more: with mixed precision and Adam, about 16 bytes per parameter (FP16 weights 2 + FP16 gradients 2 + FP32 master weights 4 + Adam first and second moments 4 + 4). 8B → ~128 GB, before activations. This is why training needs multi-GPU clusters even when inference fits on one GPU.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TAKEAWAYS AND KNOWLEDGE CHECK (8–10 min)
Recap the four takeaways, then run the quiz (pairs, 3 minutes, then discuss).
Answers:
1. Dot products of d_k-dimensional vectors grow roughly with √d_k. Large scores push softmax into regions with tiny gradients; dividing by √d_k keeps training stable.
2. 768 × 3,072 + 3,072 = 2,359,296 + 3,072 = 2,362,368 parameters. (This is BERT-base's FFN first layer.)
3. 12 × 32 × 4,096² = 12 × 32 × 16,777,216 ≈ 6.4B, plus embeddings (vocabulary × 4,096): roughly 7B. That is the Llama-2-7B shape.
4. Hyperparameter: chosen before training. In the standard design it does not even change the parameter count, because the heads split d_model.
5. 13B × 2 bytes ≈ 26 GB, plus KV cache and overhead; about 6.5 GB at 4-bit.
Further reading:
- Vaswani et al., "Attention Is All You Need", NeurIPS 2017 (arXiv:1706.03762).
- Jay Alammar, "The Illustrated Transformer" (blog).
- Harvard NLP, "The Annotated Transformer" (code walkthrough).
- Kaplan et al. 2020, "Scaling Laws for Neural Language Models" (the 12·L·d² approximation).
Close: invite questions, and link forward to the LLM vs SLM session, where these parameter counts drive cost, latency and infrastructure.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737360"/>
            <a:ext cx="6766560" cy="2103120"/>
          </a:xfrm>
          <a:prstGeom prst="rect">
            <a:avLst/>
          </a:prstGeom>
          <a:noFill/>
          <a:ln/>
        </p:spPr>
        <p:txBody>
          <a:bodyPr wrap="square" rtlCol="0"/>
          <a:lstStyle>
            <a:lvl1pPr marL="0" indent="0" algn="l">
              <a:buNone/>
              <a:defRPr lang="en-US" sz="4200" b="1" dirty="0">
                <a:solidFill>
                  <a:schemeClr val="bg1"/>
                </a:solidFill>
              </a:defRPr>
            </a:lvl1pPr>
          </a:lstStyle>
          <a:p>
            <a:pPr marL="0" indent="0" algn="l">
              <a:buNone/>
            </a:pPr>
            <a:endParaRPr lang="en-US" sz="4200" dirty="0"/>
          </a:p>
        </p:txBody>
      </p:sp>
      <p:sp>
        <p:nvSpPr>
          <p:cNvPr id="3" name="Text 0"/>
          <p:cNvSpPr>
            <a:spLocks noGrp="1"/>
          </p:cNvSpPr>
          <p:nvPr>
            <p:ph type="body" idx="101" hasCustomPrompt="1"/>
          </p:nvPr>
        </p:nvSpPr>
        <p:spPr>
          <a:xfrm>
            <a:off x="640080" y="4023360"/>
            <a:ext cx="6583680" cy="914400"/>
          </a:xfrm>
          <a:prstGeom prst="rect">
            <a:avLst/>
          </a:prstGeom>
          <a:noFill/>
          <a:ln/>
        </p:spPr>
        <p:txBody>
          <a:bodyPr wrap="square" rtlCol="0"/>
          <a:lstStyle>
            <a:lvl1pPr marL="0" indent="0">
              <a:buNone/>
              <a:defRPr lang="en-US" sz="1800" dirty="0">
                <a:solidFill>
                  <a:schemeClr val="accent3"/>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1371600"/>
            <a:ext cx="2743200" cy="1371600"/>
          </a:xfrm>
          <a:prstGeom prst="rect">
            <a:avLst/>
          </a:prstGeom>
          <a:noFill/>
          <a:ln/>
        </p:spPr>
        <p:txBody>
          <a:bodyPr wrap="square" rtlCol="0"/>
          <a:lstStyle>
            <a:lvl1pPr marL="0" indent="0">
              <a:buNone/>
              <a:defRPr lang="en-US" sz="8800" b="1" dirty="0">
                <a:solidFill>
                  <a:schemeClr val="accent1"/>
                </a:solidFill>
              </a:defRPr>
            </a:lvl1pPr>
          </a:lstStyle>
          <a:p>
            <a:pPr marL="0" indent="0">
              <a:buNone/>
            </a:pPr>
            <a:endParaRPr lang="en-US" sz="8800" dirty="0"/>
          </a:p>
        </p:txBody>
      </p:sp>
      <p:sp>
        <p:nvSpPr>
          <p:cNvPr id="3" name="Text 0"/>
          <p:cNvSpPr>
            <a:spLocks noGrp="1"/>
          </p:cNvSpPr>
          <p:nvPr>
            <p:ph type="title" idx="101" hasCustomPrompt="1"/>
          </p:nvPr>
        </p:nvSpPr>
        <p:spPr>
          <a:xfrm>
            <a:off x="640080" y="2743200"/>
            <a:ext cx="7132320" cy="137160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4" name="Text 0"/>
          <p:cNvSpPr>
            <a:spLocks noGrp="1"/>
          </p:cNvSpPr>
          <p:nvPr>
            <p:ph type="body" idx="102" hasCustomPrompt="1"/>
          </p:nvPr>
        </p:nvSpPr>
        <p:spPr>
          <a:xfrm>
            <a:off x="640080" y="4297680"/>
            <a:ext cx="6949440" cy="1280160"/>
          </a:xfrm>
          <a:prstGeom prst="rect">
            <a:avLst/>
          </a:prstGeom>
          <a:noFill/>
          <a:ln/>
        </p:spPr>
        <p:txBody>
          <a:bodyPr wrap="square" rtlCol="0"/>
          <a:lstStyle>
            <a:lvl1pPr marL="0" indent="0">
              <a:buNone/>
              <a:defRPr lang="en-US" sz="1800" dirty="0">
                <a:solidFill>
                  <a:srgbClr val="C5CAD6"/>
                </a:solidFill>
              </a:defRPr>
            </a:lvl1pPr>
          </a:lstStyle>
          <a:p>
            <a:pPr marL="0" indent="0">
              <a:buNone/>
            </a:pPr>
            <a:endParaRPr lang="en-US" sz="1800" dirty="0"/>
          </a:p>
        </p:txBody>
      </p:sp>
      <p:sp>
        <p:nvSpPr>
          <p:cNvPr id="5" name="Text 0"/>
          <p:cNvSpPr/>
          <p:nvPr/>
        </p:nvSpPr>
        <p:spPr>
          <a:xfrm>
            <a:off x="640080" y="6355080"/>
            <a:ext cx="7315200" cy="274320"/>
          </a:xfrm>
          <a:prstGeom prst="rect">
            <a:avLst/>
          </a:prstGeom>
          <a:noFill/>
          <a:ln/>
        </p:spPr>
        <p:txBody>
          <a:bodyPr wrap="square" lIns="0" tIns="0" rIns="0" bIns="0" rtlCol="0" anchor="ctr"/>
          <a:lstStyle/>
          <a:p>
            <a:pPr marL="0" indent="0">
              <a:buNone/>
            </a:pPr>
            <a:r>
              <a:rPr lang="en-US" sz="1000" dirty="0">
                <a:solidFill>
                  <a:srgbClr val="8F96A8"/>
                </a:solidFill>
              </a:rPr>
              <a:t>Understanding Transformers  |  Instructor-led training</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rtlCol="0"/>
          <a:lstStyle>
            <a:lvl1pPr marL="0" indent="0">
              <a:buNone/>
              <a:defRPr lang="en-US" sz="1600" dirty="0">
                <a:solidFill>
                  <a:schemeClr val="accent5"/>
                </a:solidFill>
              </a:defRPr>
            </a:lvl1pPr>
          </a:lstStyle>
          <a:p>
            <a:pPr marL="0" indent="0">
              <a:buNone/>
            </a:pPr>
            <a:endParaRPr lang="en-US" sz="1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Understanding Transformers  |  Instructor-led training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rtlCol="0"/>
          <a:lstStyle>
            <a:lvl1pPr marL="0" indent="0">
              <a:buNone/>
              <a:defRPr lang="en-US" sz="1600" dirty="0">
                <a:solidFill>
                  <a:schemeClr val="accent3"/>
                </a:solidFill>
              </a:defRPr>
            </a:lvl1pPr>
          </a:lstStyle>
          <a:p>
            <a:pPr marL="0" indent="0">
              <a:buNone/>
            </a:pPr>
            <a:endParaRPr lang="en-US" sz="1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8F96A8"/>
                </a:solidFill>
              </a:rPr>
              <a:t>Understanding Transformers  |  Instructor-led training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96A8"/>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097280"/>
            <a:ext cx="6400800" cy="365760"/>
          </a:xfrm>
          <a:prstGeom prst="rect">
            <a:avLst/>
          </a:prstGeom>
          <a:noFill/>
          <a:ln/>
        </p:spPr>
        <p:txBody>
          <a:bodyPr wrap="square" lIns="0" tIns="0" rIns="0" bIns="0" rtlCol="0" anchor="t"/>
          <a:lstStyle/>
          <a:p>
            <a:pPr marL="0" indent="0">
              <a:buNone/>
            </a:pPr>
            <a:r>
              <a:rPr lang="en-US" sz="1400" b="1" kern="0" spc="300" dirty="0">
                <a:solidFill>
                  <a:schemeClr val="accent2"/>
                </a:solidFill>
              </a:rPr>
              <a:t>INSTRUCTOR-LED TECHNICAL TRAINING</a:t>
            </a:r>
            <a:endParaRPr lang="en-US" sz="1400" dirty="0"/>
          </a:p>
        </p:txBody>
      </p:sp>
      <p:sp>
        <p:nvSpPr>
          <p:cNvPr id="3" name="Text 0"/>
          <p:cNvSpPr>
            <a:spLocks noGrp="1"/>
          </p:cNvSpPr>
          <p:nvPr>
            <p:ph type="title" idx="100" hasCustomPrompt="1"/>
          </p:nvPr>
        </p:nvSpPr>
        <p:spPr>
          <a:xfrm>
            <a:off x="640080" y="1737360"/>
            <a:ext cx="6766560" cy="2103120"/>
          </a:xfrm>
          <a:prstGeom prst="rect">
            <a:avLst/>
          </a:prstGeom>
          <a:noFill/>
          <a:ln/>
        </p:spPr>
        <p:txBody>
          <a:bodyPr wrap="square" lIns="0" tIns="0" rIns="0" bIns="0" rtlCol="0" anchor="t"/>
          <a:lstStyle/>
          <a:p>
            <a:pPr marL="0" indent="0" algn="l">
              <a:buNone/>
            </a:pPr>
            <a:r>
              <a:rPr lang="en-US" sz="4200" b="1" dirty="0">
                <a:solidFill>
                  <a:schemeClr val="bg1"/>
                </a:solidFill>
              </a:rPr>
              <a:t>Understanding Transformers</a:t>
            </a:r>
            <a:endParaRPr lang="en-US" sz="4200" dirty="0"/>
          </a:p>
        </p:txBody>
      </p:sp>
      <p:sp>
        <p:nvSpPr>
          <p:cNvPr id="4" name="Text 0"/>
          <p:cNvSpPr>
            <a:spLocks noGrp="1"/>
          </p:cNvSpPr>
          <p:nvPr>
            <p:ph type="body" idx="101" hasCustomPrompt="1"/>
          </p:nvPr>
        </p:nvSpPr>
        <p:spPr>
          <a:xfrm>
            <a:off x="640080" y="4023360"/>
            <a:ext cx="6583680" cy="914400"/>
          </a:xfrm>
          <a:prstGeom prst="rect">
            <a:avLst/>
          </a:prstGeom>
          <a:noFill/>
          <a:ln/>
        </p:spPr>
        <p:txBody>
          <a:bodyPr wrap="square" lIns="0" tIns="0" rIns="0" bIns="0" rtlCol="0" anchor="t"/>
          <a:lstStyle/>
          <a:p>
            <a:pPr marL="0" indent="0">
              <a:buNone/>
            </a:pPr>
            <a:r>
              <a:rPr lang="en-US" sz="1800" dirty="0">
                <a:solidFill>
                  <a:schemeClr val="accent3"/>
                </a:solidFill>
              </a:rPr>
              <a:t>From "Attention Is All You Need" (Vaswani et al., 2017) to parameters, weights and how they are counted</a:t>
            </a:r>
            <a:endParaRPr lang="en-US" sz="1800" dirty="0"/>
          </a:p>
        </p:txBody>
      </p:sp>
      <p:sp>
        <p:nvSpPr>
          <p:cNvPr id="5" name="Text 3"/>
          <p:cNvSpPr txBox="1"/>
          <p:nvPr/>
        </p:nvSpPr>
        <p:spPr>
          <a:xfrm>
            <a:off x="640080" y="5989320"/>
            <a:ext cx="7315200" cy="365760"/>
          </a:xfrm>
          <a:prstGeom prst="rect">
            <a:avLst/>
          </a:prstGeom>
          <a:noFill/>
          <a:ln/>
        </p:spPr>
        <p:txBody>
          <a:bodyPr wrap="square" lIns="0" tIns="0" rIns="0" bIns="0" rtlCol="0" anchor="t"/>
          <a:lstStyle/>
          <a:p>
            <a:pPr marL="0" indent="0">
              <a:buNone/>
            </a:pPr>
            <a:r>
              <a:rPr lang="en-US" sz="1300" dirty="0">
                <a:solidFill>
                  <a:srgbClr val="8F96A8"/>
                </a:solidFill>
              </a:rPr>
              <a:t>Architecture  ·  Self-attention  ·  Parameters and weights  ·  Worked calculations</a:t>
            </a:r>
            <a:endParaRPr lang="en-US" sz="1300" dirty="0"/>
          </a:p>
        </p:txBody>
      </p:sp>
      <p:sp>
        <p:nvSpPr>
          <p:cNvPr id="6" name="bead"/>
          <p:cNvSpPr/>
          <p:nvPr/>
        </p:nvSpPr>
        <p:spPr>
          <a:xfrm>
            <a:off x="8257794" y="858774"/>
            <a:ext cx="507492" cy="507492"/>
          </a:xfrm>
          <a:prstGeom prst="ellipse">
            <a:avLst/>
          </a:prstGeom>
          <a:solidFill>
            <a:schemeClr val="accent1"/>
          </a:solidFill>
          <a:ln/>
        </p:spPr>
        <p:txBody>
          <a:bodyPr/>
          <a:lstStyle/>
          <a:p>
            <a:endParaRPr lang="en-US"/>
          </a:p>
        </p:txBody>
      </p:sp>
      <p:sp>
        <p:nvSpPr>
          <p:cNvPr id="7" name="bead"/>
          <p:cNvSpPr/>
          <p:nvPr/>
        </p:nvSpPr>
        <p:spPr>
          <a:xfrm>
            <a:off x="8948547" y="985647"/>
            <a:ext cx="253746" cy="253746"/>
          </a:xfrm>
          <a:prstGeom prst="ellipse">
            <a:avLst/>
          </a:prstGeom>
          <a:solidFill>
            <a:schemeClr val="accent1">
              <a:alpha val="25000"/>
            </a:schemeClr>
          </a:solidFill>
          <a:ln/>
        </p:spPr>
        <p:txBody>
          <a:bodyPr/>
          <a:lstStyle/>
          <a:p>
            <a:endParaRPr lang="en-US"/>
          </a:p>
        </p:txBody>
      </p:sp>
      <p:sp>
        <p:nvSpPr>
          <p:cNvPr id="8" name="bead"/>
          <p:cNvSpPr/>
          <p:nvPr/>
        </p:nvSpPr>
        <p:spPr>
          <a:xfrm>
            <a:off x="9540621" y="1013841"/>
            <a:ext cx="197358" cy="197358"/>
          </a:xfrm>
          <a:prstGeom prst="ellipse">
            <a:avLst/>
          </a:prstGeom>
          <a:solidFill>
            <a:schemeClr val="accent1">
              <a:alpha val="35000"/>
            </a:schemeClr>
          </a:solidFill>
          <a:ln/>
        </p:spPr>
        <p:txBody>
          <a:bodyPr/>
          <a:lstStyle/>
          <a:p>
            <a:endParaRPr lang="en-US"/>
          </a:p>
        </p:txBody>
      </p:sp>
      <p:sp>
        <p:nvSpPr>
          <p:cNvPr id="9" name="bead"/>
          <p:cNvSpPr/>
          <p:nvPr/>
        </p:nvSpPr>
        <p:spPr>
          <a:xfrm>
            <a:off x="10034016" y="943356"/>
            <a:ext cx="338328" cy="338328"/>
          </a:xfrm>
          <a:prstGeom prst="ellipse">
            <a:avLst/>
          </a:prstGeom>
          <a:solidFill>
            <a:schemeClr val="accent1">
              <a:alpha val="45000"/>
            </a:schemeClr>
          </a:solidFill>
          <a:ln/>
        </p:spPr>
        <p:txBody>
          <a:bodyPr/>
          <a:lstStyle/>
          <a:p>
            <a:endParaRPr lang="en-US"/>
          </a:p>
        </p:txBody>
      </p:sp>
      <p:sp>
        <p:nvSpPr>
          <p:cNvPr id="10" name="bead"/>
          <p:cNvSpPr/>
          <p:nvPr/>
        </p:nvSpPr>
        <p:spPr>
          <a:xfrm>
            <a:off x="10569702" y="915162"/>
            <a:ext cx="394716" cy="394716"/>
          </a:xfrm>
          <a:prstGeom prst="ellipse">
            <a:avLst/>
          </a:prstGeom>
          <a:solidFill>
            <a:schemeClr val="accent1">
              <a:alpha val="55000"/>
            </a:schemeClr>
          </a:solidFill>
          <a:ln/>
        </p:spPr>
        <p:txBody>
          <a:bodyPr/>
          <a:lstStyle/>
          <a:p>
            <a:endParaRPr lang="en-US"/>
          </a:p>
        </p:txBody>
      </p:sp>
      <p:sp>
        <p:nvSpPr>
          <p:cNvPr id="11" name="bead"/>
          <p:cNvSpPr/>
          <p:nvPr/>
        </p:nvSpPr>
        <p:spPr>
          <a:xfrm>
            <a:off x="11119485" y="901065"/>
            <a:ext cx="422910" cy="422910"/>
          </a:xfrm>
          <a:prstGeom prst="ellipse">
            <a:avLst/>
          </a:prstGeom>
          <a:solidFill>
            <a:schemeClr val="accent1">
              <a:alpha val="70000"/>
            </a:schemeClr>
          </a:solidFill>
          <a:ln/>
        </p:spPr>
        <p:txBody>
          <a:bodyPr/>
          <a:lstStyle/>
          <a:p>
            <a:endParaRPr lang="en-US"/>
          </a:p>
        </p:txBody>
      </p:sp>
      <p:sp>
        <p:nvSpPr>
          <p:cNvPr id="12" name="bead"/>
          <p:cNvSpPr/>
          <p:nvPr/>
        </p:nvSpPr>
        <p:spPr>
          <a:xfrm>
            <a:off x="8314182" y="1494282"/>
            <a:ext cx="394716" cy="394716"/>
          </a:xfrm>
          <a:prstGeom prst="ellipse">
            <a:avLst/>
          </a:prstGeom>
          <a:solidFill>
            <a:schemeClr val="accent1">
              <a:alpha val="55000"/>
            </a:schemeClr>
          </a:solidFill>
          <a:ln/>
        </p:spPr>
        <p:txBody>
          <a:bodyPr/>
          <a:lstStyle/>
          <a:p>
            <a:endParaRPr lang="en-US"/>
          </a:p>
        </p:txBody>
      </p:sp>
      <p:sp>
        <p:nvSpPr>
          <p:cNvPr id="13" name="bead"/>
          <p:cNvSpPr/>
          <p:nvPr/>
        </p:nvSpPr>
        <p:spPr>
          <a:xfrm>
            <a:off x="8906256" y="1522476"/>
            <a:ext cx="338328" cy="338328"/>
          </a:xfrm>
          <a:prstGeom prst="ellipse">
            <a:avLst/>
          </a:prstGeom>
          <a:solidFill>
            <a:schemeClr val="accent1">
              <a:alpha val="45000"/>
            </a:schemeClr>
          </a:solidFill>
          <a:ln/>
        </p:spPr>
        <p:txBody>
          <a:bodyPr/>
          <a:lstStyle/>
          <a:p>
            <a:endParaRPr lang="en-US"/>
          </a:p>
        </p:txBody>
      </p:sp>
      <p:sp>
        <p:nvSpPr>
          <p:cNvPr id="14" name="bead"/>
          <p:cNvSpPr/>
          <p:nvPr/>
        </p:nvSpPr>
        <p:spPr>
          <a:xfrm>
            <a:off x="9540621" y="1592961"/>
            <a:ext cx="197358" cy="197358"/>
          </a:xfrm>
          <a:prstGeom prst="ellipse">
            <a:avLst/>
          </a:prstGeom>
          <a:solidFill>
            <a:schemeClr val="accent1">
              <a:alpha val="35000"/>
            </a:schemeClr>
          </a:solidFill>
          <a:ln/>
        </p:spPr>
        <p:txBody>
          <a:bodyPr/>
          <a:lstStyle/>
          <a:p>
            <a:endParaRPr lang="en-US"/>
          </a:p>
        </p:txBody>
      </p:sp>
      <p:sp>
        <p:nvSpPr>
          <p:cNvPr id="15" name="bead"/>
          <p:cNvSpPr/>
          <p:nvPr/>
        </p:nvSpPr>
        <p:spPr>
          <a:xfrm>
            <a:off x="10076307" y="1564767"/>
            <a:ext cx="253746" cy="253746"/>
          </a:xfrm>
          <a:prstGeom prst="ellipse">
            <a:avLst/>
          </a:prstGeom>
          <a:solidFill>
            <a:schemeClr val="accent1">
              <a:alpha val="25000"/>
            </a:schemeClr>
          </a:solidFill>
          <a:ln/>
        </p:spPr>
        <p:txBody>
          <a:bodyPr/>
          <a:lstStyle/>
          <a:p>
            <a:endParaRPr lang="en-US"/>
          </a:p>
        </p:txBody>
      </p:sp>
      <p:sp>
        <p:nvSpPr>
          <p:cNvPr id="16" name="bead"/>
          <p:cNvSpPr/>
          <p:nvPr/>
        </p:nvSpPr>
        <p:spPr>
          <a:xfrm>
            <a:off x="10513314" y="1437894"/>
            <a:ext cx="507492" cy="507492"/>
          </a:xfrm>
          <a:prstGeom prst="ellipse">
            <a:avLst/>
          </a:prstGeom>
          <a:solidFill>
            <a:schemeClr val="accent1"/>
          </a:solidFill>
          <a:ln/>
        </p:spPr>
        <p:txBody>
          <a:bodyPr/>
          <a:lstStyle/>
          <a:p>
            <a:endParaRPr lang="en-US"/>
          </a:p>
        </p:txBody>
      </p:sp>
      <p:sp>
        <p:nvSpPr>
          <p:cNvPr id="17" name="bead"/>
          <p:cNvSpPr/>
          <p:nvPr/>
        </p:nvSpPr>
        <p:spPr>
          <a:xfrm>
            <a:off x="11091291" y="1451991"/>
            <a:ext cx="479298" cy="479298"/>
          </a:xfrm>
          <a:prstGeom prst="ellipse">
            <a:avLst/>
          </a:prstGeom>
          <a:solidFill>
            <a:schemeClr val="accent1">
              <a:alpha val="85000"/>
            </a:schemeClr>
          </a:solidFill>
          <a:ln/>
        </p:spPr>
        <p:txBody>
          <a:bodyPr/>
          <a:lstStyle/>
          <a:p>
            <a:endParaRPr lang="en-US"/>
          </a:p>
        </p:txBody>
      </p:sp>
      <p:sp>
        <p:nvSpPr>
          <p:cNvPr id="18" name="bead"/>
          <p:cNvSpPr/>
          <p:nvPr/>
        </p:nvSpPr>
        <p:spPr>
          <a:xfrm>
            <a:off x="8384667" y="2143887"/>
            <a:ext cx="253746" cy="253746"/>
          </a:xfrm>
          <a:prstGeom prst="ellipse">
            <a:avLst/>
          </a:prstGeom>
          <a:solidFill>
            <a:schemeClr val="accent1">
              <a:alpha val="25000"/>
            </a:schemeClr>
          </a:solidFill>
          <a:ln/>
        </p:spPr>
        <p:txBody>
          <a:bodyPr/>
          <a:lstStyle/>
          <a:p>
            <a:endParaRPr lang="en-US"/>
          </a:p>
        </p:txBody>
      </p:sp>
      <p:sp>
        <p:nvSpPr>
          <p:cNvPr id="19" name="bead"/>
          <p:cNvSpPr/>
          <p:nvPr/>
        </p:nvSpPr>
        <p:spPr>
          <a:xfrm>
            <a:off x="8863965" y="2059305"/>
            <a:ext cx="422910" cy="422910"/>
          </a:xfrm>
          <a:prstGeom prst="ellipse">
            <a:avLst/>
          </a:prstGeom>
          <a:solidFill>
            <a:schemeClr val="accent1">
              <a:alpha val="70000"/>
            </a:schemeClr>
          </a:solidFill>
          <a:ln/>
        </p:spPr>
        <p:txBody>
          <a:bodyPr/>
          <a:lstStyle/>
          <a:p>
            <a:endParaRPr lang="en-US"/>
          </a:p>
        </p:txBody>
      </p:sp>
      <p:sp>
        <p:nvSpPr>
          <p:cNvPr id="20" name="bead"/>
          <p:cNvSpPr/>
          <p:nvPr/>
        </p:nvSpPr>
        <p:spPr>
          <a:xfrm>
            <a:off x="9540621" y="2172081"/>
            <a:ext cx="197358" cy="197358"/>
          </a:xfrm>
          <a:prstGeom prst="ellipse">
            <a:avLst/>
          </a:prstGeom>
          <a:solidFill>
            <a:schemeClr val="accent1">
              <a:alpha val="35000"/>
            </a:schemeClr>
          </a:solidFill>
          <a:ln/>
        </p:spPr>
        <p:txBody>
          <a:bodyPr/>
          <a:lstStyle/>
          <a:p>
            <a:endParaRPr lang="en-US"/>
          </a:p>
        </p:txBody>
      </p:sp>
      <p:sp>
        <p:nvSpPr>
          <p:cNvPr id="21" name="bead"/>
          <p:cNvSpPr/>
          <p:nvPr/>
        </p:nvSpPr>
        <p:spPr>
          <a:xfrm>
            <a:off x="9963531" y="2031111"/>
            <a:ext cx="479298" cy="479298"/>
          </a:xfrm>
          <a:prstGeom prst="ellipse">
            <a:avLst/>
          </a:prstGeom>
          <a:solidFill>
            <a:schemeClr val="accent1">
              <a:alpha val="85000"/>
            </a:schemeClr>
          </a:solidFill>
          <a:ln/>
        </p:spPr>
        <p:txBody>
          <a:bodyPr/>
          <a:lstStyle/>
          <a:p>
            <a:endParaRPr lang="en-US"/>
          </a:p>
        </p:txBody>
      </p:sp>
      <p:sp>
        <p:nvSpPr>
          <p:cNvPr id="22" name="bead"/>
          <p:cNvSpPr/>
          <p:nvPr/>
        </p:nvSpPr>
        <p:spPr>
          <a:xfrm>
            <a:off x="10597896" y="2101596"/>
            <a:ext cx="338328" cy="338328"/>
          </a:xfrm>
          <a:prstGeom prst="ellipse">
            <a:avLst/>
          </a:prstGeom>
          <a:solidFill>
            <a:schemeClr val="accent1">
              <a:alpha val="45000"/>
            </a:schemeClr>
          </a:solidFill>
          <a:ln/>
        </p:spPr>
        <p:txBody>
          <a:bodyPr/>
          <a:lstStyle/>
          <a:p>
            <a:endParaRPr lang="en-US"/>
          </a:p>
        </p:txBody>
      </p:sp>
      <p:sp>
        <p:nvSpPr>
          <p:cNvPr id="23" name="bead"/>
          <p:cNvSpPr/>
          <p:nvPr/>
        </p:nvSpPr>
        <p:spPr>
          <a:xfrm>
            <a:off x="11077194" y="2017014"/>
            <a:ext cx="507492" cy="507492"/>
          </a:xfrm>
          <a:prstGeom prst="ellipse">
            <a:avLst/>
          </a:prstGeom>
          <a:solidFill>
            <a:schemeClr val="accent1"/>
          </a:solidFill>
          <a:ln/>
        </p:spPr>
        <p:txBody>
          <a:bodyPr/>
          <a:lstStyle/>
          <a:p>
            <a:endParaRPr lang="en-US"/>
          </a:p>
        </p:txBody>
      </p:sp>
      <p:sp>
        <p:nvSpPr>
          <p:cNvPr id="24" name="bead"/>
          <p:cNvSpPr/>
          <p:nvPr/>
        </p:nvSpPr>
        <p:spPr>
          <a:xfrm>
            <a:off x="8300085" y="2638425"/>
            <a:ext cx="422910" cy="422910"/>
          </a:xfrm>
          <a:prstGeom prst="ellipse">
            <a:avLst/>
          </a:prstGeom>
          <a:solidFill>
            <a:schemeClr val="accent1">
              <a:alpha val="70000"/>
            </a:schemeClr>
          </a:solidFill>
          <a:ln/>
        </p:spPr>
        <p:txBody>
          <a:bodyPr/>
          <a:lstStyle/>
          <a:p>
            <a:endParaRPr lang="en-US"/>
          </a:p>
        </p:txBody>
      </p:sp>
      <p:sp>
        <p:nvSpPr>
          <p:cNvPr id="25" name="bead"/>
          <p:cNvSpPr/>
          <p:nvPr/>
        </p:nvSpPr>
        <p:spPr>
          <a:xfrm>
            <a:off x="8821674" y="2596134"/>
            <a:ext cx="507492" cy="507492"/>
          </a:xfrm>
          <a:prstGeom prst="ellipse">
            <a:avLst/>
          </a:prstGeom>
          <a:solidFill>
            <a:schemeClr val="accent1"/>
          </a:solidFill>
          <a:ln/>
        </p:spPr>
        <p:txBody>
          <a:bodyPr/>
          <a:lstStyle/>
          <a:p>
            <a:endParaRPr lang="en-US"/>
          </a:p>
        </p:txBody>
      </p:sp>
      <p:sp>
        <p:nvSpPr>
          <p:cNvPr id="26" name="bead"/>
          <p:cNvSpPr/>
          <p:nvPr/>
        </p:nvSpPr>
        <p:spPr>
          <a:xfrm>
            <a:off x="9540621" y="2751201"/>
            <a:ext cx="197358" cy="197358"/>
          </a:xfrm>
          <a:prstGeom prst="ellipse">
            <a:avLst/>
          </a:prstGeom>
          <a:solidFill>
            <a:schemeClr val="accent1">
              <a:alpha val="35000"/>
            </a:schemeClr>
          </a:solidFill>
          <a:ln/>
        </p:spPr>
        <p:txBody>
          <a:bodyPr/>
          <a:lstStyle/>
          <a:p>
            <a:endParaRPr lang="en-US"/>
          </a:p>
        </p:txBody>
      </p:sp>
      <p:sp>
        <p:nvSpPr>
          <p:cNvPr id="27" name="bead"/>
          <p:cNvSpPr/>
          <p:nvPr/>
        </p:nvSpPr>
        <p:spPr>
          <a:xfrm>
            <a:off x="10005822" y="2652522"/>
            <a:ext cx="394716" cy="394716"/>
          </a:xfrm>
          <a:prstGeom prst="ellipse">
            <a:avLst/>
          </a:prstGeom>
          <a:solidFill>
            <a:schemeClr val="accent1">
              <a:alpha val="55000"/>
            </a:schemeClr>
          </a:solidFill>
          <a:ln/>
        </p:spPr>
        <p:txBody>
          <a:bodyPr/>
          <a:lstStyle/>
          <a:p>
            <a:endParaRPr lang="en-US"/>
          </a:p>
        </p:txBody>
      </p:sp>
      <p:sp>
        <p:nvSpPr>
          <p:cNvPr id="28" name="bead"/>
          <p:cNvSpPr/>
          <p:nvPr/>
        </p:nvSpPr>
        <p:spPr>
          <a:xfrm>
            <a:off x="10527411" y="2610231"/>
            <a:ext cx="479298" cy="479298"/>
          </a:xfrm>
          <a:prstGeom prst="ellipse">
            <a:avLst/>
          </a:prstGeom>
          <a:solidFill>
            <a:schemeClr val="accent1">
              <a:alpha val="85000"/>
            </a:schemeClr>
          </a:solidFill>
          <a:ln/>
        </p:spPr>
        <p:txBody>
          <a:bodyPr/>
          <a:lstStyle/>
          <a:p>
            <a:endParaRPr lang="en-US"/>
          </a:p>
        </p:txBody>
      </p:sp>
      <p:sp>
        <p:nvSpPr>
          <p:cNvPr id="29" name="bead"/>
          <p:cNvSpPr/>
          <p:nvPr/>
        </p:nvSpPr>
        <p:spPr>
          <a:xfrm>
            <a:off x="11204067" y="2723007"/>
            <a:ext cx="253746" cy="253746"/>
          </a:xfrm>
          <a:prstGeom prst="ellipse">
            <a:avLst/>
          </a:prstGeom>
          <a:solidFill>
            <a:schemeClr val="accent1">
              <a:alpha val="25000"/>
            </a:schemeClr>
          </a:solidFill>
          <a:ln/>
        </p:spPr>
        <p:txBody>
          <a:bodyPr/>
          <a:lstStyle/>
          <a:p>
            <a:endParaRPr lang="en-US"/>
          </a:p>
        </p:txBody>
      </p:sp>
      <p:sp>
        <p:nvSpPr>
          <p:cNvPr id="30" name="bead"/>
          <p:cNvSpPr/>
          <p:nvPr/>
        </p:nvSpPr>
        <p:spPr>
          <a:xfrm>
            <a:off x="8412861" y="3330321"/>
            <a:ext cx="197358" cy="197358"/>
          </a:xfrm>
          <a:prstGeom prst="ellipse">
            <a:avLst/>
          </a:prstGeom>
          <a:solidFill>
            <a:schemeClr val="accent1">
              <a:alpha val="35000"/>
            </a:schemeClr>
          </a:solidFill>
          <a:ln/>
        </p:spPr>
        <p:txBody>
          <a:bodyPr/>
          <a:lstStyle/>
          <a:p>
            <a:endParaRPr lang="en-US"/>
          </a:p>
        </p:txBody>
      </p:sp>
      <p:sp>
        <p:nvSpPr>
          <p:cNvPr id="31" name="bead"/>
          <p:cNvSpPr/>
          <p:nvPr/>
        </p:nvSpPr>
        <p:spPr>
          <a:xfrm>
            <a:off x="8976741" y="3330321"/>
            <a:ext cx="197358" cy="197358"/>
          </a:xfrm>
          <a:prstGeom prst="ellipse">
            <a:avLst/>
          </a:prstGeom>
          <a:solidFill>
            <a:schemeClr val="accent1">
              <a:alpha val="35000"/>
            </a:schemeClr>
          </a:solidFill>
          <a:ln/>
        </p:spPr>
        <p:txBody>
          <a:bodyPr/>
          <a:lstStyle/>
          <a:p>
            <a:endParaRPr lang="en-US"/>
          </a:p>
        </p:txBody>
      </p:sp>
      <p:sp>
        <p:nvSpPr>
          <p:cNvPr id="32" name="bead"/>
          <p:cNvSpPr/>
          <p:nvPr/>
        </p:nvSpPr>
        <p:spPr>
          <a:xfrm>
            <a:off x="9540621" y="3330321"/>
            <a:ext cx="197358" cy="197358"/>
          </a:xfrm>
          <a:prstGeom prst="ellipse">
            <a:avLst/>
          </a:prstGeom>
          <a:solidFill>
            <a:schemeClr val="accent1">
              <a:alpha val="35000"/>
            </a:schemeClr>
          </a:solidFill>
          <a:ln/>
        </p:spPr>
        <p:txBody>
          <a:bodyPr/>
          <a:lstStyle/>
          <a:p>
            <a:endParaRPr lang="en-US"/>
          </a:p>
        </p:txBody>
      </p:sp>
      <p:sp>
        <p:nvSpPr>
          <p:cNvPr id="33" name="bead"/>
          <p:cNvSpPr/>
          <p:nvPr/>
        </p:nvSpPr>
        <p:spPr>
          <a:xfrm>
            <a:off x="10104501" y="3330321"/>
            <a:ext cx="197358" cy="197358"/>
          </a:xfrm>
          <a:prstGeom prst="ellipse">
            <a:avLst/>
          </a:prstGeom>
          <a:solidFill>
            <a:schemeClr val="accent1">
              <a:alpha val="35000"/>
            </a:schemeClr>
          </a:solidFill>
          <a:ln/>
        </p:spPr>
        <p:txBody>
          <a:bodyPr/>
          <a:lstStyle/>
          <a:p>
            <a:endParaRPr lang="en-US"/>
          </a:p>
        </p:txBody>
      </p:sp>
      <p:sp>
        <p:nvSpPr>
          <p:cNvPr id="34" name="bead"/>
          <p:cNvSpPr/>
          <p:nvPr/>
        </p:nvSpPr>
        <p:spPr>
          <a:xfrm>
            <a:off x="10668381" y="3330321"/>
            <a:ext cx="197358" cy="197358"/>
          </a:xfrm>
          <a:prstGeom prst="ellipse">
            <a:avLst/>
          </a:prstGeom>
          <a:solidFill>
            <a:schemeClr val="accent1">
              <a:alpha val="35000"/>
            </a:schemeClr>
          </a:solidFill>
          <a:ln/>
        </p:spPr>
        <p:txBody>
          <a:bodyPr/>
          <a:lstStyle/>
          <a:p>
            <a:endParaRPr lang="en-US"/>
          </a:p>
        </p:txBody>
      </p:sp>
      <p:sp>
        <p:nvSpPr>
          <p:cNvPr id="35" name="bead"/>
          <p:cNvSpPr/>
          <p:nvPr/>
        </p:nvSpPr>
        <p:spPr>
          <a:xfrm>
            <a:off x="11232261" y="3330321"/>
            <a:ext cx="197358" cy="197358"/>
          </a:xfrm>
          <a:prstGeom prst="ellipse">
            <a:avLst/>
          </a:prstGeom>
          <a:solidFill>
            <a:schemeClr val="accent1">
              <a:alpha val="35000"/>
            </a:schemeClr>
          </a:solidFill>
          <a:ln/>
        </p:spPr>
        <p:txBody>
          <a:bodyPr/>
          <a:lstStyle/>
          <a:p>
            <a:endParaRPr lang="en-US"/>
          </a:p>
        </p:txBody>
      </p:sp>
      <p:sp>
        <p:nvSpPr>
          <p:cNvPr id="36" name="bead"/>
          <p:cNvSpPr/>
          <p:nvPr/>
        </p:nvSpPr>
        <p:spPr>
          <a:xfrm>
            <a:off x="8370570" y="3867150"/>
            <a:ext cx="281940" cy="281940"/>
          </a:xfrm>
          <a:prstGeom prst="ellipse">
            <a:avLst/>
          </a:prstGeom>
          <a:solidFill>
            <a:schemeClr val="accent2">
              <a:alpha val="85000"/>
            </a:schemeClr>
          </a:solidFill>
          <a:ln/>
        </p:spPr>
        <p:txBody>
          <a:bodyPr/>
          <a:lstStyle/>
          <a:p>
            <a:endParaRPr lang="en-US"/>
          </a:p>
        </p:txBody>
      </p:sp>
      <p:sp>
        <p:nvSpPr>
          <p:cNvPr id="37" name="bead"/>
          <p:cNvSpPr/>
          <p:nvPr/>
        </p:nvSpPr>
        <p:spPr>
          <a:xfrm>
            <a:off x="8996477" y="3929177"/>
            <a:ext cx="157886" cy="157886"/>
          </a:xfrm>
          <a:prstGeom prst="ellipse">
            <a:avLst/>
          </a:prstGeom>
          <a:solidFill>
            <a:schemeClr val="accent2">
              <a:alpha val="55000"/>
            </a:schemeClr>
          </a:solidFill>
          <a:ln/>
        </p:spPr>
        <p:txBody>
          <a:bodyPr/>
          <a:lstStyle/>
          <a:p>
            <a:endParaRPr lang="en-US"/>
          </a:p>
        </p:txBody>
      </p:sp>
      <p:sp>
        <p:nvSpPr>
          <p:cNvPr id="38" name="bead"/>
          <p:cNvSpPr/>
          <p:nvPr/>
        </p:nvSpPr>
        <p:spPr>
          <a:xfrm>
            <a:off x="9526524" y="3895344"/>
            <a:ext cx="225552" cy="225552"/>
          </a:xfrm>
          <a:prstGeom prst="ellipse">
            <a:avLst/>
          </a:prstGeom>
          <a:solidFill>
            <a:schemeClr val="accent2">
              <a:alpha val="35000"/>
            </a:schemeClr>
          </a:solidFill>
          <a:ln/>
        </p:spPr>
        <p:txBody>
          <a:bodyPr/>
          <a:lstStyle/>
          <a:p>
            <a:endParaRPr lang="en-US"/>
          </a:p>
        </p:txBody>
      </p:sp>
      <p:sp>
        <p:nvSpPr>
          <p:cNvPr id="39" name="bead"/>
          <p:cNvSpPr/>
          <p:nvPr/>
        </p:nvSpPr>
        <p:spPr>
          <a:xfrm>
            <a:off x="10076307" y="3881247"/>
            <a:ext cx="253746" cy="253746"/>
          </a:xfrm>
          <a:prstGeom prst="ellipse">
            <a:avLst/>
          </a:prstGeom>
          <a:solidFill>
            <a:schemeClr val="accent2"/>
          </a:solidFill>
          <a:ln/>
        </p:spPr>
        <p:txBody>
          <a:bodyPr/>
          <a:lstStyle/>
          <a:p>
            <a:endParaRPr lang="en-US"/>
          </a:p>
        </p:txBody>
      </p:sp>
      <p:sp>
        <p:nvSpPr>
          <p:cNvPr id="40" name="bead"/>
          <p:cNvSpPr/>
          <p:nvPr/>
        </p:nvSpPr>
        <p:spPr>
          <a:xfrm>
            <a:off x="10682478" y="3923538"/>
            <a:ext cx="169164" cy="169164"/>
          </a:xfrm>
          <a:prstGeom prst="ellipse">
            <a:avLst/>
          </a:prstGeom>
          <a:solidFill>
            <a:schemeClr val="accent2">
              <a:alpha val="70000"/>
            </a:schemeClr>
          </a:solidFill>
          <a:ln/>
        </p:spPr>
        <p:txBody>
          <a:bodyPr/>
          <a:lstStyle/>
          <a:p>
            <a:endParaRPr lang="en-US"/>
          </a:p>
        </p:txBody>
      </p:sp>
      <p:sp>
        <p:nvSpPr>
          <p:cNvPr id="41" name="bead"/>
          <p:cNvSpPr/>
          <p:nvPr/>
        </p:nvSpPr>
        <p:spPr>
          <a:xfrm>
            <a:off x="11223803" y="3900983"/>
            <a:ext cx="214274" cy="214274"/>
          </a:xfrm>
          <a:prstGeom prst="ellipse">
            <a:avLst/>
          </a:prstGeom>
          <a:solidFill>
            <a:schemeClr val="accent2">
              <a:alpha val="45000"/>
            </a:schemeClr>
          </a:solidFill>
          <a:ln/>
        </p:spPr>
        <p:txBody>
          <a:bodyPr/>
          <a:lstStyle/>
          <a:p>
            <a:endParaRPr lang="en-US"/>
          </a:p>
        </p:txBody>
      </p:sp>
      <p:sp>
        <p:nvSpPr>
          <p:cNvPr id="42" name="bead"/>
          <p:cNvSpPr/>
          <p:nvPr/>
        </p:nvSpPr>
        <p:spPr>
          <a:xfrm>
            <a:off x="8404403" y="4480103"/>
            <a:ext cx="214274" cy="214274"/>
          </a:xfrm>
          <a:prstGeom prst="ellipse">
            <a:avLst/>
          </a:prstGeom>
          <a:solidFill>
            <a:schemeClr val="accent2">
              <a:alpha val="45000"/>
            </a:schemeClr>
          </a:solidFill>
          <a:ln/>
        </p:spPr>
        <p:txBody>
          <a:bodyPr/>
          <a:lstStyle/>
          <a:p>
            <a:endParaRPr lang="en-US"/>
          </a:p>
        </p:txBody>
      </p:sp>
      <p:sp>
        <p:nvSpPr>
          <p:cNvPr id="43" name="bead"/>
          <p:cNvSpPr/>
          <p:nvPr/>
        </p:nvSpPr>
        <p:spPr>
          <a:xfrm>
            <a:off x="8934450" y="4446270"/>
            <a:ext cx="281940" cy="281940"/>
          </a:xfrm>
          <a:prstGeom prst="ellipse">
            <a:avLst/>
          </a:prstGeom>
          <a:solidFill>
            <a:schemeClr val="accent2">
              <a:alpha val="85000"/>
            </a:schemeClr>
          </a:solidFill>
          <a:ln/>
        </p:spPr>
        <p:txBody>
          <a:bodyPr/>
          <a:lstStyle/>
          <a:p>
            <a:endParaRPr lang="en-US"/>
          </a:p>
        </p:txBody>
      </p:sp>
      <p:sp>
        <p:nvSpPr>
          <p:cNvPr id="44" name="bead"/>
          <p:cNvSpPr/>
          <p:nvPr/>
        </p:nvSpPr>
        <p:spPr>
          <a:xfrm>
            <a:off x="9526524" y="4474464"/>
            <a:ext cx="225552" cy="225552"/>
          </a:xfrm>
          <a:prstGeom prst="ellipse">
            <a:avLst/>
          </a:prstGeom>
          <a:solidFill>
            <a:schemeClr val="accent2">
              <a:alpha val="35000"/>
            </a:schemeClr>
          </a:solidFill>
          <a:ln/>
        </p:spPr>
        <p:txBody>
          <a:bodyPr/>
          <a:lstStyle/>
          <a:p>
            <a:endParaRPr lang="en-US"/>
          </a:p>
        </p:txBody>
      </p:sp>
      <p:sp>
        <p:nvSpPr>
          <p:cNvPr id="45" name="bead"/>
          <p:cNvSpPr/>
          <p:nvPr/>
        </p:nvSpPr>
        <p:spPr>
          <a:xfrm>
            <a:off x="10118598" y="4502658"/>
            <a:ext cx="169164" cy="169164"/>
          </a:xfrm>
          <a:prstGeom prst="ellipse">
            <a:avLst/>
          </a:prstGeom>
          <a:solidFill>
            <a:schemeClr val="accent2">
              <a:alpha val="70000"/>
            </a:schemeClr>
          </a:solidFill>
          <a:ln/>
        </p:spPr>
        <p:txBody>
          <a:bodyPr/>
          <a:lstStyle/>
          <a:p>
            <a:endParaRPr lang="en-US"/>
          </a:p>
        </p:txBody>
      </p:sp>
      <p:sp>
        <p:nvSpPr>
          <p:cNvPr id="46" name="bead"/>
          <p:cNvSpPr/>
          <p:nvPr/>
        </p:nvSpPr>
        <p:spPr>
          <a:xfrm>
            <a:off x="10705033" y="4525213"/>
            <a:ext cx="124054" cy="124054"/>
          </a:xfrm>
          <a:prstGeom prst="ellipse">
            <a:avLst/>
          </a:prstGeom>
          <a:solidFill>
            <a:schemeClr val="accent2">
              <a:alpha val="25000"/>
            </a:schemeClr>
          </a:solidFill>
          <a:ln/>
        </p:spPr>
        <p:txBody>
          <a:bodyPr/>
          <a:lstStyle/>
          <a:p>
            <a:endParaRPr lang="en-US"/>
          </a:p>
        </p:txBody>
      </p:sp>
      <p:sp>
        <p:nvSpPr>
          <p:cNvPr id="47" name="bead"/>
          <p:cNvSpPr/>
          <p:nvPr/>
        </p:nvSpPr>
        <p:spPr>
          <a:xfrm>
            <a:off x="11251997" y="4508297"/>
            <a:ext cx="157886" cy="157886"/>
          </a:xfrm>
          <a:prstGeom prst="ellipse">
            <a:avLst/>
          </a:prstGeom>
          <a:solidFill>
            <a:schemeClr val="accent2">
              <a:alpha val="55000"/>
            </a:schemeClr>
          </a:solidFill>
          <a:ln/>
        </p:spPr>
        <p:txBody>
          <a:bodyPr/>
          <a:lstStyle/>
          <a:p>
            <a:endParaRPr lang="en-US"/>
          </a:p>
        </p:txBody>
      </p:sp>
      <p:sp>
        <p:nvSpPr>
          <p:cNvPr id="48" name="bead"/>
          <p:cNvSpPr/>
          <p:nvPr/>
        </p:nvSpPr>
        <p:spPr>
          <a:xfrm>
            <a:off x="8384667" y="5039487"/>
            <a:ext cx="253746" cy="253746"/>
          </a:xfrm>
          <a:prstGeom prst="ellipse">
            <a:avLst/>
          </a:prstGeom>
          <a:solidFill>
            <a:schemeClr val="accent2"/>
          </a:solidFill>
          <a:ln/>
        </p:spPr>
        <p:txBody>
          <a:bodyPr/>
          <a:lstStyle/>
          <a:p>
            <a:endParaRPr lang="en-US"/>
          </a:p>
        </p:txBody>
      </p:sp>
      <p:sp>
        <p:nvSpPr>
          <p:cNvPr id="49" name="bead"/>
          <p:cNvSpPr/>
          <p:nvPr/>
        </p:nvSpPr>
        <p:spPr>
          <a:xfrm>
            <a:off x="9013393" y="5104333"/>
            <a:ext cx="124054" cy="124054"/>
          </a:xfrm>
          <a:prstGeom prst="ellipse">
            <a:avLst/>
          </a:prstGeom>
          <a:solidFill>
            <a:schemeClr val="accent2">
              <a:alpha val="25000"/>
            </a:schemeClr>
          </a:solidFill>
          <a:ln/>
        </p:spPr>
        <p:txBody>
          <a:bodyPr/>
          <a:lstStyle/>
          <a:p>
            <a:endParaRPr lang="en-US"/>
          </a:p>
        </p:txBody>
      </p:sp>
      <p:sp>
        <p:nvSpPr>
          <p:cNvPr id="50" name="bead"/>
          <p:cNvSpPr/>
          <p:nvPr/>
        </p:nvSpPr>
        <p:spPr>
          <a:xfrm>
            <a:off x="9526524" y="5053584"/>
            <a:ext cx="225552" cy="225552"/>
          </a:xfrm>
          <a:prstGeom prst="ellipse">
            <a:avLst/>
          </a:prstGeom>
          <a:solidFill>
            <a:schemeClr val="accent2">
              <a:alpha val="35000"/>
            </a:schemeClr>
          </a:solidFill>
          <a:ln/>
        </p:spPr>
        <p:txBody>
          <a:bodyPr/>
          <a:lstStyle/>
          <a:p>
            <a:endParaRPr lang="en-US"/>
          </a:p>
        </p:txBody>
      </p:sp>
      <p:sp>
        <p:nvSpPr>
          <p:cNvPr id="51" name="bead"/>
          <p:cNvSpPr/>
          <p:nvPr/>
        </p:nvSpPr>
        <p:spPr>
          <a:xfrm>
            <a:off x="10096043" y="5059223"/>
            <a:ext cx="214274" cy="214274"/>
          </a:xfrm>
          <a:prstGeom prst="ellipse">
            <a:avLst/>
          </a:prstGeom>
          <a:solidFill>
            <a:schemeClr val="accent2">
              <a:alpha val="45000"/>
            </a:schemeClr>
          </a:solidFill>
          <a:ln/>
        </p:spPr>
        <p:txBody>
          <a:bodyPr/>
          <a:lstStyle/>
          <a:p>
            <a:endParaRPr lang="en-US"/>
          </a:p>
        </p:txBody>
      </p:sp>
      <p:sp>
        <p:nvSpPr>
          <p:cNvPr id="52" name="bead"/>
          <p:cNvSpPr/>
          <p:nvPr/>
        </p:nvSpPr>
        <p:spPr>
          <a:xfrm>
            <a:off x="10688117" y="5087417"/>
            <a:ext cx="157886" cy="157886"/>
          </a:xfrm>
          <a:prstGeom prst="ellipse">
            <a:avLst/>
          </a:prstGeom>
          <a:solidFill>
            <a:schemeClr val="accent2">
              <a:alpha val="55000"/>
            </a:schemeClr>
          </a:solidFill>
          <a:ln/>
        </p:spPr>
        <p:txBody>
          <a:bodyPr/>
          <a:lstStyle/>
          <a:p>
            <a:endParaRPr lang="en-US"/>
          </a:p>
        </p:txBody>
      </p:sp>
      <p:sp>
        <p:nvSpPr>
          <p:cNvPr id="53" name="bead"/>
          <p:cNvSpPr/>
          <p:nvPr/>
        </p:nvSpPr>
        <p:spPr>
          <a:xfrm>
            <a:off x="11246358" y="5081778"/>
            <a:ext cx="169164" cy="169164"/>
          </a:xfrm>
          <a:prstGeom prst="ellipse">
            <a:avLst/>
          </a:prstGeom>
          <a:solidFill>
            <a:schemeClr val="accent2">
              <a:alpha val="70000"/>
            </a:schemeClr>
          </a:solidFill>
          <a:ln/>
        </p:spPr>
        <p:txBody>
          <a:bodyPr/>
          <a:lstStyle/>
          <a:p>
            <a:endParaRPr lang="en-US"/>
          </a:p>
        </p:txBody>
      </p:sp>
      <p:sp>
        <p:nvSpPr>
          <p:cNvPr id="54" name="bead"/>
          <p:cNvSpPr/>
          <p:nvPr/>
        </p:nvSpPr>
        <p:spPr>
          <a:xfrm>
            <a:off x="8432597" y="5666537"/>
            <a:ext cx="157886" cy="157886"/>
          </a:xfrm>
          <a:prstGeom prst="ellipse">
            <a:avLst/>
          </a:prstGeom>
          <a:solidFill>
            <a:schemeClr val="accent2">
              <a:alpha val="55000"/>
            </a:schemeClr>
          </a:solidFill>
          <a:ln/>
        </p:spPr>
        <p:txBody>
          <a:bodyPr/>
          <a:lstStyle/>
          <a:p>
            <a:endParaRPr lang="en-US"/>
          </a:p>
        </p:txBody>
      </p:sp>
      <p:sp>
        <p:nvSpPr>
          <p:cNvPr id="55" name="bead"/>
          <p:cNvSpPr/>
          <p:nvPr/>
        </p:nvSpPr>
        <p:spPr>
          <a:xfrm>
            <a:off x="8968283" y="5638343"/>
            <a:ext cx="214274" cy="214274"/>
          </a:xfrm>
          <a:prstGeom prst="ellipse">
            <a:avLst/>
          </a:prstGeom>
          <a:solidFill>
            <a:schemeClr val="accent2">
              <a:alpha val="45000"/>
            </a:schemeClr>
          </a:solidFill>
          <a:ln/>
        </p:spPr>
        <p:txBody>
          <a:bodyPr/>
          <a:lstStyle/>
          <a:p>
            <a:endParaRPr lang="en-US"/>
          </a:p>
        </p:txBody>
      </p:sp>
      <p:sp>
        <p:nvSpPr>
          <p:cNvPr id="56" name="bead"/>
          <p:cNvSpPr/>
          <p:nvPr/>
        </p:nvSpPr>
        <p:spPr>
          <a:xfrm>
            <a:off x="9526524" y="5632704"/>
            <a:ext cx="225552" cy="225552"/>
          </a:xfrm>
          <a:prstGeom prst="ellipse">
            <a:avLst/>
          </a:prstGeom>
          <a:solidFill>
            <a:schemeClr val="accent2">
              <a:alpha val="35000"/>
            </a:schemeClr>
          </a:solidFill>
          <a:ln/>
        </p:spPr>
        <p:txBody>
          <a:bodyPr/>
          <a:lstStyle/>
          <a:p>
            <a:endParaRPr lang="en-US"/>
          </a:p>
        </p:txBody>
      </p:sp>
      <p:sp>
        <p:nvSpPr>
          <p:cNvPr id="57" name="bead"/>
          <p:cNvSpPr/>
          <p:nvPr/>
        </p:nvSpPr>
        <p:spPr>
          <a:xfrm>
            <a:off x="10141153" y="5683453"/>
            <a:ext cx="124054" cy="124054"/>
          </a:xfrm>
          <a:prstGeom prst="ellipse">
            <a:avLst/>
          </a:prstGeom>
          <a:solidFill>
            <a:schemeClr val="accent2">
              <a:alpha val="25000"/>
            </a:schemeClr>
          </a:solidFill>
          <a:ln/>
        </p:spPr>
        <p:txBody>
          <a:bodyPr/>
          <a:lstStyle/>
          <a:p>
            <a:endParaRPr lang="en-US"/>
          </a:p>
        </p:txBody>
      </p:sp>
      <p:sp>
        <p:nvSpPr>
          <p:cNvPr id="58" name="bead"/>
          <p:cNvSpPr/>
          <p:nvPr/>
        </p:nvSpPr>
        <p:spPr>
          <a:xfrm>
            <a:off x="10640187" y="5618607"/>
            <a:ext cx="253746" cy="253746"/>
          </a:xfrm>
          <a:prstGeom prst="ellipse">
            <a:avLst/>
          </a:prstGeom>
          <a:solidFill>
            <a:schemeClr val="accent2"/>
          </a:solidFill>
          <a:ln/>
        </p:spPr>
        <p:txBody>
          <a:bodyPr/>
          <a:lstStyle/>
          <a:p>
            <a:endParaRPr lang="en-US"/>
          </a:p>
        </p:txBody>
      </p:sp>
      <p:sp>
        <p:nvSpPr>
          <p:cNvPr id="59" name="bead"/>
          <p:cNvSpPr/>
          <p:nvPr/>
        </p:nvSpPr>
        <p:spPr>
          <a:xfrm>
            <a:off x="11189970" y="5604510"/>
            <a:ext cx="281940" cy="281940"/>
          </a:xfrm>
          <a:prstGeom prst="ellipse">
            <a:avLst/>
          </a:prstGeom>
          <a:solidFill>
            <a:schemeClr val="accent2">
              <a:alpha val="85000"/>
            </a:schemeClr>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Why "Attention Is All You Need" changed AI</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Vaswani et al., 2017: replace recurrence with attention, and train in parallel</a:t>
            </a:r>
            <a:endParaRPr lang="en-US" sz="1600" dirty="0"/>
          </a:p>
        </p:txBody>
      </p:sp>
      <p:sp>
        <p:nvSpPr>
          <p:cNvPr id="4" name="before-after"/>
          <p:cNvSpPr/>
          <p:nvPr/>
        </p:nvSpPr>
        <p:spPr>
          <a:xfrm>
            <a:off x="548640" y="1600200"/>
            <a:ext cx="3154680" cy="2743200"/>
          </a:xfrm>
          <a:prstGeom prst="roundRect">
            <a:avLst>
              <a:gd name="adj" fmla="val 2667"/>
            </a:avLst>
          </a:prstGeom>
          <a:solidFill>
            <a:schemeClr val="bg2"/>
          </a:solidFill>
          <a:ln/>
        </p:spPr>
        <p:txBody>
          <a:bodyPr/>
          <a:lstStyle/>
          <a:p>
            <a:endParaRPr lang="en-US"/>
          </a:p>
        </p:txBody>
      </p:sp>
      <p:sp>
        <p:nvSpPr>
          <p:cNvPr id="5" name="icon-chip"/>
          <p:cNvSpPr/>
          <p:nvPr/>
        </p:nvSpPr>
        <p:spPr>
          <a:xfrm>
            <a:off x="777240" y="1783080"/>
            <a:ext cx="548640" cy="548640"/>
          </a:xfrm>
          <a:prstGeom prst="ellipse">
            <a:avLst/>
          </a:prstGeom>
          <a:solidFill>
            <a:schemeClr val="accent5"/>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897941" y="1903781"/>
            <a:ext cx="307238" cy="307238"/>
          </a:xfrm>
          <a:prstGeom prst="rect">
            <a:avLst/>
          </a:prstGeom>
        </p:spPr>
      </p:pic>
      <p:sp>
        <p:nvSpPr>
          <p:cNvPr id="7" name="Text 4"/>
          <p:cNvSpPr txBox="1"/>
          <p:nvPr/>
        </p:nvSpPr>
        <p:spPr>
          <a:xfrm>
            <a:off x="1463040" y="1783080"/>
            <a:ext cx="2103120" cy="548640"/>
          </a:xfrm>
          <a:prstGeom prst="rect">
            <a:avLst/>
          </a:prstGeom>
          <a:noFill/>
          <a:ln/>
        </p:spPr>
        <p:txBody>
          <a:bodyPr wrap="square" lIns="0" tIns="0" rIns="0" bIns="0" rtlCol="0" anchor="ctr"/>
          <a:lstStyle/>
          <a:p>
            <a:pPr marL="0" indent="0">
              <a:buNone/>
            </a:pPr>
            <a:r>
              <a:rPr lang="en-US" sz="1600" b="1" dirty="0">
                <a:solidFill>
                  <a:schemeClr val="accent5"/>
                </a:solidFill>
              </a:rPr>
              <a:t>Before: RNNs and LSTMs</a:t>
            </a:r>
            <a:endParaRPr lang="en-US" sz="1600" dirty="0"/>
          </a:p>
        </p:txBody>
      </p:sp>
      <p:sp>
        <p:nvSpPr>
          <p:cNvPr id="8" name="Text 5"/>
          <p:cNvSpPr txBox="1"/>
          <p:nvPr/>
        </p:nvSpPr>
        <p:spPr>
          <a:xfrm>
            <a:off x="777240" y="2514600"/>
            <a:ext cx="274320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Read text one word at a time, in order</a:t>
            </a:r>
            <a:endParaRPr lang="en-US" sz="1400" dirty="0"/>
          </a:p>
          <a:p>
            <a:pPr marL="342900" indent="-342900">
              <a:spcAft>
                <a:spcPts val="600"/>
              </a:spcAft>
              <a:buSzPct val="100000"/>
              <a:buChar char="•"/>
            </a:pPr>
            <a:r>
              <a:rPr lang="en-US" sz="1400" dirty="0">
                <a:solidFill>
                  <a:schemeClr val="tx2"/>
                </a:solidFill>
              </a:rPr>
              <a:t>Slow to train: steps cannot run in parallel</a:t>
            </a:r>
            <a:endParaRPr lang="en-US" sz="1400" dirty="0"/>
          </a:p>
          <a:p>
            <a:pPr marL="342900" indent="-342900">
              <a:spcAft>
                <a:spcPts val="600"/>
              </a:spcAft>
              <a:buSzPct val="100000"/>
              <a:buChar char="•"/>
            </a:pPr>
            <a:r>
              <a:rPr lang="en-US" sz="1400" dirty="0">
                <a:solidFill>
                  <a:schemeClr val="tx2"/>
                </a:solidFill>
              </a:rPr>
              <a:t>Information from distant words fades</a:t>
            </a:r>
            <a:endParaRPr lang="en-US" sz="1400" dirty="0"/>
          </a:p>
        </p:txBody>
      </p:sp>
      <p:sp>
        <p:nvSpPr>
          <p:cNvPr id="9" name="before-after"/>
          <p:cNvSpPr/>
          <p:nvPr/>
        </p:nvSpPr>
        <p:spPr>
          <a:xfrm>
            <a:off x="3840480" y="1600200"/>
            <a:ext cx="3154680" cy="2743200"/>
          </a:xfrm>
          <a:prstGeom prst="roundRect">
            <a:avLst>
              <a:gd name="adj" fmla="val 2667"/>
            </a:avLst>
          </a:prstGeom>
          <a:solidFill>
            <a:schemeClr val="bg2"/>
          </a:solidFill>
          <a:ln/>
        </p:spPr>
        <p:txBody>
          <a:bodyPr/>
          <a:lstStyle/>
          <a:p>
            <a:endParaRPr lang="en-US"/>
          </a:p>
        </p:txBody>
      </p:sp>
      <p:sp>
        <p:nvSpPr>
          <p:cNvPr id="10" name="icon-chip"/>
          <p:cNvSpPr/>
          <p:nvPr/>
        </p:nvSpPr>
        <p:spPr>
          <a:xfrm>
            <a:off x="4069080" y="1783080"/>
            <a:ext cx="548640" cy="548640"/>
          </a:xfrm>
          <a:prstGeom prst="ellipse">
            <a:avLst/>
          </a:prstGeom>
          <a:solidFill>
            <a:schemeClr val="accent1"/>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4189781" y="1903781"/>
            <a:ext cx="307238" cy="307238"/>
          </a:xfrm>
          <a:prstGeom prst="rect">
            <a:avLst/>
          </a:prstGeom>
        </p:spPr>
      </p:pic>
      <p:sp>
        <p:nvSpPr>
          <p:cNvPr id="12" name="Text 8"/>
          <p:cNvSpPr txBox="1"/>
          <p:nvPr/>
        </p:nvSpPr>
        <p:spPr>
          <a:xfrm>
            <a:off x="4754880" y="1783080"/>
            <a:ext cx="2103120" cy="548640"/>
          </a:xfrm>
          <a:prstGeom prst="rect">
            <a:avLst/>
          </a:prstGeom>
          <a:noFill/>
          <a:ln/>
        </p:spPr>
        <p:txBody>
          <a:bodyPr wrap="square" lIns="0" tIns="0" rIns="0" bIns="0" rtlCol="0" anchor="ctr"/>
          <a:lstStyle/>
          <a:p>
            <a:pPr marL="0" indent="0">
              <a:buNone/>
            </a:pPr>
            <a:r>
              <a:rPr lang="en-US" sz="1600" b="1" dirty="0">
                <a:solidFill>
                  <a:schemeClr val="accent1"/>
                </a:solidFill>
              </a:rPr>
              <a:t>After: the Transformer</a:t>
            </a:r>
            <a:endParaRPr lang="en-US" sz="1600" dirty="0"/>
          </a:p>
        </p:txBody>
      </p:sp>
      <p:sp>
        <p:nvSpPr>
          <p:cNvPr id="13" name="Text 9"/>
          <p:cNvSpPr txBox="1"/>
          <p:nvPr/>
        </p:nvSpPr>
        <p:spPr>
          <a:xfrm>
            <a:off x="4069080" y="2514600"/>
            <a:ext cx="274320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Uses attention only, with no recurrence</a:t>
            </a:r>
            <a:endParaRPr lang="en-US" sz="1400" dirty="0"/>
          </a:p>
          <a:p>
            <a:pPr marL="342900" indent="-342900">
              <a:spcAft>
                <a:spcPts val="600"/>
              </a:spcAft>
              <a:buSzPct val="100000"/>
              <a:buChar char="•"/>
            </a:pPr>
            <a:r>
              <a:rPr lang="en-US" sz="1400" dirty="0">
                <a:solidFill>
                  <a:schemeClr val="tx2"/>
                </a:solidFill>
              </a:rPr>
              <a:t>Processes all tokens in parallel on GPUs</a:t>
            </a:r>
            <a:endParaRPr lang="en-US" sz="1400" dirty="0"/>
          </a:p>
          <a:p>
            <a:pPr marL="342900" indent="-342900">
              <a:spcAft>
                <a:spcPts val="600"/>
              </a:spcAft>
              <a:buSzPct val="100000"/>
              <a:buChar char="•"/>
            </a:pPr>
            <a:r>
              <a:rPr lang="en-US" sz="1400" dirty="0">
                <a:solidFill>
                  <a:schemeClr val="tx2"/>
                </a:solidFill>
              </a:rPr>
              <a:t>Any word can look directly at any other word</a:t>
            </a:r>
            <a:endParaRPr lang="en-US" sz="1400" dirty="0"/>
          </a:p>
        </p:txBody>
      </p:sp>
      <p:sp>
        <p:nvSpPr>
          <p:cNvPr id="14" name="Text 10"/>
          <p:cNvSpPr txBox="1"/>
          <p:nvPr/>
        </p:nvSpPr>
        <p:spPr>
          <a:xfrm>
            <a:off x="7269480" y="1600200"/>
            <a:ext cx="1737360" cy="731520"/>
          </a:xfrm>
          <a:prstGeom prst="rect">
            <a:avLst/>
          </a:prstGeom>
          <a:noFill/>
          <a:ln/>
        </p:spPr>
        <p:txBody>
          <a:bodyPr wrap="square" lIns="0" tIns="0" rIns="0" bIns="0" rtlCol="0" anchor="ctr"/>
          <a:lstStyle/>
          <a:p>
            <a:pPr marL="0" indent="0">
              <a:buNone/>
            </a:pPr>
            <a:r>
              <a:rPr lang="en-US" sz="3200" b="1" dirty="0">
                <a:solidFill>
                  <a:schemeClr val="accent1"/>
                </a:solidFill>
                <a:latin typeface="Arial" pitchFamily="34" charset="0"/>
                <a:ea typeface="Arial" pitchFamily="34" charset="-122"/>
                <a:cs typeface="Arial" pitchFamily="34" charset="-120"/>
              </a:rPr>
              <a:t>28.4</a:t>
            </a:r>
            <a:endParaRPr lang="en-US" sz="3200" dirty="0"/>
          </a:p>
        </p:txBody>
      </p:sp>
      <p:sp>
        <p:nvSpPr>
          <p:cNvPr id="15" name="Text 11"/>
          <p:cNvSpPr txBox="1"/>
          <p:nvPr/>
        </p:nvSpPr>
        <p:spPr>
          <a:xfrm>
            <a:off x="9052560" y="1600200"/>
            <a:ext cx="2560320" cy="731520"/>
          </a:xfrm>
          <a:prstGeom prst="rect">
            <a:avLst/>
          </a:prstGeom>
          <a:noFill/>
          <a:ln/>
        </p:spPr>
        <p:txBody>
          <a:bodyPr wrap="square" lIns="0" tIns="0" rIns="0" bIns="0" rtlCol="0" anchor="ctr"/>
          <a:lstStyle/>
          <a:p>
            <a:pPr marL="0" indent="0">
              <a:buNone/>
            </a:pPr>
            <a:r>
              <a:rPr lang="en-US" sz="1300" dirty="0">
                <a:solidFill>
                  <a:schemeClr val="tx2"/>
                </a:solidFill>
              </a:rPr>
              <a:t>BLEU, English to German (WMT 2014): new state of the art by over 2 BLEU</a:t>
            </a:r>
            <a:endParaRPr lang="en-US" sz="1300" dirty="0"/>
          </a:p>
        </p:txBody>
      </p:sp>
      <p:sp>
        <p:nvSpPr>
          <p:cNvPr id="16" name="Text 12"/>
          <p:cNvSpPr txBox="1"/>
          <p:nvPr/>
        </p:nvSpPr>
        <p:spPr>
          <a:xfrm>
            <a:off x="7269480" y="2514600"/>
            <a:ext cx="1737360" cy="731520"/>
          </a:xfrm>
          <a:prstGeom prst="rect">
            <a:avLst/>
          </a:prstGeom>
          <a:noFill/>
          <a:ln/>
        </p:spPr>
        <p:txBody>
          <a:bodyPr wrap="square" lIns="0" tIns="0" rIns="0" bIns="0" rtlCol="0" anchor="ctr"/>
          <a:lstStyle/>
          <a:p>
            <a:pPr marL="0" indent="0">
              <a:buNone/>
            </a:pPr>
            <a:r>
              <a:rPr lang="en-US" sz="3200" b="1" dirty="0">
                <a:solidFill>
                  <a:schemeClr val="accent1"/>
                </a:solidFill>
                <a:latin typeface="Arial" pitchFamily="34" charset="0"/>
                <a:ea typeface="Arial" pitchFamily="34" charset="-122"/>
                <a:cs typeface="Arial" pitchFamily="34" charset="-120"/>
              </a:rPr>
              <a:t>41.8</a:t>
            </a:r>
            <a:endParaRPr lang="en-US" sz="3200" dirty="0"/>
          </a:p>
        </p:txBody>
      </p:sp>
      <p:sp>
        <p:nvSpPr>
          <p:cNvPr id="17" name="Text 13"/>
          <p:cNvSpPr txBox="1"/>
          <p:nvPr/>
        </p:nvSpPr>
        <p:spPr>
          <a:xfrm>
            <a:off x="9052560" y="2514600"/>
            <a:ext cx="2560320" cy="731520"/>
          </a:xfrm>
          <a:prstGeom prst="rect">
            <a:avLst/>
          </a:prstGeom>
          <a:noFill/>
          <a:ln/>
        </p:spPr>
        <p:txBody>
          <a:bodyPr wrap="square" lIns="0" tIns="0" rIns="0" bIns="0" rtlCol="0" anchor="ctr"/>
          <a:lstStyle/>
          <a:p>
            <a:pPr marL="0" indent="0">
              <a:buNone/>
            </a:pPr>
            <a:r>
              <a:rPr lang="en-US" sz="1300" dirty="0">
                <a:solidFill>
                  <a:schemeClr val="tx2"/>
                </a:solidFill>
              </a:rPr>
              <a:t>BLEU, English to French (WMT 2014), single model</a:t>
            </a:r>
            <a:endParaRPr lang="en-US" sz="1300" dirty="0"/>
          </a:p>
        </p:txBody>
      </p:sp>
      <p:sp>
        <p:nvSpPr>
          <p:cNvPr id="18" name="Text 14"/>
          <p:cNvSpPr txBox="1"/>
          <p:nvPr/>
        </p:nvSpPr>
        <p:spPr>
          <a:xfrm>
            <a:off x="7269480" y="3429000"/>
            <a:ext cx="1737360" cy="731520"/>
          </a:xfrm>
          <a:prstGeom prst="rect">
            <a:avLst/>
          </a:prstGeom>
          <a:noFill/>
          <a:ln/>
        </p:spPr>
        <p:txBody>
          <a:bodyPr wrap="square" lIns="0" tIns="0" rIns="0" bIns="0" rtlCol="0" anchor="ctr"/>
          <a:lstStyle/>
          <a:p>
            <a:pPr marL="0" indent="0">
              <a:buNone/>
            </a:pPr>
            <a:r>
              <a:rPr lang="en-US" sz="3200" b="1" dirty="0">
                <a:solidFill>
                  <a:schemeClr val="accent1"/>
                </a:solidFill>
                <a:latin typeface="Arial" pitchFamily="34" charset="0"/>
                <a:ea typeface="Arial" pitchFamily="34" charset="-122"/>
                <a:cs typeface="Arial" pitchFamily="34" charset="-120"/>
              </a:rPr>
              <a:t>3.5 days</a:t>
            </a:r>
            <a:endParaRPr lang="en-US" sz="3200" dirty="0"/>
          </a:p>
        </p:txBody>
      </p:sp>
      <p:sp>
        <p:nvSpPr>
          <p:cNvPr id="19" name="Text 15"/>
          <p:cNvSpPr txBox="1"/>
          <p:nvPr/>
        </p:nvSpPr>
        <p:spPr>
          <a:xfrm>
            <a:off x="9052560" y="3429000"/>
            <a:ext cx="2560320" cy="731520"/>
          </a:xfrm>
          <a:prstGeom prst="rect">
            <a:avLst/>
          </a:prstGeom>
          <a:noFill/>
          <a:ln/>
        </p:spPr>
        <p:txBody>
          <a:bodyPr wrap="square" lIns="0" tIns="0" rIns="0" bIns="0" rtlCol="0" anchor="ctr"/>
          <a:lstStyle/>
          <a:p>
            <a:pPr marL="0" indent="0">
              <a:buNone/>
            </a:pPr>
            <a:r>
              <a:rPr lang="en-US" sz="1300" dirty="0">
                <a:solidFill>
                  <a:schemeClr val="tx2"/>
                </a:solidFill>
              </a:rPr>
              <a:t>to train the big model on 8 NVIDIA P100 GPUs; base model: 12 hours</a:t>
            </a:r>
            <a:endParaRPr lang="en-US" sz="1300" dirty="0"/>
          </a:p>
        </p:txBody>
      </p:sp>
      <p:sp>
        <p:nvSpPr>
          <p:cNvPr id="20" name="Text 16"/>
          <p:cNvSpPr txBox="1"/>
          <p:nvPr/>
        </p:nvSpPr>
        <p:spPr>
          <a:xfrm>
            <a:off x="548640" y="4572000"/>
            <a:ext cx="3657600" cy="274320"/>
          </a:xfrm>
          <a:prstGeom prst="rect">
            <a:avLst/>
          </a:prstGeom>
          <a:noFill/>
          <a:ln/>
        </p:spPr>
        <p:txBody>
          <a:bodyPr wrap="square" lIns="0" tIns="0" rIns="0" bIns="0" rtlCol="0" anchor="t"/>
          <a:lstStyle/>
          <a:p>
            <a:pPr marL="0" indent="0">
              <a:buNone/>
            </a:pPr>
            <a:r>
              <a:rPr lang="en-US" sz="1200" b="1" kern="0" spc="200" dirty="0">
                <a:solidFill>
                  <a:schemeClr val="accent5"/>
                </a:solidFill>
              </a:rPr>
              <a:t>WHAT FOLLOWED</a:t>
            </a:r>
            <a:endParaRPr lang="en-US" sz="1200" dirty="0"/>
          </a:p>
        </p:txBody>
      </p:sp>
      <p:sp>
        <p:nvSpPr>
          <p:cNvPr id="21" name="Shape 17"/>
          <p:cNvSpPr/>
          <p:nvPr/>
        </p:nvSpPr>
        <p:spPr>
          <a:xfrm>
            <a:off x="822960" y="5193792"/>
            <a:ext cx="10515600" cy="914"/>
          </a:xfrm>
          <a:prstGeom prst="line">
            <a:avLst/>
          </a:prstGeom>
          <a:noFill/>
          <a:ln w="19050">
            <a:solidFill>
              <a:schemeClr val="accent5"/>
            </a:solidFill>
            <a:prstDash val="solid"/>
          </a:ln>
        </p:spPr>
        <p:txBody>
          <a:bodyPr/>
          <a:lstStyle/>
          <a:p>
            <a:endParaRPr lang="en-US"/>
          </a:p>
        </p:txBody>
      </p:sp>
      <p:sp>
        <p:nvSpPr>
          <p:cNvPr id="22" name="Shape 18"/>
          <p:cNvSpPr/>
          <p:nvPr/>
        </p:nvSpPr>
        <p:spPr>
          <a:xfrm>
            <a:off x="685800" y="5056632"/>
            <a:ext cx="274320" cy="274320"/>
          </a:xfrm>
          <a:prstGeom prst="ellipse">
            <a:avLst/>
          </a:prstGeom>
          <a:solidFill>
            <a:schemeClr val="accent1"/>
          </a:solidFill>
          <a:ln/>
        </p:spPr>
        <p:txBody>
          <a:bodyPr/>
          <a:lstStyle/>
          <a:p>
            <a:endParaRPr lang="en-US"/>
          </a:p>
        </p:txBody>
      </p:sp>
      <p:sp>
        <p:nvSpPr>
          <p:cNvPr id="23" name="Text 19"/>
          <p:cNvSpPr txBox="1"/>
          <p:nvPr/>
        </p:nvSpPr>
        <p:spPr>
          <a:xfrm>
            <a:off x="548640" y="5440680"/>
            <a:ext cx="2148840" cy="731520"/>
          </a:xfrm>
          <a:prstGeom prst="rect">
            <a:avLst/>
          </a:prstGeom>
          <a:noFill/>
          <a:ln/>
        </p:spPr>
        <p:txBody>
          <a:bodyPr wrap="square" lIns="0" tIns="0" rIns="0" bIns="0" rtlCol="0" anchor="t"/>
          <a:lstStyle/>
          <a:p>
            <a:pPr marL="0" indent="0">
              <a:buNone/>
            </a:pPr>
            <a:r>
              <a:rPr lang="en-US" sz="1400" b="1" dirty="0">
                <a:solidFill>
                  <a:schemeClr val="tx1"/>
                </a:solidFill>
              </a:rPr>
              <a:t>2017</a:t>
            </a:r>
            <a:endParaRPr lang="en-US" sz="1400" dirty="0"/>
          </a:p>
          <a:p>
            <a:pPr marL="0" indent="0">
              <a:buNone/>
            </a:pPr>
            <a:r>
              <a:rPr lang="en-US" sz="1400" dirty="0">
                <a:solidFill>
                  <a:schemeClr val="tx2"/>
                </a:solidFill>
              </a:rPr>
              <a:t>Transformer</a:t>
            </a:r>
            <a:endParaRPr lang="en-US" sz="1400" dirty="0"/>
          </a:p>
        </p:txBody>
      </p:sp>
      <p:sp>
        <p:nvSpPr>
          <p:cNvPr id="24" name="Shape 20"/>
          <p:cNvSpPr/>
          <p:nvPr/>
        </p:nvSpPr>
        <p:spPr>
          <a:xfrm>
            <a:off x="2926080" y="5056632"/>
            <a:ext cx="274320" cy="274320"/>
          </a:xfrm>
          <a:prstGeom prst="ellipse">
            <a:avLst/>
          </a:prstGeom>
          <a:solidFill>
            <a:schemeClr val="accent2"/>
          </a:solidFill>
          <a:ln/>
        </p:spPr>
        <p:txBody>
          <a:bodyPr/>
          <a:lstStyle/>
          <a:p>
            <a:endParaRPr lang="en-US"/>
          </a:p>
        </p:txBody>
      </p:sp>
      <p:sp>
        <p:nvSpPr>
          <p:cNvPr id="25" name="Text 21"/>
          <p:cNvSpPr txBox="1"/>
          <p:nvPr/>
        </p:nvSpPr>
        <p:spPr>
          <a:xfrm>
            <a:off x="2788920" y="5440680"/>
            <a:ext cx="2148840" cy="731520"/>
          </a:xfrm>
          <a:prstGeom prst="rect">
            <a:avLst/>
          </a:prstGeom>
          <a:noFill/>
          <a:ln/>
        </p:spPr>
        <p:txBody>
          <a:bodyPr wrap="square" lIns="0" tIns="0" rIns="0" bIns="0" rtlCol="0" anchor="t"/>
          <a:lstStyle/>
          <a:p>
            <a:pPr marL="0" indent="0">
              <a:buNone/>
            </a:pPr>
            <a:r>
              <a:rPr lang="en-US" sz="1400" b="1" dirty="0">
                <a:solidFill>
                  <a:schemeClr val="tx1"/>
                </a:solidFill>
              </a:rPr>
              <a:t>2018</a:t>
            </a:r>
            <a:endParaRPr lang="en-US" sz="1400" dirty="0"/>
          </a:p>
          <a:p>
            <a:pPr marL="0" indent="0">
              <a:buNone/>
            </a:pPr>
            <a:r>
              <a:rPr lang="en-US" sz="1400" dirty="0">
                <a:solidFill>
                  <a:schemeClr val="tx2"/>
                </a:solidFill>
              </a:rPr>
              <a:t>BERT, GPT-1</a:t>
            </a:r>
            <a:endParaRPr lang="en-US" sz="1400" dirty="0"/>
          </a:p>
        </p:txBody>
      </p:sp>
      <p:sp>
        <p:nvSpPr>
          <p:cNvPr id="26" name="Shape 22"/>
          <p:cNvSpPr/>
          <p:nvPr/>
        </p:nvSpPr>
        <p:spPr>
          <a:xfrm>
            <a:off x="5166360" y="5056632"/>
            <a:ext cx="274320" cy="274320"/>
          </a:xfrm>
          <a:prstGeom prst="ellipse">
            <a:avLst/>
          </a:prstGeom>
          <a:solidFill>
            <a:schemeClr val="accent2"/>
          </a:solidFill>
          <a:ln/>
        </p:spPr>
        <p:txBody>
          <a:bodyPr/>
          <a:lstStyle/>
          <a:p>
            <a:endParaRPr lang="en-US"/>
          </a:p>
        </p:txBody>
      </p:sp>
      <p:sp>
        <p:nvSpPr>
          <p:cNvPr id="27" name="Text 23"/>
          <p:cNvSpPr txBox="1"/>
          <p:nvPr/>
        </p:nvSpPr>
        <p:spPr>
          <a:xfrm>
            <a:off x="5029200" y="5440680"/>
            <a:ext cx="2148840" cy="731520"/>
          </a:xfrm>
          <a:prstGeom prst="rect">
            <a:avLst/>
          </a:prstGeom>
          <a:noFill/>
          <a:ln/>
        </p:spPr>
        <p:txBody>
          <a:bodyPr wrap="square" lIns="0" tIns="0" rIns="0" bIns="0" rtlCol="0" anchor="t"/>
          <a:lstStyle/>
          <a:p>
            <a:pPr marL="0" indent="0">
              <a:buNone/>
            </a:pPr>
            <a:r>
              <a:rPr lang="en-US" sz="1400" b="1" dirty="0">
                <a:solidFill>
                  <a:schemeClr val="tx1"/>
                </a:solidFill>
              </a:rPr>
              <a:t>2019</a:t>
            </a:r>
            <a:endParaRPr lang="en-US" sz="1400" dirty="0"/>
          </a:p>
          <a:p>
            <a:pPr marL="0" indent="0">
              <a:buNone/>
            </a:pPr>
            <a:r>
              <a:rPr lang="en-US" sz="1400" dirty="0">
                <a:solidFill>
                  <a:schemeClr val="tx2"/>
                </a:solidFill>
              </a:rPr>
              <a:t>GPT-2, T5</a:t>
            </a:r>
            <a:endParaRPr lang="en-US" sz="1400" dirty="0"/>
          </a:p>
        </p:txBody>
      </p:sp>
      <p:sp>
        <p:nvSpPr>
          <p:cNvPr id="28" name="Shape 24"/>
          <p:cNvSpPr/>
          <p:nvPr/>
        </p:nvSpPr>
        <p:spPr>
          <a:xfrm>
            <a:off x="7406640" y="5056632"/>
            <a:ext cx="274320" cy="274320"/>
          </a:xfrm>
          <a:prstGeom prst="ellipse">
            <a:avLst/>
          </a:prstGeom>
          <a:solidFill>
            <a:schemeClr val="accent2"/>
          </a:solidFill>
          <a:ln/>
        </p:spPr>
        <p:txBody>
          <a:bodyPr/>
          <a:lstStyle/>
          <a:p>
            <a:endParaRPr lang="en-US"/>
          </a:p>
        </p:txBody>
      </p:sp>
      <p:sp>
        <p:nvSpPr>
          <p:cNvPr id="29" name="Text 25"/>
          <p:cNvSpPr txBox="1"/>
          <p:nvPr/>
        </p:nvSpPr>
        <p:spPr>
          <a:xfrm>
            <a:off x="7269480" y="5440680"/>
            <a:ext cx="2148840" cy="731520"/>
          </a:xfrm>
          <a:prstGeom prst="rect">
            <a:avLst/>
          </a:prstGeom>
          <a:noFill/>
          <a:ln/>
        </p:spPr>
        <p:txBody>
          <a:bodyPr wrap="square" lIns="0" tIns="0" rIns="0" bIns="0" rtlCol="0" anchor="t"/>
          <a:lstStyle/>
          <a:p>
            <a:pPr marL="0" indent="0">
              <a:buNone/>
            </a:pPr>
            <a:r>
              <a:rPr lang="en-US" sz="1400" b="1" dirty="0">
                <a:solidFill>
                  <a:schemeClr val="tx1"/>
                </a:solidFill>
              </a:rPr>
              <a:t>2020</a:t>
            </a:r>
            <a:endParaRPr lang="en-US" sz="1400" dirty="0"/>
          </a:p>
          <a:p>
            <a:pPr marL="0" indent="0">
              <a:buNone/>
            </a:pPr>
            <a:r>
              <a:rPr lang="en-US" sz="1400" dirty="0">
                <a:solidFill>
                  <a:schemeClr val="tx2"/>
                </a:solidFill>
              </a:rPr>
              <a:t>GPT-3 (175B)</a:t>
            </a:r>
            <a:endParaRPr lang="en-US" sz="1400" dirty="0"/>
          </a:p>
        </p:txBody>
      </p:sp>
      <p:sp>
        <p:nvSpPr>
          <p:cNvPr id="30" name="Shape 26"/>
          <p:cNvSpPr/>
          <p:nvPr/>
        </p:nvSpPr>
        <p:spPr>
          <a:xfrm>
            <a:off x="9646920" y="5056632"/>
            <a:ext cx="274320" cy="274320"/>
          </a:xfrm>
          <a:prstGeom prst="ellipse">
            <a:avLst/>
          </a:prstGeom>
          <a:solidFill>
            <a:schemeClr val="accent2"/>
          </a:solidFill>
          <a:ln/>
        </p:spPr>
        <p:txBody>
          <a:bodyPr/>
          <a:lstStyle/>
          <a:p>
            <a:endParaRPr lang="en-US"/>
          </a:p>
        </p:txBody>
      </p:sp>
      <p:sp>
        <p:nvSpPr>
          <p:cNvPr id="31" name="Text 27"/>
          <p:cNvSpPr txBox="1"/>
          <p:nvPr/>
        </p:nvSpPr>
        <p:spPr>
          <a:xfrm>
            <a:off x="9509760" y="5440680"/>
            <a:ext cx="2148840" cy="731520"/>
          </a:xfrm>
          <a:prstGeom prst="rect">
            <a:avLst/>
          </a:prstGeom>
          <a:noFill/>
          <a:ln/>
        </p:spPr>
        <p:txBody>
          <a:bodyPr wrap="square" lIns="0" tIns="0" rIns="0" bIns="0" rtlCol="0" anchor="t"/>
          <a:lstStyle/>
          <a:p>
            <a:pPr marL="0" indent="0">
              <a:buNone/>
            </a:pPr>
            <a:r>
              <a:rPr lang="en-US" sz="1400" b="1" dirty="0">
                <a:solidFill>
                  <a:schemeClr val="tx1"/>
                </a:solidFill>
              </a:rPr>
              <a:t>2022+</a:t>
            </a:r>
            <a:endParaRPr lang="en-US" sz="1400" dirty="0"/>
          </a:p>
          <a:p>
            <a:pPr marL="0" indent="0">
              <a:buNone/>
            </a:pPr>
            <a:r>
              <a:rPr lang="en-US" sz="1400" dirty="0">
                <a:solidFill>
                  <a:schemeClr val="tx2"/>
                </a:solidFill>
              </a:rPr>
              <a:t>ChatGPT, Llama, LLMs and SLMs</a:t>
            </a:r>
            <a:endParaRPr lang="en-US" sz="1400" dirty="0"/>
          </a:p>
        </p:txBody>
      </p:sp>
      <p:sp>
        <p:nvSpPr>
          <p:cNvPr id="3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The Transformer architecture: encoder and decoder stacks</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Original encoder-decoder design for translation, read from bottom to top</a:t>
            </a:r>
            <a:endParaRPr lang="en-US" sz="1600" dirty="0"/>
          </a:p>
        </p:txBody>
      </p:sp>
      <p:sp>
        <p:nvSpPr>
          <p:cNvPr id="4" name="stack"/>
          <p:cNvSpPr/>
          <p:nvPr/>
        </p:nvSpPr>
        <p:spPr>
          <a:xfrm>
            <a:off x="548640" y="2194560"/>
            <a:ext cx="3017520" cy="2926080"/>
          </a:xfrm>
          <a:prstGeom prst="roundRect">
            <a:avLst>
              <a:gd name="adj" fmla="val 2500"/>
            </a:avLst>
          </a:prstGeom>
          <a:solidFill>
            <a:schemeClr val="bg2"/>
          </a:solidFill>
          <a:ln w="12700">
            <a:solidFill>
              <a:srgbClr val="6B7286"/>
            </a:solidFill>
            <a:prstDash val="solid"/>
          </a:ln>
        </p:spPr>
        <p:txBody>
          <a:bodyPr/>
          <a:lstStyle/>
          <a:p>
            <a:endParaRPr lang="en-US"/>
          </a:p>
        </p:txBody>
      </p:sp>
      <p:sp>
        <p:nvSpPr>
          <p:cNvPr id="5" name="Text 3"/>
          <p:cNvSpPr txBox="1"/>
          <p:nvPr/>
        </p:nvSpPr>
        <p:spPr>
          <a:xfrm>
            <a:off x="548640" y="1783080"/>
            <a:ext cx="3017520" cy="274320"/>
          </a:xfrm>
          <a:prstGeom prst="rect">
            <a:avLst/>
          </a:prstGeom>
          <a:noFill/>
          <a:ln/>
        </p:spPr>
        <p:txBody>
          <a:bodyPr wrap="square" lIns="0" tIns="0" rIns="0" bIns="0" rtlCol="0" anchor="t"/>
          <a:lstStyle/>
          <a:p>
            <a:pPr marL="0" indent="0" algn="ctr">
              <a:buNone/>
            </a:pPr>
            <a:r>
              <a:rPr lang="en-US" sz="1300" b="1" kern="0" spc="200" dirty="0">
                <a:solidFill>
                  <a:schemeClr val="accent2"/>
                </a:solidFill>
              </a:rPr>
              <a:t>ENCODER  × 6</a:t>
            </a:r>
            <a:endParaRPr lang="en-US" sz="1300" dirty="0"/>
          </a:p>
        </p:txBody>
      </p:sp>
      <p:sp>
        <p:nvSpPr>
          <p:cNvPr id="6" name="block"/>
          <p:cNvSpPr/>
          <p:nvPr/>
        </p:nvSpPr>
        <p:spPr>
          <a:xfrm>
            <a:off x="731520" y="4206240"/>
            <a:ext cx="2651760" cy="594360"/>
          </a:xfrm>
          <a:prstGeom prst="roundRect">
            <a:avLst>
              <a:gd name="adj" fmla="val 9231"/>
            </a:avLst>
          </a:prstGeom>
          <a:solidFill>
            <a:schemeClr val="accent1"/>
          </a:solidFill>
          <a:ln/>
        </p:spPr>
        <p:txBody>
          <a:bodyPr wrap="square" lIns="508" tIns="508" rIns="508" bIns="508" rtlCol="0" anchor="ctr"/>
          <a:lstStyle/>
          <a:p>
            <a:pPr marL="0" indent="0" algn="ctr">
              <a:buNone/>
            </a:pPr>
            <a:r>
              <a:rPr lang="en-US" sz="1300" b="1" dirty="0">
                <a:solidFill>
                  <a:schemeClr val="bg1"/>
                </a:solidFill>
              </a:rPr>
              <a:t>Multi-head self-attention</a:t>
            </a:r>
            <a:endParaRPr lang="en-US" sz="1300" dirty="0"/>
          </a:p>
        </p:txBody>
      </p:sp>
      <p:sp>
        <p:nvSpPr>
          <p:cNvPr id="7" name="block"/>
          <p:cNvSpPr/>
          <p:nvPr/>
        </p:nvSpPr>
        <p:spPr>
          <a:xfrm>
            <a:off x="731520" y="3767328"/>
            <a:ext cx="2651760" cy="301752"/>
          </a:xfrm>
          <a:prstGeom prst="roundRect">
            <a:avLst>
              <a:gd name="adj" fmla="val 18182"/>
            </a:avLst>
          </a:prstGeom>
          <a:solidFill>
            <a:schemeClr val="accent3"/>
          </a:solidFill>
          <a:ln/>
        </p:spPr>
        <p:txBody>
          <a:bodyPr wrap="square" lIns="508" tIns="508" rIns="508" bIns="508" rtlCol="0" anchor="ctr"/>
          <a:lstStyle/>
          <a:p>
            <a:pPr marL="0" indent="0" algn="ctr">
              <a:buNone/>
            </a:pPr>
            <a:r>
              <a:rPr lang="en-US" sz="1100" b="1" dirty="0">
                <a:solidFill>
                  <a:schemeClr val="tx1"/>
                </a:solidFill>
              </a:rPr>
              <a:t>Add &amp; Norm</a:t>
            </a:r>
            <a:endParaRPr lang="en-US" sz="1100" dirty="0"/>
          </a:p>
        </p:txBody>
      </p:sp>
      <p:sp>
        <p:nvSpPr>
          <p:cNvPr id="8" name="block"/>
          <p:cNvSpPr/>
          <p:nvPr/>
        </p:nvSpPr>
        <p:spPr>
          <a:xfrm>
            <a:off x="731520" y="2971800"/>
            <a:ext cx="2651760" cy="594360"/>
          </a:xfrm>
          <a:prstGeom prst="roundRect">
            <a:avLst>
              <a:gd name="adj" fmla="val 9231"/>
            </a:avLst>
          </a:prstGeom>
          <a:solidFill>
            <a:schemeClr val="accent2"/>
          </a:solidFill>
          <a:ln/>
        </p:spPr>
        <p:txBody>
          <a:bodyPr wrap="square" lIns="508" tIns="508" rIns="508" bIns="508" rtlCol="0" anchor="ctr"/>
          <a:lstStyle/>
          <a:p>
            <a:pPr marL="0" indent="0" algn="ctr">
              <a:buNone/>
            </a:pPr>
            <a:r>
              <a:rPr lang="en-US" sz="1300" b="1" dirty="0">
                <a:solidFill>
                  <a:schemeClr val="bg1"/>
                </a:solidFill>
              </a:rPr>
              <a:t>Feed-forward network</a:t>
            </a:r>
            <a:endParaRPr lang="en-US" sz="1300" dirty="0"/>
          </a:p>
        </p:txBody>
      </p:sp>
      <p:sp>
        <p:nvSpPr>
          <p:cNvPr id="9" name="block"/>
          <p:cNvSpPr/>
          <p:nvPr/>
        </p:nvSpPr>
        <p:spPr>
          <a:xfrm>
            <a:off x="731520" y="2542032"/>
            <a:ext cx="2651760" cy="301752"/>
          </a:xfrm>
          <a:prstGeom prst="roundRect">
            <a:avLst>
              <a:gd name="adj" fmla="val 18182"/>
            </a:avLst>
          </a:prstGeom>
          <a:solidFill>
            <a:schemeClr val="accent3"/>
          </a:solidFill>
          <a:ln/>
        </p:spPr>
        <p:txBody>
          <a:bodyPr wrap="square" lIns="508" tIns="508" rIns="508" bIns="508" rtlCol="0" anchor="ctr"/>
          <a:lstStyle/>
          <a:p>
            <a:pPr marL="0" indent="0" algn="ctr">
              <a:buNone/>
            </a:pPr>
            <a:r>
              <a:rPr lang="en-US" sz="1100" b="1" dirty="0">
                <a:solidFill>
                  <a:schemeClr val="tx1"/>
                </a:solidFill>
              </a:rPr>
              <a:t>Add &amp; Norm</a:t>
            </a:r>
            <a:endParaRPr lang="en-US" sz="1100" dirty="0"/>
          </a:p>
        </p:txBody>
      </p:sp>
      <p:sp>
        <p:nvSpPr>
          <p:cNvPr id="10" name="block"/>
          <p:cNvSpPr/>
          <p:nvPr/>
        </p:nvSpPr>
        <p:spPr>
          <a:xfrm>
            <a:off x="548640" y="5285232"/>
            <a:ext cx="3017520" cy="411480"/>
          </a:xfrm>
          <a:prstGeom prst="roundRect">
            <a:avLst>
              <a:gd name="adj" fmla="val 13333"/>
            </a:avLst>
          </a:prstGeom>
          <a:solidFill>
            <a:schemeClr val="tx1"/>
          </a:solidFill>
          <a:ln/>
        </p:spPr>
        <p:txBody>
          <a:bodyPr wrap="square" lIns="508" tIns="508" rIns="508" bIns="508" rtlCol="0" anchor="ctr"/>
          <a:lstStyle/>
          <a:p>
            <a:pPr marL="0" indent="0" algn="ctr">
              <a:buNone/>
            </a:pPr>
            <a:r>
              <a:rPr lang="en-US" sz="1200" b="1" dirty="0">
                <a:solidFill>
                  <a:schemeClr val="bg1"/>
                </a:solidFill>
              </a:rPr>
              <a:t>Input embedding + positional encoding</a:t>
            </a:r>
            <a:endParaRPr lang="en-US" sz="1200" dirty="0"/>
          </a:p>
        </p:txBody>
      </p:sp>
      <p:sp>
        <p:nvSpPr>
          <p:cNvPr id="11" name="block"/>
          <p:cNvSpPr/>
          <p:nvPr/>
        </p:nvSpPr>
        <p:spPr>
          <a:xfrm>
            <a:off x="548640" y="5806440"/>
            <a:ext cx="3017520" cy="347472"/>
          </a:xfrm>
          <a:prstGeom prst="roundRect">
            <a:avLst>
              <a:gd name="adj" fmla="val 15789"/>
            </a:avLst>
          </a:prstGeom>
          <a:solidFill>
            <a:schemeClr val="bg1"/>
          </a:solidFill>
          <a:ln w="12700">
            <a:solidFill>
              <a:srgbClr val="6B7286"/>
            </a:solidFill>
          </a:ln>
        </p:spPr>
        <p:txBody>
          <a:bodyPr wrap="square" lIns="508" tIns="508" rIns="508" bIns="508" rtlCol="0" anchor="ctr"/>
          <a:lstStyle/>
          <a:p>
            <a:pPr marL="0" indent="0" algn="ctr">
              <a:buNone/>
            </a:pPr>
            <a:r>
              <a:rPr lang="en-US" sz="1200" dirty="0">
                <a:solidFill>
                  <a:schemeClr val="tx1"/>
                </a:solidFill>
              </a:rPr>
              <a:t>Input tokens (source sentence)</a:t>
            </a:r>
            <a:endParaRPr lang="en-US" sz="1200" dirty="0"/>
          </a:p>
        </p:txBody>
      </p:sp>
      <p:sp>
        <p:nvSpPr>
          <p:cNvPr id="12" name="Shape 10"/>
          <p:cNvSpPr/>
          <p:nvPr/>
        </p:nvSpPr>
        <p:spPr>
          <a:xfrm flipV="1">
            <a:off x="2057400" y="4818888"/>
            <a:ext cx="914" cy="457200"/>
          </a:xfrm>
          <a:prstGeom prst="line">
            <a:avLst/>
          </a:prstGeom>
          <a:noFill/>
          <a:ln w="19050">
            <a:solidFill>
              <a:schemeClr val="tx2"/>
            </a:solidFill>
            <a:prstDash val="solid"/>
            <a:tailEnd type="triangle"/>
          </a:ln>
        </p:spPr>
        <p:txBody>
          <a:bodyPr/>
          <a:lstStyle/>
          <a:p>
            <a:endParaRPr lang="en-US"/>
          </a:p>
        </p:txBody>
      </p:sp>
      <p:sp>
        <p:nvSpPr>
          <p:cNvPr id="13" name="stack"/>
          <p:cNvSpPr/>
          <p:nvPr/>
        </p:nvSpPr>
        <p:spPr>
          <a:xfrm>
            <a:off x="4206240" y="2194560"/>
            <a:ext cx="3017520" cy="2926080"/>
          </a:xfrm>
          <a:prstGeom prst="roundRect">
            <a:avLst>
              <a:gd name="adj" fmla="val 2500"/>
            </a:avLst>
          </a:prstGeom>
          <a:solidFill>
            <a:schemeClr val="bg2"/>
          </a:solidFill>
          <a:ln w="12700">
            <a:solidFill>
              <a:srgbClr val="6B7286"/>
            </a:solidFill>
            <a:prstDash val="solid"/>
          </a:ln>
        </p:spPr>
        <p:txBody>
          <a:bodyPr/>
          <a:lstStyle/>
          <a:p>
            <a:endParaRPr lang="en-US"/>
          </a:p>
        </p:txBody>
      </p:sp>
      <p:sp>
        <p:nvSpPr>
          <p:cNvPr id="14" name="Text 12"/>
          <p:cNvSpPr txBox="1"/>
          <p:nvPr/>
        </p:nvSpPr>
        <p:spPr>
          <a:xfrm>
            <a:off x="4206240" y="1783080"/>
            <a:ext cx="3017520" cy="274320"/>
          </a:xfrm>
          <a:prstGeom prst="rect">
            <a:avLst/>
          </a:prstGeom>
          <a:noFill/>
          <a:ln/>
        </p:spPr>
        <p:txBody>
          <a:bodyPr wrap="square" lIns="0" tIns="0" rIns="0" bIns="0" rtlCol="0" anchor="t"/>
          <a:lstStyle/>
          <a:p>
            <a:pPr marL="0" indent="0" algn="ctr">
              <a:buNone/>
            </a:pPr>
            <a:r>
              <a:rPr lang="en-US" sz="1300" b="1" kern="0" spc="200" dirty="0">
                <a:solidFill>
                  <a:schemeClr val="accent2"/>
                </a:solidFill>
              </a:rPr>
              <a:t>DECODER  × 6</a:t>
            </a:r>
            <a:endParaRPr lang="en-US" sz="1300" dirty="0"/>
          </a:p>
        </p:txBody>
      </p:sp>
      <p:sp>
        <p:nvSpPr>
          <p:cNvPr id="15" name="block"/>
          <p:cNvSpPr/>
          <p:nvPr/>
        </p:nvSpPr>
        <p:spPr>
          <a:xfrm>
            <a:off x="4389120" y="4526280"/>
            <a:ext cx="2651760" cy="457200"/>
          </a:xfrm>
          <a:prstGeom prst="roundRect">
            <a:avLst>
              <a:gd name="adj" fmla="val 12000"/>
            </a:avLst>
          </a:prstGeom>
          <a:solidFill>
            <a:schemeClr val="accent1"/>
          </a:solidFill>
          <a:ln/>
        </p:spPr>
        <p:txBody>
          <a:bodyPr wrap="square" lIns="508" tIns="508" rIns="508" bIns="508" rtlCol="0" anchor="ctr"/>
          <a:lstStyle/>
          <a:p>
            <a:pPr marL="0" indent="0" algn="ctr">
              <a:buNone/>
            </a:pPr>
            <a:r>
              <a:rPr lang="en-US" sz="1200" b="1" dirty="0">
                <a:solidFill>
                  <a:schemeClr val="bg1"/>
                </a:solidFill>
              </a:rPr>
              <a:t>Masked self-attention</a:t>
            </a:r>
            <a:endParaRPr lang="en-US" sz="1200" dirty="0"/>
          </a:p>
        </p:txBody>
      </p:sp>
      <p:sp>
        <p:nvSpPr>
          <p:cNvPr id="16" name="block"/>
          <p:cNvSpPr/>
          <p:nvPr/>
        </p:nvSpPr>
        <p:spPr>
          <a:xfrm>
            <a:off x="4389120" y="4160520"/>
            <a:ext cx="2651760" cy="274320"/>
          </a:xfrm>
          <a:prstGeom prst="roundRect">
            <a:avLst>
              <a:gd name="adj" fmla="val 20000"/>
            </a:avLst>
          </a:prstGeom>
          <a:solidFill>
            <a:schemeClr val="accent3"/>
          </a:solidFill>
          <a:ln/>
        </p:spPr>
        <p:txBody>
          <a:bodyPr wrap="square" lIns="508" tIns="508" rIns="508" bIns="508" rtlCol="0" anchor="ctr"/>
          <a:lstStyle/>
          <a:p>
            <a:pPr marL="0" indent="0" algn="ctr">
              <a:buNone/>
            </a:pPr>
            <a:r>
              <a:rPr lang="en-US" sz="1100" b="1" dirty="0">
                <a:solidFill>
                  <a:schemeClr val="tx1"/>
                </a:solidFill>
              </a:rPr>
              <a:t>Add &amp; Norm</a:t>
            </a:r>
            <a:endParaRPr lang="en-US" sz="1100" dirty="0"/>
          </a:p>
        </p:txBody>
      </p:sp>
      <p:sp>
        <p:nvSpPr>
          <p:cNvPr id="17" name="block"/>
          <p:cNvSpPr/>
          <p:nvPr/>
        </p:nvSpPr>
        <p:spPr>
          <a:xfrm>
            <a:off x="4389120" y="3611880"/>
            <a:ext cx="2651760" cy="457200"/>
          </a:xfrm>
          <a:prstGeom prst="roundRect">
            <a:avLst>
              <a:gd name="adj" fmla="val 12000"/>
            </a:avLst>
          </a:prstGeom>
          <a:solidFill>
            <a:schemeClr val="accent4"/>
          </a:solidFill>
          <a:ln/>
        </p:spPr>
        <p:txBody>
          <a:bodyPr wrap="square" lIns="508" tIns="508" rIns="508" bIns="508" rtlCol="0" anchor="ctr"/>
          <a:lstStyle/>
          <a:p>
            <a:pPr marL="0" indent="0" algn="ctr">
              <a:buNone/>
            </a:pPr>
            <a:r>
              <a:rPr lang="en-US" sz="1200" b="1" dirty="0">
                <a:solidFill>
                  <a:schemeClr val="bg1"/>
                </a:solidFill>
              </a:rPr>
              <a:t>Cross-attention (to encoder)</a:t>
            </a:r>
            <a:endParaRPr lang="en-US" sz="1200" dirty="0"/>
          </a:p>
        </p:txBody>
      </p:sp>
      <p:sp>
        <p:nvSpPr>
          <p:cNvPr id="18" name="block"/>
          <p:cNvSpPr/>
          <p:nvPr/>
        </p:nvSpPr>
        <p:spPr>
          <a:xfrm>
            <a:off x="4389120" y="3246120"/>
            <a:ext cx="2651760" cy="274320"/>
          </a:xfrm>
          <a:prstGeom prst="roundRect">
            <a:avLst>
              <a:gd name="adj" fmla="val 20000"/>
            </a:avLst>
          </a:prstGeom>
          <a:solidFill>
            <a:schemeClr val="accent3"/>
          </a:solidFill>
          <a:ln/>
        </p:spPr>
        <p:txBody>
          <a:bodyPr wrap="square" lIns="508" tIns="508" rIns="508" bIns="508" rtlCol="0" anchor="ctr"/>
          <a:lstStyle/>
          <a:p>
            <a:pPr marL="0" indent="0" algn="ctr">
              <a:buNone/>
            </a:pPr>
            <a:r>
              <a:rPr lang="en-US" sz="1100" b="1" dirty="0">
                <a:solidFill>
                  <a:schemeClr val="tx1"/>
                </a:solidFill>
              </a:rPr>
              <a:t>Add &amp; Norm</a:t>
            </a:r>
            <a:endParaRPr lang="en-US" sz="1100" dirty="0"/>
          </a:p>
        </p:txBody>
      </p:sp>
      <p:sp>
        <p:nvSpPr>
          <p:cNvPr id="19" name="block"/>
          <p:cNvSpPr/>
          <p:nvPr/>
        </p:nvSpPr>
        <p:spPr>
          <a:xfrm>
            <a:off x="4389120" y="2697480"/>
            <a:ext cx="2651760" cy="457200"/>
          </a:xfrm>
          <a:prstGeom prst="roundRect">
            <a:avLst>
              <a:gd name="adj" fmla="val 12000"/>
            </a:avLst>
          </a:prstGeom>
          <a:solidFill>
            <a:schemeClr val="accent2"/>
          </a:solidFill>
          <a:ln/>
        </p:spPr>
        <p:txBody>
          <a:bodyPr wrap="square" lIns="508" tIns="508" rIns="508" bIns="508" rtlCol="0" anchor="ctr"/>
          <a:lstStyle/>
          <a:p>
            <a:pPr marL="0" indent="0" algn="ctr">
              <a:buNone/>
            </a:pPr>
            <a:r>
              <a:rPr lang="en-US" sz="1200" b="1" dirty="0">
                <a:solidFill>
                  <a:schemeClr val="bg1"/>
                </a:solidFill>
              </a:rPr>
              <a:t>Feed-forward network</a:t>
            </a:r>
            <a:endParaRPr lang="en-US" sz="1200" dirty="0"/>
          </a:p>
        </p:txBody>
      </p:sp>
      <p:sp>
        <p:nvSpPr>
          <p:cNvPr id="20" name="block"/>
          <p:cNvSpPr/>
          <p:nvPr/>
        </p:nvSpPr>
        <p:spPr>
          <a:xfrm>
            <a:off x="4389120" y="2331720"/>
            <a:ext cx="2651760" cy="274320"/>
          </a:xfrm>
          <a:prstGeom prst="roundRect">
            <a:avLst>
              <a:gd name="adj" fmla="val 20000"/>
            </a:avLst>
          </a:prstGeom>
          <a:solidFill>
            <a:schemeClr val="accent3"/>
          </a:solidFill>
          <a:ln/>
        </p:spPr>
        <p:txBody>
          <a:bodyPr wrap="square" lIns="508" tIns="508" rIns="508" bIns="508" rtlCol="0" anchor="ctr"/>
          <a:lstStyle/>
          <a:p>
            <a:pPr marL="0" indent="0" algn="ctr">
              <a:buNone/>
            </a:pPr>
            <a:r>
              <a:rPr lang="en-US" sz="1100" b="1" dirty="0">
                <a:solidFill>
                  <a:schemeClr val="tx1"/>
                </a:solidFill>
              </a:rPr>
              <a:t>Add &amp; Norm</a:t>
            </a:r>
            <a:endParaRPr lang="en-US" sz="1100" dirty="0"/>
          </a:p>
        </p:txBody>
      </p:sp>
      <p:sp>
        <p:nvSpPr>
          <p:cNvPr id="21" name="block"/>
          <p:cNvSpPr/>
          <p:nvPr/>
        </p:nvSpPr>
        <p:spPr>
          <a:xfrm>
            <a:off x="4206240" y="5285232"/>
            <a:ext cx="3017520" cy="411480"/>
          </a:xfrm>
          <a:prstGeom prst="roundRect">
            <a:avLst>
              <a:gd name="adj" fmla="val 13333"/>
            </a:avLst>
          </a:prstGeom>
          <a:solidFill>
            <a:schemeClr val="tx1"/>
          </a:solidFill>
          <a:ln/>
        </p:spPr>
        <p:txBody>
          <a:bodyPr wrap="square" lIns="508" tIns="508" rIns="508" bIns="508" rtlCol="0" anchor="ctr"/>
          <a:lstStyle/>
          <a:p>
            <a:pPr marL="0" indent="0" algn="ctr">
              <a:buNone/>
            </a:pPr>
            <a:r>
              <a:rPr lang="en-US" sz="1200" b="1" dirty="0">
                <a:solidFill>
                  <a:schemeClr val="bg1"/>
                </a:solidFill>
              </a:rPr>
              <a:t>Output embedding + positional encoding</a:t>
            </a:r>
            <a:endParaRPr lang="en-US" sz="1200" dirty="0"/>
          </a:p>
        </p:txBody>
      </p:sp>
      <p:sp>
        <p:nvSpPr>
          <p:cNvPr id="22" name="block"/>
          <p:cNvSpPr/>
          <p:nvPr/>
        </p:nvSpPr>
        <p:spPr>
          <a:xfrm>
            <a:off x="4206240" y="5806440"/>
            <a:ext cx="3017520" cy="347472"/>
          </a:xfrm>
          <a:prstGeom prst="roundRect">
            <a:avLst>
              <a:gd name="adj" fmla="val 15789"/>
            </a:avLst>
          </a:prstGeom>
          <a:solidFill>
            <a:schemeClr val="bg1"/>
          </a:solidFill>
          <a:ln w="12700">
            <a:solidFill>
              <a:srgbClr val="6B7286"/>
            </a:solidFill>
          </a:ln>
        </p:spPr>
        <p:txBody>
          <a:bodyPr wrap="square" lIns="508" tIns="508" rIns="508" bIns="508" rtlCol="0" anchor="ctr"/>
          <a:lstStyle/>
          <a:p>
            <a:pPr marL="0" indent="0" algn="ctr">
              <a:buNone/>
            </a:pPr>
            <a:r>
              <a:rPr lang="en-US" sz="1200" dirty="0">
                <a:solidFill>
                  <a:schemeClr val="tx1"/>
                </a:solidFill>
              </a:rPr>
              <a:t>Output tokens so far (shifted right)</a:t>
            </a:r>
            <a:endParaRPr lang="en-US" sz="1200" dirty="0"/>
          </a:p>
        </p:txBody>
      </p:sp>
      <p:sp>
        <p:nvSpPr>
          <p:cNvPr id="23" name="block"/>
          <p:cNvSpPr/>
          <p:nvPr/>
        </p:nvSpPr>
        <p:spPr>
          <a:xfrm>
            <a:off x="4206240" y="1463040"/>
            <a:ext cx="3017520" cy="292608"/>
          </a:xfrm>
          <a:prstGeom prst="roundRect">
            <a:avLst>
              <a:gd name="adj" fmla="val 18750"/>
            </a:avLst>
          </a:prstGeom>
          <a:solidFill>
            <a:schemeClr val="tx1"/>
          </a:solidFill>
          <a:ln/>
        </p:spPr>
        <p:txBody>
          <a:bodyPr wrap="square" lIns="508" tIns="508" rIns="508" bIns="508" rtlCol="0" anchor="ctr"/>
          <a:lstStyle/>
          <a:p>
            <a:pPr marL="0" indent="0" algn="ctr">
              <a:buNone/>
            </a:pPr>
            <a:r>
              <a:rPr lang="en-US" sz="1100" b="1" dirty="0">
                <a:solidFill>
                  <a:schemeClr val="bg1"/>
                </a:solidFill>
              </a:rPr>
              <a:t>Linear + softmax: next-token probabilities</a:t>
            </a:r>
            <a:endParaRPr lang="en-US" sz="1100" dirty="0"/>
          </a:p>
        </p:txBody>
      </p:sp>
      <p:sp>
        <p:nvSpPr>
          <p:cNvPr id="24" name="Shape 22"/>
          <p:cNvSpPr/>
          <p:nvPr/>
        </p:nvSpPr>
        <p:spPr>
          <a:xfrm flipV="1">
            <a:off x="5715000" y="5001768"/>
            <a:ext cx="914" cy="274320"/>
          </a:xfrm>
          <a:prstGeom prst="line">
            <a:avLst/>
          </a:prstGeom>
          <a:noFill/>
          <a:ln w="19050">
            <a:solidFill>
              <a:schemeClr val="tx2"/>
            </a:solidFill>
            <a:prstDash val="solid"/>
            <a:tailEnd type="triangle"/>
          </a:ln>
        </p:spPr>
        <p:txBody>
          <a:bodyPr/>
          <a:lstStyle/>
          <a:p>
            <a:endParaRPr lang="en-US"/>
          </a:p>
        </p:txBody>
      </p:sp>
      <p:sp>
        <p:nvSpPr>
          <p:cNvPr id="25" name="Shape 23"/>
          <p:cNvSpPr/>
          <p:nvPr/>
        </p:nvSpPr>
        <p:spPr>
          <a:xfrm>
            <a:off x="3584448" y="2377440"/>
            <a:ext cx="786384" cy="1463040"/>
          </a:xfrm>
          <a:prstGeom prst="line">
            <a:avLst/>
          </a:prstGeom>
          <a:noFill/>
          <a:ln w="25400">
            <a:solidFill>
              <a:schemeClr val="accent4"/>
            </a:solidFill>
            <a:prstDash val="solid"/>
            <a:tailEnd type="triangle"/>
          </a:ln>
        </p:spPr>
        <p:txBody>
          <a:bodyPr/>
          <a:lstStyle/>
          <a:p>
            <a:endParaRPr lang="en-US"/>
          </a:p>
        </p:txBody>
      </p:sp>
      <p:sp>
        <p:nvSpPr>
          <p:cNvPr id="26" name="explain"/>
          <p:cNvSpPr/>
          <p:nvPr/>
        </p:nvSpPr>
        <p:spPr>
          <a:xfrm>
            <a:off x="7589520" y="1600200"/>
            <a:ext cx="4023360" cy="1051560"/>
          </a:xfrm>
          <a:prstGeom prst="roundRect">
            <a:avLst>
              <a:gd name="adj" fmla="val 5217"/>
            </a:avLst>
          </a:prstGeom>
          <a:solidFill>
            <a:schemeClr val="bg2"/>
          </a:solidFill>
          <a:ln/>
        </p:spPr>
        <p:txBody>
          <a:bodyPr/>
          <a:lstStyle/>
          <a:p>
            <a:endParaRPr lang="en-US"/>
          </a:p>
        </p:txBody>
      </p:sp>
      <p:sp>
        <p:nvSpPr>
          <p:cNvPr id="27" name="Text 25"/>
          <p:cNvSpPr txBox="1"/>
          <p:nvPr/>
        </p:nvSpPr>
        <p:spPr>
          <a:xfrm>
            <a:off x="7772400" y="1600200"/>
            <a:ext cx="3703320" cy="1051560"/>
          </a:xfrm>
          <a:prstGeom prst="rect">
            <a:avLst/>
          </a:prstGeom>
          <a:noFill/>
          <a:ln/>
        </p:spPr>
        <p:txBody>
          <a:bodyPr wrap="square" lIns="0" tIns="0" rIns="0" bIns="0" rtlCol="0" anchor="ctr"/>
          <a:lstStyle/>
          <a:p>
            <a:pPr marL="0" indent="0">
              <a:buNone/>
            </a:pPr>
            <a:r>
              <a:rPr lang="en-US" sz="1500" b="1" dirty="0">
                <a:solidFill>
                  <a:schemeClr val="tx1"/>
                </a:solidFill>
              </a:rPr>
              <a:t>Encoder</a:t>
            </a:r>
            <a:endParaRPr lang="en-US" sz="1500" dirty="0"/>
          </a:p>
          <a:p>
            <a:pPr marL="0" indent="0">
              <a:buNone/>
            </a:pPr>
            <a:r>
              <a:rPr lang="en-US" sz="1300" dirty="0">
                <a:solidFill>
                  <a:schemeClr val="tx2"/>
                </a:solidFill>
              </a:rPr>
              <a:t>Reads the whole input sentence at once. Each of 6 layers = self-attention + feed-forward.</a:t>
            </a:r>
            <a:endParaRPr lang="en-US" sz="1500" dirty="0"/>
          </a:p>
        </p:txBody>
      </p:sp>
      <p:sp>
        <p:nvSpPr>
          <p:cNvPr id="28" name="explain"/>
          <p:cNvSpPr/>
          <p:nvPr/>
        </p:nvSpPr>
        <p:spPr>
          <a:xfrm>
            <a:off x="7589520" y="2761488"/>
            <a:ext cx="4023360" cy="1051560"/>
          </a:xfrm>
          <a:prstGeom prst="roundRect">
            <a:avLst>
              <a:gd name="adj" fmla="val 5217"/>
            </a:avLst>
          </a:prstGeom>
          <a:solidFill>
            <a:schemeClr val="bg2"/>
          </a:solidFill>
          <a:ln/>
        </p:spPr>
        <p:txBody>
          <a:bodyPr/>
          <a:lstStyle/>
          <a:p>
            <a:endParaRPr lang="en-US"/>
          </a:p>
        </p:txBody>
      </p:sp>
      <p:sp>
        <p:nvSpPr>
          <p:cNvPr id="29" name="Text 27"/>
          <p:cNvSpPr txBox="1"/>
          <p:nvPr/>
        </p:nvSpPr>
        <p:spPr>
          <a:xfrm>
            <a:off x="7772400" y="2761488"/>
            <a:ext cx="3703320" cy="1051560"/>
          </a:xfrm>
          <a:prstGeom prst="rect">
            <a:avLst/>
          </a:prstGeom>
          <a:noFill/>
          <a:ln/>
        </p:spPr>
        <p:txBody>
          <a:bodyPr wrap="square" lIns="0" tIns="0" rIns="0" bIns="0" rtlCol="0" anchor="ctr"/>
          <a:lstStyle/>
          <a:p>
            <a:pPr marL="0" indent="0">
              <a:buNone/>
            </a:pPr>
            <a:r>
              <a:rPr lang="en-US" sz="1500" b="1" dirty="0">
                <a:solidFill>
                  <a:schemeClr val="tx1"/>
                </a:solidFill>
              </a:rPr>
              <a:t>Decoder</a:t>
            </a:r>
            <a:endParaRPr lang="en-US" sz="1500" dirty="0"/>
          </a:p>
          <a:p>
            <a:pPr marL="0" indent="0">
              <a:buNone/>
            </a:pPr>
            <a:r>
              <a:rPr lang="en-US" sz="1300" dirty="0">
                <a:solidFill>
                  <a:schemeClr val="tx2"/>
                </a:solidFill>
              </a:rPr>
              <a:t>Writes the output one token at a time. Masking hides future words; cross-attention reads the encoder.</a:t>
            </a:r>
            <a:endParaRPr lang="en-US" sz="1500" dirty="0"/>
          </a:p>
        </p:txBody>
      </p:sp>
      <p:sp>
        <p:nvSpPr>
          <p:cNvPr id="30" name="explain"/>
          <p:cNvSpPr/>
          <p:nvPr/>
        </p:nvSpPr>
        <p:spPr>
          <a:xfrm>
            <a:off x="7589520" y="3922776"/>
            <a:ext cx="4023360" cy="1051560"/>
          </a:xfrm>
          <a:prstGeom prst="roundRect">
            <a:avLst>
              <a:gd name="adj" fmla="val 5217"/>
            </a:avLst>
          </a:prstGeom>
          <a:solidFill>
            <a:schemeClr val="bg2"/>
          </a:solidFill>
          <a:ln/>
        </p:spPr>
        <p:txBody>
          <a:bodyPr/>
          <a:lstStyle/>
          <a:p>
            <a:endParaRPr lang="en-US"/>
          </a:p>
        </p:txBody>
      </p:sp>
      <p:sp>
        <p:nvSpPr>
          <p:cNvPr id="31" name="Text 29"/>
          <p:cNvSpPr txBox="1"/>
          <p:nvPr/>
        </p:nvSpPr>
        <p:spPr>
          <a:xfrm>
            <a:off x="7772400" y="3922776"/>
            <a:ext cx="3703320" cy="1051560"/>
          </a:xfrm>
          <a:prstGeom prst="rect">
            <a:avLst/>
          </a:prstGeom>
          <a:noFill/>
          <a:ln/>
        </p:spPr>
        <p:txBody>
          <a:bodyPr wrap="square" lIns="0" tIns="0" rIns="0" bIns="0" rtlCol="0" anchor="ctr"/>
          <a:lstStyle/>
          <a:p>
            <a:pPr marL="0" indent="0">
              <a:buNone/>
            </a:pPr>
            <a:r>
              <a:rPr lang="en-US" sz="1500" b="1" dirty="0">
                <a:solidFill>
                  <a:schemeClr val="tx1"/>
                </a:solidFill>
              </a:rPr>
              <a:t>Add &amp; Norm</a:t>
            </a:r>
            <a:endParaRPr lang="en-US" sz="1500" dirty="0"/>
          </a:p>
          <a:p>
            <a:pPr marL="0" indent="0">
              <a:buNone/>
            </a:pPr>
            <a:r>
              <a:rPr lang="en-US" sz="1300" dirty="0">
                <a:solidFill>
                  <a:schemeClr val="tx2"/>
                </a:solidFill>
              </a:rPr>
              <a:t>Residual connection plus layer normalisation keep deep stacks stable to train.</a:t>
            </a:r>
            <a:endParaRPr lang="en-US" sz="1500" dirty="0"/>
          </a:p>
        </p:txBody>
      </p:sp>
      <p:sp>
        <p:nvSpPr>
          <p:cNvPr id="32" name="explain"/>
          <p:cNvSpPr/>
          <p:nvPr/>
        </p:nvSpPr>
        <p:spPr>
          <a:xfrm>
            <a:off x="7589520" y="5084064"/>
            <a:ext cx="4023360" cy="1051560"/>
          </a:xfrm>
          <a:prstGeom prst="roundRect">
            <a:avLst>
              <a:gd name="adj" fmla="val 5217"/>
            </a:avLst>
          </a:prstGeom>
          <a:solidFill>
            <a:schemeClr val="bg2"/>
          </a:solidFill>
          <a:ln/>
        </p:spPr>
        <p:txBody>
          <a:bodyPr/>
          <a:lstStyle/>
          <a:p>
            <a:endParaRPr lang="en-US"/>
          </a:p>
        </p:txBody>
      </p:sp>
      <p:sp>
        <p:nvSpPr>
          <p:cNvPr id="33" name="Text 31"/>
          <p:cNvSpPr txBox="1"/>
          <p:nvPr/>
        </p:nvSpPr>
        <p:spPr>
          <a:xfrm>
            <a:off x="7772400" y="5084064"/>
            <a:ext cx="3703320" cy="1051560"/>
          </a:xfrm>
          <a:prstGeom prst="rect">
            <a:avLst/>
          </a:prstGeom>
          <a:noFill/>
          <a:ln/>
        </p:spPr>
        <p:txBody>
          <a:bodyPr wrap="square" lIns="0" tIns="0" rIns="0" bIns="0" rtlCol="0" anchor="ctr"/>
          <a:lstStyle/>
          <a:p>
            <a:pPr marL="0" indent="0">
              <a:buNone/>
            </a:pPr>
            <a:r>
              <a:rPr lang="en-US" sz="1500" b="1" dirty="0">
                <a:solidFill>
                  <a:schemeClr val="accent1"/>
                </a:solidFill>
              </a:rPr>
              <a:t>Today's models</a:t>
            </a:r>
            <a:endParaRPr lang="en-US" sz="1500" dirty="0"/>
          </a:p>
          <a:p>
            <a:pPr marL="0" indent="0">
              <a:buNone/>
            </a:pPr>
            <a:r>
              <a:rPr lang="en-US" sz="1300" dirty="0">
                <a:solidFill>
                  <a:schemeClr val="tx2"/>
                </a:solidFill>
              </a:rPr>
              <a:t>GPT, Llama and Claude-style LLMs are decoder-only; BERT is encoder-only.</a:t>
            </a:r>
            <a:endParaRPr lang="en-US" sz="15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Self-attention: each token decides what matters</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Scaled dot-product attention, the core equation of the paper</a:t>
            </a:r>
            <a:endParaRPr lang="en-US" sz="1600" dirty="0"/>
          </a:p>
        </p:txBody>
      </p:sp>
      <p:sp>
        <p:nvSpPr>
          <p:cNvPr id="4" name="formula"/>
          <p:cNvSpPr/>
          <p:nvPr/>
        </p:nvSpPr>
        <p:spPr>
          <a:xfrm>
            <a:off x="548640" y="1600200"/>
            <a:ext cx="5669280" cy="1051560"/>
          </a:xfrm>
          <a:prstGeom prst="roundRect">
            <a:avLst>
              <a:gd name="adj" fmla="val 6957"/>
            </a:avLst>
          </a:prstGeom>
          <a:solidFill>
            <a:schemeClr val="tx1"/>
          </a:solidFill>
          <a:ln/>
        </p:spPr>
        <p:txBody>
          <a:bodyPr/>
          <a:lstStyle/>
          <a:p>
            <a:endParaRPr lang="en-US"/>
          </a:p>
        </p:txBody>
      </p:sp>
      <p:sp>
        <p:nvSpPr>
          <p:cNvPr id="5" name="Text 3"/>
          <p:cNvSpPr txBox="1"/>
          <p:nvPr/>
        </p:nvSpPr>
        <p:spPr>
          <a:xfrm>
            <a:off x="777240" y="1600200"/>
            <a:ext cx="5303520" cy="1051560"/>
          </a:xfrm>
          <a:prstGeom prst="rect">
            <a:avLst/>
          </a:prstGeom>
          <a:noFill/>
          <a:ln/>
        </p:spPr>
        <p:txBody>
          <a:bodyPr wrap="square" lIns="0" tIns="0" rIns="0" bIns="0" rtlCol="0" anchor="ctr"/>
          <a:lstStyle/>
          <a:p>
            <a:pPr marL="0" indent="0" algn="ctr">
              <a:buNone/>
            </a:pPr>
            <a:r>
              <a:rPr lang="en-US" sz="1900" b="1" dirty="0">
                <a:solidFill>
                  <a:schemeClr val="bg1"/>
                </a:solidFill>
                <a:latin typeface="Courier New" pitchFamily="34" charset="0"/>
                <a:ea typeface="Courier New" pitchFamily="34" charset="-122"/>
                <a:cs typeface="Courier New" pitchFamily="34" charset="-120"/>
              </a:rPr>
              <a:t>Attention(Q, K, V) =</a:t>
            </a:r>
            <a:endParaRPr lang="en-US" sz="1900" dirty="0"/>
          </a:p>
          <a:p>
            <a:pPr marL="0" indent="0" algn="ctr">
              <a:buNone/>
            </a:pPr>
            <a:r>
              <a:rPr lang="en-US" sz="1900" b="1" dirty="0">
                <a:solidFill>
                  <a:schemeClr val="accent3"/>
                </a:solidFill>
                <a:latin typeface="Courier New" pitchFamily="34" charset="0"/>
                <a:ea typeface="Courier New" pitchFamily="34" charset="-122"/>
                <a:cs typeface="Courier New" pitchFamily="34" charset="-120"/>
              </a:rPr>
              <a:t>softmax( Q·Kᵀ / √dₖ ) · V</a:t>
            </a:r>
            <a:endParaRPr lang="en-US" sz="1900" dirty="0"/>
          </a:p>
        </p:txBody>
      </p:sp>
      <p:sp>
        <p:nvSpPr>
          <p:cNvPr id="6" name="num"/>
          <p:cNvSpPr/>
          <p:nvPr/>
        </p:nvSpPr>
        <p:spPr>
          <a:xfrm>
            <a:off x="548640" y="2953512"/>
            <a:ext cx="502920" cy="502920"/>
          </a:xfrm>
          <a:prstGeom prst="ellipse">
            <a:avLst/>
          </a:prstGeom>
          <a:solidFill>
            <a:schemeClr val="accent1"/>
          </a:solidFill>
          <a:ln/>
        </p:spPr>
        <p:txBody>
          <a:bodyPr/>
          <a:lstStyle/>
          <a:p>
            <a:endParaRPr lang="en-US"/>
          </a:p>
        </p:txBody>
      </p:sp>
      <p:sp>
        <p:nvSpPr>
          <p:cNvPr id="7" name="Text 5"/>
          <p:cNvSpPr txBox="1"/>
          <p:nvPr/>
        </p:nvSpPr>
        <p:spPr>
          <a:xfrm>
            <a:off x="548640" y="2953512"/>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8" name="Text 6"/>
          <p:cNvSpPr txBox="1"/>
          <p:nvPr/>
        </p:nvSpPr>
        <p:spPr>
          <a:xfrm>
            <a:off x="1234440" y="2834640"/>
            <a:ext cx="4983480" cy="777240"/>
          </a:xfrm>
          <a:prstGeom prst="rect">
            <a:avLst/>
          </a:prstGeom>
          <a:noFill/>
          <a:ln/>
        </p:spPr>
        <p:txBody>
          <a:bodyPr wrap="square" lIns="0" tIns="0" rIns="0" bIns="0" rtlCol="0" anchor="ctr"/>
          <a:lstStyle/>
          <a:p>
            <a:pPr marL="0" indent="0">
              <a:buNone/>
            </a:pPr>
            <a:r>
              <a:rPr lang="en-US" sz="1400" b="1" dirty="0">
                <a:solidFill>
                  <a:schemeClr val="tx1"/>
                </a:solidFill>
              </a:rPr>
              <a:t>Project: </a:t>
            </a:r>
            <a:r>
              <a:rPr lang="en-US" sz="1400" dirty="0">
                <a:solidFill>
                  <a:schemeClr val="tx2"/>
                </a:solidFill>
              </a:rPr>
              <a:t>Multiply each token vector (512 numbers) by learned weight matrices W_Q, W_K, W_V to get a query, key and value (64 numbers per head).</a:t>
            </a:r>
            <a:endParaRPr lang="en-US" sz="1400" dirty="0"/>
          </a:p>
        </p:txBody>
      </p:sp>
      <p:sp>
        <p:nvSpPr>
          <p:cNvPr id="9" name="num"/>
          <p:cNvSpPr/>
          <p:nvPr/>
        </p:nvSpPr>
        <p:spPr>
          <a:xfrm>
            <a:off x="548640" y="3794760"/>
            <a:ext cx="502920" cy="502920"/>
          </a:xfrm>
          <a:prstGeom prst="ellipse">
            <a:avLst/>
          </a:prstGeom>
          <a:solidFill>
            <a:schemeClr val="accent1"/>
          </a:solidFill>
          <a:ln/>
        </p:spPr>
        <p:txBody>
          <a:bodyPr/>
          <a:lstStyle/>
          <a:p>
            <a:endParaRPr lang="en-US"/>
          </a:p>
        </p:txBody>
      </p:sp>
      <p:sp>
        <p:nvSpPr>
          <p:cNvPr id="10" name="Text 8"/>
          <p:cNvSpPr txBox="1"/>
          <p:nvPr/>
        </p:nvSpPr>
        <p:spPr>
          <a:xfrm>
            <a:off x="548640" y="3794760"/>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1" name="Text 9"/>
          <p:cNvSpPr txBox="1"/>
          <p:nvPr/>
        </p:nvSpPr>
        <p:spPr>
          <a:xfrm>
            <a:off x="1234440" y="3675888"/>
            <a:ext cx="4983480" cy="777240"/>
          </a:xfrm>
          <a:prstGeom prst="rect">
            <a:avLst/>
          </a:prstGeom>
          <a:noFill/>
          <a:ln/>
        </p:spPr>
        <p:txBody>
          <a:bodyPr wrap="square" lIns="0" tIns="0" rIns="0" bIns="0" rtlCol="0" anchor="ctr"/>
          <a:lstStyle/>
          <a:p>
            <a:pPr marL="0" indent="0">
              <a:buNone/>
            </a:pPr>
            <a:r>
              <a:rPr lang="en-US" sz="1400" b="1" dirty="0">
                <a:solidFill>
                  <a:schemeClr val="tx1"/>
                </a:solidFill>
              </a:rPr>
              <a:t>Score: </a:t>
            </a:r>
            <a:r>
              <a:rPr lang="en-US" sz="1400" dirty="0">
                <a:solidFill>
                  <a:schemeClr val="tx2"/>
                </a:solidFill>
              </a:rPr>
              <a:t>Dot product of one token's query with every token's key: how relevant is word j to word i?</a:t>
            </a:r>
            <a:endParaRPr lang="en-US" sz="1400" dirty="0"/>
          </a:p>
        </p:txBody>
      </p:sp>
      <p:sp>
        <p:nvSpPr>
          <p:cNvPr id="12" name="num"/>
          <p:cNvSpPr/>
          <p:nvPr/>
        </p:nvSpPr>
        <p:spPr>
          <a:xfrm>
            <a:off x="548640" y="4636008"/>
            <a:ext cx="502920" cy="502920"/>
          </a:xfrm>
          <a:prstGeom prst="ellipse">
            <a:avLst/>
          </a:prstGeom>
          <a:solidFill>
            <a:schemeClr val="accent1"/>
          </a:solidFill>
          <a:ln/>
        </p:spPr>
        <p:txBody>
          <a:bodyPr/>
          <a:lstStyle/>
          <a:p>
            <a:endParaRPr lang="en-US"/>
          </a:p>
        </p:txBody>
      </p:sp>
      <p:sp>
        <p:nvSpPr>
          <p:cNvPr id="13" name="Text 11"/>
          <p:cNvSpPr txBox="1"/>
          <p:nvPr/>
        </p:nvSpPr>
        <p:spPr>
          <a:xfrm>
            <a:off x="548640" y="4636008"/>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14" name="Text 12"/>
          <p:cNvSpPr txBox="1"/>
          <p:nvPr/>
        </p:nvSpPr>
        <p:spPr>
          <a:xfrm>
            <a:off x="1234440" y="4517136"/>
            <a:ext cx="4983480" cy="777240"/>
          </a:xfrm>
          <a:prstGeom prst="rect">
            <a:avLst/>
          </a:prstGeom>
          <a:noFill/>
          <a:ln/>
        </p:spPr>
        <p:txBody>
          <a:bodyPr wrap="square" lIns="0" tIns="0" rIns="0" bIns="0" rtlCol="0" anchor="ctr"/>
          <a:lstStyle/>
          <a:p>
            <a:pPr marL="0" indent="0">
              <a:buNone/>
            </a:pPr>
            <a:r>
              <a:rPr lang="en-US" sz="1400" b="1" dirty="0">
                <a:solidFill>
                  <a:schemeClr val="tx1"/>
                </a:solidFill>
              </a:rPr>
              <a:t>Scale and softmax: </a:t>
            </a:r>
            <a:r>
              <a:rPr lang="en-US" sz="1400" dirty="0">
                <a:solidFill>
                  <a:schemeClr val="tx2"/>
                </a:solidFill>
              </a:rPr>
              <a:t>Divide by √dₖ = √64 = 8 so scores do not explode, then softmax turns them into weights that sum to 1.</a:t>
            </a:r>
            <a:endParaRPr lang="en-US" sz="1400" dirty="0"/>
          </a:p>
        </p:txBody>
      </p:sp>
      <p:sp>
        <p:nvSpPr>
          <p:cNvPr id="15" name="num"/>
          <p:cNvSpPr/>
          <p:nvPr/>
        </p:nvSpPr>
        <p:spPr>
          <a:xfrm>
            <a:off x="548640" y="5477256"/>
            <a:ext cx="502920" cy="502920"/>
          </a:xfrm>
          <a:prstGeom prst="ellipse">
            <a:avLst/>
          </a:prstGeom>
          <a:solidFill>
            <a:schemeClr val="accent2"/>
          </a:solidFill>
          <a:ln/>
        </p:spPr>
        <p:txBody>
          <a:bodyPr/>
          <a:lstStyle/>
          <a:p>
            <a:endParaRPr lang="en-US"/>
          </a:p>
        </p:txBody>
      </p:sp>
      <p:sp>
        <p:nvSpPr>
          <p:cNvPr id="16" name="Text 14"/>
          <p:cNvSpPr txBox="1"/>
          <p:nvPr/>
        </p:nvSpPr>
        <p:spPr>
          <a:xfrm>
            <a:off x="548640" y="5477256"/>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rPr>
              <a:t>4</a:t>
            </a:r>
            <a:endParaRPr lang="en-US" sz="1500" dirty="0"/>
          </a:p>
        </p:txBody>
      </p:sp>
      <p:sp>
        <p:nvSpPr>
          <p:cNvPr id="17" name="Text 15"/>
          <p:cNvSpPr txBox="1"/>
          <p:nvPr/>
        </p:nvSpPr>
        <p:spPr>
          <a:xfrm>
            <a:off x="1234440" y="5358384"/>
            <a:ext cx="4983480" cy="777240"/>
          </a:xfrm>
          <a:prstGeom prst="rect">
            <a:avLst/>
          </a:prstGeom>
          <a:noFill/>
          <a:ln/>
        </p:spPr>
        <p:txBody>
          <a:bodyPr wrap="square" lIns="0" tIns="0" rIns="0" bIns="0" rtlCol="0" anchor="ctr"/>
          <a:lstStyle/>
          <a:p>
            <a:pPr marL="0" indent="0">
              <a:buNone/>
            </a:pPr>
            <a:r>
              <a:rPr lang="en-US" sz="1400" b="1" dirty="0">
                <a:solidFill>
                  <a:schemeClr val="tx1"/>
                </a:solidFill>
              </a:rPr>
              <a:t>Mix: </a:t>
            </a:r>
            <a:r>
              <a:rPr lang="en-US" sz="1400" dirty="0">
                <a:solidFill>
                  <a:schemeClr val="tx2"/>
                </a:solidFill>
              </a:rPr>
              <a:t>Output = weighted sum of the value vectors. 'it' now carries information from 'animal'.</a:t>
            </a:r>
            <a:endParaRPr lang="en-US" sz="1400" dirty="0"/>
          </a:p>
        </p:txBody>
      </p:sp>
      <p:sp>
        <p:nvSpPr>
          <p:cNvPr id="18" name="Text 16"/>
          <p:cNvSpPr txBox="1"/>
          <p:nvPr/>
        </p:nvSpPr>
        <p:spPr>
          <a:xfrm>
            <a:off x="6492240" y="1600200"/>
            <a:ext cx="5120640" cy="320040"/>
          </a:xfrm>
          <a:prstGeom prst="rect">
            <a:avLst/>
          </a:prstGeom>
          <a:noFill/>
          <a:ln/>
        </p:spPr>
        <p:txBody>
          <a:bodyPr wrap="square" lIns="0" tIns="0" rIns="0" bIns="0" rtlCol="0" anchor="t"/>
          <a:lstStyle/>
          <a:p>
            <a:pPr marL="0" indent="0">
              <a:buNone/>
            </a:pPr>
            <a:r>
              <a:rPr lang="en-US" sz="1500" b="1" dirty="0">
                <a:solidFill>
                  <a:schemeClr val="tx1"/>
                </a:solidFill>
              </a:rPr>
              <a:t>Worked example: attention weights for the token "it"</a:t>
            </a:r>
            <a:endParaRPr lang="en-US" sz="1500" dirty="0"/>
          </a:p>
        </p:txBody>
      </p:sp>
      <p:graphicFrame>
        <p:nvGraphicFramePr>
          <p:cNvPr id="19" name="Chart 0"/>
          <p:cNvGraphicFramePr/>
          <p:nvPr/>
        </p:nvGraphicFramePr>
        <p:xfrm>
          <a:off x="6492240" y="1965960"/>
          <a:ext cx="512064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20" name="Text 17"/>
          <p:cNvSpPr txBox="1"/>
          <p:nvPr/>
        </p:nvSpPr>
        <p:spPr>
          <a:xfrm>
            <a:off x="6492240" y="5897880"/>
            <a:ext cx="5120640" cy="274320"/>
          </a:xfrm>
          <a:prstGeom prst="rect">
            <a:avLst/>
          </a:prstGeom>
          <a:noFill/>
          <a:ln/>
        </p:spPr>
        <p:txBody>
          <a:bodyPr wrap="square" lIns="0" tIns="0" rIns="0" bIns="0" rtlCol="0" anchor="t"/>
          <a:lstStyle/>
          <a:p>
            <a:pPr marL="0" indent="0" algn="r">
              <a:buNone/>
            </a:pPr>
            <a:r>
              <a:rPr lang="en-US" sz="1100" i="1" dirty="0">
                <a:solidFill>
                  <a:schemeClr val="accent5"/>
                </a:solidFill>
              </a:rPr>
              <a:t>Illustrative values; they sum to 1.00</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Other building blocks and the paper's model sizes</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Multi-head attention, positional encoding, feed-forward network, and Table 3 of the paper</a:t>
            </a:r>
            <a:endParaRPr lang="en-US" sz="1600" dirty="0"/>
          </a:p>
        </p:txBody>
      </p:sp>
      <p:sp>
        <p:nvSpPr>
          <p:cNvPr id="4" name="building-block"/>
          <p:cNvSpPr/>
          <p:nvPr/>
        </p:nvSpPr>
        <p:spPr>
          <a:xfrm>
            <a:off x="548640" y="1600200"/>
            <a:ext cx="6035040" cy="1417320"/>
          </a:xfrm>
          <a:prstGeom prst="roundRect">
            <a:avLst>
              <a:gd name="adj" fmla="val 5161"/>
            </a:avLst>
          </a:prstGeom>
          <a:solidFill>
            <a:schemeClr val="bg2"/>
          </a:solidFill>
          <a:ln/>
        </p:spPr>
        <p:txBody>
          <a:bodyPr/>
          <a:lstStyle/>
          <a:p>
            <a:endParaRPr lang="en-US"/>
          </a:p>
        </p:txBody>
      </p:sp>
      <p:sp>
        <p:nvSpPr>
          <p:cNvPr id="5" name="icon-chip"/>
          <p:cNvSpPr/>
          <p:nvPr/>
        </p:nvSpPr>
        <p:spPr>
          <a:xfrm>
            <a:off x="731520" y="1783080"/>
            <a:ext cx="548640" cy="548640"/>
          </a:xfrm>
          <a:prstGeom prst="ellipse">
            <a:avLst/>
          </a:prstGeom>
          <a:solidFill>
            <a:schemeClr val="accent1"/>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852221" y="1903781"/>
            <a:ext cx="307238" cy="307238"/>
          </a:xfrm>
          <a:prstGeom prst="rect">
            <a:avLst/>
          </a:prstGeom>
        </p:spPr>
      </p:pic>
      <p:sp>
        <p:nvSpPr>
          <p:cNvPr id="7" name="Text 4"/>
          <p:cNvSpPr txBox="1"/>
          <p:nvPr/>
        </p:nvSpPr>
        <p:spPr>
          <a:xfrm>
            <a:off x="1417320" y="1709928"/>
            <a:ext cx="4937760" cy="365760"/>
          </a:xfrm>
          <a:prstGeom prst="rect">
            <a:avLst/>
          </a:prstGeom>
          <a:noFill/>
          <a:ln/>
        </p:spPr>
        <p:txBody>
          <a:bodyPr wrap="square" lIns="0" tIns="0" rIns="0" bIns="0" rtlCol="0" anchor="t"/>
          <a:lstStyle/>
          <a:p>
            <a:pPr marL="0" indent="0">
              <a:buNone/>
            </a:pPr>
            <a:r>
              <a:rPr lang="en-US" sz="1600" b="1" dirty="0">
                <a:solidFill>
                  <a:schemeClr val="accent1"/>
                </a:solidFill>
              </a:rPr>
              <a:t>Multi-head attention</a:t>
            </a:r>
            <a:endParaRPr lang="en-US" sz="1600" dirty="0"/>
          </a:p>
        </p:txBody>
      </p:sp>
      <p:sp>
        <p:nvSpPr>
          <p:cNvPr id="8" name="Text 5"/>
          <p:cNvSpPr txBox="1"/>
          <p:nvPr/>
        </p:nvSpPr>
        <p:spPr>
          <a:xfrm>
            <a:off x="1417320" y="2057400"/>
            <a:ext cx="5029200" cy="914400"/>
          </a:xfrm>
          <a:prstGeom prst="rect">
            <a:avLst/>
          </a:prstGeom>
          <a:noFill/>
          <a:ln/>
        </p:spPr>
        <p:txBody>
          <a:bodyPr wrap="square" lIns="0" tIns="0" rIns="0" bIns="0" rtlCol="0" anchor="t"/>
          <a:lstStyle/>
          <a:p>
            <a:pPr marL="0" indent="0">
              <a:buNone/>
            </a:pPr>
            <a:r>
              <a:rPr lang="en-US" sz="1300" dirty="0">
                <a:solidFill>
                  <a:schemeClr val="tx2"/>
                </a:solidFill>
              </a:rPr>
              <a:t>8 heads run attention in parallel, each on 64 dimensions (8 × 64 = 512). Heads learn different relations, e.g. grammar or what a pronoun refers to. Outputs are concatenated and mixed by W_O.</a:t>
            </a:r>
            <a:endParaRPr lang="en-US" sz="1300" dirty="0"/>
          </a:p>
        </p:txBody>
      </p:sp>
      <p:sp>
        <p:nvSpPr>
          <p:cNvPr id="9" name="building-block"/>
          <p:cNvSpPr/>
          <p:nvPr/>
        </p:nvSpPr>
        <p:spPr>
          <a:xfrm>
            <a:off x="548640" y="3136392"/>
            <a:ext cx="6035040" cy="1417320"/>
          </a:xfrm>
          <a:prstGeom prst="roundRect">
            <a:avLst>
              <a:gd name="adj" fmla="val 5161"/>
            </a:avLst>
          </a:prstGeom>
          <a:solidFill>
            <a:schemeClr val="bg2"/>
          </a:solidFill>
          <a:ln/>
        </p:spPr>
        <p:txBody>
          <a:bodyPr/>
          <a:lstStyle/>
          <a:p>
            <a:endParaRPr lang="en-US"/>
          </a:p>
        </p:txBody>
      </p:sp>
      <p:sp>
        <p:nvSpPr>
          <p:cNvPr id="10" name="icon-chip"/>
          <p:cNvSpPr/>
          <p:nvPr/>
        </p:nvSpPr>
        <p:spPr>
          <a:xfrm>
            <a:off x="731520" y="3319272"/>
            <a:ext cx="548640" cy="548640"/>
          </a:xfrm>
          <a:prstGeom prst="ellipse">
            <a:avLst/>
          </a:prstGeom>
          <a:solidFill>
            <a:schemeClr val="accent4"/>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852221" y="3439973"/>
            <a:ext cx="307238" cy="307238"/>
          </a:xfrm>
          <a:prstGeom prst="rect">
            <a:avLst/>
          </a:prstGeom>
        </p:spPr>
      </p:pic>
      <p:sp>
        <p:nvSpPr>
          <p:cNvPr id="12" name="Text 8"/>
          <p:cNvSpPr txBox="1"/>
          <p:nvPr/>
        </p:nvSpPr>
        <p:spPr>
          <a:xfrm>
            <a:off x="1417320" y="3246120"/>
            <a:ext cx="4937760" cy="365760"/>
          </a:xfrm>
          <a:prstGeom prst="rect">
            <a:avLst/>
          </a:prstGeom>
          <a:noFill/>
          <a:ln/>
        </p:spPr>
        <p:txBody>
          <a:bodyPr wrap="square" lIns="0" tIns="0" rIns="0" bIns="0" rtlCol="0" anchor="t"/>
          <a:lstStyle/>
          <a:p>
            <a:pPr marL="0" indent="0">
              <a:buNone/>
            </a:pPr>
            <a:r>
              <a:rPr lang="en-US" sz="1600" b="1" dirty="0">
                <a:solidFill>
                  <a:schemeClr val="accent4"/>
                </a:solidFill>
              </a:rPr>
              <a:t>Positional encoding</a:t>
            </a:r>
            <a:endParaRPr lang="en-US" sz="1600" dirty="0"/>
          </a:p>
        </p:txBody>
      </p:sp>
      <p:sp>
        <p:nvSpPr>
          <p:cNvPr id="13" name="Text 9"/>
          <p:cNvSpPr txBox="1"/>
          <p:nvPr/>
        </p:nvSpPr>
        <p:spPr>
          <a:xfrm>
            <a:off x="1417320" y="3593592"/>
            <a:ext cx="5029200" cy="914400"/>
          </a:xfrm>
          <a:prstGeom prst="rect">
            <a:avLst/>
          </a:prstGeom>
          <a:noFill/>
          <a:ln/>
        </p:spPr>
        <p:txBody>
          <a:bodyPr wrap="square" lIns="0" tIns="0" rIns="0" bIns="0" rtlCol="0" anchor="t"/>
          <a:lstStyle/>
          <a:p>
            <a:pPr marL="0" indent="0">
              <a:buNone/>
            </a:pPr>
            <a:r>
              <a:rPr lang="en-US" sz="1300" dirty="0">
                <a:solidFill>
                  <a:schemeClr val="tx2"/>
                </a:solidFill>
              </a:rPr>
              <a:t>Attention ignores word order, so sine and cosine waves are added to each embedding: PE(pos, 2i) = sin(pos / 10000^(2i/512)). Fixed by formula, so 0 parameters.</a:t>
            </a:r>
            <a:endParaRPr lang="en-US" sz="1300" dirty="0"/>
          </a:p>
        </p:txBody>
      </p:sp>
      <p:sp>
        <p:nvSpPr>
          <p:cNvPr id="14" name="building-block"/>
          <p:cNvSpPr/>
          <p:nvPr/>
        </p:nvSpPr>
        <p:spPr>
          <a:xfrm>
            <a:off x="548640" y="4672584"/>
            <a:ext cx="6035040" cy="1417320"/>
          </a:xfrm>
          <a:prstGeom prst="roundRect">
            <a:avLst>
              <a:gd name="adj" fmla="val 5161"/>
            </a:avLst>
          </a:prstGeom>
          <a:solidFill>
            <a:schemeClr val="bg2"/>
          </a:solidFill>
          <a:ln/>
        </p:spPr>
        <p:txBody>
          <a:bodyPr/>
          <a:lstStyle/>
          <a:p>
            <a:endParaRPr lang="en-US"/>
          </a:p>
        </p:txBody>
      </p:sp>
      <p:sp>
        <p:nvSpPr>
          <p:cNvPr id="15" name="icon-chip"/>
          <p:cNvSpPr/>
          <p:nvPr/>
        </p:nvSpPr>
        <p:spPr>
          <a:xfrm>
            <a:off x="731520" y="4855464"/>
            <a:ext cx="548640" cy="548640"/>
          </a:xfrm>
          <a:prstGeom prst="ellipse">
            <a:avLst/>
          </a:prstGeom>
          <a:solidFill>
            <a:schemeClr val="accent2"/>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852221" y="4976165"/>
            <a:ext cx="307238" cy="307238"/>
          </a:xfrm>
          <a:prstGeom prst="rect">
            <a:avLst/>
          </a:prstGeom>
        </p:spPr>
      </p:pic>
      <p:sp>
        <p:nvSpPr>
          <p:cNvPr id="17" name="Text 12"/>
          <p:cNvSpPr txBox="1"/>
          <p:nvPr/>
        </p:nvSpPr>
        <p:spPr>
          <a:xfrm>
            <a:off x="1417320" y="4782312"/>
            <a:ext cx="4937760" cy="365760"/>
          </a:xfrm>
          <a:prstGeom prst="rect">
            <a:avLst/>
          </a:prstGeom>
          <a:noFill/>
          <a:ln/>
        </p:spPr>
        <p:txBody>
          <a:bodyPr wrap="square" lIns="0" tIns="0" rIns="0" bIns="0" rtlCol="0" anchor="t"/>
          <a:lstStyle/>
          <a:p>
            <a:pPr marL="0" indent="0">
              <a:buNone/>
            </a:pPr>
            <a:r>
              <a:rPr lang="en-US" sz="1600" b="1" dirty="0">
                <a:solidFill>
                  <a:schemeClr val="accent2"/>
                </a:solidFill>
              </a:rPr>
              <a:t>Feed-forward network</a:t>
            </a:r>
            <a:endParaRPr lang="en-US" sz="1600" dirty="0"/>
          </a:p>
        </p:txBody>
      </p:sp>
      <p:sp>
        <p:nvSpPr>
          <p:cNvPr id="18" name="Text 13"/>
          <p:cNvSpPr txBox="1"/>
          <p:nvPr/>
        </p:nvSpPr>
        <p:spPr>
          <a:xfrm>
            <a:off x="1417320" y="5129784"/>
            <a:ext cx="5029200" cy="914400"/>
          </a:xfrm>
          <a:prstGeom prst="rect">
            <a:avLst/>
          </a:prstGeom>
          <a:noFill/>
          <a:ln/>
        </p:spPr>
        <p:txBody>
          <a:bodyPr wrap="square" lIns="0" tIns="0" rIns="0" bIns="0" rtlCol="0" anchor="t"/>
          <a:lstStyle/>
          <a:p>
            <a:pPr marL="0" indent="0">
              <a:buNone/>
            </a:pPr>
            <a:r>
              <a:rPr lang="en-US" sz="1300" dirty="0">
                <a:solidFill>
                  <a:schemeClr val="tx2"/>
                </a:solidFill>
              </a:rPr>
              <a:t>FFN(x) = max(0, x·W₁ + b₁)·W₂ + b₂. Expands 512 → 2048 → 512 for each token separately. Holds the largest share of layer parameters.</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858000" y="1600200"/>
          <a:ext cx="4754880" cy="4114800"/>
        </p:xfrm>
        <a:graphic>
          <a:graphicData uri="http://schemas.openxmlformats.org/drawingml/2006/table">
            <a:tbl>
              <a:tblPr/>
              <a:tblGrid>
                <a:gridCol w="27432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457200">
                <a:tc>
                  <a:txBody>
                    <a:bodyPr/>
                    <a:lstStyle/>
                    <a:p>
                      <a:pPr marL="0" indent="0" algn="l">
                        <a:buNone/>
                      </a:pPr>
                      <a:r>
                        <a:rPr lang="en-US" sz="1400" b="1" dirty="0">
                          <a:solidFill>
                            <a:schemeClr val="bg1"/>
                          </a:solidFill>
                        </a:rPr>
                        <a:t>Hyperparameter</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marL="0" indent="0" algn="ctr">
                        <a:buNone/>
                      </a:pPr>
                      <a:r>
                        <a:rPr lang="en-US" sz="1400" b="1" dirty="0">
                          <a:solidFill>
                            <a:schemeClr val="bg1"/>
                          </a:solidFill>
                        </a:rPr>
                        <a:t>Base</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marL="0" indent="0" algn="ctr">
                        <a:buNone/>
                      </a:pPr>
                      <a:r>
                        <a:rPr lang="en-US" sz="1400" b="1" dirty="0">
                          <a:solidFill>
                            <a:schemeClr val="bg1"/>
                          </a:solidFill>
                        </a:rPr>
                        <a:t>Big</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57200">
                <a:tc>
                  <a:txBody>
                    <a:bodyPr/>
                    <a:lstStyle/>
                    <a:p>
                      <a:pPr marL="0" indent="0" algn="l">
                        <a:buNone/>
                      </a:pPr>
                      <a:r>
                        <a:rPr lang="en-US" sz="1400" b="1" dirty="0">
                          <a:solidFill>
                            <a:schemeClr val="tx1"/>
                          </a:solidFill>
                        </a:rPr>
                        <a:t>Layers N (encoder / decoder)</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6 / 6</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6 / 6</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57200">
                <a:tc>
                  <a:txBody>
                    <a:bodyPr/>
                    <a:lstStyle/>
                    <a:p>
                      <a:pPr marL="0" indent="0" algn="l">
                        <a:buNone/>
                      </a:pPr>
                      <a:r>
                        <a:rPr lang="en-US" sz="1400" b="1" dirty="0">
                          <a:solidFill>
                            <a:schemeClr val="tx1"/>
                          </a:solidFill>
                        </a:rPr>
                        <a:t>d_model (vector size)</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512</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1024</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57200">
                <a:tc>
                  <a:txBody>
                    <a:bodyPr/>
                    <a:lstStyle/>
                    <a:p>
                      <a:pPr marL="0" indent="0" algn="l">
                        <a:buNone/>
                      </a:pPr>
                      <a:r>
                        <a:rPr lang="en-US" sz="1400" b="1" dirty="0">
                          <a:solidFill>
                            <a:schemeClr val="tx1"/>
                          </a:solidFill>
                        </a:rPr>
                        <a:t>d_ff (FFN inner size)</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2048</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4096</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57200">
                <a:tc>
                  <a:txBody>
                    <a:bodyPr/>
                    <a:lstStyle/>
                    <a:p>
                      <a:pPr marL="0" indent="0" algn="l">
                        <a:buNone/>
                      </a:pPr>
                      <a:r>
                        <a:rPr lang="en-US" sz="1400" b="1" dirty="0">
                          <a:solidFill>
                            <a:schemeClr val="tx1"/>
                          </a:solidFill>
                        </a:rPr>
                        <a:t>Attention heads h</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8</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16</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57200">
                <a:tc>
                  <a:txBody>
                    <a:bodyPr/>
                    <a:lstStyle/>
                    <a:p>
                      <a:pPr marL="0" indent="0" algn="l">
                        <a:buNone/>
                      </a:pPr>
                      <a:r>
                        <a:rPr lang="en-US" sz="1400" b="1" dirty="0">
                          <a:solidFill>
                            <a:schemeClr val="tx1"/>
                          </a:solidFill>
                        </a:rPr>
                        <a:t>d_k = d_v per head</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64</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64</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457200">
                <a:tc>
                  <a:txBody>
                    <a:bodyPr/>
                    <a:lstStyle/>
                    <a:p>
                      <a:pPr marL="0" indent="0" algn="l">
                        <a:buNone/>
                      </a:pPr>
                      <a:r>
                        <a:rPr lang="en-US" sz="1400" b="1" dirty="0">
                          <a:solidFill>
                            <a:schemeClr val="tx1"/>
                          </a:solidFill>
                        </a:rPr>
                        <a:t>Dropout</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0.1</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0.3</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57200">
                <a:tc>
                  <a:txBody>
                    <a:bodyPr/>
                    <a:lstStyle/>
                    <a:p>
                      <a:pPr marL="0" indent="0" algn="l">
                        <a:buNone/>
                      </a:pPr>
                      <a:r>
                        <a:rPr lang="en-US" sz="1400" b="1" dirty="0">
                          <a:solidFill>
                            <a:schemeClr val="tx1"/>
                          </a:solidFill>
                        </a:rPr>
                        <a:t>Training steps</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100K</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300K</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r h="457200">
                <a:tc>
                  <a:txBody>
                    <a:bodyPr/>
                    <a:lstStyle/>
                    <a:p>
                      <a:pPr marL="0" indent="0" algn="l">
                        <a:buNone/>
                      </a:pPr>
                      <a:r>
                        <a:rPr lang="en-US" sz="1400" b="1" dirty="0">
                          <a:solidFill>
                            <a:schemeClr val="tx1"/>
                          </a:solidFill>
                        </a:rPr>
                        <a:t>Parameters (reported)</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accent1"/>
                          </a:solidFill>
                        </a:rPr>
                        <a:t>65M</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accent1"/>
                          </a:solidFill>
                        </a:rPr>
                        <a:t>213M</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20" name="Text 14"/>
          <p:cNvSpPr txBox="1"/>
          <p:nvPr/>
        </p:nvSpPr>
        <p:spPr>
          <a:xfrm>
            <a:off x="6858000" y="5897880"/>
            <a:ext cx="4754880" cy="274320"/>
          </a:xfrm>
          <a:prstGeom prst="rect">
            <a:avLst/>
          </a:prstGeom>
          <a:noFill/>
          <a:ln/>
        </p:spPr>
        <p:txBody>
          <a:bodyPr wrap="square" lIns="0" tIns="0" rIns="0" bIns="0" rtlCol="0" anchor="t"/>
          <a:lstStyle/>
          <a:p>
            <a:pPr marL="0" indent="0">
              <a:buNone/>
            </a:pPr>
            <a:r>
              <a:rPr lang="en-US" sz="1100" i="1" dirty="0">
                <a:solidFill>
                  <a:schemeClr val="accent5"/>
                </a:solidFill>
              </a:rPr>
              <a:t>Source: Vaswani et al. 2017, Table 3</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What is a parameter? A number the model learns</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Weights and biases are the parameters; a model is millions or billions of them in matrices</a:t>
            </a:r>
            <a:endParaRPr lang="en-US" sz="1600" dirty="0"/>
          </a:p>
        </p:txBody>
      </p:sp>
      <p:sp>
        <p:nvSpPr>
          <p:cNvPr id="4" name="Shape 2"/>
          <p:cNvSpPr/>
          <p:nvPr/>
        </p:nvSpPr>
        <p:spPr>
          <a:xfrm>
            <a:off x="1737360" y="2240280"/>
            <a:ext cx="2377440" cy="822960"/>
          </a:xfrm>
          <a:prstGeom prst="line">
            <a:avLst/>
          </a:prstGeom>
          <a:noFill/>
          <a:ln w="38100">
            <a:solidFill>
              <a:schemeClr val="accent2"/>
            </a:solidFill>
            <a:prstDash val="solid"/>
          </a:ln>
        </p:spPr>
        <p:txBody>
          <a:bodyPr/>
          <a:lstStyle/>
          <a:p>
            <a:endParaRPr lang="en-US"/>
          </a:p>
        </p:txBody>
      </p:sp>
      <p:sp>
        <p:nvSpPr>
          <p:cNvPr id="5" name="Shape 3"/>
          <p:cNvSpPr/>
          <p:nvPr/>
        </p:nvSpPr>
        <p:spPr>
          <a:xfrm flipV="1">
            <a:off x="1737360" y="3063240"/>
            <a:ext cx="2377440" cy="777240"/>
          </a:xfrm>
          <a:prstGeom prst="line">
            <a:avLst/>
          </a:prstGeom>
          <a:noFill/>
          <a:ln w="38100">
            <a:solidFill>
              <a:schemeClr val="accent6"/>
            </a:solidFill>
            <a:prstDash val="solid"/>
          </a:ln>
        </p:spPr>
        <p:txBody>
          <a:bodyPr/>
          <a:lstStyle/>
          <a:p>
            <a:endParaRPr lang="en-US"/>
          </a:p>
        </p:txBody>
      </p:sp>
      <p:sp>
        <p:nvSpPr>
          <p:cNvPr id="6" name="input"/>
          <p:cNvSpPr/>
          <p:nvPr/>
        </p:nvSpPr>
        <p:spPr>
          <a:xfrm>
            <a:off x="914400" y="1828800"/>
            <a:ext cx="822960" cy="822960"/>
          </a:xfrm>
          <a:prstGeom prst="ellipse">
            <a:avLst/>
          </a:prstGeom>
          <a:solidFill>
            <a:schemeClr val="bg2"/>
          </a:solidFill>
          <a:ln w="19050">
            <a:solidFill>
              <a:schemeClr val="tx2"/>
            </a:solidFill>
            <a:prstDash val="solid"/>
          </a:ln>
        </p:spPr>
        <p:txBody>
          <a:bodyPr/>
          <a:lstStyle/>
          <a:p>
            <a:endParaRPr lang="en-US"/>
          </a:p>
        </p:txBody>
      </p:sp>
      <p:sp>
        <p:nvSpPr>
          <p:cNvPr id="7" name="input"/>
          <p:cNvSpPr/>
          <p:nvPr/>
        </p:nvSpPr>
        <p:spPr>
          <a:xfrm>
            <a:off x="914400" y="3429000"/>
            <a:ext cx="822960" cy="822960"/>
          </a:xfrm>
          <a:prstGeom prst="ellipse">
            <a:avLst/>
          </a:prstGeom>
          <a:solidFill>
            <a:schemeClr val="bg2"/>
          </a:solidFill>
          <a:ln w="19050">
            <a:solidFill>
              <a:schemeClr val="tx2"/>
            </a:solidFill>
            <a:prstDash val="solid"/>
          </a:ln>
        </p:spPr>
        <p:txBody>
          <a:bodyPr/>
          <a:lstStyle/>
          <a:p>
            <a:endParaRPr lang="en-US"/>
          </a:p>
        </p:txBody>
      </p:sp>
      <p:sp>
        <p:nvSpPr>
          <p:cNvPr id="8" name="Text 6"/>
          <p:cNvSpPr txBox="1"/>
          <p:nvPr/>
        </p:nvSpPr>
        <p:spPr>
          <a:xfrm>
            <a:off x="274320" y="2697480"/>
            <a:ext cx="2103120" cy="320040"/>
          </a:xfrm>
          <a:prstGeom prst="rect">
            <a:avLst/>
          </a:prstGeom>
          <a:noFill/>
          <a:ln/>
        </p:spPr>
        <p:txBody>
          <a:bodyPr wrap="square" lIns="0" tIns="0" rIns="0" bIns="0" rtlCol="0" anchor="t"/>
          <a:lstStyle/>
          <a:p>
            <a:pPr marL="0" indent="0" algn="ctr">
              <a:buNone/>
            </a:pPr>
            <a:r>
              <a:rPr lang="en-US" sz="1400" b="1" dirty="0">
                <a:solidFill>
                  <a:schemeClr val="tx1"/>
                </a:solidFill>
              </a:rPr>
              <a:t>x₁ = 1.0</a:t>
            </a:r>
            <a:endParaRPr lang="en-US" sz="1400" dirty="0"/>
          </a:p>
        </p:txBody>
      </p:sp>
      <p:sp>
        <p:nvSpPr>
          <p:cNvPr id="9" name="Text 7"/>
          <p:cNvSpPr txBox="1"/>
          <p:nvPr/>
        </p:nvSpPr>
        <p:spPr>
          <a:xfrm>
            <a:off x="274320" y="4297680"/>
            <a:ext cx="2103120" cy="320040"/>
          </a:xfrm>
          <a:prstGeom prst="rect">
            <a:avLst/>
          </a:prstGeom>
          <a:noFill/>
          <a:ln/>
        </p:spPr>
        <p:txBody>
          <a:bodyPr wrap="square" lIns="0" tIns="0" rIns="0" bIns="0" rtlCol="0" anchor="t"/>
          <a:lstStyle/>
          <a:p>
            <a:pPr marL="0" indent="0" algn="ctr">
              <a:buNone/>
            </a:pPr>
            <a:r>
              <a:rPr lang="en-US" sz="1400" b="1" dirty="0">
                <a:solidFill>
                  <a:schemeClr val="tx1"/>
                </a:solidFill>
              </a:rPr>
              <a:t>x₂ = 2.0</a:t>
            </a:r>
            <a:endParaRPr lang="en-US" sz="1400" dirty="0"/>
          </a:p>
        </p:txBody>
      </p:sp>
      <p:sp>
        <p:nvSpPr>
          <p:cNvPr id="10" name="Text 8"/>
          <p:cNvSpPr txBox="1"/>
          <p:nvPr/>
        </p:nvSpPr>
        <p:spPr>
          <a:xfrm>
            <a:off x="2194560" y="2148840"/>
            <a:ext cx="1371600" cy="320040"/>
          </a:xfrm>
          <a:prstGeom prst="rect">
            <a:avLst/>
          </a:prstGeom>
          <a:noFill/>
          <a:ln/>
        </p:spPr>
        <p:txBody>
          <a:bodyPr wrap="square" lIns="0" tIns="0" rIns="0" bIns="0" rtlCol="0" anchor="t"/>
          <a:lstStyle/>
          <a:p>
            <a:pPr marL="0" indent="0">
              <a:buNone/>
            </a:pPr>
            <a:r>
              <a:rPr lang="en-US" sz="1500" b="1" dirty="0">
                <a:solidFill>
                  <a:schemeClr val="accent2"/>
                </a:solidFill>
              </a:rPr>
              <a:t>w₁ = 0.8</a:t>
            </a:r>
            <a:endParaRPr lang="en-US" sz="1500" dirty="0"/>
          </a:p>
        </p:txBody>
      </p:sp>
      <p:sp>
        <p:nvSpPr>
          <p:cNvPr id="11" name="Text 9"/>
          <p:cNvSpPr txBox="1"/>
          <p:nvPr/>
        </p:nvSpPr>
        <p:spPr>
          <a:xfrm>
            <a:off x="2194560" y="3703320"/>
            <a:ext cx="1463040" cy="320040"/>
          </a:xfrm>
          <a:prstGeom prst="rect">
            <a:avLst/>
          </a:prstGeom>
          <a:noFill/>
          <a:ln/>
        </p:spPr>
        <p:txBody>
          <a:bodyPr wrap="square" lIns="0" tIns="0" rIns="0" bIns="0" rtlCol="0" anchor="t"/>
          <a:lstStyle/>
          <a:p>
            <a:pPr marL="0" indent="0">
              <a:buNone/>
            </a:pPr>
            <a:r>
              <a:rPr lang="en-US" sz="1500" b="1" dirty="0">
                <a:solidFill>
                  <a:schemeClr val="accent6"/>
                </a:solidFill>
              </a:rPr>
              <a:t>w₂ = −0.5</a:t>
            </a:r>
            <a:endParaRPr lang="en-US" sz="1500" dirty="0"/>
          </a:p>
        </p:txBody>
      </p:sp>
      <p:sp>
        <p:nvSpPr>
          <p:cNvPr id="12" name="neuron"/>
          <p:cNvSpPr/>
          <p:nvPr/>
        </p:nvSpPr>
        <p:spPr>
          <a:xfrm>
            <a:off x="4114800" y="2560320"/>
            <a:ext cx="1005840" cy="1005840"/>
          </a:xfrm>
          <a:prstGeom prst="ellipse">
            <a:avLst/>
          </a:prstGeom>
          <a:solidFill>
            <a:schemeClr val="accent1"/>
          </a:solidFill>
          <a:ln/>
        </p:spPr>
        <p:txBody>
          <a:bodyPr/>
          <a:lstStyle/>
          <a:p>
            <a:endParaRPr lang="en-US"/>
          </a:p>
        </p:txBody>
      </p:sp>
      <p:sp>
        <p:nvSpPr>
          <p:cNvPr id="13" name="Text 11"/>
          <p:cNvSpPr txBox="1"/>
          <p:nvPr/>
        </p:nvSpPr>
        <p:spPr>
          <a:xfrm>
            <a:off x="4114800" y="2560320"/>
            <a:ext cx="1005840" cy="1005840"/>
          </a:xfrm>
          <a:prstGeom prst="rect">
            <a:avLst/>
          </a:prstGeom>
          <a:noFill/>
          <a:ln/>
        </p:spPr>
        <p:txBody>
          <a:bodyPr wrap="square" lIns="0" tIns="0" rIns="0" bIns="0" rtlCol="0" anchor="ctr"/>
          <a:lstStyle/>
          <a:p>
            <a:pPr marL="0" indent="0" algn="ctr">
              <a:buNone/>
            </a:pPr>
            <a:r>
              <a:rPr lang="en-US" sz="3000" b="1" dirty="0">
                <a:solidFill>
                  <a:schemeClr val="bg1"/>
                </a:solidFill>
              </a:rPr>
              <a:t>Σ</a:t>
            </a:r>
            <a:endParaRPr lang="en-US" sz="3000" dirty="0"/>
          </a:p>
        </p:txBody>
      </p:sp>
      <p:sp>
        <p:nvSpPr>
          <p:cNvPr id="14" name="Text 12"/>
          <p:cNvSpPr txBox="1"/>
          <p:nvPr/>
        </p:nvSpPr>
        <p:spPr>
          <a:xfrm>
            <a:off x="3886200" y="2148840"/>
            <a:ext cx="1463040" cy="320040"/>
          </a:xfrm>
          <a:prstGeom prst="rect">
            <a:avLst/>
          </a:prstGeom>
          <a:noFill/>
          <a:ln/>
        </p:spPr>
        <p:txBody>
          <a:bodyPr wrap="square" lIns="0" tIns="0" rIns="0" bIns="0" rtlCol="0" anchor="t"/>
          <a:lstStyle/>
          <a:p>
            <a:pPr marL="0" indent="0" algn="ctr">
              <a:buNone/>
            </a:pPr>
            <a:r>
              <a:rPr lang="en-US" sz="1400" b="1" dirty="0">
                <a:solidFill>
                  <a:schemeClr val="accent1"/>
                </a:solidFill>
              </a:rPr>
              <a:t>bias b = 0.1</a:t>
            </a:r>
            <a:endParaRPr lang="en-US" sz="1400" dirty="0"/>
          </a:p>
        </p:txBody>
      </p:sp>
      <p:sp>
        <p:nvSpPr>
          <p:cNvPr id="15" name="neuron-calc"/>
          <p:cNvSpPr/>
          <p:nvPr/>
        </p:nvSpPr>
        <p:spPr>
          <a:xfrm>
            <a:off x="548640" y="4617720"/>
            <a:ext cx="5212080" cy="731520"/>
          </a:xfrm>
          <a:prstGeom prst="roundRect">
            <a:avLst>
              <a:gd name="adj" fmla="val 7500"/>
            </a:avLst>
          </a:prstGeom>
          <a:solidFill>
            <a:schemeClr val="tx1"/>
          </a:solidFill>
          <a:ln/>
        </p:spPr>
        <p:txBody>
          <a:bodyPr/>
          <a:lstStyle/>
          <a:p>
            <a:endParaRPr lang="en-US"/>
          </a:p>
        </p:txBody>
      </p:sp>
      <p:sp>
        <p:nvSpPr>
          <p:cNvPr id="16" name="Text 14"/>
          <p:cNvSpPr txBox="1"/>
          <p:nvPr/>
        </p:nvSpPr>
        <p:spPr>
          <a:xfrm>
            <a:off x="685800" y="4617720"/>
            <a:ext cx="4937760" cy="731520"/>
          </a:xfrm>
          <a:prstGeom prst="rect">
            <a:avLst/>
          </a:prstGeom>
          <a:noFill/>
          <a:ln/>
        </p:spPr>
        <p:txBody>
          <a:bodyPr wrap="square" lIns="0" tIns="0" rIns="0" bIns="0" rtlCol="0" anchor="ctr"/>
          <a:lstStyle/>
          <a:p>
            <a:pPr marL="0" indent="0" algn="ctr">
              <a:buNone/>
            </a:pPr>
            <a:r>
              <a:rPr lang="en-US" sz="1600" b="1" dirty="0">
                <a:solidFill>
                  <a:schemeClr val="bg1"/>
                </a:solidFill>
                <a:latin typeface="Courier New" pitchFamily="34" charset="0"/>
                <a:ea typeface="Courier New" pitchFamily="34" charset="-122"/>
                <a:cs typeface="Courier New" pitchFamily="34" charset="-120"/>
              </a:rPr>
              <a:t>y = 0.8×1.0 + (−0.5)×2.0 + 0.1 = −0.1</a:t>
            </a:r>
            <a:endParaRPr lang="en-US" sz="1600" dirty="0"/>
          </a:p>
        </p:txBody>
      </p:sp>
      <p:sp>
        <p:nvSpPr>
          <p:cNvPr id="17" name="glossary"/>
          <p:cNvSpPr/>
          <p:nvPr/>
        </p:nvSpPr>
        <p:spPr>
          <a:xfrm>
            <a:off x="6035040" y="1600200"/>
            <a:ext cx="2697480" cy="1783080"/>
          </a:xfrm>
          <a:prstGeom prst="roundRect">
            <a:avLst>
              <a:gd name="adj" fmla="val 4103"/>
            </a:avLst>
          </a:prstGeom>
          <a:solidFill>
            <a:schemeClr val="bg2"/>
          </a:solidFill>
          <a:ln/>
        </p:spPr>
        <p:txBody>
          <a:bodyPr/>
          <a:lstStyle/>
          <a:p>
            <a:endParaRPr lang="en-US"/>
          </a:p>
        </p:txBody>
      </p:sp>
      <p:sp>
        <p:nvSpPr>
          <p:cNvPr id="18" name="Text 16"/>
          <p:cNvSpPr txBox="1"/>
          <p:nvPr/>
        </p:nvSpPr>
        <p:spPr>
          <a:xfrm>
            <a:off x="6217920" y="1737360"/>
            <a:ext cx="2331720" cy="365760"/>
          </a:xfrm>
          <a:prstGeom prst="rect">
            <a:avLst/>
          </a:prstGeom>
          <a:noFill/>
          <a:ln/>
        </p:spPr>
        <p:txBody>
          <a:bodyPr wrap="square" lIns="0" tIns="0" rIns="0" bIns="0" rtlCol="0" anchor="t"/>
          <a:lstStyle/>
          <a:p>
            <a:pPr marL="0" indent="0">
              <a:buNone/>
            </a:pPr>
            <a:r>
              <a:rPr lang="en-US" sz="1700" b="1" dirty="0">
                <a:solidFill>
                  <a:schemeClr val="accent2"/>
                </a:solidFill>
              </a:rPr>
              <a:t>Weight</a:t>
            </a:r>
            <a:endParaRPr lang="en-US" sz="1700" dirty="0"/>
          </a:p>
        </p:txBody>
      </p:sp>
      <p:sp>
        <p:nvSpPr>
          <p:cNvPr id="19" name="Text 17"/>
          <p:cNvSpPr txBox="1"/>
          <p:nvPr/>
        </p:nvSpPr>
        <p:spPr>
          <a:xfrm>
            <a:off x="6217920" y="2130552"/>
            <a:ext cx="2331720" cy="868680"/>
          </a:xfrm>
          <a:prstGeom prst="rect">
            <a:avLst/>
          </a:prstGeom>
          <a:noFill/>
          <a:ln/>
        </p:spPr>
        <p:txBody>
          <a:bodyPr wrap="square" lIns="0" tIns="0" rIns="0" bIns="0" rtlCol="0" anchor="t"/>
          <a:lstStyle/>
          <a:p>
            <a:pPr marL="0" indent="0">
              <a:buNone/>
            </a:pPr>
            <a:r>
              <a:rPr lang="en-US" sz="1300" dirty="0">
                <a:solidFill>
                  <a:schemeClr val="tx2"/>
                </a:solidFill>
              </a:rPr>
              <a:t>How strongly one input influences an output. Learned.</a:t>
            </a:r>
            <a:endParaRPr lang="en-US" sz="1300" dirty="0"/>
          </a:p>
        </p:txBody>
      </p:sp>
      <p:sp>
        <p:nvSpPr>
          <p:cNvPr id="20" name="Text 18"/>
          <p:cNvSpPr txBox="1"/>
          <p:nvPr/>
        </p:nvSpPr>
        <p:spPr>
          <a:xfrm>
            <a:off x="6217920" y="3017520"/>
            <a:ext cx="2331720" cy="274320"/>
          </a:xfrm>
          <a:prstGeom prst="rect">
            <a:avLst/>
          </a:prstGeom>
          <a:noFill/>
          <a:ln/>
        </p:spPr>
        <p:txBody>
          <a:bodyPr wrap="square" lIns="0" tIns="0" rIns="0" bIns="0" rtlCol="0" anchor="t"/>
          <a:lstStyle/>
          <a:p>
            <a:pPr marL="0" indent="0">
              <a:buNone/>
            </a:pPr>
            <a:r>
              <a:rPr lang="en-US" sz="1100" b="1" kern="0" spc="100" dirty="0">
                <a:solidFill>
                  <a:schemeClr val="accent2"/>
                </a:solidFill>
              </a:rPr>
              <a:t>PARAMETER</a:t>
            </a:r>
            <a:endParaRPr lang="en-US" sz="1100" dirty="0"/>
          </a:p>
        </p:txBody>
      </p:sp>
      <p:sp>
        <p:nvSpPr>
          <p:cNvPr id="21" name="glossary"/>
          <p:cNvSpPr/>
          <p:nvPr/>
        </p:nvSpPr>
        <p:spPr>
          <a:xfrm>
            <a:off x="8869680" y="1600200"/>
            <a:ext cx="2697480" cy="1783080"/>
          </a:xfrm>
          <a:prstGeom prst="roundRect">
            <a:avLst>
              <a:gd name="adj" fmla="val 4103"/>
            </a:avLst>
          </a:prstGeom>
          <a:solidFill>
            <a:schemeClr val="bg2"/>
          </a:solidFill>
          <a:ln/>
        </p:spPr>
        <p:txBody>
          <a:bodyPr/>
          <a:lstStyle/>
          <a:p>
            <a:endParaRPr lang="en-US"/>
          </a:p>
        </p:txBody>
      </p:sp>
      <p:sp>
        <p:nvSpPr>
          <p:cNvPr id="22" name="Text 20"/>
          <p:cNvSpPr txBox="1"/>
          <p:nvPr/>
        </p:nvSpPr>
        <p:spPr>
          <a:xfrm>
            <a:off x="9052560" y="1737360"/>
            <a:ext cx="2331720" cy="365760"/>
          </a:xfrm>
          <a:prstGeom prst="rect">
            <a:avLst/>
          </a:prstGeom>
          <a:noFill/>
          <a:ln/>
        </p:spPr>
        <p:txBody>
          <a:bodyPr wrap="square" lIns="0" tIns="0" rIns="0" bIns="0" rtlCol="0" anchor="t"/>
          <a:lstStyle/>
          <a:p>
            <a:pPr marL="0" indent="0">
              <a:buNone/>
            </a:pPr>
            <a:r>
              <a:rPr lang="en-US" sz="1700" b="1" dirty="0">
                <a:solidFill>
                  <a:schemeClr val="accent1"/>
                </a:solidFill>
              </a:rPr>
              <a:t>Bias</a:t>
            </a:r>
            <a:endParaRPr lang="en-US" sz="1700" dirty="0"/>
          </a:p>
        </p:txBody>
      </p:sp>
      <p:sp>
        <p:nvSpPr>
          <p:cNvPr id="23" name="Text 21"/>
          <p:cNvSpPr txBox="1"/>
          <p:nvPr/>
        </p:nvSpPr>
        <p:spPr>
          <a:xfrm>
            <a:off x="9052560" y="2130552"/>
            <a:ext cx="2331720" cy="868680"/>
          </a:xfrm>
          <a:prstGeom prst="rect">
            <a:avLst/>
          </a:prstGeom>
          <a:noFill/>
          <a:ln/>
        </p:spPr>
        <p:txBody>
          <a:bodyPr wrap="square" lIns="0" tIns="0" rIns="0" bIns="0" rtlCol="0" anchor="t"/>
          <a:lstStyle/>
          <a:p>
            <a:pPr marL="0" indent="0">
              <a:buNone/>
            </a:pPr>
            <a:r>
              <a:rPr lang="en-US" sz="1300" dirty="0">
                <a:solidFill>
                  <a:schemeClr val="tx2"/>
                </a:solidFill>
              </a:rPr>
              <a:t>A learned offset added to the weighted sum.</a:t>
            </a:r>
            <a:endParaRPr lang="en-US" sz="1300" dirty="0"/>
          </a:p>
        </p:txBody>
      </p:sp>
      <p:sp>
        <p:nvSpPr>
          <p:cNvPr id="24" name="Text 22"/>
          <p:cNvSpPr txBox="1"/>
          <p:nvPr/>
        </p:nvSpPr>
        <p:spPr>
          <a:xfrm>
            <a:off x="9052560" y="3017520"/>
            <a:ext cx="2331720"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PARAMETER</a:t>
            </a:r>
            <a:endParaRPr lang="en-US" sz="1100" dirty="0"/>
          </a:p>
        </p:txBody>
      </p:sp>
      <p:sp>
        <p:nvSpPr>
          <p:cNvPr id="25" name="glossary"/>
          <p:cNvSpPr/>
          <p:nvPr/>
        </p:nvSpPr>
        <p:spPr>
          <a:xfrm>
            <a:off x="6035040" y="3502152"/>
            <a:ext cx="2697480" cy="1783080"/>
          </a:xfrm>
          <a:prstGeom prst="roundRect">
            <a:avLst>
              <a:gd name="adj" fmla="val 4103"/>
            </a:avLst>
          </a:prstGeom>
          <a:solidFill>
            <a:schemeClr val="bg2"/>
          </a:solidFill>
          <a:ln/>
        </p:spPr>
        <p:txBody>
          <a:bodyPr/>
          <a:lstStyle/>
          <a:p>
            <a:endParaRPr lang="en-US"/>
          </a:p>
        </p:txBody>
      </p:sp>
      <p:sp>
        <p:nvSpPr>
          <p:cNvPr id="26" name="Text 24"/>
          <p:cNvSpPr txBox="1"/>
          <p:nvPr/>
        </p:nvSpPr>
        <p:spPr>
          <a:xfrm>
            <a:off x="6217920" y="3639312"/>
            <a:ext cx="2331720" cy="365760"/>
          </a:xfrm>
          <a:prstGeom prst="rect">
            <a:avLst/>
          </a:prstGeom>
          <a:noFill/>
          <a:ln/>
        </p:spPr>
        <p:txBody>
          <a:bodyPr wrap="square" lIns="0" tIns="0" rIns="0" bIns="0" rtlCol="0" anchor="t"/>
          <a:lstStyle/>
          <a:p>
            <a:pPr marL="0" indent="0">
              <a:buNone/>
            </a:pPr>
            <a:r>
              <a:rPr lang="en-US" sz="1700" b="1" dirty="0">
                <a:solidFill>
                  <a:schemeClr val="accent4"/>
                </a:solidFill>
              </a:rPr>
              <a:t>Hyperparameter</a:t>
            </a:r>
            <a:endParaRPr lang="en-US" sz="1700" dirty="0"/>
          </a:p>
        </p:txBody>
      </p:sp>
      <p:sp>
        <p:nvSpPr>
          <p:cNvPr id="27" name="Text 25"/>
          <p:cNvSpPr txBox="1"/>
          <p:nvPr/>
        </p:nvSpPr>
        <p:spPr>
          <a:xfrm>
            <a:off x="6217920" y="4032504"/>
            <a:ext cx="2331720" cy="868680"/>
          </a:xfrm>
          <a:prstGeom prst="rect">
            <a:avLst/>
          </a:prstGeom>
          <a:noFill/>
          <a:ln/>
        </p:spPr>
        <p:txBody>
          <a:bodyPr wrap="square" lIns="0" tIns="0" rIns="0" bIns="0" rtlCol="0" anchor="t"/>
          <a:lstStyle/>
          <a:p>
            <a:pPr marL="0" indent="0">
              <a:buNone/>
            </a:pPr>
            <a:r>
              <a:rPr lang="en-US" sz="1300" dirty="0">
                <a:solidFill>
                  <a:schemeClr val="tx2"/>
                </a:solidFill>
              </a:rPr>
              <a:t>Chosen by people before training: layers, d_model, heads, learning rate.</a:t>
            </a:r>
            <a:endParaRPr lang="en-US" sz="1300" dirty="0"/>
          </a:p>
        </p:txBody>
      </p:sp>
      <p:sp>
        <p:nvSpPr>
          <p:cNvPr id="28" name="Text 26"/>
          <p:cNvSpPr txBox="1"/>
          <p:nvPr/>
        </p:nvSpPr>
        <p:spPr>
          <a:xfrm>
            <a:off x="6217920" y="4919472"/>
            <a:ext cx="2331720" cy="274320"/>
          </a:xfrm>
          <a:prstGeom prst="rect">
            <a:avLst/>
          </a:prstGeom>
          <a:noFill/>
          <a:ln/>
        </p:spPr>
        <p:txBody>
          <a:bodyPr wrap="square" lIns="0" tIns="0" rIns="0" bIns="0" rtlCol="0" anchor="t"/>
          <a:lstStyle/>
          <a:p>
            <a:pPr marL="0" indent="0">
              <a:buNone/>
            </a:pPr>
            <a:r>
              <a:rPr lang="en-US" sz="1100" b="1" kern="0" spc="100" dirty="0">
                <a:solidFill>
                  <a:schemeClr val="accent4"/>
                </a:solidFill>
              </a:rPr>
              <a:t>NOT LEARNED</a:t>
            </a:r>
            <a:endParaRPr lang="en-US" sz="1100" dirty="0"/>
          </a:p>
        </p:txBody>
      </p:sp>
      <p:sp>
        <p:nvSpPr>
          <p:cNvPr id="29" name="glossary"/>
          <p:cNvSpPr/>
          <p:nvPr/>
        </p:nvSpPr>
        <p:spPr>
          <a:xfrm>
            <a:off x="8869680" y="3502152"/>
            <a:ext cx="2697480" cy="1783080"/>
          </a:xfrm>
          <a:prstGeom prst="roundRect">
            <a:avLst>
              <a:gd name="adj" fmla="val 4103"/>
            </a:avLst>
          </a:prstGeom>
          <a:solidFill>
            <a:schemeClr val="bg2"/>
          </a:solidFill>
          <a:ln/>
        </p:spPr>
        <p:txBody>
          <a:bodyPr/>
          <a:lstStyle/>
          <a:p>
            <a:endParaRPr lang="en-US"/>
          </a:p>
        </p:txBody>
      </p:sp>
      <p:sp>
        <p:nvSpPr>
          <p:cNvPr id="30" name="Text 28"/>
          <p:cNvSpPr txBox="1"/>
          <p:nvPr/>
        </p:nvSpPr>
        <p:spPr>
          <a:xfrm>
            <a:off x="9052560" y="3639312"/>
            <a:ext cx="2331720" cy="365760"/>
          </a:xfrm>
          <a:prstGeom prst="rect">
            <a:avLst/>
          </a:prstGeom>
          <a:noFill/>
          <a:ln/>
        </p:spPr>
        <p:txBody>
          <a:bodyPr wrap="square" lIns="0" tIns="0" rIns="0" bIns="0" rtlCol="0" anchor="t"/>
          <a:lstStyle/>
          <a:p>
            <a:pPr marL="0" indent="0">
              <a:buNone/>
            </a:pPr>
            <a:r>
              <a:rPr lang="en-US" sz="1700" b="1" dirty="0">
                <a:solidFill>
                  <a:schemeClr val="accent5"/>
                </a:solidFill>
              </a:rPr>
              <a:t>Activation</a:t>
            </a:r>
            <a:endParaRPr lang="en-US" sz="1700" dirty="0"/>
          </a:p>
        </p:txBody>
      </p:sp>
      <p:sp>
        <p:nvSpPr>
          <p:cNvPr id="31" name="Text 29"/>
          <p:cNvSpPr txBox="1"/>
          <p:nvPr/>
        </p:nvSpPr>
        <p:spPr>
          <a:xfrm>
            <a:off x="9052560" y="4032504"/>
            <a:ext cx="2331720" cy="868680"/>
          </a:xfrm>
          <a:prstGeom prst="rect">
            <a:avLst/>
          </a:prstGeom>
          <a:noFill/>
          <a:ln/>
        </p:spPr>
        <p:txBody>
          <a:bodyPr wrap="square" lIns="0" tIns="0" rIns="0" bIns="0" rtlCol="0" anchor="t"/>
          <a:lstStyle/>
          <a:p>
            <a:pPr marL="0" indent="0">
              <a:buNone/>
            </a:pPr>
            <a:r>
              <a:rPr lang="en-US" sz="1300" dirty="0">
                <a:solidFill>
                  <a:schemeClr val="tx2"/>
                </a:solidFill>
              </a:rPr>
              <a:t>Values computed for one input as it flows through. Not stored in the model.</a:t>
            </a:r>
            <a:endParaRPr lang="en-US" sz="1300" dirty="0"/>
          </a:p>
        </p:txBody>
      </p:sp>
      <p:sp>
        <p:nvSpPr>
          <p:cNvPr id="32" name="Text 30"/>
          <p:cNvSpPr txBox="1"/>
          <p:nvPr/>
        </p:nvSpPr>
        <p:spPr>
          <a:xfrm>
            <a:off x="9052560" y="4919472"/>
            <a:ext cx="2331720" cy="274320"/>
          </a:xfrm>
          <a:prstGeom prst="rect">
            <a:avLst/>
          </a:prstGeom>
          <a:noFill/>
          <a:ln/>
        </p:spPr>
        <p:txBody>
          <a:bodyPr wrap="square" lIns="0" tIns="0" rIns="0" bIns="0" rtlCol="0" anchor="t"/>
          <a:lstStyle/>
          <a:p>
            <a:pPr marL="0" indent="0">
              <a:buNone/>
            </a:pPr>
            <a:r>
              <a:rPr lang="en-US" sz="1100" b="1" kern="0" spc="100" dirty="0">
                <a:solidFill>
                  <a:schemeClr val="accent5"/>
                </a:solidFill>
              </a:rPr>
              <a:t>NOT STORED</a:t>
            </a:r>
            <a:endParaRPr lang="en-US" sz="1100" dirty="0"/>
          </a:p>
        </p:txBody>
      </p:sp>
      <p:sp>
        <p:nvSpPr>
          <p:cNvPr id="33" name="callout"/>
          <p:cNvSpPr/>
          <p:nvPr/>
        </p:nvSpPr>
        <p:spPr>
          <a:xfrm>
            <a:off x="548640" y="5532120"/>
            <a:ext cx="11064240" cy="640080"/>
          </a:xfrm>
          <a:prstGeom prst="roundRect">
            <a:avLst>
              <a:gd name="adj" fmla="val 11429"/>
            </a:avLst>
          </a:prstGeom>
          <a:solidFill>
            <a:schemeClr val="tx1"/>
          </a:solidFill>
          <a:ln/>
        </p:spPr>
        <p:txBody>
          <a:bodyPr/>
          <a:lstStyle/>
          <a:p>
            <a:endParaRPr lang="en-US"/>
          </a:p>
        </p:txBody>
      </p:sp>
      <p:pic>
        <p:nvPicPr>
          <p:cNvPr id="34" name="Image 0" descr="preencoded.png"/>
          <p:cNvPicPr>
            <a:picLocks noChangeAspect="1"/>
          </p:cNvPicPr>
          <p:nvPr/>
        </p:nvPicPr>
        <p:blipFill>
          <a:blip r:embed="rId3"/>
          <a:stretch>
            <a:fillRect/>
          </a:stretch>
        </p:blipFill>
        <p:spPr>
          <a:xfrm>
            <a:off x="777240" y="5669280"/>
            <a:ext cx="365760" cy="365760"/>
          </a:xfrm>
          <a:prstGeom prst="rect">
            <a:avLst/>
          </a:prstGeom>
        </p:spPr>
      </p:pic>
      <p:sp>
        <p:nvSpPr>
          <p:cNvPr id="35" name="Text 32"/>
          <p:cNvSpPr txBox="1"/>
          <p:nvPr/>
        </p:nvSpPr>
        <p:spPr>
          <a:xfrm>
            <a:off x="1325880" y="5532120"/>
            <a:ext cx="10058400" cy="640080"/>
          </a:xfrm>
          <a:prstGeom prst="rect">
            <a:avLst/>
          </a:prstGeom>
          <a:noFill/>
          <a:ln/>
        </p:spPr>
        <p:txBody>
          <a:bodyPr wrap="square" lIns="0" tIns="0" rIns="0" bIns="0" rtlCol="0" anchor="ctr"/>
          <a:lstStyle/>
          <a:p>
            <a:pPr marL="0" indent="0">
              <a:buNone/>
            </a:pPr>
            <a:r>
              <a:rPr lang="en-US" sz="1500" b="1" dirty="0">
                <a:solidFill>
                  <a:schemeClr val="accent3"/>
                </a:solidFill>
              </a:rPr>
              <a:t>Linear layer: </a:t>
            </a:r>
            <a:r>
              <a:rPr lang="en-US" sz="1500" dirty="0">
                <a:solidFill>
                  <a:schemeClr val="bg1"/>
                </a:solidFill>
              </a:rPr>
              <a:t>parameters = inputs × outputs + outputs.  512 → 2048:  512 × 2048 + 2048 = 1,050,624 parameters</a:t>
            </a:r>
            <a:endParaRPr lang="en-US" sz="1500" dirty="0"/>
          </a:p>
        </p:txBody>
      </p:sp>
      <p:sp>
        <p:nvSpPr>
          <p:cNvPr id="3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How weights are learned: millions of small corrections</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Training repeats forward pass, loss, backpropagation and update over millions of examples</a:t>
            </a:r>
            <a:endParaRPr lang="en-US" sz="1600" dirty="0"/>
          </a:p>
        </p:txBody>
      </p:sp>
      <p:sp>
        <p:nvSpPr>
          <p:cNvPr id="4" name="train-step"/>
          <p:cNvSpPr/>
          <p:nvPr/>
        </p:nvSpPr>
        <p:spPr>
          <a:xfrm>
            <a:off x="548640" y="1600200"/>
            <a:ext cx="2697480" cy="731520"/>
          </a:xfrm>
          <a:prstGeom prst="chevron">
            <a:avLst/>
          </a:prstGeom>
          <a:solidFill>
            <a:schemeClr val="accent4"/>
          </a:solidFill>
          <a:ln/>
        </p:spPr>
        <p:txBody>
          <a:bodyPr wrap="square" lIns="0" tIns="0" rIns="0" bIns="0" rtlCol="0" anchor="ctr"/>
          <a:lstStyle/>
          <a:p>
            <a:pPr marL="0" indent="0" algn="ctr">
              <a:buNone/>
            </a:pPr>
            <a:r>
              <a:rPr lang="en-US" sz="1600" b="1" dirty="0">
                <a:solidFill>
                  <a:schemeClr val="bg1"/>
                </a:solidFill>
              </a:rPr>
              <a:t>Forward pass</a:t>
            </a:r>
            <a:endParaRPr lang="en-US" sz="1600" dirty="0"/>
          </a:p>
        </p:txBody>
      </p:sp>
      <p:sp>
        <p:nvSpPr>
          <p:cNvPr id="5" name="Text 3"/>
          <p:cNvSpPr txBox="1"/>
          <p:nvPr/>
        </p:nvSpPr>
        <p:spPr>
          <a:xfrm>
            <a:off x="822960" y="2423160"/>
            <a:ext cx="2286000" cy="548640"/>
          </a:xfrm>
          <a:prstGeom prst="rect">
            <a:avLst/>
          </a:prstGeom>
          <a:noFill/>
          <a:ln/>
        </p:spPr>
        <p:txBody>
          <a:bodyPr wrap="square" lIns="0" tIns="0" rIns="0" bIns="0" rtlCol="0" anchor="t"/>
          <a:lstStyle/>
          <a:p>
            <a:pPr marL="0" indent="0">
              <a:buNone/>
            </a:pPr>
            <a:r>
              <a:rPr lang="en-US" sz="1300" dirty="0">
                <a:solidFill>
                  <a:schemeClr val="tx2"/>
                </a:solidFill>
              </a:rPr>
              <a:t>Predict the next token with the current weights</a:t>
            </a:r>
            <a:endParaRPr lang="en-US" sz="1300" dirty="0"/>
          </a:p>
        </p:txBody>
      </p:sp>
      <p:sp>
        <p:nvSpPr>
          <p:cNvPr id="6" name="train-step"/>
          <p:cNvSpPr/>
          <p:nvPr/>
        </p:nvSpPr>
        <p:spPr>
          <a:xfrm>
            <a:off x="3337560" y="1600200"/>
            <a:ext cx="2697480" cy="731520"/>
          </a:xfrm>
          <a:prstGeom prst="chevron">
            <a:avLst/>
          </a:prstGeom>
          <a:solidFill>
            <a:schemeClr val="accent4"/>
          </a:solidFill>
          <a:ln/>
        </p:spPr>
        <p:txBody>
          <a:bodyPr wrap="square" lIns="0" tIns="0" rIns="0" bIns="0" rtlCol="0" anchor="ctr"/>
          <a:lstStyle/>
          <a:p>
            <a:pPr marL="0" indent="0" algn="ctr">
              <a:buNone/>
            </a:pPr>
            <a:r>
              <a:rPr lang="en-US" sz="1600" b="1" dirty="0">
                <a:solidFill>
                  <a:schemeClr val="bg1"/>
                </a:solidFill>
              </a:rPr>
              <a:t>Loss</a:t>
            </a:r>
            <a:endParaRPr lang="en-US" sz="1600" dirty="0"/>
          </a:p>
        </p:txBody>
      </p:sp>
      <p:sp>
        <p:nvSpPr>
          <p:cNvPr id="7" name="Text 5"/>
          <p:cNvSpPr txBox="1"/>
          <p:nvPr/>
        </p:nvSpPr>
        <p:spPr>
          <a:xfrm>
            <a:off x="3611880" y="2423160"/>
            <a:ext cx="2286000" cy="548640"/>
          </a:xfrm>
          <a:prstGeom prst="rect">
            <a:avLst/>
          </a:prstGeom>
          <a:noFill/>
          <a:ln/>
        </p:spPr>
        <p:txBody>
          <a:bodyPr wrap="square" lIns="0" tIns="0" rIns="0" bIns="0" rtlCol="0" anchor="t"/>
          <a:lstStyle/>
          <a:p>
            <a:pPr marL="0" indent="0">
              <a:buNone/>
            </a:pPr>
            <a:r>
              <a:rPr lang="en-US" sz="1300" dirty="0">
                <a:solidFill>
                  <a:schemeClr val="tx2"/>
                </a:solidFill>
              </a:rPr>
              <a:t>Cross-entropy: how wrong was the prediction?</a:t>
            </a:r>
            <a:endParaRPr lang="en-US" sz="1300" dirty="0"/>
          </a:p>
        </p:txBody>
      </p:sp>
      <p:sp>
        <p:nvSpPr>
          <p:cNvPr id="8" name="train-step"/>
          <p:cNvSpPr/>
          <p:nvPr/>
        </p:nvSpPr>
        <p:spPr>
          <a:xfrm>
            <a:off x="6126480" y="1600200"/>
            <a:ext cx="2697480" cy="731520"/>
          </a:xfrm>
          <a:prstGeom prst="chevron">
            <a:avLst/>
          </a:prstGeom>
          <a:solidFill>
            <a:schemeClr val="accent4"/>
          </a:solidFill>
          <a:ln/>
        </p:spPr>
        <p:txBody>
          <a:bodyPr wrap="square" lIns="0" tIns="0" rIns="0" bIns="0" rtlCol="0" anchor="ctr"/>
          <a:lstStyle/>
          <a:p>
            <a:pPr marL="0" indent="0" algn="ctr">
              <a:buNone/>
            </a:pPr>
            <a:r>
              <a:rPr lang="en-US" sz="1600" b="1" dirty="0">
                <a:solidFill>
                  <a:schemeClr val="bg1"/>
                </a:solidFill>
              </a:rPr>
              <a:t>Backpropagation</a:t>
            </a:r>
            <a:endParaRPr lang="en-US" sz="1600" dirty="0"/>
          </a:p>
        </p:txBody>
      </p:sp>
      <p:sp>
        <p:nvSpPr>
          <p:cNvPr id="9" name="Text 7"/>
          <p:cNvSpPr txBox="1"/>
          <p:nvPr/>
        </p:nvSpPr>
        <p:spPr>
          <a:xfrm>
            <a:off x="6400800" y="2423160"/>
            <a:ext cx="2286000" cy="548640"/>
          </a:xfrm>
          <a:prstGeom prst="rect">
            <a:avLst/>
          </a:prstGeom>
          <a:noFill/>
          <a:ln/>
        </p:spPr>
        <p:txBody>
          <a:bodyPr wrap="square" lIns="0" tIns="0" rIns="0" bIns="0" rtlCol="0" anchor="t"/>
          <a:lstStyle/>
          <a:p>
            <a:pPr marL="0" indent="0">
              <a:buNone/>
            </a:pPr>
            <a:r>
              <a:rPr lang="en-US" sz="1300" dirty="0">
                <a:solidFill>
                  <a:schemeClr val="tx2"/>
                </a:solidFill>
              </a:rPr>
              <a:t>Compute the gradient of the loss for every weight</a:t>
            </a:r>
            <a:endParaRPr lang="en-US" sz="1300" dirty="0"/>
          </a:p>
        </p:txBody>
      </p:sp>
      <p:sp>
        <p:nvSpPr>
          <p:cNvPr id="10" name="train-step"/>
          <p:cNvSpPr/>
          <p:nvPr/>
        </p:nvSpPr>
        <p:spPr>
          <a:xfrm>
            <a:off x="8915400" y="1600200"/>
            <a:ext cx="2697480" cy="731520"/>
          </a:xfrm>
          <a:prstGeom prst="chevron">
            <a:avLst/>
          </a:prstGeom>
          <a:solidFill>
            <a:schemeClr val="accent1"/>
          </a:solidFill>
          <a:ln/>
        </p:spPr>
        <p:txBody>
          <a:bodyPr wrap="square" lIns="0" tIns="0" rIns="0" bIns="0" rtlCol="0" anchor="ctr"/>
          <a:lstStyle/>
          <a:p>
            <a:pPr marL="0" indent="0" algn="ctr">
              <a:buNone/>
            </a:pPr>
            <a:r>
              <a:rPr lang="en-US" sz="1600" b="1" dirty="0">
                <a:solidFill>
                  <a:schemeClr val="bg1"/>
                </a:solidFill>
              </a:rPr>
              <a:t>Update</a:t>
            </a:r>
            <a:endParaRPr lang="en-US" sz="1600" dirty="0"/>
          </a:p>
        </p:txBody>
      </p:sp>
      <p:sp>
        <p:nvSpPr>
          <p:cNvPr id="11" name="Text 9"/>
          <p:cNvSpPr txBox="1"/>
          <p:nvPr/>
        </p:nvSpPr>
        <p:spPr>
          <a:xfrm>
            <a:off x="9189720" y="2423160"/>
            <a:ext cx="2286000" cy="548640"/>
          </a:xfrm>
          <a:prstGeom prst="rect">
            <a:avLst/>
          </a:prstGeom>
          <a:noFill/>
          <a:ln/>
        </p:spPr>
        <p:txBody>
          <a:bodyPr wrap="square" lIns="0" tIns="0" rIns="0" bIns="0" rtlCol="0" anchor="t"/>
          <a:lstStyle/>
          <a:p>
            <a:pPr marL="0" indent="0">
              <a:buNone/>
            </a:pPr>
            <a:r>
              <a:rPr lang="en-US" sz="1300" dirty="0">
                <a:solidFill>
                  <a:schemeClr val="tx2"/>
                </a:solidFill>
              </a:rPr>
              <a:t>Nudge each weight against its gradient</a:t>
            </a:r>
            <a:endParaRPr lang="en-US" sz="1300" dirty="0"/>
          </a:p>
        </p:txBody>
      </p:sp>
      <p:sp>
        <p:nvSpPr>
          <p:cNvPr id="12" name="update-example"/>
          <p:cNvSpPr/>
          <p:nvPr/>
        </p:nvSpPr>
        <p:spPr>
          <a:xfrm>
            <a:off x="548640" y="3200400"/>
            <a:ext cx="5760720" cy="2971800"/>
          </a:xfrm>
          <a:prstGeom prst="roundRect">
            <a:avLst>
              <a:gd name="adj" fmla="val 2462"/>
            </a:avLst>
          </a:prstGeom>
          <a:solidFill>
            <a:schemeClr val="tx1"/>
          </a:solidFill>
          <a:ln/>
        </p:spPr>
        <p:txBody>
          <a:bodyPr/>
          <a:lstStyle/>
          <a:p>
            <a:endParaRPr lang="en-US"/>
          </a:p>
        </p:txBody>
      </p:sp>
      <p:sp>
        <p:nvSpPr>
          <p:cNvPr id="13" name="Text 11"/>
          <p:cNvSpPr txBox="1"/>
          <p:nvPr/>
        </p:nvSpPr>
        <p:spPr>
          <a:xfrm>
            <a:off x="777240" y="3337560"/>
            <a:ext cx="5303520" cy="274320"/>
          </a:xfrm>
          <a:prstGeom prst="rect">
            <a:avLst/>
          </a:prstGeom>
          <a:noFill/>
          <a:ln/>
        </p:spPr>
        <p:txBody>
          <a:bodyPr wrap="square" lIns="0" tIns="0" rIns="0" bIns="0" rtlCol="0" anchor="t"/>
          <a:lstStyle/>
          <a:p>
            <a:pPr marL="0" indent="0">
              <a:buNone/>
            </a:pPr>
            <a:r>
              <a:rPr lang="en-US" sz="1200" b="1" kern="0" spc="200" dirty="0">
                <a:solidFill>
                  <a:schemeClr val="accent3"/>
                </a:solidFill>
              </a:rPr>
              <a:t>WORKED EXAMPLE: ONE WEIGHT, ONE STEP</a:t>
            </a:r>
            <a:endParaRPr lang="en-US" sz="1200" dirty="0"/>
          </a:p>
        </p:txBody>
      </p:sp>
      <p:sp>
        <p:nvSpPr>
          <p:cNvPr id="14" name="Text 12"/>
          <p:cNvSpPr txBox="1"/>
          <p:nvPr/>
        </p:nvSpPr>
        <p:spPr>
          <a:xfrm>
            <a:off x="777240" y="3703320"/>
            <a:ext cx="5394960" cy="1828800"/>
          </a:xfrm>
          <a:prstGeom prst="rect">
            <a:avLst/>
          </a:prstGeom>
          <a:noFill/>
          <a:ln/>
        </p:spPr>
        <p:txBody>
          <a:bodyPr wrap="square" lIns="0" tIns="0" rIns="0" bIns="0" rtlCol="0" anchor="t"/>
          <a:lstStyle/>
          <a:p>
            <a:pPr marL="0" indent="0">
              <a:buNone/>
            </a:pPr>
            <a:r>
              <a:rPr lang="en-US" sz="1500" dirty="0">
                <a:solidFill>
                  <a:schemeClr val="bg1"/>
                </a:solidFill>
                <a:latin typeface="Courier New" pitchFamily="34" charset="0"/>
                <a:ea typeface="Courier New" pitchFamily="34" charset="-122"/>
                <a:cs typeface="Courier New" pitchFamily="34" charset="-120"/>
              </a:rPr>
              <a:t>Current weight   w     = 0.80</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Gradient         ∂L/∂w = 0.25</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Learning rate    η     = 0.01</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marL="0" indent="0">
              <a:buNone/>
            </a:pPr>
            <a:r>
              <a:rPr lang="en-US" sz="1500" dirty="0">
                <a:solidFill>
                  <a:schemeClr val="accent3"/>
                </a:solidFill>
                <a:latin typeface="Courier New" pitchFamily="34" charset="0"/>
                <a:ea typeface="Courier New" pitchFamily="34" charset="-122"/>
                <a:cs typeface="Courier New" pitchFamily="34" charset="-120"/>
              </a:rPr>
              <a:t>w_new = w − η × ∂L/∂w</a:t>
            </a:r>
            <a:endParaRPr lang="en-US" sz="1500" dirty="0"/>
          </a:p>
          <a:p>
            <a:pPr marL="0" indent="0">
              <a:buNone/>
            </a:pPr>
            <a:r>
              <a:rPr lang="en-US" sz="1500" b="1" dirty="0">
                <a:solidFill>
                  <a:schemeClr val="accent3"/>
                </a:solidFill>
                <a:latin typeface="Courier New" pitchFamily="34" charset="0"/>
                <a:ea typeface="Courier New" pitchFamily="34" charset="-122"/>
                <a:cs typeface="Courier New" pitchFamily="34" charset="-120"/>
              </a:rPr>
              <a:t>      = 0.80 − 0.01 × 0.25 = 0.7975</a:t>
            </a:r>
            <a:endParaRPr lang="en-US" sz="1500" dirty="0"/>
          </a:p>
        </p:txBody>
      </p:sp>
      <p:sp>
        <p:nvSpPr>
          <p:cNvPr id="15" name="Text 13"/>
          <p:cNvSpPr txBox="1"/>
          <p:nvPr/>
        </p:nvSpPr>
        <p:spPr>
          <a:xfrm>
            <a:off x="777240" y="5577840"/>
            <a:ext cx="5394960" cy="502920"/>
          </a:xfrm>
          <a:prstGeom prst="rect">
            <a:avLst/>
          </a:prstGeom>
          <a:noFill/>
          <a:ln/>
        </p:spPr>
        <p:txBody>
          <a:bodyPr wrap="square" lIns="0" tIns="0" rIns="0" bIns="0" rtlCol="0" anchor="t"/>
          <a:lstStyle/>
          <a:p>
            <a:pPr marL="0" indent="0">
              <a:buNone/>
            </a:pPr>
            <a:r>
              <a:rPr lang="en-US" sz="1300" i="1" dirty="0">
                <a:solidFill>
                  <a:srgbClr val="C5CAD6"/>
                </a:solidFill>
              </a:rPr>
              <a:t>Positive gradient: increasing w increases the loss, so w goes down slightly.</a:t>
            </a:r>
            <a:endParaRPr lang="en-US" sz="1300" dirty="0"/>
          </a:p>
        </p:txBody>
      </p:sp>
      <p:sp>
        <p:nvSpPr>
          <p:cNvPr id="16" name="paper-training"/>
          <p:cNvSpPr/>
          <p:nvPr/>
        </p:nvSpPr>
        <p:spPr>
          <a:xfrm>
            <a:off x="6583680" y="3200400"/>
            <a:ext cx="5029200" cy="2971800"/>
          </a:xfrm>
          <a:prstGeom prst="roundRect">
            <a:avLst>
              <a:gd name="adj" fmla="val 2462"/>
            </a:avLst>
          </a:prstGeom>
          <a:solidFill>
            <a:schemeClr val="bg2"/>
          </a:solidFill>
          <a:ln/>
        </p:spPr>
        <p:txBody>
          <a:bodyPr/>
          <a:lstStyle/>
          <a:p>
            <a:endParaRPr lang="en-US"/>
          </a:p>
        </p:txBody>
      </p:sp>
      <p:sp>
        <p:nvSpPr>
          <p:cNvPr id="17" name="icon-chip"/>
          <p:cNvSpPr/>
          <p:nvPr/>
        </p:nvSpPr>
        <p:spPr>
          <a:xfrm>
            <a:off x="6766560" y="3383280"/>
            <a:ext cx="502920" cy="502920"/>
          </a:xfrm>
          <a:prstGeom prst="ellipse">
            <a:avLst/>
          </a:prstGeom>
          <a:solidFill>
            <a:schemeClr val="accent2"/>
          </a:solidFill>
          <a:ln/>
        </p:spPr>
        <p:txBody>
          <a:bodyPr/>
          <a:lstStyle/>
          <a:p>
            <a:endParaRPr lang="en-US"/>
          </a:p>
        </p:txBody>
      </p:sp>
      <p:pic>
        <p:nvPicPr>
          <p:cNvPr id="18" name="Image 0" descr="preencoded.png"/>
          <p:cNvPicPr>
            <a:picLocks noChangeAspect="1"/>
          </p:cNvPicPr>
          <p:nvPr/>
        </p:nvPicPr>
        <p:blipFill>
          <a:blip r:embed="rId3"/>
          <a:stretch>
            <a:fillRect/>
          </a:stretch>
        </p:blipFill>
        <p:spPr>
          <a:xfrm>
            <a:off x="6877202" y="3493922"/>
            <a:ext cx="281635" cy="281635"/>
          </a:xfrm>
          <a:prstGeom prst="rect">
            <a:avLst/>
          </a:prstGeom>
        </p:spPr>
      </p:pic>
      <p:sp>
        <p:nvSpPr>
          <p:cNvPr id="19" name="Text 16"/>
          <p:cNvSpPr txBox="1"/>
          <p:nvPr/>
        </p:nvSpPr>
        <p:spPr>
          <a:xfrm>
            <a:off x="7406640" y="3383280"/>
            <a:ext cx="4023360" cy="502920"/>
          </a:xfrm>
          <a:prstGeom prst="rect">
            <a:avLst/>
          </a:prstGeom>
          <a:noFill/>
          <a:ln/>
        </p:spPr>
        <p:txBody>
          <a:bodyPr wrap="square" lIns="0" tIns="0" rIns="0" bIns="0" rtlCol="0" anchor="ctr"/>
          <a:lstStyle/>
          <a:p>
            <a:pPr marL="0" indent="0">
              <a:buNone/>
            </a:pPr>
            <a:r>
              <a:rPr lang="en-US" sz="1700" b="1" dirty="0">
                <a:solidFill>
                  <a:schemeClr val="tx1"/>
                </a:solidFill>
              </a:rPr>
              <a:t>How the paper trained it</a:t>
            </a:r>
            <a:endParaRPr lang="en-US" sz="1700" dirty="0"/>
          </a:p>
        </p:txBody>
      </p:sp>
      <p:sp>
        <p:nvSpPr>
          <p:cNvPr id="20" name="Text 17"/>
          <p:cNvSpPr txBox="1"/>
          <p:nvPr/>
        </p:nvSpPr>
        <p:spPr>
          <a:xfrm>
            <a:off x="6766560" y="4023360"/>
            <a:ext cx="4709160" cy="2103120"/>
          </a:xfrm>
          <a:prstGeom prst="rect">
            <a:avLst/>
          </a:prstGeom>
          <a:noFill/>
          <a:ln/>
        </p:spPr>
        <p:txBody>
          <a:bodyPr wrap="square" lIns="0" tIns="0" rIns="0" bIns="0" rtlCol="0" anchor="t"/>
          <a:lstStyle/>
          <a:p>
            <a:pPr marL="342900" indent="-342900">
              <a:spcAft>
                <a:spcPts val="500"/>
              </a:spcAft>
              <a:buSzPct val="100000"/>
              <a:buChar char="•"/>
            </a:pPr>
            <a:r>
              <a:rPr lang="en-US" sz="1300" b="1" dirty="0">
                <a:solidFill>
                  <a:schemeClr val="tx2"/>
                </a:solidFill>
              </a:rPr>
              <a:t>Data: </a:t>
            </a:r>
            <a:r>
              <a:rPr lang="en-US" sz="1300" dirty="0">
                <a:solidFill>
                  <a:schemeClr val="tx2"/>
                </a:solidFill>
              </a:rPr>
              <a:t>WMT 2014 English-German, about 4.5M sentence pairs</a:t>
            </a:r>
            <a:endParaRPr lang="en-US" sz="1300" dirty="0"/>
          </a:p>
          <a:p>
            <a:pPr marL="342900" indent="-342900">
              <a:spcAft>
                <a:spcPts val="500"/>
              </a:spcAft>
              <a:buSzPct val="100000"/>
              <a:buChar char="•"/>
            </a:pPr>
            <a:r>
              <a:rPr lang="en-US" sz="1300" b="1" dirty="0">
                <a:solidFill>
                  <a:schemeClr val="tx2"/>
                </a:solidFill>
              </a:rPr>
              <a:t>Optimizer: </a:t>
            </a:r>
            <a:r>
              <a:rPr lang="en-US" sz="1300" dirty="0">
                <a:solidFill>
                  <a:schemeClr val="tx2"/>
                </a:solidFill>
              </a:rPr>
              <a:t>Adam (β₁ = 0.9, β₂ = 0.98, ε = 10⁻⁹)</a:t>
            </a:r>
            <a:endParaRPr lang="en-US" sz="1300" dirty="0"/>
          </a:p>
          <a:p>
            <a:pPr marL="342900" indent="-342900">
              <a:spcAft>
                <a:spcPts val="500"/>
              </a:spcAft>
              <a:buSzPct val="100000"/>
              <a:buChar char="•"/>
            </a:pPr>
            <a:r>
              <a:rPr lang="en-US" sz="1300" b="1" dirty="0">
                <a:solidFill>
                  <a:schemeClr val="tx2"/>
                </a:solidFill>
              </a:rPr>
              <a:t>Learning rate: </a:t>
            </a:r>
            <a:r>
              <a:rPr lang="en-US" sz="1300" dirty="0">
                <a:solidFill>
                  <a:schemeClr val="tx2"/>
                </a:solidFill>
              </a:rPr>
              <a:t>warm up for 4,000 steps, then decay</a:t>
            </a:r>
            <a:endParaRPr lang="en-US" sz="1300" dirty="0"/>
          </a:p>
          <a:p>
            <a:pPr marL="342900" indent="-342900">
              <a:spcAft>
                <a:spcPts val="500"/>
              </a:spcAft>
              <a:buSzPct val="100000"/>
              <a:buChar char="•"/>
            </a:pPr>
            <a:r>
              <a:rPr lang="en-US" sz="1300" b="1" dirty="0">
                <a:solidFill>
                  <a:schemeClr val="tx2"/>
                </a:solidFill>
              </a:rPr>
              <a:t>Regularisation: </a:t>
            </a:r>
            <a:r>
              <a:rPr lang="en-US" sz="1300" dirty="0">
                <a:solidFill>
                  <a:schemeClr val="tx2"/>
                </a:solidFill>
              </a:rPr>
              <a:t>dropout 0.1, label smoothing 0.1</a:t>
            </a:r>
            <a:endParaRPr lang="en-US" sz="1300" dirty="0"/>
          </a:p>
          <a:p>
            <a:pPr marL="342900" indent="-342900">
              <a:spcAft>
                <a:spcPts val="500"/>
              </a:spcAft>
              <a:buSzPct val="100000"/>
              <a:buChar char="•"/>
            </a:pPr>
            <a:r>
              <a:rPr lang="en-US" sz="1300" b="1" dirty="0">
                <a:solidFill>
                  <a:schemeClr val="tx2"/>
                </a:solidFill>
              </a:rPr>
              <a:t>Start: </a:t>
            </a:r>
            <a:r>
              <a:rPr lang="en-US" sz="1300" dirty="0">
                <a:solidFill>
                  <a:schemeClr val="tx2"/>
                </a:solidFill>
              </a:rPr>
              <a:t>weights begin as small random numbers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Counting the parameters of the base Transformer</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d_model = 512, d_ff = 2048, 6 encoder + 6 decoder layers, shared vocabulary of about 37,000 tokens</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3072384"/>
        </p:xfrm>
        <a:graphic>
          <a:graphicData uri="http://schemas.openxmlformats.org/drawingml/2006/table">
            <a:tbl>
              <a:tblPr/>
              <a:tblGrid>
                <a:gridCol w="37490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438912">
                <a:tc>
                  <a:txBody>
                    <a:bodyPr/>
                    <a:lstStyle/>
                    <a:p>
                      <a:pPr marL="0" indent="0" algn="l">
                        <a:buNone/>
                      </a:pPr>
                      <a:r>
                        <a:rPr lang="en-US" sz="1400" b="1" dirty="0">
                          <a:solidFill>
                            <a:schemeClr val="bg1"/>
                          </a:solidFill>
                        </a:rPr>
                        <a:t>Component</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Formula</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marL="0" indent="0" algn="r">
                        <a:buNone/>
                      </a:pPr>
                      <a:r>
                        <a:rPr lang="en-US" sz="1400" b="1" dirty="0">
                          <a:solidFill>
                            <a:schemeClr val="bg1"/>
                          </a:solidFill>
                        </a:rPr>
                        <a:t>Per block</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marL="0" indent="0" algn="ctr">
                        <a:buNone/>
                      </a:pPr>
                      <a:r>
                        <a:rPr lang="en-US" sz="1400" b="1" dirty="0">
                          <a:solidFill>
                            <a:schemeClr val="bg1"/>
                          </a:solidFill>
                        </a:rPr>
                        <a:t>Count</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marL="0" indent="0" algn="r">
                        <a:buNone/>
                      </a:pPr>
                      <a:r>
                        <a:rPr lang="en-US" sz="1400" b="1" dirty="0">
                          <a:solidFill>
                            <a:schemeClr val="bg1"/>
                          </a:solidFill>
                        </a:rPr>
                        <a:t>Parameters</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38912">
                <a:tc>
                  <a:txBody>
                    <a:bodyPr/>
                    <a:lstStyle/>
                    <a:p>
                      <a:pPr marL="0" indent="0" algn="l">
                        <a:buNone/>
                      </a:pPr>
                      <a:r>
                        <a:rPr lang="en-US" sz="1400" b="1" dirty="0">
                          <a:solidFill>
                            <a:schemeClr val="tx2"/>
                          </a:solidFill>
                        </a:rPr>
                        <a:t>Token embeddings (shared input/output)</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2"/>
                          </a:solidFill>
                          <a:latin typeface="Courier New" pitchFamily="34" charset="0"/>
                          <a:ea typeface="Courier New" pitchFamily="34" charset="-122"/>
                          <a:cs typeface="Courier New" pitchFamily="34" charset="-120"/>
                        </a:rPr>
                        <a:t>V × d = 37,000 × 512</a:t>
                      </a:r>
                      <a:endParaRPr lang="en-US" sz="1400" dirty="0">
                        <a:latin typeface="Courier New" charset="0"/>
                        <a:ea typeface="Courier New" charset="0"/>
                        <a:cs typeface="Courier New" charset="0"/>
                      </a:endParaRPr>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r">
                        <a:buNone/>
                      </a:pPr>
                      <a:r>
                        <a:rPr lang="en-US" sz="1400" dirty="0">
                          <a:solidFill>
                            <a:schemeClr val="tx2"/>
                          </a:solidFill>
                        </a:rPr>
                        <a:t>18,944,000</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2"/>
                          </a:solidFill>
                        </a:rPr>
                        <a:t>× 1</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r">
                        <a:buNone/>
                      </a:pPr>
                      <a:r>
                        <a:rPr lang="en-US" sz="1400" b="1" dirty="0">
                          <a:solidFill>
                            <a:schemeClr val="tx1"/>
                          </a:solidFill>
                        </a:rPr>
                        <a:t>18,944,000</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38912">
                <a:tc>
                  <a:txBody>
                    <a:bodyPr/>
                    <a:lstStyle/>
                    <a:p>
                      <a:pPr marL="0" indent="0" algn="l">
                        <a:buNone/>
                      </a:pPr>
                      <a:r>
                        <a:rPr lang="en-US" sz="1400" b="1" dirty="0">
                          <a:solidFill>
                            <a:schemeClr val="tx2"/>
                          </a:solidFill>
                        </a:rPr>
                        <a:t>Positional encoding</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2"/>
                          </a:solidFill>
                          <a:latin typeface="Courier New" pitchFamily="34" charset="0"/>
                          <a:ea typeface="Courier New" pitchFamily="34" charset="-122"/>
                          <a:cs typeface="Courier New" pitchFamily="34" charset="-120"/>
                        </a:rPr>
                        <a:t>fixed sine / cosine</a:t>
                      </a:r>
                      <a:endParaRPr lang="en-US" sz="1400" dirty="0">
                        <a:latin typeface="Courier New" charset="0"/>
                        <a:ea typeface="Courier New" charset="0"/>
                        <a:cs typeface="Courier New" charset="0"/>
                      </a:endParaRPr>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2"/>
                          </a:solidFill>
                        </a:rPr>
                        <a:t>0</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2"/>
                          </a:solidFill>
                        </a:rPr>
                        <a:t>–</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lgn="r">
                        <a:buNone/>
                      </a:pPr>
                      <a:r>
                        <a:rPr lang="en-US" sz="1400" b="1" dirty="0">
                          <a:solidFill>
                            <a:schemeClr val="tx1"/>
                          </a:solidFill>
                        </a:rPr>
                        <a:t>0</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38912">
                <a:tc>
                  <a:txBody>
                    <a:bodyPr/>
                    <a:lstStyle/>
                    <a:p>
                      <a:pPr marL="0" indent="0" algn="l">
                        <a:buNone/>
                      </a:pPr>
                      <a:r>
                        <a:rPr lang="en-US" sz="1400" b="1" dirty="0">
                          <a:solidFill>
                            <a:schemeClr val="tx2"/>
                          </a:solidFill>
                        </a:rPr>
                        <a:t>Attention: W_Q, W_K, W_V, W_O + biases</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2"/>
                          </a:solidFill>
                          <a:latin typeface="Courier New" pitchFamily="34" charset="0"/>
                          <a:ea typeface="Courier New" pitchFamily="34" charset="-122"/>
                          <a:cs typeface="Courier New" pitchFamily="34" charset="-120"/>
                        </a:rPr>
                        <a:t>4 × (d² + d)</a:t>
                      </a:r>
                      <a:endParaRPr lang="en-US" sz="1400" dirty="0">
                        <a:latin typeface="Courier New" charset="0"/>
                        <a:ea typeface="Courier New" charset="0"/>
                        <a:cs typeface="Courier New" charset="0"/>
                      </a:endParaRPr>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r">
                        <a:buNone/>
                      </a:pPr>
                      <a:r>
                        <a:rPr lang="en-US" sz="1400" dirty="0">
                          <a:solidFill>
                            <a:schemeClr val="tx2"/>
                          </a:solidFill>
                        </a:rPr>
                        <a:t>1,050,624</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2"/>
                          </a:solidFill>
                        </a:rPr>
                        <a:t>× 18</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r">
                        <a:buNone/>
                      </a:pPr>
                      <a:r>
                        <a:rPr lang="en-US" sz="1400" b="1" dirty="0">
                          <a:solidFill>
                            <a:schemeClr val="tx1"/>
                          </a:solidFill>
                        </a:rPr>
                        <a:t>18,911,232</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38912">
                <a:tc>
                  <a:txBody>
                    <a:bodyPr/>
                    <a:lstStyle/>
                    <a:p>
                      <a:pPr marL="0" indent="0" algn="l">
                        <a:buNone/>
                      </a:pPr>
                      <a:r>
                        <a:rPr lang="en-US" sz="1400" b="1" dirty="0">
                          <a:solidFill>
                            <a:schemeClr val="tx2"/>
                          </a:solidFill>
                        </a:rPr>
                        <a:t>Feed-forward: W₁, b₁, W₂, b₂</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2"/>
                          </a:solidFill>
                          <a:latin typeface="Courier New" pitchFamily="34" charset="0"/>
                          <a:ea typeface="Courier New" pitchFamily="34" charset="-122"/>
                          <a:cs typeface="Courier New" pitchFamily="34" charset="-120"/>
                        </a:rPr>
                        <a:t>2·d·d_ff + d_ff + d</a:t>
                      </a:r>
                      <a:endParaRPr lang="en-US" sz="1400" dirty="0">
                        <a:latin typeface="Courier New" charset="0"/>
                        <a:ea typeface="Courier New" charset="0"/>
                        <a:cs typeface="Courier New" charset="0"/>
                      </a:endParaRPr>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2"/>
                          </a:solidFill>
                        </a:rPr>
                        <a:t>2,099,712</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2"/>
                          </a:solidFill>
                        </a:rPr>
                        <a:t>× 12</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lgn="r">
                        <a:buNone/>
                      </a:pPr>
                      <a:r>
                        <a:rPr lang="en-US" sz="1400" b="1" dirty="0">
                          <a:solidFill>
                            <a:schemeClr val="tx1"/>
                          </a:solidFill>
                        </a:rPr>
                        <a:t>25,196,544</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38912">
                <a:tc>
                  <a:txBody>
                    <a:bodyPr/>
                    <a:lstStyle/>
                    <a:p>
                      <a:pPr marL="0" indent="0" algn="l">
                        <a:buNone/>
                      </a:pPr>
                      <a:r>
                        <a:rPr lang="en-US" sz="1400" b="1" dirty="0">
                          <a:solidFill>
                            <a:schemeClr val="tx2"/>
                          </a:solidFill>
                        </a:rPr>
                        <a:t>Layer normalisation: gain γ, shift β</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2"/>
                          </a:solidFill>
                          <a:latin typeface="Courier New" pitchFamily="34" charset="0"/>
                          <a:ea typeface="Courier New" pitchFamily="34" charset="-122"/>
                          <a:cs typeface="Courier New" pitchFamily="34" charset="-120"/>
                        </a:rPr>
                        <a:t>2 × d</a:t>
                      </a:r>
                      <a:endParaRPr lang="en-US" sz="1400" dirty="0">
                        <a:latin typeface="Courier New" charset="0"/>
                        <a:ea typeface="Courier New" charset="0"/>
                        <a:cs typeface="Courier New" charset="0"/>
                      </a:endParaRPr>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r">
                        <a:buNone/>
                      </a:pPr>
                      <a:r>
                        <a:rPr lang="en-US" sz="1400" dirty="0">
                          <a:solidFill>
                            <a:schemeClr val="tx2"/>
                          </a:solidFill>
                        </a:rPr>
                        <a:t>1,024</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2"/>
                          </a:solidFill>
                        </a:rPr>
                        <a:t>× 30</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r">
                        <a:buNone/>
                      </a:pPr>
                      <a:r>
                        <a:rPr lang="en-US" sz="1400" b="1" dirty="0">
                          <a:solidFill>
                            <a:schemeClr val="tx1"/>
                          </a:solidFill>
                        </a:rPr>
                        <a:t>30,720</a:t>
                      </a:r>
                      <a:endParaRPr lang="en-US" sz="14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438912">
                <a:tc>
                  <a:txBody>
                    <a:bodyPr/>
                    <a:lstStyle/>
                    <a:p>
                      <a:pPr marL="0" indent="0">
                        <a:buNone/>
                      </a:pPr>
                      <a:r>
                        <a:rPr lang="en-US" sz="1500" b="1" dirty="0">
                          <a:solidFill>
                            <a:schemeClr val="bg1"/>
                          </a:solidFill>
                        </a:rPr>
                        <a:t>Total</a:t>
                      </a:r>
                      <a:endParaRPr lang="en-US" sz="15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c>
                  <a:txBody>
                    <a:bodyPr/>
                    <a:lstStyle/>
                    <a:p>
                      <a:pPr marL="0" indent="0">
                        <a:buNone/>
                      </a:pPr>
                      <a:endParaRPr lang="en-US" sz="12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c>
                  <a:txBody>
                    <a:bodyPr/>
                    <a:lstStyle/>
                    <a:p>
                      <a:pPr marL="0" indent="0">
                        <a:buNone/>
                      </a:pPr>
                      <a:endParaRPr lang="en-US" sz="12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c>
                  <a:txBody>
                    <a:bodyPr/>
                    <a:lstStyle/>
                    <a:p>
                      <a:pPr marL="0" indent="0">
                        <a:buNone/>
                      </a:pPr>
                      <a:endParaRPr lang="en-US" sz="12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c>
                  <a:txBody>
                    <a:bodyPr/>
                    <a:lstStyle/>
                    <a:p>
                      <a:pPr marL="0" indent="0" algn="r">
                        <a:buNone/>
                      </a:pPr>
                      <a:r>
                        <a:rPr lang="en-US" sz="1500" b="1" dirty="0">
                          <a:solidFill>
                            <a:schemeClr val="bg1"/>
                          </a:solidFill>
                        </a:rPr>
                        <a:t>63,082,496 ≈ 63M</a:t>
                      </a:r>
                      <a:endParaRPr lang="en-US" sz="1500" dirty="0"/>
                    </a:p>
                  </a:txBody>
                  <a:tcPr marL="101600" marR="101600" marT="38100" marB="381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extLst>
                  <a:ext uri="{0D108BD9-81ED-4DB2-BD59-A6C34878D82A}">
                    <a16:rowId xmlns:a16="http://schemas.microsoft.com/office/drawing/2014/main" val="10006"/>
                  </a:ext>
                </a:extLst>
              </a:tr>
            </a:tbl>
          </a:graphicData>
        </a:graphic>
      </p:graphicFrame>
      <p:sp>
        <p:nvSpPr>
          <p:cNvPr id="5" name="share"/>
          <p:cNvSpPr/>
          <p:nvPr/>
        </p:nvSpPr>
        <p:spPr>
          <a:xfrm>
            <a:off x="548640" y="4983480"/>
            <a:ext cx="2011680" cy="1188720"/>
          </a:xfrm>
          <a:prstGeom prst="roundRect">
            <a:avLst>
              <a:gd name="adj" fmla="val 4615"/>
            </a:avLst>
          </a:prstGeom>
          <a:solidFill>
            <a:schemeClr val="bg2"/>
          </a:solidFill>
          <a:ln/>
        </p:spPr>
        <p:txBody>
          <a:bodyPr/>
          <a:lstStyle/>
          <a:p>
            <a:endParaRPr lang="en-US"/>
          </a:p>
        </p:txBody>
      </p:sp>
      <p:sp>
        <p:nvSpPr>
          <p:cNvPr id="6" name="Text 3"/>
          <p:cNvSpPr txBox="1"/>
          <p:nvPr/>
        </p:nvSpPr>
        <p:spPr>
          <a:xfrm>
            <a:off x="731520" y="5029200"/>
            <a:ext cx="1737360" cy="594360"/>
          </a:xfrm>
          <a:prstGeom prst="rect">
            <a:avLst/>
          </a:prstGeom>
          <a:noFill/>
          <a:ln/>
        </p:spPr>
        <p:txBody>
          <a:bodyPr wrap="square" lIns="0" tIns="0" rIns="0" bIns="0" rtlCol="0" anchor="t"/>
          <a:lstStyle/>
          <a:p>
            <a:pPr marL="0" indent="0">
              <a:buNone/>
            </a:pPr>
            <a:r>
              <a:rPr lang="en-US" sz="3000" b="1" dirty="0">
                <a:solidFill>
                  <a:schemeClr val="accent4"/>
                </a:solidFill>
                <a:latin typeface="Arial" pitchFamily="34" charset="0"/>
                <a:ea typeface="Arial" pitchFamily="34" charset="-122"/>
                <a:cs typeface="Arial" pitchFamily="34" charset="-120"/>
              </a:rPr>
              <a:t>30%</a:t>
            </a:r>
            <a:endParaRPr lang="en-US" sz="3000" dirty="0"/>
          </a:p>
        </p:txBody>
      </p:sp>
      <p:sp>
        <p:nvSpPr>
          <p:cNvPr id="7" name="Text 4"/>
          <p:cNvSpPr txBox="1"/>
          <p:nvPr/>
        </p:nvSpPr>
        <p:spPr>
          <a:xfrm>
            <a:off x="731520" y="5623560"/>
            <a:ext cx="1737360" cy="502920"/>
          </a:xfrm>
          <a:prstGeom prst="rect">
            <a:avLst/>
          </a:prstGeom>
          <a:noFill/>
          <a:ln/>
        </p:spPr>
        <p:txBody>
          <a:bodyPr wrap="square" lIns="0" tIns="0" rIns="0" bIns="0" rtlCol="0" anchor="t"/>
          <a:lstStyle/>
          <a:p>
            <a:pPr marL="0" indent="0">
              <a:buNone/>
            </a:pPr>
            <a:r>
              <a:rPr lang="en-US" sz="1300" dirty="0">
                <a:solidFill>
                  <a:schemeClr val="tx2"/>
                </a:solidFill>
              </a:rPr>
              <a:t>of parameters in embeddings</a:t>
            </a:r>
            <a:endParaRPr lang="en-US" sz="1300" dirty="0"/>
          </a:p>
        </p:txBody>
      </p:sp>
      <p:sp>
        <p:nvSpPr>
          <p:cNvPr id="8" name="share"/>
          <p:cNvSpPr/>
          <p:nvPr/>
        </p:nvSpPr>
        <p:spPr>
          <a:xfrm>
            <a:off x="2697480" y="4983480"/>
            <a:ext cx="2011680" cy="1188720"/>
          </a:xfrm>
          <a:prstGeom prst="roundRect">
            <a:avLst>
              <a:gd name="adj" fmla="val 4615"/>
            </a:avLst>
          </a:prstGeom>
          <a:solidFill>
            <a:schemeClr val="bg2"/>
          </a:solidFill>
          <a:ln/>
        </p:spPr>
        <p:txBody>
          <a:bodyPr/>
          <a:lstStyle/>
          <a:p>
            <a:endParaRPr lang="en-US"/>
          </a:p>
        </p:txBody>
      </p:sp>
      <p:sp>
        <p:nvSpPr>
          <p:cNvPr id="4" name="Text 6"/>
          <p:cNvSpPr txBox="1"/>
          <p:nvPr/>
        </p:nvSpPr>
        <p:spPr>
          <a:xfrm>
            <a:off x="2880360" y="5029200"/>
            <a:ext cx="1737360" cy="594360"/>
          </a:xfrm>
          <a:prstGeom prst="rect">
            <a:avLst/>
          </a:prstGeom>
          <a:noFill/>
          <a:ln/>
        </p:spPr>
        <p:txBody>
          <a:bodyPr wrap="square" lIns="0" tIns="0" rIns="0" bIns="0" rtlCol="0" anchor="t"/>
          <a:lstStyle/>
          <a:p>
            <a:pPr marL="0" indent="0">
              <a:buNone/>
            </a:pPr>
            <a:r>
              <a:rPr lang="en-US" sz="3000" b="1" dirty="0">
                <a:solidFill>
                  <a:schemeClr val="accent1"/>
                </a:solidFill>
                <a:latin typeface="Arial" pitchFamily="34" charset="0"/>
                <a:ea typeface="Arial" pitchFamily="34" charset="-122"/>
                <a:cs typeface="Arial" pitchFamily="34" charset="-120"/>
              </a:rPr>
              <a:t>30%</a:t>
            </a:r>
            <a:endParaRPr lang="en-US" sz="3000" dirty="0"/>
          </a:p>
        </p:txBody>
      </p:sp>
      <p:sp>
        <p:nvSpPr>
          <p:cNvPr id="10" name="Text 7"/>
          <p:cNvSpPr txBox="1"/>
          <p:nvPr/>
        </p:nvSpPr>
        <p:spPr>
          <a:xfrm>
            <a:off x="2880360" y="5623560"/>
            <a:ext cx="1737360" cy="502920"/>
          </a:xfrm>
          <a:prstGeom prst="rect">
            <a:avLst/>
          </a:prstGeom>
          <a:noFill/>
          <a:ln/>
        </p:spPr>
        <p:txBody>
          <a:bodyPr wrap="square" lIns="0" tIns="0" rIns="0" bIns="0" rtlCol="0" anchor="t"/>
          <a:lstStyle/>
          <a:p>
            <a:pPr marL="0" indent="0">
              <a:buNone/>
            </a:pPr>
            <a:r>
              <a:rPr lang="en-US" sz="1300" dirty="0">
                <a:solidFill>
                  <a:schemeClr val="tx2"/>
                </a:solidFill>
              </a:rPr>
              <a:t>of parameters in attention</a:t>
            </a:r>
            <a:endParaRPr lang="en-US" sz="1300" dirty="0"/>
          </a:p>
        </p:txBody>
      </p:sp>
      <p:sp>
        <p:nvSpPr>
          <p:cNvPr id="11" name="share"/>
          <p:cNvSpPr/>
          <p:nvPr/>
        </p:nvSpPr>
        <p:spPr>
          <a:xfrm>
            <a:off x="4846320" y="4983480"/>
            <a:ext cx="2011680" cy="1188720"/>
          </a:xfrm>
          <a:prstGeom prst="roundRect">
            <a:avLst>
              <a:gd name="adj" fmla="val 4615"/>
            </a:avLst>
          </a:prstGeom>
          <a:solidFill>
            <a:schemeClr val="bg2"/>
          </a:solidFill>
          <a:ln/>
        </p:spPr>
        <p:txBody>
          <a:bodyPr/>
          <a:lstStyle/>
          <a:p>
            <a:endParaRPr lang="en-US"/>
          </a:p>
        </p:txBody>
      </p:sp>
      <p:sp>
        <p:nvSpPr>
          <p:cNvPr id="12" name="Text 9"/>
          <p:cNvSpPr txBox="1"/>
          <p:nvPr/>
        </p:nvSpPr>
        <p:spPr>
          <a:xfrm>
            <a:off x="5029200" y="5029200"/>
            <a:ext cx="1737360" cy="594360"/>
          </a:xfrm>
          <a:prstGeom prst="rect">
            <a:avLst/>
          </a:prstGeom>
          <a:noFill/>
          <a:ln/>
        </p:spPr>
        <p:txBody>
          <a:bodyPr wrap="square" lIns="0" tIns="0" rIns="0" bIns="0" rtlCol="0" anchor="t"/>
          <a:lstStyle/>
          <a:p>
            <a:pPr marL="0" indent="0">
              <a:buNone/>
            </a:pPr>
            <a:r>
              <a:rPr lang="en-US" sz="3000" b="1" dirty="0">
                <a:solidFill>
                  <a:schemeClr val="accent2"/>
                </a:solidFill>
                <a:latin typeface="Arial" pitchFamily="34" charset="0"/>
                <a:ea typeface="Arial" pitchFamily="34" charset="-122"/>
                <a:cs typeface="Arial" pitchFamily="34" charset="-120"/>
              </a:rPr>
              <a:t>40%</a:t>
            </a:r>
            <a:endParaRPr lang="en-US" sz="3000" dirty="0"/>
          </a:p>
        </p:txBody>
      </p:sp>
      <p:sp>
        <p:nvSpPr>
          <p:cNvPr id="13" name="Text 10"/>
          <p:cNvSpPr txBox="1"/>
          <p:nvPr/>
        </p:nvSpPr>
        <p:spPr>
          <a:xfrm>
            <a:off x="5029200" y="5623560"/>
            <a:ext cx="1737360" cy="502920"/>
          </a:xfrm>
          <a:prstGeom prst="rect">
            <a:avLst/>
          </a:prstGeom>
          <a:noFill/>
          <a:ln/>
        </p:spPr>
        <p:txBody>
          <a:bodyPr wrap="square" lIns="0" tIns="0" rIns="0" bIns="0" rtlCol="0" anchor="t"/>
          <a:lstStyle/>
          <a:p>
            <a:pPr marL="0" indent="0">
              <a:buNone/>
            </a:pPr>
            <a:r>
              <a:rPr lang="en-US" sz="1300" dirty="0">
                <a:solidFill>
                  <a:schemeClr val="tx2"/>
                </a:solidFill>
              </a:rPr>
              <a:t>of parameters in feed-forward</a:t>
            </a:r>
            <a:endParaRPr lang="en-US" sz="1300" dirty="0"/>
          </a:p>
        </p:txBody>
      </p:sp>
      <p:sp>
        <p:nvSpPr>
          <p:cNvPr id="14" name="callout"/>
          <p:cNvSpPr/>
          <p:nvPr/>
        </p:nvSpPr>
        <p:spPr>
          <a:xfrm>
            <a:off x="7086600" y="4983480"/>
            <a:ext cx="4526280" cy="1188720"/>
          </a:xfrm>
          <a:prstGeom prst="roundRect">
            <a:avLst>
              <a:gd name="adj" fmla="val 6154"/>
            </a:avLst>
          </a:prstGeom>
          <a:solidFill>
            <a:schemeClr val="tx1"/>
          </a:solidFill>
          <a:ln/>
        </p:spPr>
        <p:txBody>
          <a:bodyPr/>
          <a:lstStyle/>
          <a:p>
            <a:endParaRPr lang="en-US"/>
          </a:p>
        </p:txBody>
      </p:sp>
      <p:sp>
        <p:nvSpPr>
          <p:cNvPr id="15" name="Text 12"/>
          <p:cNvSpPr txBox="1"/>
          <p:nvPr/>
        </p:nvSpPr>
        <p:spPr>
          <a:xfrm>
            <a:off x="7360920" y="4983480"/>
            <a:ext cx="3977640" cy="1188720"/>
          </a:xfrm>
          <a:prstGeom prst="rect">
            <a:avLst/>
          </a:prstGeom>
          <a:noFill/>
          <a:ln/>
        </p:spPr>
        <p:txBody>
          <a:bodyPr wrap="square" lIns="0" tIns="0" rIns="0" bIns="0" rtlCol="0" anchor="ctr"/>
          <a:lstStyle/>
          <a:p>
            <a:pPr marL="0" indent="0">
              <a:buNone/>
            </a:pPr>
            <a:r>
              <a:rPr lang="en-US" sz="1300" dirty="0">
                <a:solidFill>
                  <a:schemeClr val="bg1"/>
                </a:solidFill>
              </a:rPr>
              <a:t>Paper reports 65M; the small gap is vocabulary and implementation detail. Same formulas with d = 1024, d_ff = 4096 give ≈ 214M (paper: 213M).</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From 65 million to billions: the same formula scales</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For a decoder-only model with d_ff = 4·d, each layer has about 12·d² parameters</a:t>
            </a:r>
            <a:endParaRPr lang="en-US" sz="1600" dirty="0"/>
          </a:p>
        </p:txBody>
      </p:sp>
      <p:sp>
        <p:nvSpPr>
          <p:cNvPr id="4" name="rule"/>
          <p:cNvSpPr/>
          <p:nvPr/>
        </p:nvSpPr>
        <p:spPr>
          <a:xfrm>
            <a:off x="548640" y="1600200"/>
            <a:ext cx="5394960" cy="2331720"/>
          </a:xfrm>
          <a:prstGeom prst="roundRect">
            <a:avLst>
              <a:gd name="adj" fmla="val 3137"/>
            </a:avLst>
          </a:prstGeom>
          <a:solidFill>
            <a:schemeClr val="tx1"/>
          </a:solidFill>
          <a:ln/>
        </p:spPr>
        <p:txBody>
          <a:bodyPr/>
          <a:lstStyle/>
          <a:p>
            <a:endParaRPr lang="en-US"/>
          </a:p>
        </p:txBody>
      </p:sp>
      <p:sp>
        <p:nvSpPr>
          <p:cNvPr id="5" name="Text 3"/>
          <p:cNvSpPr txBox="1"/>
          <p:nvPr/>
        </p:nvSpPr>
        <p:spPr>
          <a:xfrm>
            <a:off x="777240" y="1737360"/>
            <a:ext cx="4937760" cy="274320"/>
          </a:xfrm>
          <a:prstGeom prst="rect">
            <a:avLst/>
          </a:prstGeom>
          <a:noFill/>
          <a:ln/>
        </p:spPr>
        <p:txBody>
          <a:bodyPr wrap="square" lIns="0" tIns="0" rIns="0" bIns="0" rtlCol="0" anchor="t"/>
          <a:lstStyle/>
          <a:p>
            <a:pPr marL="0" indent="0">
              <a:buNone/>
            </a:pPr>
            <a:r>
              <a:rPr lang="en-US" sz="1200" b="1" kern="0" spc="200" dirty="0">
                <a:solidFill>
                  <a:schemeClr val="accent3"/>
                </a:solidFill>
              </a:rPr>
              <a:t>RULE OF THUMB (GPT-STYLE)</a:t>
            </a:r>
            <a:endParaRPr lang="en-US" sz="1200" dirty="0"/>
          </a:p>
        </p:txBody>
      </p:sp>
      <p:sp>
        <p:nvSpPr>
          <p:cNvPr id="6" name="Text 4"/>
          <p:cNvSpPr txBox="1"/>
          <p:nvPr/>
        </p:nvSpPr>
        <p:spPr>
          <a:xfrm>
            <a:off x="777240" y="2103120"/>
            <a:ext cx="5029200" cy="1783080"/>
          </a:xfrm>
          <a:prstGeom prst="rect">
            <a:avLst/>
          </a:prstGeom>
          <a:noFill/>
          <a:ln/>
        </p:spPr>
        <p:txBody>
          <a:bodyPr wrap="square" lIns="0" tIns="0" rIns="0" bIns="0" rtlCol="0" anchor="t"/>
          <a:lstStyle/>
          <a:p>
            <a:pPr marL="0" indent="0">
              <a:buNone/>
            </a:pPr>
            <a:r>
              <a:rPr lang="en-US" sz="1400" dirty="0">
                <a:solidFill>
                  <a:schemeClr val="bg1"/>
                </a:solidFill>
                <a:latin typeface="Courier New" pitchFamily="34" charset="0"/>
                <a:ea typeface="Courier New" pitchFamily="34" charset="-122"/>
                <a:cs typeface="Courier New" pitchFamily="34" charset="-120"/>
              </a:rPr>
              <a:t>attention 4·d² + FFN 8·d² = 12·d²</a:t>
            </a:r>
            <a:endParaRPr lang="en-US" sz="1400" dirty="0"/>
          </a:p>
          <a:p>
            <a:pPr marL="0" indent="0">
              <a:buNone/>
            </a:pPr>
            <a:r>
              <a:rPr lang="en-US" sz="1400" b="1" dirty="0">
                <a:solidFill>
                  <a:schemeClr val="accent3"/>
                </a:solidFill>
                <a:latin typeface="Courier New" pitchFamily="34" charset="0"/>
                <a:ea typeface="Courier New" pitchFamily="34" charset="-122"/>
                <a:cs typeface="Courier New" pitchFamily="34" charset="-120"/>
              </a:rPr>
              <a:t>Total ≈ 12 · L · d² + V · d</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GPT-3: L = 96, d = 12,288</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12 × 96 × 12,288² ≈ 174B</a:t>
            </a:r>
            <a:endParaRPr lang="en-US" sz="1400" dirty="0"/>
          </a:p>
          <a:p>
            <a:pPr marL="0" indent="0">
              <a:buNone/>
            </a:pPr>
            <a:r>
              <a:rPr lang="en-US" sz="1400" b="1" dirty="0">
                <a:solidFill>
                  <a:schemeClr val="accent3"/>
                </a:solidFill>
                <a:latin typeface="Courier New" pitchFamily="34" charset="0"/>
                <a:ea typeface="Courier New" pitchFamily="34" charset="-122"/>
                <a:cs typeface="Courier New" pitchFamily="34" charset="-120"/>
              </a:rPr>
              <a:t>+ 50,257 × 12,288 ≈ 0.6B → ≈ 175B</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4114800"/>
          <a:ext cx="5394960" cy="2029968"/>
        </p:xfrm>
        <a:graphic>
          <a:graphicData uri="http://schemas.openxmlformats.org/drawingml/2006/table">
            <a:tbl>
              <a:tblPr/>
              <a:tblGrid>
                <a:gridCol w="24231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338328">
                <a:tc>
                  <a:txBody>
                    <a:bodyPr/>
                    <a:lstStyle/>
                    <a:p>
                      <a:pPr marL="0" indent="0" algn="l">
                        <a:buNone/>
                      </a:pPr>
                      <a:r>
                        <a:rPr lang="en-US" sz="1400" b="1" dirty="0">
                          <a:solidFill>
                            <a:schemeClr val="bg1"/>
                          </a:solidFill>
                        </a:rPr>
                        <a:t>Model</a:t>
                      </a:r>
                      <a:endParaRPr lang="en-US" sz="1400" dirty="0"/>
                    </a:p>
                  </a:txBody>
                  <a:tcPr marL="101600" marR="101600" marT="25400" marB="254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marL="0" indent="0" algn="r">
                        <a:buNone/>
                      </a:pPr>
                      <a:r>
                        <a:rPr lang="en-US" sz="1400" b="1" dirty="0">
                          <a:solidFill>
                            <a:schemeClr val="bg1"/>
                          </a:solidFill>
                        </a:rPr>
                        <a:t>Layers</a:t>
                      </a:r>
                      <a:endParaRPr lang="en-US" sz="1400" dirty="0"/>
                    </a:p>
                  </a:txBody>
                  <a:tcPr marL="101600" marR="101600" marT="25400" marB="254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marL="0" indent="0" algn="r">
                        <a:buNone/>
                      </a:pPr>
                      <a:r>
                        <a:rPr lang="en-US" sz="1400" b="1" dirty="0">
                          <a:solidFill>
                            <a:schemeClr val="bg1"/>
                          </a:solidFill>
                        </a:rPr>
                        <a:t>d_model</a:t>
                      </a:r>
                      <a:endParaRPr lang="en-US" sz="1400" dirty="0"/>
                    </a:p>
                  </a:txBody>
                  <a:tcPr marL="101600" marR="101600" marT="25400" marB="254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marL="0" indent="0" algn="r">
                        <a:buNone/>
                      </a:pPr>
                      <a:r>
                        <a:rPr lang="en-US" sz="1400" b="1" dirty="0">
                          <a:solidFill>
                            <a:schemeClr val="bg1"/>
                          </a:solidFill>
                        </a:rPr>
                        <a:t>Parameters</a:t>
                      </a:r>
                      <a:endParaRPr lang="en-US" sz="1400" dirty="0"/>
                    </a:p>
                  </a:txBody>
                  <a:tcPr marL="101600" marR="101600" marT="25400" marB="254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38328">
                <a:tc>
                  <a:txBody>
                    <a:bodyPr/>
                    <a:lstStyle/>
                    <a:p>
                      <a:pPr marL="0" indent="0" algn="l">
                        <a:buNone/>
                      </a:pPr>
                      <a:r>
                        <a:rPr lang="en-US" sz="1400" b="1" dirty="0">
                          <a:solidFill>
                            <a:schemeClr val="tx1"/>
                          </a:solidFill>
                        </a:rPr>
                        <a:t>Transformer base (2017)</a:t>
                      </a:r>
                      <a:endParaRPr lang="en-US" sz="1400" dirty="0"/>
                    </a:p>
                  </a:txBody>
                  <a:tcPr marL="101600" marR="101600" marT="25400" marB="254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r">
                        <a:buNone/>
                      </a:pPr>
                      <a:r>
                        <a:rPr lang="en-US" sz="1400" dirty="0">
                          <a:solidFill>
                            <a:schemeClr val="tx1"/>
                          </a:solidFill>
                        </a:rPr>
                        <a:t>6 + 6</a:t>
                      </a:r>
                      <a:endParaRPr lang="en-US" sz="1400" dirty="0"/>
                    </a:p>
                  </a:txBody>
                  <a:tcPr marL="101600" marR="101600" marT="25400" marB="254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r">
                        <a:buNone/>
                      </a:pPr>
                      <a:r>
                        <a:rPr lang="en-US" sz="1400" dirty="0">
                          <a:solidFill>
                            <a:schemeClr val="tx1"/>
                          </a:solidFill>
                        </a:rPr>
                        <a:t>512</a:t>
                      </a:r>
                      <a:endParaRPr lang="en-US" sz="1400" dirty="0"/>
                    </a:p>
                  </a:txBody>
                  <a:tcPr marL="101600" marR="101600" marT="25400" marB="254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r">
                        <a:buNone/>
                      </a:pPr>
                      <a:r>
                        <a:rPr lang="en-US" sz="1400" b="1" dirty="0">
                          <a:solidFill>
                            <a:schemeClr val="accent1"/>
                          </a:solidFill>
                        </a:rPr>
                        <a:t>65M</a:t>
                      </a:r>
                      <a:endParaRPr lang="en-US" sz="1400" dirty="0"/>
                    </a:p>
                  </a:txBody>
                  <a:tcPr marL="101600" marR="101600" marT="25400" marB="254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38328">
                <a:tc>
                  <a:txBody>
                    <a:bodyPr/>
                    <a:lstStyle/>
                    <a:p>
                      <a:pPr marL="0" indent="0" algn="l">
                        <a:buNone/>
                      </a:pPr>
                      <a:r>
                        <a:rPr lang="en-US" sz="1400" b="1" dirty="0">
                          <a:solidFill>
                            <a:schemeClr val="tx1"/>
                          </a:solidFill>
                        </a:rPr>
                        <a:t>BERT-base (2018)</a:t>
                      </a:r>
                      <a:endParaRPr lang="en-US" sz="1400" dirty="0"/>
                    </a:p>
                  </a:txBody>
                  <a:tcPr marL="101600" marR="101600" marT="25400" marB="254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12</a:t>
                      </a:r>
                      <a:endParaRPr lang="en-US" sz="1400" dirty="0"/>
                    </a:p>
                  </a:txBody>
                  <a:tcPr marL="101600" marR="101600" marT="25400" marB="254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768</a:t>
                      </a:r>
                      <a:endParaRPr lang="en-US" sz="1400" dirty="0"/>
                    </a:p>
                  </a:txBody>
                  <a:tcPr marL="101600" marR="101600" marT="25400" marB="254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lgn="r">
                        <a:buNone/>
                      </a:pPr>
                      <a:r>
                        <a:rPr lang="en-US" sz="1400" b="1" dirty="0">
                          <a:solidFill>
                            <a:schemeClr val="accent1"/>
                          </a:solidFill>
                        </a:rPr>
                        <a:t>110M</a:t>
                      </a:r>
                      <a:endParaRPr lang="en-US" sz="1400" dirty="0"/>
                    </a:p>
                  </a:txBody>
                  <a:tcPr marL="101600" marR="101600" marT="25400" marB="254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38328">
                <a:tc>
                  <a:txBody>
                    <a:bodyPr/>
                    <a:lstStyle/>
                    <a:p>
                      <a:pPr marL="0" indent="0" algn="l">
                        <a:buNone/>
                      </a:pPr>
                      <a:r>
                        <a:rPr lang="en-US" sz="1400" b="1" dirty="0">
                          <a:solidFill>
                            <a:schemeClr val="tx1"/>
                          </a:solidFill>
                        </a:rPr>
                        <a:t>GPT-2 XL (2019)</a:t>
                      </a:r>
                      <a:endParaRPr lang="en-US" sz="1400" dirty="0"/>
                    </a:p>
                  </a:txBody>
                  <a:tcPr marL="101600" marR="101600" marT="25400" marB="254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r">
                        <a:buNone/>
                      </a:pPr>
                      <a:r>
                        <a:rPr lang="en-US" sz="1400" dirty="0">
                          <a:solidFill>
                            <a:schemeClr val="tx1"/>
                          </a:solidFill>
                        </a:rPr>
                        <a:t>48</a:t>
                      </a:r>
                      <a:endParaRPr lang="en-US" sz="1400" dirty="0"/>
                    </a:p>
                  </a:txBody>
                  <a:tcPr marL="101600" marR="101600" marT="25400" marB="254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r">
                        <a:buNone/>
                      </a:pPr>
                      <a:r>
                        <a:rPr lang="en-US" sz="1400" dirty="0">
                          <a:solidFill>
                            <a:schemeClr val="tx1"/>
                          </a:solidFill>
                        </a:rPr>
                        <a:t>1,600</a:t>
                      </a:r>
                      <a:endParaRPr lang="en-US" sz="1400" dirty="0"/>
                    </a:p>
                  </a:txBody>
                  <a:tcPr marL="101600" marR="101600" marT="25400" marB="254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r">
                        <a:buNone/>
                      </a:pPr>
                      <a:r>
                        <a:rPr lang="en-US" sz="1400" b="1" dirty="0">
                          <a:solidFill>
                            <a:schemeClr val="accent1"/>
                          </a:solidFill>
                        </a:rPr>
                        <a:t>1.5B</a:t>
                      </a:r>
                      <a:endParaRPr lang="en-US" sz="1400" dirty="0"/>
                    </a:p>
                  </a:txBody>
                  <a:tcPr marL="101600" marR="101600" marT="25400" marB="254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38328">
                <a:tc>
                  <a:txBody>
                    <a:bodyPr/>
                    <a:lstStyle/>
                    <a:p>
                      <a:pPr marL="0" indent="0" algn="l">
                        <a:buNone/>
                      </a:pPr>
                      <a:r>
                        <a:rPr lang="en-US" sz="1400" b="1" dirty="0">
                          <a:solidFill>
                            <a:schemeClr val="tx1"/>
                          </a:solidFill>
                        </a:rPr>
                        <a:t>GPT-3 (2020)</a:t>
                      </a:r>
                      <a:endParaRPr lang="en-US" sz="1400" dirty="0"/>
                    </a:p>
                  </a:txBody>
                  <a:tcPr marL="101600" marR="101600" marT="25400" marB="254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96</a:t>
                      </a:r>
                      <a:endParaRPr lang="en-US" sz="1400" dirty="0"/>
                    </a:p>
                  </a:txBody>
                  <a:tcPr marL="101600" marR="101600" marT="25400" marB="254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12,288</a:t>
                      </a:r>
                      <a:endParaRPr lang="en-US" sz="1400" dirty="0"/>
                    </a:p>
                  </a:txBody>
                  <a:tcPr marL="101600" marR="101600" marT="25400" marB="254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lgn="r">
                        <a:buNone/>
                      </a:pPr>
                      <a:r>
                        <a:rPr lang="en-US" sz="1400" b="1" dirty="0">
                          <a:solidFill>
                            <a:schemeClr val="accent1"/>
                          </a:solidFill>
                        </a:rPr>
                        <a:t>175B</a:t>
                      </a:r>
                      <a:endParaRPr lang="en-US" sz="1400" dirty="0"/>
                    </a:p>
                  </a:txBody>
                  <a:tcPr marL="101600" marR="101600" marT="25400" marB="254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38328">
                <a:tc>
                  <a:txBody>
                    <a:bodyPr/>
                    <a:lstStyle/>
                    <a:p>
                      <a:pPr marL="0" indent="0" algn="l">
                        <a:buNone/>
                      </a:pPr>
                      <a:r>
                        <a:rPr lang="en-US" sz="1400" b="1" dirty="0">
                          <a:solidFill>
                            <a:schemeClr val="tx1"/>
                          </a:solidFill>
                        </a:rPr>
                        <a:t>Llama 3.1 8B (2024)</a:t>
                      </a:r>
                      <a:endParaRPr lang="en-US" sz="1400" dirty="0"/>
                    </a:p>
                  </a:txBody>
                  <a:tcPr marL="101600" marR="101600" marT="25400" marB="254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r">
                        <a:buNone/>
                      </a:pPr>
                      <a:r>
                        <a:rPr lang="en-US" sz="1400" dirty="0">
                          <a:solidFill>
                            <a:schemeClr val="tx1"/>
                          </a:solidFill>
                        </a:rPr>
                        <a:t>32</a:t>
                      </a:r>
                      <a:endParaRPr lang="en-US" sz="1400" dirty="0"/>
                    </a:p>
                  </a:txBody>
                  <a:tcPr marL="101600" marR="101600" marT="25400" marB="254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r">
                        <a:buNone/>
                      </a:pPr>
                      <a:r>
                        <a:rPr lang="en-US" sz="1400" dirty="0">
                          <a:solidFill>
                            <a:schemeClr val="tx1"/>
                          </a:solidFill>
                        </a:rPr>
                        <a:t>4,096</a:t>
                      </a:r>
                      <a:endParaRPr lang="en-US" sz="1400" dirty="0"/>
                    </a:p>
                  </a:txBody>
                  <a:tcPr marL="101600" marR="101600" marT="25400" marB="254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r">
                        <a:buNone/>
                      </a:pPr>
                      <a:r>
                        <a:rPr lang="en-US" sz="1400" b="1" dirty="0">
                          <a:solidFill>
                            <a:schemeClr val="accent1"/>
                          </a:solidFill>
                        </a:rPr>
                        <a:t>8B</a:t>
                      </a:r>
                      <a:endParaRPr lang="en-US" sz="1400" dirty="0"/>
                    </a:p>
                  </a:txBody>
                  <a:tcPr marL="101600" marR="101600" marT="25400" marB="254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8" name="Text 5"/>
          <p:cNvSpPr txBox="1"/>
          <p:nvPr/>
        </p:nvSpPr>
        <p:spPr>
          <a:xfrm>
            <a:off x="6309360" y="1600200"/>
            <a:ext cx="5303520" cy="274320"/>
          </a:xfrm>
          <a:prstGeom prst="rect">
            <a:avLst/>
          </a:prstGeom>
          <a:noFill/>
          <a:ln/>
        </p:spPr>
        <p:txBody>
          <a:bodyPr wrap="square" lIns="0" tIns="0" rIns="0" bIns="0" rtlCol="0" anchor="t"/>
          <a:lstStyle/>
          <a:p>
            <a:pPr marL="0" indent="0">
              <a:buNone/>
            </a:pPr>
            <a:r>
              <a:rPr lang="en-US" sz="1200" b="1" kern="0" spc="200" dirty="0">
                <a:solidFill>
                  <a:schemeClr val="accent5"/>
                </a:solidFill>
              </a:rPr>
              <a:t>WHAT PARAMETERS COST IN MEMORY</a:t>
            </a:r>
            <a:endParaRPr lang="en-US" sz="1200" dirty="0"/>
          </a:p>
        </p:txBody>
      </p:sp>
      <p:sp>
        <p:nvSpPr>
          <p:cNvPr id="9" name="memory"/>
          <p:cNvSpPr/>
          <p:nvPr/>
        </p:nvSpPr>
        <p:spPr>
          <a:xfrm>
            <a:off x="6309360" y="1965960"/>
            <a:ext cx="5303520" cy="1207008"/>
          </a:xfrm>
          <a:prstGeom prst="roundRect">
            <a:avLst>
              <a:gd name="adj" fmla="val 6061"/>
            </a:avLst>
          </a:prstGeom>
          <a:solidFill>
            <a:schemeClr val="bg2"/>
          </a:solidFill>
          <a:ln/>
        </p:spPr>
        <p:txBody>
          <a:bodyPr/>
          <a:lstStyle/>
          <a:p>
            <a:endParaRPr lang="en-US"/>
          </a:p>
        </p:txBody>
      </p:sp>
      <p:sp>
        <p:nvSpPr>
          <p:cNvPr id="7" name="icon-chip"/>
          <p:cNvSpPr/>
          <p:nvPr/>
        </p:nvSpPr>
        <p:spPr>
          <a:xfrm>
            <a:off x="6492240" y="2148840"/>
            <a:ext cx="502920" cy="502920"/>
          </a:xfrm>
          <a:prstGeom prst="ellipse">
            <a:avLst/>
          </a:prstGeom>
          <a:solidFill>
            <a:schemeClr val="accent2"/>
          </a:solidFill>
          <a:ln/>
        </p:spPr>
        <p:txBody>
          <a:bodyPr/>
          <a:lstStyle/>
          <a:p>
            <a:endParaRPr lang="en-US"/>
          </a:p>
        </p:txBody>
      </p:sp>
      <p:pic>
        <p:nvPicPr>
          <p:cNvPr id="11" name="Image 0" descr="preencoded.png"/>
          <p:cNvPicPr>
            <a:picLocks noChangeAspect="1"/>
          </p:cNvPicPr>
          <p:nvPr/>
        </p:nvPicPr>
        <p:blipFill>
          <a:blip r:embed="rId3"/>
          <a:stretch>
            <a:fillRect/>
          </a:stretch>
        </p:blipFill>
        <p:spPr>
          <a:xfrm>
            <a:off x="6602882" y="2259482"/>
            <a:ext cx="281635" cy="281635"/>
          </a:xfrm>
          <a:prstGeom prst="rect">
            <a:avLst/>
          </a:prstGeom>
        </p:spPr>
      </p:pic>
      <p:sp>
        <p:nvSpPr>
          <p:cNvPr id="12" name="Text 8"/>
          <p:cNvSpPr txBox="1"/>
          <p:nvPr/>
        </p:nvSpPr>
        <p:spPr>
          <a:xfrm>
            <a:off x="7178040" y="2057400"/>
            <a:ext cx="4297680" cy="347472"/>
          </a:xfrm>
          <a:prstGeom prst="rect">
            <a:avLst/>
          </a:prstGeom>
          <a:noFill/>
          <a:ln/>
        </p:spPr>
        <p:txBody>
          <a:bodyPr wrap="square" lIns="0" tIns="0" rIns="0" bIns="0" rtlCol="0" anchor="t"/>
          <a:lstStyle/>
          <a:p>
            <a:pPr marL="0" indent="0">
              <a:buNone/>
            </a:pPr>
            <a:r>
              <a:rPr lang="en-US" sz="1600" b="1" dirty="0">
                <a:solidFill>
                  <a:schemeClr val="tx1"/>
                </a:solidFill>
              </a:rPr>
              <a:t>Inference (FP16 / BF16)</a:t>
            </a:r>
            <a:endParaRPr lang="en-US" sz="1600" dirty="0"/>
          </a:p>
        </p:txBody>
      </p:sp>
      <p:sp>
        <p:nvSpPr>
          <p:cNvPr id="13" name="Text 9"/>
          <p:cNvSpPr txBox="1"/>
          <p:nvPr/>
        </p:nvSpPr>
        <p:spPr>
          <a:xfrm>
            <a:off x="7178040" y="2395728"/>
            <a:ext cx="4297680" cy="438912"/>
          </a:xfrm>
          <a:prstGeom prst="rect">
            <a:avLst/>
          </a:prstGeom>
          <a:noFill/>
          <a:ln/>
        </p:spPr>
        <p:txBody>
          <a:bodyPr wrap="square" lIns="0" tIns="0" rIns="0" bIns="0" rtlCol="0" anchor="t"/>
          <a:lstStyle/>
          <a:p>
            <a:pPr marL="0" indent="0">
              <a:buNone/>
            </a:pPr>
            <a:r>
              <a:rPr lang="en-US" sz="1300" dirty="0">
                <a:solidFill>
                  <a:schemeClr val="tx2"/>
                </a:solidFill>
              </a:rPr>
              <a:t>2 bytes per parameter</a:t>
            </a:r>
            <a:endParaRPr lang="en-US" sz="1300" dirty="0"/>
          </a:p>
        </p:txBody>
      </p:sp>
      <p:sp>
        <p:nvSpPr>
          <p:cNvPr id="14" name="Text 10"/>
          <p:cNvSpPr txBox="1"/>
          <p:nvPr/>
        </p:nvSpPr>
        <p:spPr>
          <a:xfrm>
            <a:off x="7178040" y="2834640"/>
            <a:ext cx="4297680" cy="292608"/>
          </a:xfrm>
          <a:prstGeom prst="rect">
            <a:avLst/>
          </a:prstGeom>
          <a:noFill/>
          <a:ln/>
        </p:spPr>
        <p:txBody>
          <a:bodyPr wrap="square" lIns="0" tIns="0" rIns="0" bIns="0" rtlCol="0" anchor="t"/>
          <a:lstStyle/>
          <a:p>
            <a:pPr marL="0" indent="0">
              <a:buNone/>
            </a:pPr>
            <a:r>
              <a:rPr lang="en-US" sz="1400" b="1" dirty="0">
                <a:solidFill>
                  <a:schemeClr val="accent2"/>
                </a:solidFill>
              </a:rPr>
              <a:t>8B model ≈ 16 GB</a:t>
            </a:r>
            <a:endParaRPr lang="en-US" sz="1400" dirty="0"/>
          </a:p>
        </p:txBody>
      </p:sp>
      <p:sp>
        <p:nvSpPr>
          <p:cNvPr id="15" name="memory"/>
          <p:cNvSpPr/>
          <p:nvPr/>
        </p:nvSpPr>
        <p:spPr>
          <a:xfrm>
            <a:off x="6309360" y="3291840"/>
            <a:ext cx="5303520" cy="1207008"/>
          </a:xfrm>
          <a:prstGeom prst="roundRect">
            <a:avLst>
              <a:gd name="adj" fmla="val 6061"/>
            </a:avLst>
          </a:prstGeom>
          <a:solidFill>
            <a:schemeClr val="bg2"/>
          </a:solidFill>
          <a:ln/>
        </p:spPr>
        <p:txBody>
          <a:bodyPr/>
          <a:lstStyle/>
          <a:p>
            <a:endParaRPr lang="en-US"/>
          </a:p>
        </p:txBody>
      </p:sp>
      <p:sp>
        <p:nvSpPr>
          <p:cNvPr id="16" name="icon-chip"/>
          <p:cNvSpPr/>
          <p:nvPr/>
        </p:nvSpPr>
        <p:spPr>
          <a:xfrm>
            <a:off x="6492240" y="3474720"/>
            <a:ext cx="502920" cy="502920"/>
          </a:xfrm>
          <a:prstGeom prst="ellipse">
            <a:avLst/>
          </a:prstGeom>
          <a:solidFill>
            <a:schemeClr val="accent4"/>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6602882" y="3585362"/>
            <a:ext cx="281635" cy="281635"/>
          </a:xfrm>
          <a:prstGeom prst="rect">
            <a:avLst/>
          </a:prstGeom>
        </p:spPr>
      </p:pic>
      <p:sp>
        <p:nvSpPr>
          <p:cNvPr id="18" name="Text 13"/>
          <p:cNvSpPr txBox="1"/>
          <p:nvPr/>
        </p:nvSpPr>
        <p:spPr>
          <a:xfrm>
            <a:off x="7178040" y="3383280"/>
            <a:ext cx="4297680" cy="347472"/>
          </a:xfrm>
          <a:prstGeom prst="rect">
            <a:avLst/>
          </a:prstGeom>
          <a:noFill/>
          <a:ln/>
        </p:spPr>
        <p:txBody>
          <a:bodyPr wrap="square" lIns="0" tIns="0" rIns="0" bIns="0" rtlCol="0" anchor="t"/>
          <a:lstStyle/>
          <a:p>
            <a:pPr marL="0" indent="0">
              <a:buNone/>
            </a:pPr>
            <a:r>
              <a:rPr lang="en-US" sz="1600" b="1" dirty="0">
                <a:solidFill>
                  <a:schemeClr val="tx1"/>
                </a:solidFill>
              </a:rPr>
              <a:t>Inference, 4-bit quantized</a:t>
            </a:r>
            <a:endParaRPr lang="en-US" sz="1600" dirty="0"/>
          </a:p>
        </p:txBody>
      </p:sp>
      <p:sp>
        <p:nvSpPr>
          <p:cNvPr id="19" name="Text 14"/>
          <p:cNvSpPr txBox="1"/>
          <p:nvPr/>
        </p:nvSpPr>
        <p:spPr>
          <a:xfrm>
            <a:off x="7178040" y="3721608"/>
            <a:ext cx="4297680" cy="438912"/>
          </a:xfrm>
          <a:prstGeom prst="rect">
            <a:avLst/>
          </a:prstGeom>
          <a:noFill/>
          <a:ln/>
        </p:spPr>
        <p:txBody>
          <a:bodyPr wrap="square" lIns="0" tIns="0" rIns="0" bIns="0" rtlCol="0" anchor="t"/>
          <a:lstStyle/>
          <a:p>
            <a:pPr marL="0" indent="0">
              <a:buNone/>
            </a:pPr>
            <a:r>
              <a:rPr lang="en-US" sz="1300" dirty="0">
                <a:solidFill>
                  <a:schemeClr val="tx2"/>
                </a:solidFill>
              </a:rPr>
              <a:t>0.5 bytes per parameter</a:t>
            </a:r>
            <a:endParaRPr lang="en-US" sz="1300" dirty="0"/>
          </a:p>
        </p:txBody>
      </p:sp>
      <p:sp>
        <p:nvSpPr>
          <p:cNvPr id="20" name="Text 15"/>
          <p:cNvSpPr txBox="1"/>
          <p:nvPr/>
        </p:nvSpPr>
        <p:spPr>
          <a:xfrm>
            <a:off x="7178040" y="4160520"/>
            <a:ext cx="4297680" cy="292608"/>
          </a:xfrm>
          <a:prstGeom prst="rect">
            <a:avLst/>
          </a:prstGeom>
          <a:noFill/>
          <a:ln/>
        </p:spPr>
        <p:txBody>
          <a:bodyPr wrap="square" lIns="0" tIns="0" rIns="0" bIns="0" rtlCol="0" anchor="t"/>
          <a:lstStyle/>
          <a:p>
            <a:pPr marL="0" indent="0">
              <a:buNone/>
            </a:pPr>
            <a:r>
              <a:rPr lang="en-US" sz="1400" b="1" dirty="0">
                <a:solidFill>
                  <a:schemeClr val="accent4"/>
                </a:solidFill>
              </a:rPr>
              <a:t>8B model ≈ 4 GB</a:t>
            </a:r>
            <a:endParaRPr lang="en-US" sz="1400" dirty="0"/>
          </a:p>
        </p:txBody>
      </p:sp>
      <p:sp>
        <p:nvSpPr>
          <p:cNvPr id="21" name="memory"/>
          <p:cNvSpPr/>
          <p:nvPr/>
        </p:nvSpPr>
        <p:spPr>
          <a:xfrm>
            <a:off x="6309360" y="4617720"/>
            <a:ext cx="5303520" cy="1207008"/>
          </a:xfrm>
          <a:prstGeom prst="roundRect">
            <a:avLst>
              <a:gd name="adj" fmla="val 6061"/>
            </a:avLst>
          </a:prstGeom>
          <a:solidFill>
            <a:schemeClr val="bg2"/>
          </a:solidFill>
          <a:ln/>
        </p:spPr>
        <p:txBody>
          <a:bodyPr/>
          <a:lstStyle/>
          <a:p>
            <a:endParaRPr lang="en-US"/>
          </a:p>
        </p:txBody>
      </p:sp>
      <p:sp>
        <p:nvSpPr>
          <p:cNvPr id="22" name="icon-chip"/>
          <p:cNvSpPr/>
          <p:nvPr/>
        </p:nvSpPr>
        <p:spPr>
          <a:xfrm>
            <a:off x="6492240" y="4800600"/>
            <a:ext cx="502920" cy="502920"/>
          </a:xfrm>
          <a:prstGeom prst="ellipse">
            <a:avLst/>
          </a:prstGeom>
          <a:solidFill>
            <a:schemeClr val="accent1"/>
          </a:solidFill>
          <a:ln/>
        </p:spPr>
        <p:txBody>
          <a:bodyPr/>
          <a:lstStyle/>
          <a:p>
            <a:endParaRPr lang="en-US"/>
          </a:p>
        </p:txBody>
      </p:sp>
      <p:pic>
        <p:nvPicPr>
          <p:cNvPr id="23" name="Image 2" descr="preencoded.png"/>
          <p:cNvPicPr>
            <a:picLocks noChangeAspect="1"/>
          </p:cNvPicPr>
          <p:nvPr/>
        </p:nvPicPr>
        <p:blipFill>
          <a:blip r:embed="rId5"/>
          <a:stretch>
            <a:fillRect/>
          </a:stretch>
        </p:blipFill>
        <p:spPr>
          <a:xfrm>
            <a:off x="6602882" y="4911242"/>
            <a:ext cx="281635" cy="281635"/>
          </a:xfrm>
          <a:prstGeom prst="rect">
            <a:avLst/>
          </a:prstGeom>
        </p:spPr>
      </p:pic>
      <p:sp>
        <p:nvSpPr>
          <p:cNvPr id="24" name="Text 18"/>
          <p:cNvSpPr txBox="1"/>
          <p:nvPr/>
        </p:nvSpPr>
        <p:spPr>
          <a:xfrm>
            <a:off x="7178040" y="4709160"/>
            <a:ext cx="4297680" cy="347472"/>
          </a:xfrm>
          <a:prstGeom prst="rect">
            <a:avLst/>
          </a:prstGeom>
          <a:noFill/>
          <a:ln/>
        </p:spPr>
        <p:txBody>
          <a:bodyPr wrap="square" lIns="0" tIns="0" rIns="0" bIns="0" rtlCol="0" anchor="t"/>
          <a:lstStyle/>
          <a:p>
            <a:pPr marL="0" indent="0">
              <a:buNone/>
            </a:pPr>
            <a:r>
              <a:rPr lang="en-US" sz="1600" b="1" dirty="0">
                <a:solidFill>
                  <a:schemeClr val="tx1"/>
                </a:solidFill>
              </a:rPr>
              <a:t>Training with Adam</a:t>
            </a:r>
            <a:endParaRPr lang="en-US" sz="1600" dirty="0"/>
          </a:p>
        </p:txBody>
      </p:sp>
      <p:sp>
        <p:nvSpPr>
          <p:cNvPr id="25" name="Text 19"/>
          <p:cNvSpPr txBox="1"/>
          <p:nvPr/>
        </p:nvSpPr>
        <p:spPr>
          <a:xfrm>
            <a:off x="7178040" y="5047488"/>
            <a:ext cx="4297680" cy="438912"/>
          </a:xfrm>
          <a:prstGeom prst="rect">
            <a:avLst/>
          </a:prstGeom>
          <a:noFill/>
          <a:ln/>
        </p:spPr>
        <p:txBody>
          <a:bodyPr wrap="square" lIns="0" tIns="0" rIns="0" bIns="0" rtlCol="0" anchor="t"/>
          <a:lstStyle/>
          <a:p>
            <a:pPr marL="0" indent="0">
              <a:buNone/>
            </a:pPr>
            <a:r>
              <a:rPr lang="en-US" sz="1300" dirty="0">
                <a:solidFill>
                  <a:schemeClr val="tx2"/>
                </a:solidFill>
              </a:rPr>
              <a:t>≈ 16 bytes per parameter: weights 2 + gradients 2 + FP32 master copy 4 + Adam moments 8</a:t>
            </a:r>
            <a:endParaRPr lang="en-US" sz="1300" dirty="0"/>
          </a:p>
        </p:txBody>
      </p:sp>
      <p:sp>
        <p:nvSpPr>
          <p:cNvPr id="26" name="Text 20"/>
          <p:cNvSpPr txBox="1"/>
          <p:nvPr/>
        </p:nvSpPr>
        <p:spPr>
          <a:xfrm>
            <a:off x="7178040" y="5486400"/>
            <a:ext cx="4297680" cy="292608"/>
          </a:xfrm>
          <a:prstGeom prst="rect">
            <a:avLst/>
          </a:prstGeom>
          <a:noFill/>
          <a:ln/>
        </p:spPr>
        <p:txBody>
          <a:bodyPr wrap="square" lIns="0" tIns="0" rIns="0" bIns="0" rtlCol="0" anchor="t"/>
          <a:lstStyle/>
          <a:p>
            <a:pPr marL="0" indent="0">
              <a:buNone/>
            </a:pPr>
            <a:r>
              <a:rPr lang="en-US" sz="1400" b="1" dirty="0">
                <a:solidFill>
                  <a:schemeClr val="accent1"/>
                </a:solidFill>
              </a:rPr>
              <a:t>8B model ≈ 128 GB, before activations</a:t>
            </a:r>
            <a:endParaRPr lang="en-US" sz="1400" dirty="0"/>
          </a:p>
        </p:txBody>
      </p:sp>
      <p:sp>
        <p:nvSpPr>
          <p:cNvPr id="27" name="Text 21"/>
          <p:cNvSpPr txBox="1"/>
          <p:nvPr/>
        </p:nvSpPr>
        <p:spPr>
          <a:xfrm>
            <a:off x="6309360" y="5897880"/>
            <a:ext cx="5303520" cy="274320"/>
          </a:xfrm>
          <a:prstGeom prst="rect">
            <a:avLst/>
          </a:prstGeom>
          <a:noFill/>
          <a:ln/>
        </p:spPr>
        <p:txBody>
          <a:bodyPr wrap="square" lIns="0" tIns="0" rIns="0" bIns="0" rtlCol="0" anchor="t"/>
          <a:lstStyle/>
          <a:p>
            <a:pPr marL="0" indent="0">
              <a:buNone/>
            </a:pPr>
            <a:r>
              <a:rPr lang="en-US" sz="1100" i="1" dirty="0">
                <a:solidFill>
                  <a:schemeClr val="accent5"/>
                </a:solidFill>
              </a:rPr>
              <a:t>Modern models (e.g. Llama) change FFN and attention details, so 12·L·d² is an estimate.</a:t>
            </a:r>
            <a:endParaRPr lang="en-US" sz="11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bg1"/>
                </a:solidFill>
              </a:rPr>
              <a:t>Key takeaways and knowledge check</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3"/>
                </a:solidFill>
              </a:rPr>
              <a:t>Attention mixes information between tokens; parameters store what the model has learned</a:t>
            </a:r>
            <a:endParaRPr lang="en-US" sz="1600" dirty="0"/>
          </a:p>
        </p:txBody>
      </p:sp>
      <p:sp>
        <p:nvSpPr>
          <p:cNvPr id="4" name="num"/>
          <p:cNvSpPr/>
          <p:nvPr/>
        </p:nvSpPr>
        <p:spPr>
          <a:xfrm>
            <a:off x="548640" y="1691640"/>
            <a:ext cx="594360" cy="594360"/>
          </a:xfrm>
          <a:prstGeom prst="ellipse">
            <a:avLst/>
          </a:prstGeom>
          <a:solidFill>
            <a:schemeClr val="accent1"/>
          </a:solidFill>
          <a:ln/>
        </p:spPr>
        <p:txBody>
          <a:bodyPr/>
          <a:lstStyle/>
          <a:p>
            <a:endParaRPr lang="en-US"/>
          </a:p>
        </p:txBody>
      </p:sp>
      <p:sp>
        <p:nvSpPr>
          <p:cNvPr id="5" name="Text 3"/>
          <p:cNvSpPr txBox="1"/>
          <p:nvPr/>
        </p:nvSpPr>
        <p:spPr>
          <a:xfrm>
            <a:off x="548640" y="169164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6" name="Text 4"/>
          <p:cNvSpPr txBox="1"/>
          <p:nvPr/>
        </p:nvSpPr>
        <p:spPr>
          <a:xfrm>
            <a:off x="1371600" y="1645920"/>
            <a:ext cx="4663440" cy="365760"/>
          </a:xfrm>
          <a:prstGeom prst="rect">
            <a:avLst/>
          </a:prstGeom>
          <a:noFill/>
          <a:ln/>
        </p:spPr>
        <p:txBody>
          <a:bodyPr wrap="square" lIns="0" tIns="0" rIns="0" bIns="0" rtlCol="0" anchor="t"/>
          <a:lstStyle/>
          <a:p>
            <a:pPr marL="0" indent="0">
              <a:buNone/>
            </a:pPr>
            <a:r>
              <a:rPr lang="en-US" sz="1800" b="1" dirty="0">
                <a:solidFill>
                  <a:schemeClr val="bg1"/>
                </a:solidFill>
              </a:rPr>
              <a:t>Attention replaced recurrence</a:t>
            </a:r>
            <a:endParaRPr lang="en-US" sz="1800" dirty="0"/>
          </a:p>
        </p:txBody>
      </p:sp>
      <p:sp>
        <p:nvSpPr>
          <p:cNvPr id="7" name="Text 5"/>
          <p:cNvSpPr txBox="1"/>
          <p:nvPr/>
        </p:nvSpPr>
        <p:spPr>
          <a:xfrm>
            <a:off x="1371600" y="2029968"/>
            <a:ext cx="4663440" cy="594360"/>
          </a:xfrm>
          <a:prstGeom prst="rect">
            <a:avLst/>
          </a:prstGeom>
          <a:noFill/>
          <a:ln/>
        </p:spPr>
        <p:txBody>
          <a:bodyPr wrap="square" lIns="0" tIns="0" rIns="0" bIns="0" rtlCol="0" anchor="t"/>
          <a:lstStyle/>
          <a:p>
            <a:pPr marL="0" indent="0">
              <a:buNone/>
            </a:pPr>
            <a:r>
              <a:rPr lang="en-US" sz="1400" dirty="0">
                <a:solidFill>
                  <a:srgbClr val="C5CAD6"/>
                </a:solidFill>
              </a:rPr>
              <a:t>Every token attends to every other token in parallel: softmax(QKᵀ/√dₖ)V.</a:t>
            </a:r>
            <a:endParaRPr lang="en-US" sz="1400" dirty="0"/>
          </a:p>
        </p:txBody>
      </p:sp>
      <p:sp>
        <p:nvSpPr>
          <p:cNvPr id="8" name="num"/>
          <p:cNvSpPr/>
          <p:nvPr/>
        </p:nvSpPr>
        <p:spPr>
          <a:xfrm>
            <a:off x="548640" y="2807208"/>
            <a:ext cx="594360" cy="594360"/>
          </a:xfrm>
          <a:prstGeom prst="ellipse">
            <a:avLst/>
          </a:prstGeom>
          <a:solidFill>
            <a:schemeClr val="accent2"/>
          </a:solidFill>
          <a:ln/>
        </p:spPr>
        <p:txBody>
          <a:bodyPr/>
          <a:lstStyle/>
          <a:p>
            <a:endParaRPr lang="en-US"/>
          </a:p>
        </p:txBody>
      </p:sp>
      <p:sp>
        <p:nvSpPr>
          <p:cNvPr id="9" name="Text 7"/>
          <p:cNvSpPr txBox="1"/>
          <p:nvPr/>
        </p:nvSpPr>
        <p:spPr>
          <a:xfrm>
            <a:off x="548640" y="2807208"/>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0" name="Text 8"/>
          <p:cNvSpPr txBox="1"/>
          <p:nvPr/>
        </p:nvSpPr>
        <p:spPr>
          <a:xfrm>
            <a:off x="1371600" y="2761488"/>
            <a:ext cx="4663440" cy="365760"/>
          </a:xfrm>
          <a:prstGeom prst="rect">
            <a:avLst/>
          </a:prstGeom>
          <a:noFill/>
          <a:ln/>
        </p:spPr>
        <p:txBody>
          <a:bodyPr wrap="square" lIns="0" tIns="0" rIns="0" bIns="0" rtlCol="0" anchor="t"/>
          <a:lstStyle/>
          <a:p>
            <a:pPr marL="0" indent="0">
              <a:buNone/>
            </a:pPr>
            <a:r>
              <a:rPr lang="en-US" sz="1800" b="1" dirty="0">
                <a:solidFill>
                  <a:schemeClr val="bg1"/>
                </a:solidFill>
              </a:rPr>
              <a:t>Parameters are learned numbers</a:t>
            </a:r>
            <a:endParaRPr lang="en-US" sz="1800" dirty="0"/>
          </a:p>
        </p:txBody>
      </p:sp>
      <p:sp>
        <p:nvSpPr>
          <p:cNvPr id="11" name="Text 9"/>
          <p:cNvSpPr txBox="1"/>
          <p:nvPr/>
        </p:nvSpPr>
        <p:spPr>
          <a:xfrm>
            <a:off x="1371600" y="3145536"/>
            <a:ext cx="4663440" cy="594360"/>
          </a:xfrm>
          <a:prstGeom prst="rect">
            <a:avLst/>
          </a:prstGeom>
          <a:noFill/>
          <a:ln/>
        </p:spPr>
        <p:txBody>
          <a:bodyPr wrap="square" lIns="0" tIns="0" rIns="0" bIns="0" rtlCol="0" anchor="t"/>
          <a:lstStyle/>
          <a:p>
            <a:pPr marL="0" indent="0">
              <a:buNone/>
            </a:pPr>
            <a:r>
              <a:rPr lang="en-US" sz="1400" dirty="0">
                <a:solidFill>
                  <a:srgbClr val="C5CAD6"/>
                </a:solidFill>
              </a:rPr>
              <a:t>Weights and biases in matrices, set by gradient descent, not by hand.</a:t>
            </a:r>
            <a:endParaRPr lang="en-US" sz="1400" dirty="0"/>
          </a:p>
        </p:txBody>
      </p:sp>
      <p:sp>
        <p:nvSpPr>
          <p:cNvPr id="12" name="num"/>
          <p:cNvSpPr/>
          <p:nvPr/>
        </p:nvSpPr>
        <p:spPr>
          <a:xfrm>
            <a:off x="548640" y="3922776"/>
            <a:ext cx="594360" cy="594360"/>
          </a:xfrm>
          <a:prstGeom prst="ellipse">
            <a:avLst/>
          </a:prstGeom>
          <a:solidFill>
            <a:schemeClr val="accent1"/>
          </a:solidFill>
          <a:ln/>
        </p:spPr>
        <p:txBody>
          <a:bodyPr/>
          <a:lstStyle/>
          <a:p>
            <a:endParaRPr lang="en-US"/>
          </a:p>
        </p:txBody>
      </p:sp>
      <p:sp>
        <p:nvSpPr>
          <p:cNvPr id="13" name="Text 11"/>
          <p:cNvSpPr txBox="1"/>
          <p:nvPr/>
        </p:nvSpPr>
        <p:spPr>
          <a:xfrm>
            <a:off x="548640" y="3922776"/>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4" name="Text 12"/>
          <p:cNvSpPr txBox="1"/>
          <p:nvPr/>
        </p:nvSpPr>
        <p:spPr>
          <a:xfrm>
            <a:off x="1371600" y="3877056"/>
            <a:ext cx="4663440" cy="365760"/>
          </a:xfrm>
          <a:prstGeom prst="rect">
            <a:avLst/>
          </a:prstGeom>
          <a:noFill/>
          <a:ln/>
        </p:spPr>
        <p:txBody>
          <a:bodyPr wrap="square" lIns="0" tIns="0" rIns="0" bIns="0" rtlCol="0" anchor="t"/>
          <a:lstStyle/>
          <a:p>
            <a:pPr marL="0" indent="0">
              <a:buNone/>
            </a:pPr>
            <a:r>
              <a:rPr lang="en-US" sz="1800" b="1" dirty="0">
                <a:solidFill>
                  <a:schemeClr val="bg1"/>
                </a:solidFill>
              </a:rPr>
              <a:t>You can count them</a:t>
            </a:r>
            <a:endParaRPr lang="en-US" sz="1800" dirty="0"/>
          </a:p>
        </p:txBody>
      </p:sp>
      <p:sp>
        <p:nvSpPr>
          <p:cNvPr id="15" name="Text 13"/>
          <p:cNvSpPr txBox="1"/>
          <p:nvPr/>
        </p:nvSpPr>
        <p:spPr>
          <a:xfrm>
            <a:off x="1371600" y="4261104"/>
            <a:ext cx="4663440" cy="594360"/>
          </a:xfrm>
          <a:prstGeom prst="rect">
            <a:avLst/>
          </a:prstGeom>
          <a:noFill/>
          <a:ln/>
        </p:spPr>
        <p:txBody>
          <a:bodyPr wrap="square" lIns="0" tIns="0" rIns="0" bIns="0" rtlCol="0" anchor="t"/>
          <a:lstStyle/>
          <a:p>
            <a:pPr marL="0" indent="0">
              <a:buNone/>
            </a:pPr>
            <a:r>
              <a:rPr lang="en-US" sz="1400" dirty="0">
                <a:solidFill>
                  <a:srgbClr val="C5CAD6"/>
                </a:solidFill>
              </a:rPr>
              <a:t>Linear layer = in × out + out; a GPT-style layer ≈ 12·d².</a:t>
            </a:r>
            <a:endParaRPr lang="en-US" sz="1400" dirty="0"/>
          </a:p>
        </p:txBody>
      </p:sp>
      <p:sp>
        <p:nvSpPr>
          <p:cNvPr id="16" name="num"/>
          <p:cNvSpPr/>
          <p:nvPr/>
        </p:nvSpPr>
        <p:spPr>
          <a:xfrm>
            <a:off x="548640" y="5038344"/>
            <a:ext cx="594360" cy="594360"/>
          </a:xfrm>
          <a:prstGeom prst="ellipse">
            <a:avLst/>
          </a:prstGeom>
          <a:solidFill>
            <a:schemeClr val="accent2"/>
          </a:solidFill>
          <a:ln/>
        </p:spPr>
        <p:txBody>
          <a:bodyPr/>
          <a:lstStyle/>
          <a:p>
            <a:endParaRPr lang="en-US"/>
          </a:p>
        </p:txBody>
      </p:sp>
      <p:sp>
        <p:nvSpPr>
          <p:cNvPr id="17" name="Text 15"/>
          <p:cNvSpPr txBox="1"/>
          <p:nvPr/>
        </p:nvSpPr>
        <p:spPr>
          <a:xfrm>
            <a:off x="548640" y="5038344"/>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18" name="Text 16"/>
          <p:cNvSpPr txBox="1"/>
          <p:nvPr/>
        </p:nvSpPr>
        <p:spPr>
          <a:xfrm>
            <a:off x="1371600" y="4992624"/>
            <a:ext cx="4663440" cy="365760"/>
          </a:xfrm>
          <a:prstGeom prst="rect">
            <a:avLst/>
          </a:prstGeom>
          <a:noFill/>
          <a:ln/>
        </p:spPr>
        <p:txBody>
          <a:bodyPr wrap="square" lIns="0" tIns="0" rIns="0" bIns="0" rtlCol="0" anchor="t"/>
          <a:lstStyle/>
          <a:p>
            <a:pPr marL="0" indent="0">
              <a:buNone/>
            </a:pPr>
            <a:r>
              <a:rPr lang="en-US" sz="1800" b="1" dirty="0">
                <a:solidFill>
                  <a:schemeClr val="bg1"/>
                </a:solidFill>
              </a:rPr>
              <a:t>Size drives cost</a:t>
            </a:r>
            <a:endParaRPr lang="en-US" sz="1800" dirty="0"/>
          </a:p>
        </p:txBody>
      </p:sp>
      <p:sp>
        <p:nvSpPr>
          <p:cNvPr id="19" name="Text 17"/>
          <p:cNvSpPr txBox="1"/>
          <p:nvPr/>
        </p:nvSpPr>
        <p:spPr>
          <a:xfrm>
            <a:off x="1371600" y="5376672"/>
            <a:ext cx="4663440" cy="594360"/>
          </a:xfrm>
          <a:prstGeom prst="rect">
            <a:avLst/>
          </a:prstGeom>
          <a:noFill/>
          <a:ln/>
        </p:spPr>
        <p:txBody>
          <a:bodyPr wrap="square" lIns="0" tIns="0" rIns="0" bIns="0" rtlCol="0" anchor="t"/>
          <a:lstStyle/>
          <a:p>
            <a:pPr marL="0" indent="0">
              <a:buNone/>
            </a:pPr>
            <a:r>
              <a:rPr lang="en-US" sz="1400" dirty="0">
                <a:solidFill>
                  <a:srgbClr val="C5CAD6"/>
                </a:solidFill>
              </a:rPr>
              <a:t>2 bytes per parameter to serve, about 16 bytes per parameter to train.</a:t>
            </a:r>
            <a:endParaRPr lang="en-US" sz="1400" dirty="0"/>
          </a:p>
        </p:txBody>
      </p:sp>
      <p:sp>
        <p:nvSpPr>
          <p:cNvPr id="20" name="quiz"/>
          <p:cNvSpPr/>
          <p:nvPr/>
        </p:nvSpPr>
        <p:spPr>
          <a:xfrm>
            <a:off x="6400800" y="1645920"/>
            <a:ext cx="5212080" cy="4526280"/>
          </a:xfrm>
          <a:prstGeom prst="roundRect">
            <a:avLst>
              <a:gd name="adj" fmla="val 1616"/>
            </a:avLst>
          </a:prstGeom>
          <a:solidFill>
            <a:schemeClr val="accent3"/>
          </a:solidFill>
          <a:ln/>
        </p:spPr>
        <p:txBody>
          <a:bodyPr/>
          <a:lstStyle/>
          <a:p>
            <a:endParaRPr lang="en-US"/>
          </a:p>
        </p:txBody>
      </p:sp>
      <p:sp>
        <p:nvSpPr>
          <p:cNvPr id="21" name="icon-chip"/>
          <p:cNvSpPr/>
          <p:nvPr/>
        </p:nvSpPr>
        <p:spPr>
          <a:xfrm>
            <a:off x="6629400" y="1828800"/>
            <a:ext cx="548640" cy="548640"/>
          </a:xfrm>
          <a:prstGeom prst="ellipse">
            <a:avLst/>
          </a:prstGeom>
          <a:solidFill>
            <a:schemeClr val="bg1"/>
          </a:solidFill>
          <a:ln/>
        </p:spPr>
        <p:txBody>
          <a:bodyPr/>
          <a:lstStyle/>
          <a:p>
            <a:endParaRPr lang="en-US"/>
          </a:p>
        </p:txBody>
      </p:sp>
      <p:pic>
        <p:nvPicPr>
          <p:cNvPr id="22" name="Image 0" descr="preencoded.png"/>
          <p:cNvPicPr>
            <a:picLocks noChangeAspect="1"/>
          </p:cNvPicPr>
          <p:nvPr/>
        </p:nvPicPr>
        <p:blipFill>
          <a:blip r:embed="rId3"/>
          <a:stretch>
            <a:fillRect/>
          </a:stretch>
        </p:blipFill>
        <p:spPr>
          <a:xfrm>
            <a:off x="6750101" y="1949501"/>
            <a:ext cx="307238" cy="307238"/>
          </a:xfrm>
          <a:prstGeom prst="rect">
            <a:avLst/>
          </a:prstGeom>
        </p:spPr>
      </p:pic>
      <p:sp>
        <p:nvSpPr>
          <p:cNvPr id="23" name="Text 20"/>
          <p:cNvSpPr txBox="1"/>
          <p:nvPr/>
        </p:nvSpPr>
        <p:spPr>
          <a:xfrm>
            <a:off x="7315200" y="1828800"/>
            <a:ext cx="4023360" cy="548640"/>
          </a:xfrm>
          <a:prstGeom prst="rect">
            <a:avLst/>
          </a:prstGeom>
          <a:noFill/>
          <a:ln/>
        </p:spPr>
        <p:txBody>
          <a:bodyPr wrap="square" lIns="0" tIns="0" rIns="0" bIns="0" rtlCol="0" anchor="ctr"/>
          <a:lstStyle/>
          <a:p>
            <a:pPr marL="0" indent="0">
              <a:buNone/>
            </a:pPr>
            <a:r>
              <a:rPr lang="en-US" sz="2000" b="1" dirty="0">
                <a:solidFill>
                  <a:schemeClr val="tx1"/>
                </a:solidFill>
              </a:rPr>
              <a:t>Knowledge check</a:t>
            </a:r>
            <a:endParaRPr lang="en-US" sz="2000" dirty="0"/>
          </a:p>
        </p:txBody>
      </p:sp>
      <p:sp>
        <p:nvSpPr>
          <p:cNvPr id="24" name="Text 21"/>
          <p:cNvSpPr txBox="1"/>
          <p:nvPr/>
        </p:nvSpPr>
        <p:spPr>
          <a:xfrm>
            <a:off x="6675120" y="2560320"/>
            <a:ext cx="4754880" cy="3474720"/>
          </a:xfrm>
          <a:prstGeom prst="rect">
            <a:avLst/>
          </a:prstGeom>
          <a:noFill/>
          <a:ln/>
        </p:spPr>
        <p:txBody>
          <a:bodyPr wrap="square" lIns="0" tIns="0" rIns="0" bIns="0" rtlCol="0" anchor="t"/>
          <a:lstStyle/>
          <a:p>
            <a:pPr marL="342900" indent="-342900">
              <a:spcAft>
                <a:spcPts val="800"/>
              </a:spcAft>
              <a:buSzPct val="100000"/>
              <a:buFont typeface="+mj-lt"/>
              <a:buAutoNum type="arabicPeriod"/>
            </a:pPr>
            <a:r>
              <a:rPr lang="en-US" sz="1500" dirty="0">
                <a:solidFill>
                  <a:schemeClr val="tx1"/>
                </a:solidFill>
              </a:rPr>
              <a:t>Why does attention divide by √dₖ?</a:t>
            </a:r>
            <a:endParaRPr lang="en-US" sz="1500" dirty="0"/>
          </a:p>
          <a:p>
            <a:pPr marL="342900" indent="-342900">
              <a:spcAft>
                <a:spcPts val="800"/>
              </a:spcAft>
              <a:buSzPct val="100000"/>
              <a:buFont typeface="+mj-lt"/>
              <a:buAutoNum type="arabicPeriod"/>
            </a:pPr>
            <a:r>
              <a:rPr lang="en-US" sz="1500" dirty="0">
                <a:solidFill>
                  <a:schemeClr val="tx1"/>
                </a:solidFill>
              </a:rPr>
              <a:t>How many parameters does a linear layer from 768 to 3,072 (with bias) have?</a:t>
            </a:r>
            <a:endParaRPr lang="en-US" sz="1500" dirty="0"/>
          </a:p>
          <a:p>
            <a:pPr marL="342900" indent="-342900">
              <a:spcAft>
                <a:spcPts val="800"/>
              </a:spcAft>
              <a:buSzPct val="100000"/>
              <a:buFont typeface="+mj-lt"/>
              <a:buAutoNum type="arabicPeriod"/>
            </a:pPr>
            <a:r>
              <a:rPr lang="en-US" sz="1500" dirty="0">
                <a:solidFill>
                  <a:schemeClr val="tx1"/>
                </a:solidFill>
              </a:rPr>
              <a:t>Estimate the size of a decoder-only model with L = 32 and d = 4,096.</a:t>
            </a:r>
            <a:endParaRPr lang="en-US" sz="1500" dirty="0"/>
          </a:p>
          <a:p>
            <a:pPr marL="342900" indent="-342900">
              <a:spcAft>
                <a:spcPts val="800"/>
              </a:spcAft>
              <a:buSzPct val="100000"/>
              <a:buFont typeface="+mj-lt"/>
              <a:buAutoNum type="arabicPeriod"/>
            </a:pPr>
            <a:r>
              <a:rPr lang="en-US" sz="1500" dirty="0">
                <a:solidFill>
                  <a:schemeClr val="tx1"/>
                </a:solidFill>
              </a:rPr>
              <a:t>Is the number of attention heads a parameter or a hyperparameter?</a:t>
            </a:r>
            <a:endParaRPr lang="en-US" sz="1500" dirty="0"/>
          </a:p>
          <a:p>
            <a:pPr marL="342900" indent="-342900">
              <a:spcAft>
                <a:spcPts val="800"/>
              </a:spcAft>
              <a:buSzPct val="100000"/>
              <a:buFont typeface="+mj-lt"/>
              <a:buAutoNum type="arabicPeriod"/>
            </a:pPr>
            <a:r>
              <a:rPr lang="en-US" sz="1500" dirty="0">
                <a:solidFill>
                  <a:schemeClr val="tx1"/>
                </a:solidFill>
              </a:rPr>
              <a:t>How much GPU memory do the weights of a 13B model need at FP16?</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96A8"/>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Transformer Fundamentals">
  <a:themeElements>
    <a:clrScheme name="Transformer Fundamentals">
      <a:dk1>
        <a:srgbClr val="171B26"/>
      </a:dk1>
      <a:lt1>
        <a:srgbClr val="FFFFFF"/>
      </a:lt1>
      <a:dk2>
        <a:srgbClr val="434A5C"/>
      </a:dk2>
      <a:lt2>
        <a:srgbClr val="F0F2F6"/>
      </a:lt2>
      <a:accent1>
        <a:srgbClr val="F26B3A"/>
      </a:accent1>
      <a:accent2>
        <a:srgbClr val="12968A"/>
      </a:accent2>
      <a:accent3>
        <a:srgbClr val="F2B33D"/>
      </a:accent3>
      <a:accent4>
        <a:srgbClr val="5B5BD6"/>
      </a:accent4>
      <a:accent5>
        <a:srgbClr val="6B7286"/>
      </a:accent5>
      <a:accent6>
        <a:srgbClr val="D94452"/>
      </a:accent6>
      <a:hlink>
        <a:srgbClr val="5B5BD6"/>
      </a:hlink>
      <a:folHlink>
        <a:srgbClr val="6B7286"/>
      </a:folHlink>
    </a:clrScheme>
    <a:fontScheme name="Transformer Fundamental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4602</Words>
  <Application>Microsoft Office PowerPoint</Application>
  <PresentationFormat>Widescreen</PresentationFormat>
  <Paragraphs>288</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Courier New</vt:lpstr>
      <vt:lpstr>Transformer Fundamentals</vt:lpstr>
      <vt:lpstr>Understanding Transformers</vt:lpstr>
      <vt:lpstr>Why "Attention Is All You Need" changed AI</vt:lpstr>
      <vt:lpstr>The Transformer architecture: encoder and decoder stacks</vt:lpstr>
      <vt:lpstr>Self-attention: each token decides what matters</vt:lpstr>
      <vt:lpstr>Other building blocks and the paper's model sizes</vt:lpstr>
      <vt:lpstr>What is a parameter? A number the model learns</vt:lpstr>
      <vt:lpstr>How weights are learned: millions of small corrections</vt:lpstr>
      <vt:lpstr>Counting the parameters of the base Transformer</vt:lpstr>
      <vt:lpstr>From 65 million to billions: the same formula scales</vt:lpstr>
      <vt:lpstr>Key takeaways and knowledge check</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Transformers: attention, parameters and weights</dc:title>
  <dc:subject>PptxGenJS Presentation</dc:subject>
  <dc:creator>Corporate Technical Training</dc:creator>
  <cp:lastModifiedBy>Ramesh KHARAT</cp:lastModifiedBy>
  <cp:revision>1</cp:revision>
  <dcterms:created xsi:type="dcterms:W3CDTF">2026-10-05T03:26:13Z</dcterms:created>
  <dcterms:modified xsi:type="dcterms:W3CDTF">2026-10-05T03:31:44Z</dcterms:modified>
</cp:coreProperties>
</file>